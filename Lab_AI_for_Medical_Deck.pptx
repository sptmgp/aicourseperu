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828800" cy="1828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859536"/>
            <a:ext cx="1389888" cy="13898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2011680"/>
            <a:ext cx="283464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2011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UNIT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5146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AI for Medical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520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Laboratory &amp; Diagnostic Testing — Pathology, Chemistry, Microbiology, Point-of-Care, and Molecular Diagnostics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AI for Medical — Supplementary Unit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Landscape of Lab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1991563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Pathology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99008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Whole-slide imaging + AI for cancer detection &amp; grading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19202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603" y="1991563"/>
            <a:ext cx="451714" cy="45171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26280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Chemistry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99008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Critical-value flagging &amp; reference-range anomaly detection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4672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75320" y="19202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643" y="1991563"/>
            <a:ext cx="451714" cy="45171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75320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Microbiology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8275320" y="299008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 ID from culture images; susceptibility prediction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886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1148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" y="4186123"/>
            <a:ext cx="451714" cy="45171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77240" y="4800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Point-of-Care Testing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777240" y="518464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rapid diagnostics &amp; ECG interpretation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297680" y="3886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26280" y="41148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603" y="4186123"/>
            <a:ext cx="451714" cy="45171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526280" y="4800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Molecular Diagnostics</a:t>
            </a:r>
            <a:endParaRPr lang="en-US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4526280" y="518464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variant calling &amp; classification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046720" y="3886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75320" y="41148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6643" y="4186123"/>
            <a:ext cx="451714" cy="45171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275320" y="4800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Quality &amp; Validation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8275320" y="518464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CLIA/CAP analytical vs. clinical validation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37" name="Text 2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AI for Medical — Supplementary Unit</a:t>
            </a:r>
            <a:endParaRPr lang="en-US" sz="850" dirty="0"/>
          </a:p>
        </p:txBody>
      </p:sp>
      <p:sp>
        <p:nvSpPr>
          <p:cNvPr id="38" name="Text 3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Pathology &amp; Whole-Slide AI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Whole-Slide Imaging (WSI) + CNN Classification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whole-slide scan can contain billions of pixels — no pathologist can manually screen every field at the same resolution an AI model can, especially for rare or subtle findings.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prostate biopsy WSI is screened by an AI model for Gleason pattern regions before a pathologist reviews it — flagging the 3 highest-suspicion fields out of hundreds, cutting review time while keeping the pathologist as final sign-off (HITL, same as every other unit in this course).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AI for Medical — Supplementary Unit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Critical-Value Flagging &amp; Anomaly Detection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Reference-Range Anomaly Detection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result AI isn't diagnosing disease directly — it's catching statistically implausible results before they reach a clinician, the same way a spell-checker catches a typo before you send an email.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potassium result of 9.8 mmol/L (physiologically implausible without hemolysis) is auto-flagged by the lab AI for repeat testing before it's ever released to the chart — preventing a false emergency alert AND a missed real one.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AI for Medical — Supplementary Unit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Organism ID &amp; Susceptibility Prediction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Image-Based Organism Classification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culture identification can take 24–72 hours; AI-assisted image classification of early culture growth patterns can flag likely organism families in hours, directly shortening time-to-appropriate-antibiotic.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model trained on Gram-stain images flags a blood culture as 'likely gram-negative rod' within hours of growth, prompting empiric antibiotic adjustment before the full 48-hour confirmatory ID returns.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AI for Medical — Supplementary Unit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POINT-OF-CARE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Point-of-Care Testing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AI in Rapid Diagnostic Devices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Point-of-care AI shifts some interpretation burden from a trained lab tech to a bedside device — which means the HITL question changes from 'did the lab verify this' to 'did the bedside clinician verify this.'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smartphone-camera-based rapid strep test uses an embedded AI model to interpret a faint test line that a human eye might misread — but a false-negative override protocol still requires a repeat test if symptoms strongly suggest strep despite a negative AI read.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AI for Medical — Supplementary Unit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DIAGNOSTICS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Genomic Variant Calling &amp; Classification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 of Uncertain Significance (VUS) Classification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increasingly help classify genomic variants as benign, pathogenic, or uncertain — but a VUS misclassified as pathogenic can trigger unnecessary prophylactic treatment, and one misclassified as benign can miss a real risk.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variant classifier flags a BRCA1 variant as 'likely pathogenic' based on population frequency data — a genetic counselor still reviews the full pedigree and functional evidence before delivering that result to the patient.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AI for Medical — Supplementary Unit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VALIDATION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AI Quality Control — CLIA/CAP Framework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Validation vs. Clinical Validation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 AI tool can be analytically excellent (consistently measures what it claims to measure) while still being clinically unvalidated (never proven to improve patient outcomes) — labs must document both separately under CLIA/CAP.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pathology AI tool passes analytical validation (98% concordance with manual review on a validation set) but is still undergoing clinical validation (does earlier flagging actually improve time-to-treatment) before full deployment.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AI for Medical — Supplementary Unit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Deep-Dive: Likelihood Ratios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LR+ = Sensitivity / (1 − Specificity)     LR− = (1 − Sensitivity) / Specificity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10607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sensitivity/specificity alone, a likelihood ratio tells you how much a POSITIVE or NEGATIVE lab-AI result should actually shift your probability of disease — which is what you need at the bedside, not just an accuracy percentage.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An AI-assisted rapid test has sensitivity 95%, specificity 90%. LR+ = 0.95/(1−0.90) = 9.5 — a positive result makes disease roughly 9–10× more likely than before testing. LR− = (1−0.95)/0.90 = 0.056 — a negative result cuts the odds of disease by about 95%.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 min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AI for Medical — Supplementary Unit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 in Lab AI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PathAI, Paige, Ibex Medical Analytics — FDA-cleared/CE-marked digital pathology AI for cancer detection and grading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Roche, Abbott, Siemens Healthineers — clinical chemistry analyzers with embedded anomaly-flagging AI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(Becton Dickinson), bioMérieux — AI-assisted microbiology identification and susceptibility platforms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Butterfly Network, AliveCor — AI-embedded point-of-care ultrasound and ECG devices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Illumina, Foundation Medicine — AI-assisted variant calling and classification in molecular diagnostics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AI for Medical — Supplementary Unit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 AI tool for digital pathology has passed analytical validation with 98% concordance to manual review, but clinical validation (whether it improves time-to-treatment) is still ongoing. Can the lab deploy this tool for primary diagnostic use right now?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315468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15468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Yes — analytical validation alone is sufficient for any clinical use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72160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72160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No — CLIA/CAP requires both analytical AND clinical validation be appropriately documented before the intended clinical use is supported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28853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28853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Yes, but only for research purposes with no patient impact whatsoever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485546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85546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No — digital pathology AI can never be clinically validated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AI for Medical — Supplementary Unit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Bench &amp; Bedside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AI compresses time between sample collection and actionable result — but every worked example in this unit shares the same structure as the rest of the course: the AI narrows down or flags, and a trained human (pathologist, lab tech, genetic counselor, clinician) makes the final call. Knowing likelihood ratios lets you translate a lab-AI result into an actual bedside probability shift, rather than treating 'positive' or 'negative' as binary certainties. This is HITL applied to the bench, not just the bedside.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AI for Medical — Supplementary Unit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INTEGRATION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Unit Fits Your 24-Hr/Month 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10332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SUPPLEMENTARY unit — it is not one of the 25 core weeks and does not currently have its own 3+3 hour slot.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placement: insert as an additional week in Chapter 2 (AI-Driven Diagnostics), immediately after Unit 6 (German Quality Pillars) — pathology/lab AI shares the same explainability and validation themes.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inserted, Chapter 2 becomes a 5-week chapter (30 hrs: 15 theory + 15 lab) instead of 4 weeks (24 hrs) — the same pattern already used for Chapter 4's 5-week structure.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deck's slide content (13 slides) maps to a standard 3-hr virtual session; a matching Virtual Clinical Sandbox lab activity (e.g., reviewing de-identified digital pathology images or synthetic lab-critical-value cases) would need to be added separately to reach the full 6-hr week.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 min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AI for Medical — Supplementary Unit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22529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AI: Same Principle, New Bench.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applies at the microscope and the analyzer, not just the bedside.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AI for Medical — Supplementary Unit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2026-09-10T02:02:32Z</dcterms:created>
  <dcterms:modified xsi:type="dcterms:W3CDTF">2026-09-10T02:02:32Z</dcterms:modified>
</cp:coreProperties>
</file>