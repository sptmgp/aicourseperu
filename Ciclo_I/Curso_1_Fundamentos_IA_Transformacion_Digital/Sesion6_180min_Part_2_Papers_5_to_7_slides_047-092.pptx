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271" r:id="rId22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272" r:id="rId23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47.xml"/><Relationship Id="rId22" Type="http://schemas.openxmlformats.org/officeDocument/2006/relationships/slide" Target="slides/slide62.xml"/><Relationship Id="rId23" Type="http://schemas.openxmlformats.org/officeDocument/2006/relationships/slide" Target="slides/slide77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4" Type="http://schemas.openxmlformats.org/officeDocument/2006/relationships/slide" Target="slides/slide50.xml"/><Relationship Id="rId85" Type="http://schemas.openxmlformats.org/officeDocument/2006/relationships/slide" Target="slides/slide51.xml"/><Relationship Id="rId86" Type="http://schemas.openxmlformats.org/officeDocument/2006/relationships/slide" Target="slides/slide52.xml"/><Relationship Id="rId87" Type="http://schemas.openxmlformats.org/officeDocument/2006/relationships/slide" Target="slides/slide53.xml"/><Relationship Id="rId88" Type="http://schemas.openxmlformats.org/officeDocument/2006/relationships/slide" Target="slides/slide54.xml"/><Relationship Id="rId89" Type="http://schemas.openxmlformats.org/officeDocument/2006/relationships/slide" Target="slides/slide55.xml"/><Relationship Id="rId90" Type="http://schemas.openxmlformats.org/officeDocument/2006/relationships/slide" Target="slides/slide56.xml"/><Relationship Id="rId91" Type="http://schemas.openxmlformats.org/officeDocument/2006/relationships/slide" Target="slides/slide57.xml"/><Relationship Id="rId92" Type="http://schemas.openxmlformats.org/officeDocument/2006/relationships/slide" Target="slides/slide58.xml"/><Relationship Id="rId93" Type="http://schemas.openxmlformats.org/officeDocument/2006/relationships/slide" Target="slides/slide59.xml"/><Relationship Id="rId94" Type="http://schemas.openxmlformats.org/officeDocument/2006/relationships/slide" Target="slides/slide60.xml"/><Relationship Id="rId95" Type="http://schemas.openxmlformats.org/officeDocument/2006/relationships/slide" Target="slides/slide61.xml"/><Relationship Id="rId96" Type="http://schemas.openxmlformats.org/officeDocument/2006/relationships/slide" Target="slides/slide63.xml"/><Relationship Id="rId97" Type="http://schemas.openxmlformats.org/officeDocument/2006/relationships/slide" Target="slides/slide64.xml"/><Relationship Id="rId98" Type="http://schemas.openxmlformats.org/officeDocument/2006/relationships/slide" Target="slides/slide65.xml"/><Relationship Id="rId99" Type="http://schemas.openxmlformats.org/officeDocument/2006/relationships/slide" Target="slides/slide66.xml"/><Relationship Id="rId100" Type="http://schemas.openxmlformats.org/officeDocument/2006/relationships/slide" Target="slides/slide67.xml"/><Relationship Id="rId101" Type="http://schemas.openxmlformats.org/officeDocument/2006/relationships/slide" Target="slides/slide68.xml"/><Relationship Id="rId102" Type="http://schemas.openxmlformats.org/officeDocument/2006/relationships/slide" Target="slides/slide69.xml"/><Relationship Id="rId103" Type="http://schemas.openxmlformats.org/officeDocument/2006/relationships/slide" Target="slides/slide70.xml"/><Relationship Id="rId104" Type="http://schemas.openxmlformats.org/officeDocument/2006/relationships/slide" Target="slides/slide71.xml"/><Relationship Id="rId105" Type="http://schemas.openxmlformats.org/officeDocument/2006/relationships/slide" Target="slides/slide72.xml"/><Relationship Id="rId106" Type="http://schemas.openxmlformats.org/officeDocument/2006/relationships/slide" Target="slides/slide73.xml"/><Relationship Id="rId107" Type="http://schemas.openxmlformats.org/officeDocument/2006/relationships/slide" Target="slides/slide74.xml"/><Relationship Id="rId108" Type="http://schemas.openxmlformats.org/officeDocument/2006/relationships/slide" Target="slides/slide75.xml"/><Relationship Id="rId109" Type="http://schemas.openxmlformats.org/officeDocument/2006/relationships/slide" Target="slides/slide76.xml"/><Relationship Id="rId110" Type="http://schemas.openxmlformats.org/officeDocument/2006/relationships/slide" Target="slides/slide78.xml"/><Relationship Id="rId111" Type="http://schemas.openxmlformats.org/officeDocument/2006/relationships/slide" Target="slides/slide79.xml"/><Relationship Id="rId112" Type="http://schemas.openxmlformats.org/officeDocument/2006/relationships/slide" Target="slides/slide80.xml"/><Relationship Id="rId113" Type="http://schemas.openxmlformats.org/officeDocument/2006/relationships/slide" Target="slides/slide81.xml"/><Relationship Id="rId114" Type="http://schemas.openxmlformats.org/officeDocument/2006/relationships/slide" Target="slides/slide82.xml"/><Relationship Id="rId115" Type="http://schemas.openxmlformats.org/officeDocument/2006/relationships/slide" Target="slides/slide83.xml"/><Relationship Id="rId116" Type="http://schemas.openxmlformats.org/officeDocument/2006/relationships/slide" Target="slides/slide84.xml"/><Relationship Id="rId117" Type="http://schemas.openxmlformats.org/officeDocument/2006/relationships/slide" Target="slides/slide85.xml"/><Relationship Id="rId118" Type="http://schemas.openxmlformats.org/officeDocument/2006/relationships/slide" Target="slides/slide86.xml"/><Relationship Id="rId119" Type="http://schemas.openxmlformats.org/officeDocument/2006/relationships/slide" Target="slides/slide87.xml"/><Relationship Id="rId120" Type="http://schemas.openxmlformats.org/officeDocument/2006/relationships/slide" Target="slides/slide88.xml"/><Relationship Id="rId121" Type="http://schemas.openxmlformats.org/officeDocument/2006/relationships/slide" Target="slides/slide89.xml"/><Relationship Id="rId122" Type="http://schemas.openxmlformats.org/officeDocument/2006/relationships/slide" Target="slides/slide90.xml"/><Relationship Id="rId123" Type="http://schemas.openxmlformats.org/officeDocument/2006/relationships/slide" Target="slides/slide91.xml"/><Relationship Id="rId124" Type="http://schemas.openxmlformats.org/officeDocument/2006/relationships/slide" Target="slides/slide9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5: Clinician vs AI in ICU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Clinicians vs. artificial intelligence in patient outcome prediction in the intensive care unit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Human + AI comparison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Evaluate whether AI improves or disagrees with clinician judgment.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Compare student predictions vs model predictions on the same test cases.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https://www.nature.com/articles/s41746-026-03132-0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vs. artificial intelligence in patient outcome prediction in the intensive care unit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Clinicians vs AI ICU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Retrospective AI often strong; prospective specialists can outperform AI.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Combining clinician + AI predictions often gave the best performance.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AI is a second opinion, not a replacement for expertise.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clinician estimate + model estimate → combined risk consensus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10.1038/s41746-026-03132-0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4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5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6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4/13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7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5/13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9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6/13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10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7/13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11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8/13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12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9/13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17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10/13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19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11/13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20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12/13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22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5 · figura / tabla / plot 13/13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Clinicians vs AI ICU · página del PDF 23 · DOI: 10.1038/s41746-026-03132-0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u_ai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Direct comparison of clinician and AI predictions in ICU outcomes.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6: End-of-surgery infection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End-of-surgery prediction of postoperative infectious complications from intraoperative vital-sign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Post-op infection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Routine vital-sign dynamics can become model features at the end of surgery.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Summarize min/max/mean/trend features and train infection classifier.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https://www.nature.com/articles/s41746-026-02707-1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prediction of postoperative infectious complications from intraoperative vital-sign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916936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End-of-surgery infection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Features from arterial pressure, heart rate, SpO₂, temperature and end-tidal CO₂.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AUROC 0.88 for infection prediction at the end of surgery.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operating-room monitoring data becomes post-op risk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summary + trend + distributional vital-sign features → infection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10.1038/s41746-026-02707-1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6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7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8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4/13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9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5/13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11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6/13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13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7/13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14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8/13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15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9/13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16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10/13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25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11/13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26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12/13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27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6 · figura / tabla / plot 13/13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End-of-surgery infection risk · página del PDF 28 · DOI: 10.1038/s41746-026-02707-1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rgery_inf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10,719 surgical procedures with intraoperative time-series signals.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7: Emergency-care foundation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 unified multi-modal foundation model for end-to-end emergency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ED workflow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Emergency care often needs multimodal inputs: triage text, vitals, labs,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Start with structured triage data before multimodal models.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https://www.nature.com/articles/s41746-026-02981-z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 unified multi-modal foundation model for end-to-end emergency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ED-Foundation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Patient-centric representation for multiple ED tasks.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Designed for heterogeneous and incomplete real-world inputs.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one foundation model can support several emergency-care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text + image + missing-data masks → triage / prediction /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10.1038/s41746-026-02981-z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1/14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6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7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8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9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5/14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11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6/14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12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7/14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22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8/14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23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9/14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24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10/14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25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11/14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26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12/14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27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13/14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30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Paper 7 · figura / tabla / plot 14/14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ED-Foundation · página del PDF 31 · DOI: 10.1038/s41746-026-02981-z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_foundation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Unified emergency model using aligned image–text pairs and pure text data.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