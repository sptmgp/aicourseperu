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Sesión 8 · Preguntas clínicas de IA para imágenes médicas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20 minutos · 30 preguntas con respuestas · artículo Nature Medicine 2026 + MONAI/PyTorch + Grad-CAM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0292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Artículo base:</a:t>
            </a:r>
            <a:br/>
            <a:r>
              <a:t>AI-based triage and decision support in mammography and digital tomosynthesis for breast cancer screening: a paired, noninferiority 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51760"/>
            <a:ext cx="5029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0">
                <a:solidFill>
                  <a:srgbClr val="19212D"/>
                </a:solidFill>
              </a:defRPr>
            </a:pPr>
            <a:r>
              <a:t>Objetivo docente:</a:t>
            </a:r>
            <a:br/>
            <a:r>
              <a:t>conectar píxeles, CNN, convolución, feature maps, transfer learning, Grad-CAM y validación clínica con un estudio real.</a:t>
            </a:r>
          </a:p>
        </p:txBody>
      </p:sp>
      <p:pic>
        <p:nvPicPr>
          <p:cNvPr id="6" name="Picture 5" descr="articl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6692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Evidencia principal del artículo AITIC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Prospectivo, pareado, no inferioridad; comparación de estrategia estándar vs estrategia con IA</a:t>
            </a:r>
          </a:p>
        </p:txBody>
      </p:sp>
      <p:pic>
        <p:nvPicPr>
          <p:cNvPr id="4" name="Picture 3" descr="aitic_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16636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89320" y="1051560"/>
            <a:ext cx="5577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Qué debe entender el estudiante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31,301 mujeres incluidas; DM y DBT.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Estrategia estándar: doble lectura humana.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Estrategia IA: scores 1–7 se etiquetan normales sin lectura; scores 8–10 reciben doble lectura con apoyo de IA.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Carga de lectura radiológica: reducción de 63.6%.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Detección de cáncer: 6.3 → 7.3 por 1,000.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Recall subió 4.8% → 5.5%; PPV se mantuvo similar.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Figura clave 1: perfil del estudio y población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La validez empieza antes del algoritmo: inclusión, exclusión y diseño del ensayo</a:t>
            </a:r>
          </a:p>
        </p:txBody>
      </p:sp>
      <p:pic>
        <p:nvPicPr>
          <p:cNvPr id="4" name="Picture 3" descr="articl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623560" cy="5166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0972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Lectura crítica de la figura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No basta con decir “la IA funciona”: se necesita población definida.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El flujo muestra mujeres invitadas, consentimiento, exclusiones y cohorte final.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Preguntar siempre: ¿qué casos no entraron?, ¿por qué?, ¿se parece a mi hospital?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Este tipo de diagrama enseña sesgo de selección y aplicabilidad clínica.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Figura clave 2 + Tabla 2: flujo de decisión y resultados primarios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El estudio prueba un workflow clínico, no solo un clasificador aislado</a:t>
            </a:r>
          </a:p>
        </p:txBody>
      </p:sp>
      <p:pic>
        <p:nvPicPr>
          <p:cNvPr id="4" name="Picture 3" descr="articl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64922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188720"/>
            <a:ext cx="4389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Cómo conectarlo con CNN/validación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La IA no reemplaza todos los pasos: triage de bajo riesgo + apoyo al doble lector en alto riesgo.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Bajo riesgo: no lectura humana; esto reduce carga.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Alto riesgo: radiología conserva papel clínico.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Métrica clínica: workload, CDR, recall, PPV, FPR.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Lección: el éxito es seguridad + flujo de trabajo + desempeño.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Tabla 3: DM vs DBT — la validación depende de la modalidad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Un algoritmo puede comportarse distinto en mamografía 2D y tomosíntesis</a:t>
            </a:r>
          </a:p>
        </p:txBody>
      </p:sp>
      <p:pic>
        <p:nvPicPr>
          <p:cNvPr id="4" name="Picture 3" descr="articl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30936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143000"/>
            <a:ext cx="4480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Punto docente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En DM: aumentó CDR, pero también recall y FPR.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En DBT: CDR y recall fueron similares al estándar, con reducción de workload.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No asumir que una misma IA se transfiere igual entre modalidades.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Transfer learning ayuda, pero validación clínica por modalidad sigue siendo obligatoria.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Conceptos de imagen médica que el artículo permite enseñar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De la imagen digital al workflow clínico</a:t>
            </a:r>
          </a:p>
        </p:txBody>
      </p:sp>
      <p:pic>
        <p:nvPicPr>
          <p:cNvPr id="4" name="Picture 3" descr="cn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78992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38404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CNN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Píxel: número que representa intensidad.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Convolución: filtro que detecta patrones locales.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Feature map: mapa interno de bordes, masas, textura o asimetría.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8404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De laboratorio a clínica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Transfer learning: adaptar un modelo preentrenado a mamografía.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Grad-CAM: mapa visual de regiones que influyen en la predicción.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Validación clínica: prueba prospectiva, carga de trabajo, CDR, recall.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Manual del mini-laboratorio: MONAI/PyTorch o notebook simplificado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Clasificador de imágenes médicas de demostración + mapa de explicabilidad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Flujo práctico para estudiantes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1) Abrir notebook en Colab.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2) Cargar dataset pequeño de demostración: normal vs sospechoso.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3) Transformar imagen: resize, normalización, augmentación simple.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4) Usar modelo preentrenado o CNN pequeña.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5) Entrenar 3–5 épocas, solo para aprendizaje.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6) Evaluar matriz de confusión, sensibilidad, especificidad.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7) Generar Grad-CAM para explicar una predicción.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05840"/>
            <a:ext cx="5029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Qué deben aprender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MONAI: transforms, Dataset, DataLoader, métricas médicas.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PyTorch: tensor, modelo, loss, optimizer, backward.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Resultado esperado: probabilidad + mapa de calor.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Discusión clínica: ¿el mapa mira la mama o mira artefactos?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Advertencia: un demo no equivale a dispositivo médico validado.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Grad-CAM: explicación visual para discusión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No prueba causalidad, pero ayuda a inspeccionar dónde mira la CNN</a:t>
            </a:r>
          </a:p>
        </p:txBody>
      </p:sp>
      <p:pic>
        <p:nvPicPr>
          <p:cNvPr id="4" name="Picture 3" descr="gradcam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5486400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143000"/>
            <a:ext cx="4754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Cómo explicarlo a estudiantes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Pregunta clínica: ¿el mapa resalta una zona plausible?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Peligro: el mapa puede resaltar marcador, borde o artefacto.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Debe usarse como herramienta de auditoría, no como diagnóstico autónomo.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En el artículo, el resultado clínico validado es el workflow de triage; Grad-CAM es el complemento docente.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Plan de 20 minutos para la actividad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30 preguntas rápidas + discusión docente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3035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Cronograma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0–3 min: recordar artículo y métricas principales.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3–7 min: imagen digital, píxel, CNN, convolución.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7–11 min: feature maps, transfer learning, Grad-CAM.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11–16 min: validación clínica, CDR, recall, PPV, falsos positivos.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16–20 min: MONAI/PyTorch, proyecto simple y cierre.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058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Regla docente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Formato: pregunta → respuesta → razón clínica.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No memorizar arquitectura; interpretar implicación clínica.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Cada respuesta debe terminar con: ¿qué haría el profesional?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Nivel: estudiantes clínicos, enfermería, tecnólogos, fisioterapia y aliados.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Una mamografía digital se representa como una matriz de valores de intensidad. ¿Cuál es la unidad básica que procesa inicialmente una CNN?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Diagnóstico</a:t>
            </a:r>
            <a:br/>
            <a:r>
              <a:t>B. Píxel</a:t>
            </a:r>
            <a:br/>
            <a:r>
              <a:t>C. Recall</a:t>
            </a:r>
            <a:br/>
            <a:r>
              <a:t>D. Biopsia</a:t>
            </a:r>
            <a:br/>
            <a:r>
              <a:t>E. Intervalo de confianza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Píxel</a:t>
            </a:r>
            <a:br/>
            <a:br/>
            <a:r>
              <a:t>La CNN recibe números de intensidad; antes de masas o asimetrías, la computadora ve píxeles.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En una CNN para mamografía, ¿qué operación detecta patrones locales como bordes o microtexturas?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Convolución</a:t>
            </a:r>
            <a:br/>
            <a:r>
              <a:t>B. Aleatorización</a:t>
            </a:r>
            <a:br/>
            <a:r>
              <a:t>C. McNemar</a:t>
            </a:r>
            <a:br/>
            <a:r>
              <a:t>D. Consentimiento</a:t>
            </a:r>
            <a:br/>
            <a:r>
              <a:t>E. PPV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Convolución</a:t>
            </a:r>
            <a:br/>
            <a:br/>
            <a:r>
              <a:t>Los filtros convolucionales recorren la imagen y generan respuestas locales.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3: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El resultado de aplicar filtros convolucionales a una imagen se llama: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Feature map</a:t>
            </a:r>
            <a:br/>
            <a:r>
              <a:t>B. Recall rate</a:t>
            </a:r>
            <a:br/>
            <a:r>
              <a:t>C. Cohorte</a:t>
            </a:r>
            <a:br/>
            <a:r>
              <a:t>D. PACS</a:t>
            </a:r>
            <a:br/>
            <a:r>
              <a:t>E. No inferioridad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Feature map</a:t>
            </a:r>
            <a:br/>
            <a:br/>
            <a:r>
              <a:t>Los feature maps muestran dónde aparecen patrones aprendidos por la 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4: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Si un modelo entrenado en muchas imágenes se adapta a mamografía local con pocos datos, esto se denomina: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Transfer learning</a:t>
            </a:r>
            <a:br/>
            <a:r>
              <a:t>B. Recall</a:t>
            </a:r>
            <a:br/>
            <a:r>
              <a:t>C. Doble lectura</a:t>
            </a:r>
            <a:br/>
            <a:r>
              <a:t>D. BIRADS D</a:t>
            </a:r>
            <a:br/>
            <a:r>
              <a:t>E. Sobretriage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Transfer learning</a:t>
            </a:r>
            <a:br/>
            <a:br/>
            <a:r>
              <a:t>Se reutilizan representaciones visuales aprendidas y se ajustan al problema clínico.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5: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¿Qué aporta Grad-CAM en un clasificador de mamografía?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Mide presión arterial</a:t>
            </a:r>
            <a:br/>
            <a:r>
              <a:t>B. Muestra regiones que influyeron en la predicción</a:t>
            </a:r>
            <a:br/>
            <a:r>
              <a:t>C. Sustituye la biopsia</a:t>
            </a:r>
            <a:br/>
            <a:r>
              <a:t>D. Elimina sesgo</a:t>
            </a:r>
            <a:br/>
            <a:r>
              <a:t>E. Calcula edad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Muestra regiones que influyeron en la predicción</a:t>
            </a:r>
            <a:br/>
            <a:br/>
            <a:r>
              <a:t>Ayuda a revisar si el modelo mira una zona clínicamente razonable.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6: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En el ensayo AITIC, las imágenes con puntuación IA 1–7 fueron: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Biopsiadas siempre</a:t>
            </a:r>
            <a:br/>
            <a:r>
              <a:t>B. Consideradas normales sin lectura humana en la estrategia IA</a:t>
            </a:r>
            <a:br/>
            <a:r>
              <a:t>C. Leídas por tres radiólogos</a:t>
            </a:r>
            <a:br/>
            <a:r>
              <a:t>D. Excluidas del ensayo</a:t>
            </a:r>
            <a:br/>
            <a:r>
              <a:t>E. Procesadas solo por resonancia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Consideradas normales sin lectura humana en la estrategia IA</a:t>
            </a:r>
            <a:br/>
            <a:br/>
            <a:r>
              <a:t>Este es el componente parcialmente autónomo del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El artículo describe scores 1–7 como bajo riesgo considerados normales; scores 8–10 reciben lectura con apoyo de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7: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¿Cuál fue el objetivo clínico principal de usar IA en el estudio?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Reemplazar patología</a:t>
            </a:r>
            <a:br/>
            <a:r>
              <a:t>B. Reducir workload manteniendo detección</a:t>
            </a:r>
            <a:br/>
            <a:r>
              <a:t>C. Eliminar consentimiento</a:t>
            </a:r>
            <a:br/>
            <a:r>
              <a:t>D. Diagnosticar cáncer molecular</a:t>
            </a:r>
            <a:br/>
            <a:r>
              <a:t>E. Entrenar estudiantes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Reducir workload manteniendo detección</a:t>
            </a:r>
            <a:br/>
            <a:br/>
            <a:r>
              <a:t>El artículo evalúa carga de lectura, CDR y recall.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8: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La estrategia IA redujo la carga de lectura radiológica aproximadamente: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5%</a:t>
            </a:r>
            <a:br/>
            <a:r>
              <a:t>B. 15%</a:t>
            </a:r>
            <a:br/>
            <a:r>
              <a:t>C. 36%</a:t>
            </a:r>
            <a:br/>
            <a:r>
              <a:t>D. 64%</a:t>
            </a:r>
            <a:br/>
            <a:r>
              <a:t>E.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D. 64%</a:t>
            </a:r>
            <a:br/>
            <a:br/>
            <a:r>
              <a:t>La reducción reportada fue 63.6%.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La carga de lectura bajó 63.6% en la estrategia con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9: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El CDR aumentó de 6.3 a 7.3 por 1,000. ¿Qué significa CDR?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Cancer Detection Rate</a:t>
            </a:r>
            <a:br/>
            <a:r>
              <a:t>B. Computed Dose Ratio</a:t>
            </a:r>
            <a:br/>
            <a:r>
              <a:t>C. Clinical Data Recall</a:t>
            </a:r>
            <a:br/>
            <a:r>
              <a:t>D. Convolution Depth Rate</a:t>
            </a:r>
            <a:br/>
            <a:r>
              <a:t>E. Correct Diagnosis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Cancer Detection Rate</a:t>
            </a:r>
            <a:br/>
            <a:br/>
            <a:r>
              <a:t>Es la tasa de cánceres detectados por cada 1,000 mujeres examinadas.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El CDR subió de 6.3 a 7.3 por 1,000 mujeres.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10: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El recall subió de 4.8% a 5.5%. ¿Cuál es la preocupación clínica?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Menos carga</a:t>
            </a:r>
            <a:br/>
            <a:r>
              <a:t>B. Más mujeres llamadas para estudio adicional</a:t>
            </a:r>
            <a:br/>
            <a:r>
              <a:t>C. Menos imágenes</a:t>
            </a:r>
            <a:br/>
            <a:r>
              <a:t>D. Menos píxeles</a:t>
            </a:r>
            <a:br/>
            <a:r>
              <a:t>E. Mayor resolución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Más mujeres llamadas para estudio adicional</a:t>
            </a:r>
            <a:br/>
            <a:br/>
            <a:r>
              <a:t>Más recall puede aumentar ansiedad, costos y pruebas adicionales.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El recall aumentó de 4.8% a 5.5%.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11: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Si el PPV de recall se mantiene similar, pero aumenta el recall, ¿qué debe discutirse?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Balance beneficio-daño</a:t>
            </a:r>
            <a:br/>
            <a:r>
              <a:t>B. Solo velocidad</a:t>
            </a:r>
            <a:br/>
            <a:r>
              <a:t>C. Número de GPUs</a:t>
            </a:r>
            <a:br/>
            <a:r>
              <a:t>D. Tipo de teclado</a:t>
            </a:r>
            <a:br/>
            <a:r>
              <a:t>E. Tamaño del 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Balance beneficio-daño</a:t>
            </a:r>
            <a:br/>
            <a:br/>
            <a:r>
              <a:t>Aumenta detección, pero también llamadas adicionales.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12: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¿Por qué el diseño prospectivo es más fuerte que solo una simulación retrospectiva?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Tiene menos pacientes</a:t>
            </a:r>
            <a:br/>
            <a:r>
              <a:t>B. Evalúa el workflow en práctica real</a:t>
            </a:r>
            <a:br/>
            <a:r>
              <a:t>C. No necesita consentimiento</a:t>
            </a:r>
            <a:br/>
            <a:r>
              <a:t>D. No mide recall</a:t>
            </a:r>
            <a:br/>
            <a:r>
              <a:t>E. Siempre es multicéntrico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Evalúa el workflow en práctica real</a:t>
            </a:r>
            <a:br/>
            <a:br/>
            <a:r>
              <a:t>El ensayo mide impacto en un flujo real de cribado.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El estudio fue prospectivo, pareado y de no inferioridad.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13: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¿Qué enseña la diferencia DM vs DBT?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Todos los modelos sirven igual</a:t>
            </a:r>
            <a:br/>
            <a:r>
              <a:t>B. La modalidad de imagen cambia el rendimiento</a:t>
            </a:r>
            <a:br/>
            <a:r>
              <a:t>C. DBT no usa píxeles</a:t>
            </a:r>
            <a:br/>
            <a:r>
              <a:t>D. DM no usa IA</a:t>
            </a:r>
            <a:br/>
            <a:r>
              <a:t>E. No se necesita 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La modalidad de imagen cambia el rendimiento</a:t>
            </a:r>
            <a:br/>
            <a:br/>
            <a:r>
              <a:t>El impacto fue distinto entre mamografía digital y tomosíntesis.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Los resultados por DM y DBT fueron diferentes.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14: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En el demo MONAI/PyTorch, la salida final de un clasificador binario debería ser: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Una probabilidad/riesgo</a:t>
            </a:r>
            <a:br/>
            <a:r>
              <a:t>B. Una biopsia automática</a:t>
            </a:r>
            <a:br/>
            <a:r>
              <a:t>C. Un diagnóstico legal</a:t>
            </a:r>
            <a:br/>
            <a:r>
              <a:t>D. Una cirugía</a:t>
            </a:r>
            <a:br/>
            <a:r>
              <a:t>E. Un informe histológico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Una probabilidad/riesgo</a:t>
            </a:r>
            <a:br/>
            <a:br/>
            <a:r>
              <a:t>El modelo clasifica o prioriza; no reemplaza juicio clínico.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15: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La matriz de confusión permite observar: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VP, FP, VN, FN</a:t>
            </a:r>
            <a:br/>
            <a:r>
              <a:t>B. Solo pesos de CNN</a:t>
            </a:r>
            <a:br/>
            <a:r>
              <a:t>C. Solo número de píxeles</a:t>
            </a:r>
            <a:br/>
            <a:r>
              <a:t>D. Solo edad</a:t>
            </a:r>
            <a:br/>
            <a:r>
              <a:t>E. Solo densidad mamaria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VP, FP, VN, FN</a:t>
            </a:r>
            <a:br/>
            <a:br/>
            <a:r>
              <a:t>Es esencial para discutir falsos positivos y falsos negativos.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16: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Para cribado, un falso negativo significa: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Paciente sana llamada de más</a:t>
            </a:r>
            <a:br/>
            <a:r>
              <a:t>B. Cáncer potencial no detectado</a:t>
            </a:r>
            <a:br/>
            <a:r>
              <a:t>C. Más trabajo administrativo</a:t>
            </a:r>
            <a:br/>
            <a:r>
              <a:t>D. Mejor sensibilidad</a:t>
            </a:r>
            <a:br/>
            <a:r>
              <a:t>E. Mayor PPV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Cáncer potencial no detectado</a:t>
            </a:r>
            <a:br/>
            <a:br/>
            <a:r>
              <a:t>En screening, los falsos negativos son un riesgo de seguridad.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17: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Para cribado, un falso positivo significa: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Cáncer perdido</a:t>
            </a:r>
            <a:br/>
            <a:r>
              <a:t>B. Llamado adicional sin cáncer confirmado</a:t>
            </a:r>
            <a:br/>
            <a:r>
              <a:t>C. Menos recall</a:t>
            </a:r>
            <a:br/>
            <a:r>
              <a:t>D. Mayor especificidad</a:t>
            </a:r>
            <a:br/>
            <a:r>
              <a:t>E. Menos ansiedad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Llamado adicional sin cáncer confirmado</a:t>
            </a:r>
            <a:br/>
            <a:br/>
            <a:r>
              <a:t>Puede generar ansiedad y procedimientos innecesarios.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18: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¿Por qué no basta con accuracy para evaluar IA de cribado?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Porque ignora balance FP/FN y prevalencia</a:t>
            </a:r>
            <a:br/>
            <a:r>
              <a:t>B. Porque no usa imágenes</a:t>
            </a:r>
            <a:br/>
            <a:r>
              <a:t>C. Porque siempre es 100%</a:t>
            </a:r>
            <a:br/>
            <a:r>
              <a:t>D. Porque no existe</a:t>
            </a:r>
            <a:br/>
            <a:r>
              <a:t>E. Porque reemplaza PPV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Porque ignora balance FP/FN y prevalencia</a:t>
            </a:r>
            <a:br/>
            <a:br/>
            <a:r>
              <a:t>En enfermedades relativamente infrecuentes, accuracy puede ser engañoso.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19: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La validación clínica debe incluir: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Solo loss de entrenamiento</a:t>
            </a:r>
            <a:br/>
            <a:r>
              <a:t>B. Métricas clínicas, población, modalidad, seguridad y flujo de trabajo</a:t>
            </a:r>
            <a:br/>
            <a:r>
              <a:t>C. Solo número de capas</a:t>
            </a:r>
            <a:br/>
            <a:r>
              <a:t>D. Solo Grad-CAM</a:t>
            </a:r>
            <a:br/>
            <a:r>
              <a:t>E. Solo 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Métricas clínicas, población, modalidad, seguridad y flujo de trabajo</a:t>
            </a:r>
            <a:br/>
            <a:br/>
            <a:r>
              <a:t>El artículo mide outcomes clínicos, no solo rendimiento computacional.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20: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Si Grad-CAM resalta un marcador externo y no el tejido mamario, ¿qué sospecha surge?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Atajo espurio</a:t>
            </a:r>
            <a:br/>
            <a:r>
              <a:t>B. Mejor sensibilidad</a:t>
            </a:r>
            <a:br/>
            <a:r>
              <a:t>C. No inferioridad</a:t>
            </a:r>
            <a:br/>
            <a:r>
              <a:t>D. Mejor PPV</a:t>
            </a:r>
            <a:br/>
            <a:r>
              <a:t>E. Aumento de CDR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Atajo espurio</a:t>
            </a:r>
            <a:br/>
            <a:br/>
            <a:r>
              <a:t>El modelo puede aprender artefactos no clínicos.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21: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¿Qué debe hacer el estudiante si el modelo tiene AUC alto pero Grad-CAM mira zonas irrelevantes?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Aceptar el modelo</a:t>
            </a:r>
            <a:br/>
            <a:r>
              <a:t>B. Revisar dataset, sesgo y validación</a:t>
            </a:r>
            <a:br/>
            <a:r>
              <a:t>C. Eliminar radiólogos</a:t>
            </a:r>
            <a:br/>
            <a:r>
              <a:t>D. Subir threshold sin revisar</a:t>
            </a:r>
            <a:br/>
            <a:r>
              <a:t>E. Ignorar mapas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B. Revisar dataset, sesgo y validación</a:t>
            </a:r>
            <a:br/>
            <a:br/>
            <a:r>
              <a:t>La explicación visual puede revelar errores de aprendizaje.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22: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¿Qué parte del workflow AITIC se parece a un clasificador de imágenes?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Asignar score de riesgo IA</a:t>
            </a:r>
            <a:br/>
            <a:r>
              <a:t>B. Firmar consentimiento</a:t>
            </a:r>
            <a:br/>
            <a:r>
              <a:t>C. Calcular edad</a:t>
            </a:r>
            <a:br/>
            <a:r>
              <a:t>D. Tomar biopsia</a:t>
            </a:r>
            <a:br/>
            <a:r>
              <a:t>E. Publicar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Asignar score de riesgo IA</a:t>
            </a:r>
            <a:br/>
            <a:br/>
            <a:r>
              <a:t>La IA produce una puntuación que separa bajo y alto riesgo.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23: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¿Por qué scores 1–7 vs 8–10 son clínicamente importantes?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Son umbrales de acción</a:t>
            </a:r>
            <a:br/>
            <a:r>
              <a:t>B. Son tamaños de píxel</a:t>
            </a:r>
            <a:br/>
            <a:r>
              <a:t>C. Son tipos de tumor</a:t>
            </a:r>
            <a:br/>
            <a:r>
              <a:t>D. Son fechas</a:t>
            </a:r>
            <a:br/>
            <a:r>
              <a:t>E. Son densidades BI-RADS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Son umbrales de acción</a:t>
            </a:r>
            <a:br/>
            <a:br/>
            <a:r>
              <a:t>Definen si hay lectura humana o clasificación normal automática.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24: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Si bajamos el umbral para marcar alto riesgo, probablemente: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Sube sensibilidad y suben recalls</a:t>
            </a:r>
            <a:br/>
            <a:r>
              <a:t>B. Bajan todos los falsos positivos</a:t>
            </a:r>
            <a:br/>
            <a:r>
              <a:t>C. Se elimina trabajo</a:t>
            </a:r>
            <a:br/>
            <a:r>
              <a:t>D. No cambia nada</a:t>
            </a:r>
            <a:br/>
            <a:r>
              <a:t>E. Disminuye CDR siempre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Sube sensibilidad y suben recalls</a:t>
            </a:r>
            <a:br/>
            <a:br/>
            <a:r>
              <a:t>El umbral controla el equilibrio entre detección y carga.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25: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Si subimos demasiado el umbral, probablemente: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Podemos perder cánceres sutiles</a:t>
            </a:r>
            <a:br/>
            <a:r>
              <a:t>B. Aumentan todos los píxeles</a:t>
            </a:r>
            <a:br/>
            <a:r>
              <a:t>C. No hay falsos negativos</a:t>
            </a:r>
            <a:br/>
            <a:r>
              <a:t>D. Todos los casos son positivos</a:t>
            </a:r>
            <a:br/>
            <a:r>
              <a:t>E. Se elimina 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Podemos perder cánceres sutiles</a:t>
            </a:r>
            <a:br/>
            <a:br/>
            <a:r>
              <a:t>Menos casos pasan a revisión; puede caer sensibilidad.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26: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En MONAI/PyTorch, ¿qué hace la función loss durante entrenamiento?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Cuantifica error del modelo</a:t>
            </a:r>
            <a:br/>
            <a:r>
              <a:t>B. Mide densidad mamaria</a:t>
            </a:r>
            <a:br/>
            <a:r>
              <a:t>C. Dibuja Grad-CAM</a:t>
            </a:r>
            <a:br/>
            <a:r>
              <a:t>D. Firma consentimiento</a:t>
            </a:r>
            <a:br/>
            <a:r>
              <a:t>E. Lee PACS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Cuantifica error del modelo</a:t>
            </a:r>
            <a:br/>
            <a:br/>
            <a:r>
              <a:t>La pérdida guía el ajuste de pesos por backpropagation.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27: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En un notebook docente, ¿por qué separar train/validation/test?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Para estimar generalización</a:t>
            </a:r>
            <a:br/>
            <a:r>
              <a:t>B. Para duplicar pacientes</a:t>
            </a:r>
            <a:br/>
            <a:r>
              <a:t>C. Para reducir pixeles</a:t>
            </a:r>
            <a:br/>
            <a:r>
              <a:t>D. Para evitar métricas</a:t>
            </a:r>
            <a:br/>
            <a:r>
              <a:t>E. Para crear cánceres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Para estimar generalización</a:t>
            </a:r>
            <a:br/>
            <a:br/>
            <a:r>
              <a:t>El test final simula imágenes no vistas por el modelo.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28: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¿Cuál es la mejor conclusión del artículo?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La IA puede apoyar un workflow parcialmente autónomo con reducción sustancial de carga, pero requiere vigilancia clínica</a:t>
            </a:r>
            <a:br/>
            <a:r>
              <a:t>B. La IA elimina radiólogos</a:t>
            </a:r>
            <a:br/>
            <a:r>
              <a:t>C. La IA no necesita validación</a:t>
            </a:r>
            <a:br/>
            <a:r>
              <a:t>D. El recall desaparece</a:t>
            </a:r>
            <a:br/>
            <a:r>
              <a:t>E. El Grad-CAM reemplaza biopsia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La IA puede apoyar un workflow parcialmente autónomo con reducción sustancial de carga, pero requiere vigilancia clínica</a:t>
            </a:r>
            <a:br/>
            <a:br/>
            <a:r>
              <a:t>La conclusión reconoce beneficio y necesidad de seguridad.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La conclusión apoya un workflow parcialmente automatizado con vigilancia de seguridad.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29: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¿Cuál es una limitación importante del estudio?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Single-site, un proveedor de dispositivos y un sistema IA</a:t>
            </a:r>
            <a:br/>
            <a:r>
              <a:t>B. No tuvo pacientes</a:t>
            </a:r>
            <a:br/>
            <a:r>
              <a:t>C. No midió workload</a:t>
            </a:r>
            <a:br/>
            <a:r>
              <a:t>D. No usó mamografía</a:t>
            </a:r>
            <a:br/>
            <a:r>
              <a:t>E. No tuvo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Single-site, un proveedor de dispositivos y un sistema IA</a:t>
            </a:r>
            <a:br/>
            <a:br/>
            <a:r>
              <a:t>El propio artículo pide validación adicional en otros entornos.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960120"/>
          </a:xfrm>
          <a:prstGeom prst="roundRect">
            <a:avLst/>
          </a:prstGeom>
          <a:solidFill>
            <a:srgbClr val="FFFAEB"/>
          </a:solidFill>
          <a:ln w="1524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150" b="0">
                <a:solidFill>
                  <a:srgbClr val="19212D"/>
                </a:solidFill>
              </a:defRPr>
            </a:pPr>
            <a:r>
              <a:t>Evidencia del artículo: Limitaciones: centro único, un proveedor de dispositivos y un sistema de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Pregunta 30: razonamiento clínico +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Formato de discusión rápida para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96012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400" b="1">
                <a:solidFill>
                  <a:srgbClr val="0F2C59"/>
                </a:solidFill>
              </a:defRPr>
            </a:pPr>
            <a:r>
              <a:t>Proyecto rápido para estudiantes: ¿cuál es el producto mínimo viable?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50" b="0">
                <a:solidFill>
                  <a:srgbClr val="19212D"/>
                </a:solidFill>
              </a:defRPr>
            </a:pPr>
            <a:r>
              <a:t>A. Clasificador demo + matriz de confusión + Grad-CAM + reflexión de seguridad</a:t>
            </a:r>
            <a:br/>
            <a:r>
              <a:t>B. Dispositivo médico comercial</a:t>
            </a:r>
            <a:br/>
            <a:r>
              <a:t>C. Biopsia autónoma</a:t>
            </a:r>
            <a:br/>
            <a:r>
              <a:t>D. Hospital completo</a:t>
            </a:r>
            <a:br/>
            <a:r>
              <a:t>E. Ensayo nacional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57400"/>
            <a:ext cx="5120640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78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54864"/>
          <a:lstStyle/>
          <a:p>
            <a:pPr algn="ctr">
              <a:defRPr sz="1220" b="0">
                <a:solidFill>
                  <a:srgbClr val="19212D"/>
                </a:solidFill>
              </a:defRPr>
            </a:pPr>
            <a:r>
              <a:t>Respuesta: A. Clasificador demo + matriz de confusión + Grad-CAM + reflexión de seguridad</a:t>
            </a:r>
            <a:br/>
            <a:br/>
            <a:r>
              <a:t>Ese MVP es viable en un notebook y enseña todo el ciclo.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Proyecto final de 20–30 minutos: clasificador + Grad-CAM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Producto mínimo viable para estudiantes de salud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Entregable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Elegir dataset demo: normal vs sospechoso.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Entrenar CNN pequeña o usar transfer learning.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Reportar matriz de confusión, sensibilidad, especificidad, PPV.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Generar 3 mapas Grad-CAM: acierto, falso positivo, falso negativo.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Escribir 5 líneas: ¿lo usaría como apoyo clínico?, ¿por qué?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Criterio de evaluación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No se exige publicar un modelo.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Sí se exige pensamiento crítico.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Explicar datos, píxeles, CNN, feature maps, threshold y validación.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Conectar con el artículo AITIC: carga de trabajo, detección, recall y seguridad.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Conclusión: IA médica = modelo + flujo clínico + vigilancia.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C59"/>
                </a:solidFill>
              </a:defRPr>
            </a:pPr>
            <a:r>
              <a:t>Artículo y evidencia utilizada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E5B6E"/>
                </a:solidFill>
              </a:defRPr>
            </a:pPr>
            <a:r>
              <a:t>Para citar dentro de la clase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7899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73152"/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Nota de honestidad científica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Elías-Cabot E. et al. AI-based triage and decision support in mammography and digital tomosynthesis for breast cancer screening: a paired, noninferiority trial. Nature Medicine 32, 1296–1305 (2026). DOI: 10.1038/s41591-026-04277-x.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Figura 1: perfil del estudio y exclusiones.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Figura 2: diseño pareado de estrategia estándar vs estrategia con IA.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Tabla 2: workload, CDR, recall, PPV y FPR.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Tabla 3: comparación DM vs DBT.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Tabla 4: características histológicas de cánceres detectados.</a:t>
            </a:r>
          </a:p>
          <a:p>
            <a:pPr>
              <a:spcAft>
                <a:spcPts val="200"/>
              </a:spcAft>
              <a:defRPr sz="1200">
                <a:solidFill>
                  <a:srgbClr val="19212D"/>
                </a:solidFill>
              </a:defRPr>
            </a:pPr>
            <a:r>
              <a:t>• MONAI/PyTorch se utiliza aquí como herramienta docente para reproducir un clasificador de demostración y mapas de explicabilidad; el artículo no proporciona un notebook MONAI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788291"/>
                </a:solidFill>
              </a:defRPr>
            </a:pPr>
            <a:r>
              <a:t>Sesión 8 · IA para imágenes médicas · MONAI/PyTorch · CNN + Grad-CAM + validación clínica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