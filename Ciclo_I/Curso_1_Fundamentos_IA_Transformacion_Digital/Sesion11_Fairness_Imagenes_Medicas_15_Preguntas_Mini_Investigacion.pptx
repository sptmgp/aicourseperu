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8F4F9"/>
        </a:solidFill>
        <a:effectLst/>
      </p:bgPr>
    </p:bg>
    <p:spTree>
      <p:nvGrpSpPr>
        <p:cNvPr id="1" name=""/>
        <p:cNvGrpSpPr/>
        <p:nvPr/>
      </p:nvGrpSpPr>
      <p:grpSpPr/>
      <p:sp>
        <p:nvSpPr>
          <p:cNvPr id="2" name="Rounded Rectangle 1"/>
          <p:cNvSpPr/>
          <p:nvPr/>
        </p:nvSpPr>
        <p:spPr>
          <a:xfrm>
            <a:off x="594360" y="621792"/>
            <a:ext cx="3291840" cy="365760"/>
          </a:xfrm>
          <a:prstGeom prst="roundRect">
            <a:avLst/>
          </a:prstGeom>
          <a:solidFill>
            <a:srgbClr val="FFFFFF"/>
          </a:solidFill>
          <a:ln w="12700">
            <a:solidFill>
              <a:srgbClr val="BEE6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300" b="1">
                <a:solidFill>
                  <a:srgbClr val="008993"/>
                </a:solidFill>
                <a:latin typeface="Aptos"/>
              </a:defRPr>
            </a:pPr>
            <a:r>
              <a:t>SESIÓN 11 · TEMA 2</a:t>
            </a:r>
          </a:p>
        </p:txBody>
      </p:sp>
      <p:sp>
        <p:nvSpPr>
          <p:cNvPr id="3" name="TextBox 2"/>
          <p:cNvSpPr txBox="1"/>
          <p:nvPr/>
        </p:nvSpPr>
        <p:spPr>
          <a:xfrm>
            <a:off x="594360" y="1115568"/>
            <a:ext cx="5760720" cy="1417320"/>
          </a:xfrm>
          <a:prstGeom prst="rect">
            <a:avLst/>
          </a:prstGeom>
          <a:noFill/>
        </p:spPr>
        <p:txBody>
          <a:bodyPr wrap="none">
            <a:spAutoFit/>
          </a:bodyPr>
          <a:lstStyle/>
          <a:p>
            <a:pPr>
              <a:defRPr sz="2900" b="1">
                <a:solidFill>
                  <a:srgbClr val="0F2648"/>
                </a:solidFill>
                <a:latin typeface="Aptos"/>
              </a:defRPr>
            </a:pPr>
            <a:r>
              <a:t>Fairness en IA médica:</a:t>
            </a:r>
            <a:br/>
            <a:r>
              <a:t>¿algún grupo recibe peor sensibilidad/especificidad?</a:t>
            </a:r>
          </a:p>
        </p:txBody>
      </p:sp>
      <p:sp>
        <p:nvSpPr>
          <p:cNvPr id="4" name="Rounded Rectangle 3"/>
          <p:cNvSpPr/>
          <p:nvPr/>
        </p:nvSpPr>
        <p:spPr>
          <a:xfrm>
            <a:off x="594360" y="2852928"/>
            <a:ext cx="5486400" cy="91440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750" b="1">
                <a:solidFill>
                  <a:srgbClr val="0F2648"/>
                </a:solidFill>
                <a:latin typeface="Aptos"/>
              </a:defRPr>
            </a:pPr>
            <a:r>
              <a:t>15 preguntas + mini-investigación con figuras del artículo</a:t>
            </a:r>
          </a:p>
        </p:txBody>
      </p:sp>
      <p:sp>
        <p:nvSpPr>
          <p:cNvPr id="5" name="Rounded Rectangle 4"/>
          <p:cNvSpPr/>
          <p:nvPr/>
        </p:nvSpPr>
        <p:spPr>
          <a:xfrm>
            <a:off x="594360" y="3977639"/>
            <a:ext cx="5486400" cy="141732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spcAft>
                <a:spcPts val="200"/>
              </a:spcAft>
              <a:defRPr sz="1180">
                <a:solidFill>
                  <a:srgbClr val="212B3A"/>
                </a:solidFill>
                <a:latin typeface="Aptos"/>
              </a:defRPr>
            </a:pPr>
            <a:r>
              <a:t>• Artículo base: Yang et al., Nature Medicine 2024.</a:t>
            </a:r>
          </a:p>
          <a:p>
            <a:pPr>
              <a:spcAft>
                <a:spcPts val="200"/>
              </a:spcAft>
              <a:defRPr sz="1180">
                <a:solidFill>
                  <a:srgbClr val="212B3A"/>
                </a:solidFill>
                <a:latin typeface="Aptos"/>
              </a:defRPr>
            </a:pPr>
            <a:r>
              <a:t>• Radiología, dermatología y oftalmología.</a:t>
            </a:r>
          </a:p>
          <a:p>
            <a:pPr>
              <a:spcAft>
                <a:spcPts val="200"/>
              </a:spcAft>
              <a:defRPr sz="1180">
                <a:solidFill>
                  <a:srgbClr val="212B3A"/>
                </a:solidFill>
                <a:latin typeface="Aptos"/>
              </a:defRPr>
            </a:pPr>
            <a:r>
              <a:t>• Seis datasets internacionales de radiografía de tórax.</a:t>
            </a:r>
          </a:p>
          <a:p>
            <a:pPr>
              <a:spcAft>
                <a:spcPts val="200"/>
              </a:spcAft>
              <a:defRPr sz="1180">
                <a:solidFill>
                  <a:srgbClr val="212B3A"/>
                </a:solidFill>
                <a:latin typeface="Aptos"/>
              </a:defRPr>
            </a:pPr>
            <a:r>
              <a:t>• Idea central: fairness local no siempre generaliza.</a:t>
            </a:r>
          </a:p>
        </p:txBody>
      </p:sp>
      <p:pic>
        <p:nvPicPr>
          <p:cNvPr id="6" name="Picture 5" descr="fig4_ood.png"/>
          <p:cNvPicPr>
            <a:picLocks noChangeAspect="1"/>
          </p:cNvPicPr>
          <p:nvPr/>
        </p:nvPicPr>
        <p:blipFill>
          <a:blip r:embed="rId2"/>
          <a:stretch>
            <a:fillRect/>
          </a:stretch>
        </p:blipFill>
        <p:spPr>
          <a:xfrm>
            <a:off x="6446520" y="640080"/>
            <a:ext cx="5212080" cy="5303520"/>
          </a:xfrm>
          <a:prstGeom prst="rect">
            <a:avLst/>
          </a:prstGeom>
        </p:spPr>
      </p:pic>
      <p:sp>
        <p:nvSpPr>
          <p:cNvPr id="7" name="Rounded Rectangle 6"/>
          <p:cNvSpPr/>
          <p:nvPr/>
        </p:nvSpPr>
        <p:spPr>
          <a:xfrm>
            <a:off x="594360" y="5715000"/>
            <a:ext cx="5486400" cy="502920"/>
          </a:xfrm>
          <a:prstGeom prst="roundRect">
            <a:avLst/>
          </a:prstGeom>
          <a:solidFill>
            <a:srgbClr val="FFF2F5"/>
          </a:solidFill>
          <a:ln w="12700">
            <a:solidFill>
              <a:srgbClr val="E6B4BE"/>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940" b="0">
                <a:solidFill>
                  <a:srgbClr val="B93434"/>
                </a:solidFill>
                <a:latin typeface="Aptos"/>
              </a:defRPr>
            </a:pPr>
            <a:r>
              <a:t>Mensaje: un modelo puede parecer justo localmente, pero perder fairness al cambiar hospital, población, equipo o dataset.</a:t>
            </a:r>
          </a:p>
        </p:txBody>
      </p:sp>
      <p:sp>
        <p:nvSpPr>
          <p:cNvPr id="8" name="Rectangle 7"/>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Artículo base y pregunta de investigación</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¿Un modelo justo en su hospital de desarrollo sigue siendo justo en otro hospital?</a:t>
            </a:r>
          </a:p>
        </p:txBody>
      </p:sp>
      <p:sp>
        <p:nvSpPr>
          <p:cNvPr id="4" name="Rounded Rectangle 3"/>
          <p:cNvSpPr/>
          <p:nvPr/>
        </p:nvSpPr>
        <p:spPr>
          <a:xfrm>
            <a:off x="685800" y="1143000"/>
            <a:ext cx="5349240" cy="443484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defRPr sz="1500" b="1">
                <a:solidFill>
                  <a:srgbClr val="0F2648"/>
                </a:solidFill>
                <a:latin typeface="Aptos"/>
              </a:defRPr>
            </a:pPr>
            <a:r>
              <a:t>Problema</a:t>
            </a:r>
          </a:p>
          <a:p>
            <a:pPr>
              <a:spcAft>
                <a:spcPts val="200"/>
              </a:spcAft>
              <a:defRPr sz="1250">
                <a:solidFill>
                  <a:srgbClr val="212B3A"/>
                </a:solidFill>
                <a:latin typeface="Aptos"/>
              </a:defRPr>
            </a:pPr>
            <a:r>
              <a:t>• Los modelos de imagen médica pueden inferir atributos demográficos desde imágenes.</a:t>
            </a:r>
          </a:p>
          <a:p>
            <a:pPr>
              <a:spcAft>
                <a:spcPts val="200"/>
              </a:spcAft>
              <a:defRPr sz="1250">
                <a:solidFill>
                  <a:srgbClr val="212B3A"/>
                </a:solidFill>
                <a:latin typeface="Aptos"/>
              </a:defRPr>
            </a:pPr>
            <a:r>
              <a:t>• Esto puede crear shortcuts: patrones correlacionados con grupo, pero no necesariamente causales.</a:t>
            </a:r>
          </a:p>
          <a:p>
            <a:pPr>
              <a:spcAft>
                <a:spcPts val="200"/>
              </a:spcAft>
              <a:defRPr sz="1250">
                <a:solidFill>
                  <a:srgbClr val="212B3A"/>
                </a:solidFill>
                <a:latin typeface="Aptos"/>
              </a:defRPr>
            </a:pPr>
            <a:r>
              <a:t>• El estudio analiza fairness dentro del dataset de entrenamiento y en datasets externos.</a:t>
            </a:r>
          </a:p>
          <a:p>
            <a:pPr>
              <a:spcAft>
                <a:spcPts val="200"/>
              </a:spcAft>
              <a:defRPr sz="1250">
                <a:solidFill>
                  <a:srgbClr val="212B3A"/>
                </a:solidFill>
                <a:latin typeface="Aptos"/>
              </a:defRPr>
            </a:pPr>
            <a:r>
              <a:t>• Incluye radiología, dermatología y oftalmología.</a:t>
            </a:r>
          </a:p>
        </p:txBody>
      </p:sp>
      <p:sp>
        <p:nvSpPr>
          <p:cNvPr id="5" name="Rounded Rectangle 4"/>
          <p:cNvSpPr/>
          <p:nvPr/>
        </p:nvSpPr>
        <p:spPr>
          <a:xfrm>
            <a:off x="6355080" y="1143000"/>
            <a:ext cx="5166360" cy="4434840"/>
          </a:xfrm>
          <a:prstGeom prst="roundRect">
            <a:avLst/>
          </a:prstGeom>
          <a:solidFill>
            <a:srgbClr val="EBF6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defRPr sz="1500" b="1">
                <a:solidFill>
                  <a:srgbClr val="0F2648"/>
                </a:solidFill>
                <a:latin typeface="Aptos"/>
              </a:defRPr>
            </a:pPr>
            <a:r>
              <a:t>Respuesta del artículo</a:t>
            </a:r>
          </a:p>
          <a:p>
            <a:pPr>
              <a:spcAft>
                <a:spcPts val="200"/>
              </a:spcAft>
              <a:defRPr sz="1250">
                <a:solidFill>
                  <a:srgbClr val="212B3A"/>
                </a:solidFill>
                <a:latin typeface="Aptos"/>
              </a:defRPr>
            </a:pPr>
            <a:r>
              <a:t>• Métrica clínica: diferencias en FPR/FNR por subgrupo.</a:t>
            </a:r>
          </a:p>
          <a:p>
            <a:pPr>
              <a:spcAft>
                <a:spcPts val="200"/>
              </a:spcAft>
              <a:defRPr sz="1250">
                <a:solidFill>
                  <a:srgbClr val="212B3A"/>
                </a:solidFill>
                <a:latin typeface="Aptos"/>
              </a:defRPr>
            </a:pPr>
            <a:r>
              <a:t>• Riesgo: underdiagnosis o overdiagnosis en grupos protegidos.</a:t>
            </a:r>
          </a:p>
          <a:p>
            <a:pPr>
              <a:spcAft>
                <a:spcPts val="200"/>
              </a:spcAft>
              <a:defRPr sz="1250">
                <a:solidFill>
                  <a:srgbClr val="212B3A"/>
                </a:solidFill>
                <a:latin typeface="Aptos"/>
              </a:defRPr>
            </a:pPr>
            <a:r>
              <a:t>• Hallazgo clave: corregir fairness localmente no garantiza fairness en datos externos.</a:t>
            </a:r>
          </a:p>
          <a:p>
            <a:pPr>
              <a:spcAft>
                <a:spcPts val="200"/>
              </a:spcAft>
              <a:defRPr sz="1250">
                <a:solidFill>
                  <a:srgbClr val="212B3A"/>
                </a:solidFill>
                <a:latin typeface="Aptos"/>
              </a:defRPr>
            </a:pPr>
            <a:r>
              <a:t>• Mejor estrategia: medir y reducir encoding demográfico.</a:t>
            </a:r>
          </a:p>
        </p:txBody>
      </p:sp>
      <p:sp>
        <p:nvSpPr>
          <p:cNvPr id="6" name="Rectangle 5"/>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Evidencia visual 1: seis datasets internacionales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La generalización se estudia cruzando hospitales, países y distribuciones</a:t>
            </a:r>
          </a:p>
        </p:txBody>
      </p:sp>
      <p:pic>
        <p:nvPicPr>
          <p:cNvPr id="4" name="Picture 3" descr="table1_datasets.png"/>
          <p:cNvPicPr>
            <a:picLocks noChangeAspect="1"/>
          </p:cNvPicPr>
          <p:nvPr/>
        </p:nvPicPr>
        <p:blipFill>
          <a:blip r:embed="rId2"/>
          <a:stretch>
            <a:fillRect/>
          </a:stretch>
        </p:blipFill>
        <p:spPr>
          <a:xfrm>
            <a:off x="594360" y="1078992"/>
            <a:ext cx="6080760" cy="3749039"/>
          </a:xfrm>
          <a:prstGeom prst="rect">
            <a:avLst/>
          </a:prstGeom>
        </p:spPr>
      </p:pic>
      <p:sp>
        <p:nvSpPr>
          <p:cNvPr id="5" name="Rounded Rectangle 4"/>
          <p:cNvSpPr/>
          <p:nvPr/>
        </p:nvSpPr>
        <p:spPr>
          <a:xfrm>
            <a:off x="6903720" y="1143000"/>
            <a:ext cx="4526280" cy="42519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defRPr sz="1500" b="1">
                <a:solidFill>
                  <a:srgbClr val="0F2648"/>
                </a:solidFill>
                <a:latin typeface="Aptos"/>
              </a:defRPr>
            </a:pPr>
            <a:r>
              <a:t>Cómo explicarlo</a:t>
            </a:r>
          </a:p>
          <a:p>
            <a:pPr>
              <a:spcAft>
                <a:spcPts val="200"/>
              </a:spcAft>
              <a:defRPr sz="1250">
                <a:solidFill>
                  <a:srgbClr val="212B3A"/>
                </a:solidFill>
                <a:latin typeface="Aptos"/>
              </a:defRPr>
            </a:pPr>
            <a:r>
              <a:t>• MIMIC-CXR: Boston.</a:t>
            </a:r>
          </a:p>
          <a:p>
            <a:pPr>
              <a:spcAft>
                <a:spcPts val="200"/>
              </a:spcAft>
              <a:defRPr sz="1250">
                <a:solidFill>
                  <a:srgbClr val="212B3A"/>
                </a:solidFill>
                <a:latin typeface="Aptos"/>
              </a:defRPr>
            </a:pPr>
            <a:r>
              <a:t>• CheXpert: Stanford.</a:t>
            </a:r>
          </a:p>
          <a:p>
            <a:pPr>
              <a:spcAft>
                <a:spcPts val="200"/>
              </a:spcAft>
              <a:defRPr sz="1250">
                <a:solidFill>
                  <a:srgbClr val="212B3A"/>
                </a:solidFill>
                <a:latin typeface="Aptos"/>
              </a:defRPr>
            </a:pPr>
            <a:r>
              <a:t>• NIH/SIIM: Bethesda.</a:t>
            </a:r>
          </a:p>
          <a:p>
            <a:pPr>
              <a:spcAft>
                <a:spcPts val="200"/>
              </a:spcAft>
              <a:defRPr sz="1250">
                <a:solidFill>
                  <a:srgbClr val="212B3A"/>
                </a:solidFill>
                <a:latin typeface="Aptos"/>
              </a:defRPr>
            </a:pPr>
            <a:r>
              <a:t>• PadChest: Alicante, España.</a:t>
            </a:r>
          </a:p>
          <a:p>
            <a:pPr>
              <a:spcAft>
                <a:spcPts val="200"/>
              </a:spcAft>
              <a:defRPr sz="1250">
                <a:solidFill>
                  <a:srgbClr val="212B3A"/>
                </a:solidFill>
                <a:latin typeface="Aptos"/>
              </a:defRPr>
            </a:pPr>
            <a:r>
              <a:t>• VinDr: Hanoi, Vietnam.</a:t>
            </a:r>
          </a:p>
          <a:p>
            <a:pPr>
              <a:spcAft>
                <a:spcPts val="200"/>
              </a:spcAft>
              <a:defRPr sz="1250">
                <a:solidFill>
                  <a:srgbClr val="212B3A"/>
                </a:solidFill>
                <a:latin typeface="Aptos"/>
              </a:defRPr>
            </a:pPr>
            <a:r>
              <a:t>• Cambian edad, sexo, raza disponible, prevalencia y modalidad frontal.</a:t>
            </a:r>
          </a:p>
        </p:txBody>
      </p:sp>
      <p:sp>
        <p:nvSpPr>
          <p:cNvPr id="6" name="Rounded Rectangle 5"/>
          <p:cNvSpPr/>
          <p:nvPr/>
        </p:nvSpPr>
        <p:spPr>
          <a:xfrm>
            <a:off x="777240" y="5166360"/>
            <a:ext cx="10469880" cy="64008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00" b="1">
                <a:solidFill>
                  <a:srgbClr val="0F2648"/>
                </a:solidFill>
                <a:latin typeface="Aptos"/>
              </a:defRPr>
            </a:pPr>
            <a:r>
              <a:t>Punto de enseñanza: un modelo no viaja solo; viaja junto con sus sesgos, shortcuts y supuestos del hospital donde fue entrenado.</a:t>
            </a:r>
          </a:p>
        </p:txBody>
      </p:sp>
      <p:sp>
        <p:nvSpPr>
          <p:cNvPr id="7" name="Rectangle 6"/>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Evidencia visual 2: pipeline ID/OOD</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El paper compara rendimiento, fairness, calibración y encoding demográfico</a:t>
            </a:r>
          </a:p>
        </p:txBody>
      </p:sp>
      <p:pic>
        <p:nvPicPr>
          <p:cNvPr id="4" name="Picture 3" descr="fig1_pipeline.png"/>
          <p:cNvPicPr>
            <a:picLocks noChangeAspect="1"/>
          </p:cNvPicPr>
          <p:nvPr/>
        </p:nvPicPr>
        <p:blipFill>
          <a:blip r:embed="rId2"/>
          <a:stretch>
            <a:fillRect/>
          </a:stretch>
        </p:blipFill>
        <p:spPr>
          <a:xfrm>
            <a:off x="594360" y="1051560"/>
            <a:ext cx="5897880" cy="4800600"/>
          </a:xfrm>
          <a:prstGeom prst="rect">
            <a:avLst/>
          </a:prstGeom>
        </p:spPr>
      </p:pic>
      <p:sp>
        <p:nvSpPr>
          <p:cNvPr id="5" name="Rounded Rectangle 4"/>
          <p:cNvSpPr/>
          <p:nvPr/>
        </p:nvSpPr>
        <p:spPr>
          <a:xfrm>
            <a:off x="6720840" y="1143000"/>
            <a:ext cx="4617720" cy="4480560"/>
          </a:xfrm>
          <a:prstGeom prst="roundRect">
            <a:avLst/>
          </a:prstGeom>
          <a:solidFill>
            <a:srgbClr val="EBF6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defRPr sz="1500" b="1">
                <a:solidFill>
                  <a:srgbClr val="0F2648"/>
                </a:solidFill>
                <a:latin typeface="Aptos"/>
              </a:defRPr>
            </a:pPr>
            <a:r>
              <a:t>Lectura docente</a:t>
            </a:r>
          </a:p>
          <a:p>
            <a:pPr>
              <a:spcAft>
                <a:spcPts val="200"/>
              </a:spcAft>
              <a:defRPr sz="1250">
                <a:solidFill>
                  <a:srgbClr val="212B3A"/>
                </a:solidFill>
                <a:latin typeface="Aptos"/>
              </a:defRPr>
            </a:pPr>
            <a:r>
              <a:t>• ID: prueba dentro del mismo entorno de desarrollo.</a:t>
            </a:r>
          </a:p>
          <a:p>
            <a:pPr>
              <a:spcAft>
                <a:spcPts val="200"/>
              </a:spcAft>
              <a:defRPr sz="1250">
                <a:solidFill>
                  <a:srgbClr val="212B3A"/>
                </a:solidFill>
                <a:latin typeface="Aptos"/>
              </a:defRPr>
            </a:pPr>
            <a:r>
              <a:t>• OOD: prueba en datasets externos no vistos.</a:t>
            </a:r>
          </a:p>
          <a:p>
            <a:pPr>
              <a:spcAft>
                <a:spcPts val="200"/>
              </a:spcAft>
              <a:defRPr sz="1250">
                <a:solidFill>
                  <a:srgbClr val="212B3A"/>
                </a:solidFill>
                <a:latin typeface="Aptos"/>
              </a:defRPr>
            </a:pPr>
            <a:r>
              <a:t>• Se entrenan modelos con algoritmos ERM, DANN, CDANN, GroupDRO, ReSample y MA.</a:t>
            </a:r>
          </a:p>
          <a:p>
            <a:pPr>
              <a:spcAft>
                <a:spcPts val="200"/>
              </a:spcAft>
              <a:defRPr sz="1250">
                <a:solidFill>
                  <a:srgbClr val="212B3A"/>
                </a:solidFill>
                <a:latin typeface="Aptos"/>
              </a:defRPr>
            </a:pPr>
            <a:r>
              <a:t>• Se elige modelo según diferentes criterios y se evalúa si la fairness sobrevive fuera del dominio original.</a:t>
            </a:r>
          </a:p>
        </p:txBody>
      </p:sp>
      <p:sp>
        <p:nvSpPr>
          <p:cNvPr id="6" name="Rectangle 5"/>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Evidencia visual 3: el modelo aprende atributos sensibles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Figura 2: más encoding demográfico se asocia con mayor fairness gap</a:t>
            </a:r>
          </a:p>
        </p:txBody>
      </p:sp>
      <p:pic>
        <p:nvPicPr>
          <p:cNvPr id="4" name="Picture 3" descr="fig2_shortcuts.png"/>
          <p:cNvPicPr>
            <a:picLocks noChangeAspect="1"/>
          </p:cNvPicPr>
          <p:nvPr/>
        </p:nvPicPr>
        <p:blipFill>
          <a:blip r:embed="rId2"/>
          <a:stretch>
            <a:fillRect/>
          </a:stretch>
        </p:blipFill>
        <p:spPr>
          <a:xfrm>
            <a:off x="594360" y="960120"/>
            <a:ext cx="6080760" cy="5212080"/>
          </a:xfrm>
          <a:prstGeom prst="rect">
            <a:avLst/>
          </a:prstGeom>
        </p:spPr>
      </p:pic>
      <p:sp>
        <p:nvSpPr>
          <p:cNvPr id="5" name="Rounded Rectangle 4"/>
          <p:cNvSpPr/>
          <p:nvPr/>
        </p:nvSpPr>
        <p:spPr>
          <a:xfrm>
            <a:off x="6903720" y="1143000"/>
            <a:ext cx="4526280" cy="434340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defRPr sz="1500" b="1">
                <a:solidFill>
                  <a:srgbClr val="0F2648"/>
                </a:solidFill>
                <a:latin typeface="Aptos"/>
              </a:defRPr>
            </a:pPr>
            <a:r>
              <a:t>Mensaje clave</a:t>
            </a:r>
          </a:p>
          <a:p>
            <a:pPr>
              <a:spcAft>
                <a:spcPts val="200"/>
              </a:spcAft>
              <a:defRPr sz="1250">
                <a:solidFill>
                  <a:srgbClr val="212B3A"/>
                </a:solidFill>
                <a:latin typeface="Aptos"/>
              </a:defRPr>
            </a:pPr>
            <a:r>
              <a:t>• Los modelos predicen edad, raza, sexo y combinaciones desde representaciones internas.</a:t>
            </a:r>
          </a:p>
          <a:p>
            <a:pPr>
              <a:spcAft>
                <a:spcPts val="200"/>
              </a:spcAft>
              <a:defRPr sz="1250">
                <a:solidFill>
                  <a:srgbClr val="212B3A"/>
                </a:solidFill>
                <a:latin typeface="Aptos"/>
              </a:defRPr>
            </a:pPr>
            <a:r>
              <a:t>• También aparecen gaps de FNR/FPR entre subgrupos.</a:t>
            </a:r>
          </a:p>
          <a:p>
            <a:pPr>
              <a:spcAft>
                <a:spcPts val="200"/>
              </a:spcAft>
              <a:defRPr sz="1250">
                <a:solidFill>
                  <a:srgbClr val="212B3A"/>
                </a:solidFill>
                <a:latin typeface="Aptos"/>
              </a:defRPr>
            </a:pPr>
            <a:r>
              <a:t>• Las correlaciones muestran que más información protegida en embeddings suele asociarse a peor fairness.</a:t>
            </a:r>
          </a:p>
          <a:p>
            <a:pPr>
              <a:spcAft>
                <a:spcPts val="200"/>
              </a:spcAft>
              <a:defRPr sz="1250">
                <a:solidFill>
                  <a:srgbClr val="212B3A"/>
                </a:solidFill>
                <a:latin typeface="Aptos"/>
              </a:defRPr>
            </a:pPr>
            <a:r>
              <a:t>• Esto explica por qué un modelo puede tener buen AUC y aun así ser injusto.</a:t>
            </a:r>
          </a:p>
        </p:txBody>
      </p:sp>
      <p:sp>
        <p:nvSpPr>
          <p:cNvPr id="6" name="Rectangle 5"/>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Evidencia visual 4: fairness local puede mejorar</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Figura 3: algoritmos de mitigación reducen gaps ID manteniendo performance</a:t>
            </a:r>
          </a:p>
        </p:txBody>
      </p:sp>
      <p:pic>
        <p:nvPicPr>
          <p:cNvPr id="4" name="Picture 3" descr="fig3_local.png"/>
          <p:cNvPicPr>
            <a:picLocks noChangeAspect="1"/>
          </p:cNvPicPr>
          <p:nvPr/>
        </p:nvPicPr>
        <p:blipFill>
          <a:blip r:embed="rId2"/>
          <a:stretch>
            <a:fillRect/>
          </a:stretch>
        </p:blipFill>
        <p:spPr>
          <a:xfrm>
            <a:off x="594360" y="1005840"/>
            <a:ext cx="6035040" cy="4983480"/>
          </a:xfrm>
          <a:prstGeom prst="rect">
            <a:avLst/>
          </a:prstGeom>
        </p:spPr>
      </p:pic>
      <p:sp>
        <p:nvSpPr>
          <p:cNvPr id="5" name="Rounded Rectangle 4"/>
          <p:cNvSpPr/>
          <p:nvPr/>
        </p:nvSpPr>
        <p:spPr>
          <a:xfrm>
            <a:off x="6858000" y="1143000"/>
            <a:ext cx="4572000" cy="4480560"/>
          </a:xfrm>
          <a:prstGeom prst="roundRect">
            <a:avLst/>
          </a:prstGeom>
          <a:solidFill>
            <a:srgbClr val="EBF6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defRPr sz="1500" b="1">
                <a:solidFill>
                  <a:srgbClr val="0F2648"/>
                </a:solidFill>
                <a:latin typeface="Aptos"/>
              </a:defRPr>
            </a:pPr>
            <a:r>
              <a:t>Discusión</a:t>
            </a:r>
          </a:p>
          <a:p>
            <a:pPr>
              <a:spcAft>
                <a:spcPts val="200"/>
              </a:spcAft>
              <a:defRPr sz="1250">
                <a:solidFill>
                  <a:srgbClr val="212B3A"/>
                </a:solidFill>
                <a:latin typeface="Aptos"/>
              </a:defRPr>
            </a:pPr>
            <a:r>
              <a:t>• En el mismo dataset, algunos métodos reducen fairness gap.</a:t>
            </a:r>
          </a:p>
          <a:p>
            <a:pPr>
              <a:spcAft>
                <a:spcPts val="200"/>
              </a:spcAft>
              <a:defRPr sz="1250">
                <a:solidFill>
                  <a:srgbClr val="212B3A"/>
                </a:solidFill>
                <a:latin typeface="Aptos"/>
              </a:defRPr>
            </a:pPr>
            <a:r>
              <a:t>• Aparece un trade-off performance–fairness tipo Pareto.</a:t>
            </a:r>
          </a:p>
          <a:p>
            <a:pPr>
              <a:spcAft>
                <a:spcPts val="200"/>
              </a:spcAft>
              <a:defRPr sz="1250">
                <a:solidFill>
                  <a:srgbClr val="212B3A"/>
                </a:solidFill>
                <a:latin typeface="Aptos"/>
              </a:defRPr>
            </a:pPr>
            <a:r>
              <a:t>• Esto es útil para enseñar que no hay un único modelo “mejor”.</a:t>
            </a:r>
          </a:p>
          <a:p>
            <a:pPr>
              <a:spcAft>
                <a:spcPts val="200"/>
              </a:spcAft>
              <a:defRPr sz="1250">
                <a:solidFill>
                  <a:srgbClr val="212B3A"/>
                </a:solidFill>
                <a:latin typeface="Aptos"/>
              </a:defRPr>
            </a:pPr>
            <a:r>
              <a:t>• Pero esta mejora local no siempre se mantiene en otro hospital.</a:t>
            </a:r>
          </a:p>
        </p:txBody>
      </p:sp>
      <p:sp>
        <p:nvSpPr>
          <p:cNvPr id="6" name="Rectangle 5"/>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Evidencia visual 5: fairness local NO siempre transfiere</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Figura 4: el punto más importante para implementación clínica</a:t>
            </a:r>
          </a:p>
        </p:txBody>
      </p:sp>
      <p:pic>
        <p:nvPicPr>
          <p:cNvPr id="4" name="Picture 3" descr="fig4_ood.png"/>
          <p:cNvPicPr>
            <a:picLocks noChangeAspect="1"/>
          </p:cNvPicPr>
          <p:nvPr/>
        </p:nvPicPr>
        <p:blipFill>
          <a:blip r:embed="rId2"/>
          <a:stretch>
            <a:fillRect/>
          </a:stretch>
        </p:blipFill>
        <p:spPr>
          <a:xfrm>
            <a:off x="594360" y="960120"/>
            <a:ext cx="6035040" cy="5166360"/>
          </a:xfrm>
          <a:prstGeom prst="rect">
            <a:avLst/>
          </a:prstGeom>
        </p:spPr>
      </p:pic>
      <p:sp>
        <p:nvSpPr>
          <p:cNvPr id="5" name="Rounded Rectangle 4"/>
          <p:cNvSpPr/>
          <p:nvPr/>
        </p:nvSpPr>
        <p:spPr>
          <a:xfrm>
            <a:off x="6858000" y="1143000"/>
            <a:ext cx="4572000" cy="44805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defRPr sz="1500" b="1">
                <a:solidFill>
                  <a:srgbClr val="0F2648"/>
                </a:solidFill>
                <a:latin typeface="Aptos"/>
              </a:defRPr>
            </a:pPr>
            <a:r>
              <a:t>Mensaje para estudiantes</a:t>
            </a:r>
          </a:p>
          <a:p>
            <a:pPr>
              <a:spcAft>
                <a:spcPts val="200"/>
              </a:spcAft>
              <a:defRPr sz="1250">
                <a:solidFill>
                  <a:srgbClr val="212B3A"/>
                </a:solidFill>
                <a:latin typeface="Aptos"/>
              </a:defRPr>
            </a:pPr>
            <a:r>
              <a:t>• El AUROC puede transferir razonablemente entre ID y OOD.</a:t>
            </a:r>
          </a:p>
          <a:p>
            <a:pPr>
              <a:spcAft>
                <a:spcPts val="200"/>
              </a:spcAft>
              <a:defRPr sz="1250">
                <a:solidFill>
                  <a:srgbClr val="212B3A"/>
                </a:solidFill>
                <a:latin typeface="Aptos"/>
              </a:defRPr>
            </a:pPr>
            <a:r>
              <a:t>• Pero la fairness no muestra correlación consistente.</a:t>
            </a:r>
          </a:p>
          <a:p>
            <a:pPr>
              <a:spcAft>
                <a:spcPts val="200"/>
              </a:spcAft>
              <a:defRPr sz="1250">
                <a:solidFill>
                  <a:srgbClr val="212B3A"/>
                </a:solidFill>
                <a:latin typeface="Aptos"/>
              </a:defRPr>
            </a:pPr>
            <a:r>
              <a:t>• Un modelo justo en MIMIC-CXR puede ser injusto en CheXpert/NIH/PadChest/VinDr.</a:t>
            </a:r>
          </a:p>
          <a:p>
            <a:pPr>
              <a:spcAft>
                <a:spcPts val="200"/>
              </a:spcAft>
              <a:defRPr sz="1250">
                <a:solidFill>
                  <a:srgbClr val="212B3A"/>
                </a:solidFill>
                <a:latin typeface="Aptos"/>
              </a:defRPr>
            </a:pPr>
            <a:r>
              <a:t>• Conclusión: validación externa por subgrupo es obligatoria.</a:t>
            </a:r>
          </a:p>
        </p:txBody>
      </p:sp>
      <p:sp>
        <p:nvSpPr>
          <p:cNvPr id="6" name="Rectangle 5"/>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Evidencia visual 6: cómo elegir un modelo más justo fuera del hospital original</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Figura 5: seleccionar por menor encoding demográfico ayuda más que elegir solo por fairness local</a:t>
            </a:r>
          </a:p>
        </p:txBody>
      </p:sp>
      <p:pic>
        <p:nvPicPr>
          <p:cNvPr id="4" name="Picture 3" descr="fig5_selection.png"/>
          <p:cNvPicPr>
            <a:picLocks noChangeAspect="1"/>
          </p:cNvPicPr>
          <p:nvPr/>
        </p:nvPicPr>
        <p:blipFill>
          <a:blip r:embed="rId2"/>
          <a:stretch>
            <a:fillRect/>
          </a:stretch>
        </p:blipFill>
        <p:spPr>
          <a:xfrm>
            <a:off x="594360" y="1078992"/>
            <a:ext cx="6080760" cy="4434840"/>
          </a:xfrm>
          <a:prstGeom prst="rect">
            <a:avLst/>
          </a:prstGeom>
        </p:spPr>
      </p:pic>
      <p:sp>
        <p:nvSpPr>
          <p:cNvPr id="5" name="Rounded Rectangle 4"/>
          <p:cNvSpPr/>
          <p:nvPr/>
        </p:nvSpPr>
        <p:spPr>
          <a:xfrm>
            <a:off x="6903720" y="1143000"/>
            <a:ext cx="4526280" cy="4297680"/>
          </a:xfrm>
          <a:prstGeom prst="roundRect">
            <a:avLst/>
          </a:prstGeom>
          <a:solidFill>
            <a:srgbClr val="EBF6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defRPr sz="1500" b="1">
                <a:solidFill>
                  <a:srgbClr val="0F2648"/>
                </a:solidFill>
                <a:latin typeface="Aptos"/>
              </a:defRPr>
            </a:pPr>
            <a:r>
              <a:t>Lección técnica</a:t>
            </a:r>
          </a:p>
          <a:p>
            <a:pPr>
              <a:spcAft>
                <a:spcPts val="200"/>
              </a:spcAft>
              <a:defRPr sz="1250">
                <a:solidFill>
                  <a:srgbClr val="212B3A"/>
                </a:solidFill>
                <a:latin typeface="Aptos"/>
              </a:defRPr>
            </a:pPr>
            <a:r>
              <a:t>• Elegir el modelo con menor fairness gap ID no siempre es lo mejor.</a:t>
            </a:r>
          </a:p>
          <a:p>
            <a:pPr>
              <a:spcAft>
                <a:spcPts val="200"/>
              </a:spcAft>
              <a:defRPr sz="1250">
                <a:solidFill>
                  <a:srgbClr val="212B3A"/>
                </a:solidFill>
                <a:latin typeface="Aptos"/>
              </a:defRPr>
            </a:pPr>
            <a:r>
              <a:t>• Los criterios basados en menor attribute encoding funcionan mejor para OOD fairness.</a:t>
            </a:r>
          </a:p>
          <a:p>
            <a:pPr>
              <a:spcAft>
                <a:spcPts val="200"/>
              </a:spcAft>
              <a:defRPr sz="1250">
                <a:solidFill>
                  <a:srgbClr val="212B3A"/>
                </a:solidFill>
                <a:latin typeface="Aptos"/>
              </a:defRPr>
            </a:pPr>
            <a:r>
              <a:t>• DANN fue uno de los métodos con mejor comportamiento OOD.</a:t>
            </a:r>
          </a:p>
          <a:p>
            <a:pPr>
              <a:spcAft>
                <a:spcPts val="200"/>
              </a:spcAft>
              <a:defRPr sz="1250">
                <a:solidFill>
                  <a:srgbClr val="212B3A"/>
                </a:solidFill>
                <a:latin typeface="Aptos"/>
              </a:defRPr>
            </a:pPr>
            <a:r>
              <a:t>• Para clínica: seleccionar modelos pensando en despliegue, no solo en validación interna.</a:t>
            </a:r>
          </a:p>
        </p:txBody>
      </p:sp>
      <p:sp>
        <p:nvSpPr>
          <p:cNvPr id="6" name="Rectangle 5"/>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Por qué esto importa clínicamente</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Fairness no es una idea abstracta: se traduce en falsos negativos y falsos positivos</a:t>
            </a:r>
          </a:p>
        </p:txBody>
      </p:sp>
      <p:sp>
        <p:nvSpPr>
          <p:cNvPr id="4" name="Rounded Rectangle 3"/>
          <p:cNvSpPr/>
          <p:nvPr/>
        </p:nvSpPr>
        <p:spPr>
          <a:xfrm>
            <a:off x="685800" y="1143000"/>
            <a:ext cx="5349240" cy="438912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defRPr sz="1500" b="1">
                <a:solidFill>
                  <a:srgbClr val="0F2648"/>
                </a:solidFill>
                <a:latin typeface="Aptos"/>
              </a:defRPr>
            </a:pPr>
            <a:r>
              <a:t>Impacto en pacientes</a:t>
            </a:r>
          </a:p>
          <a:p>
            <a:pPr>
              <a:spcAft>
                <a:spcPts val="200"/>
              </a:spcAft>
              <a:defRPr sz="1250">
                <a:solidFill>
                  <a:srgbClr val="212B3A"/>
                </a:solidFill>
                <a:latin typeface="Aptos"/>
              </a:defRPr>
            </a:pPr>
            <a:r>
              <a:t>• Peor sensibilidad en un grupo = más enfermedad no detectada.</a:t>
            </a:r>
          </a:p>
          <a:p>
            <a:pPr>
              <a:spcAft>
                <a:spcPts val="200"/>
              </a:spcAft>
              <a:defRPr sz="1250">
                <a:solidFill>
                  <a:srgbClr val="212B3A"/>
                </a:solidFill>
                <a:latin typeface="Aptos"/>
              </a:defRPr>
            </a:pPr>
            <a:r>
              <a:t>• Peor especificidad en un grupo = más alarmas, pruebas y ansiedad.</a:t>
            </a:r>
          </a:p>
          <a:p>
            <a:pPr>
              <a:spcAft>
                <a:spcPts val="200"/>
              </a:spcAft>
              <a:defRPr sz="1250">
                <a:solidFill>
                  <a:srgbClr val="212B3A"/>
                </a:solidFill>
                <a:latin typeface="Aptos"/>
              </a:defRPr>
            </a:pPr>
            <a:r>
              <a:t>• Si la falla ocurre en grupos históricamente subatendidos, la IA puede amplificar desigualdad.</a:t>
            </a:r>
          </a:p>
          <a:p>
            <a:pPr>
              <a:spcAft>
                <a:spcPts val="200"/>
              </a:spcAft>
              <a:defRPr sz="1250">
                <a:solidFill>
                  <a:srgbClr val="212B3A"/>
                </a:solidFill>
                <a:latin typeface="Aptos"/>
              </a:defRPr>
            </a:pPr>
            <a:r>
              <a:t>• Un AUC promedio alto puede esconder daño clínico desigual.</a:t>
            </a:r>
          </a:p>
        </p:txBody>
      </p:sp>
      <p:sp>
        <p:nvSpPr>
          <p:cNvPr id="5" name="Rounded Rectangle 4"/>
          <p:cNvSpPr/>
          <p:nvPr/>
        </p:nvSpPr>
        <p:spPr>
          <a:xfrm>
            <a:off x="6355080" y="1143000"/>
            <a:ext cx="5166360" cy="4389120"/>
          </a:xfrm>
          <a:prstGeom prst="roundRect">
            <a:avLst/>
          </a:prstGeom>
          <a:solidFill>
            <a:srgbClr val="EBF6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defRPr sz="1500" b="1">
                <a:solidFill>
                  <a:srgbClr val="0F2648"/>
                </a:solidFill>
                <a:latin typeface="Aptos"/>
              </a:defRPr>
            </a:pPr>
            <a:r>
              <a:t>Qué debe pedir el hospital</a:t>
            </a:r>
          </a:p>
          <a:p>
            <a:pPr>
              <a:spcAft>
                <a:spcPts val="200"/>
              </a:spcAft>
              <a:defRPr sz="1250">
                <a:solidFill>
                  <a:srgbClr val="212B3A"/>
                </a:solidFill>
                <a:latin typeface="Aptos"/>
              </a:defRPr>
            </a:pPr>
            <a:r>
              <a:t>• Validación externa en otros hospitales.</a:t>
            </a:r>
          </a:p>
          <a:p>
            <a:pPr>
              <a:spcAft>
                <a:spcPts val="200"/>
              </a:spcAft>
              <a:defRPr sz="1250">
                <a:solidFill>
                  <a:srgbClr val="212B3A"/>
                </a:solidFill>
                <a:latin typeface="Aptos"/>
              </a:defRPr>
            </a:pPr>
            <a:r>
              <a:t>• Reporte de FNR/FPR por subgrupo.</a:t>
            </a:r>
          </a:p>
          <a:p>
            <a:pPr>
              <a:spcAft>
                <a:spcPts val="200"/>
              </a:spcAft>
              <a:defRPr sz="1250">
                <a:solidFill>
                  <a:srgbClr val="212B3A"/>
                </a:solidFill>
                <a:latin typeface="Aptos"/>
              </a:defRPr>
            </a:pPr>
            <a:r>
              <a:t>• Monitoreo post-despliegue.</a:t>
            </a:r>
          </a:p>
          <a:p>
            <a:pPr>
              <a:spcAft>
                <a:spcPts val="200"/>
              </a:spcAft>
              <a:defRPr sz="1250">
                <a:solidFill>
                  <a:srgbClr val="212B3A"/>
                </a:solidFill>
                <a:latin typeface="Aptos"/>
              </a:defRPr>
            </a:pPr>
            <a:r>
              <a:t>• Auditoría de drift y distribución.</a:t>
            </a:r>
          </a:p>
          <a:p>
            <a:pPr>
              <a:spcAft>
                <a:spcPts val="200"/>
              </a:spcAft>
              <a:defRPr sz="1250">
                <a:solidFill>
                  <a:srgbClr val="212B3A"/>
                </a:solidFill>
                <a:latin typeface="Aptos"/>
              </a:defRPr>
            </a:pPr>
            <a:r>
              <a:t>• Human-in-the-loop cuando la incertidumbre o el subgrupo es vulnerable.</a:t>
            </a:r>
          </a:p>
        </p:txBody>
      </p:sp>
      <p:sp>
        <p:nvSpPr>
          <p:cNvPr id="6" name="Rectangle 5"/>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Mini-investigación para estudiantes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Auditar fairness de un clasificador de imagen médica</a:t>
            </a:r>
          </a:p>
        </p:txBody>
      </p:sp>
      <p:sp>
        <p:nvSpPr>
          <p:cNvPr id="4" name="Rounded Rectangle 3"/>
          <p:cNvSpPr/>
          <p:nvPr/>
        </p:nvSpPr>
        <p:spPr>
          <a:xfrm>
            <a:off x="685800" y="1143000"/>
            <a:ext cx="5349240" cy="443484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defRPr sz="1500" b="1">
                <a:solidFill>
                  <a:srgbClr val="0F2648"/>
                </a:solidFill>
                <a:latin typeface="Aptos"/>
              </a:defRPr>
            </a:pPr>
            <a:r>
              <a:t>Protocolo</a:t>
            </a:r>
          </a:p>
          <a:p>
            <a:pPr>
              <a:spcAft>
                <a:spcPts val="200"/>
              </a:spcAft>
              <a:defRPr sz="1250">
                <a:solidFill>
                  <a:srgbClr val="212B3A"/>
                </a:solidFill>
                <a:latin typeface="Aptos"/>
              </a:defRPr>
            </a:pPr>
            <a:r>
              <a:t>• Elegir un dataset demo de imagen médica.</a:t>
            </a:r>
          </a:p>
          <a:p>
            <a:pPr>
              <a:spcAft>
                <a:spcPts val="200"/>
              </a:spcAft>
              <a:defRPr sz="1250">
                <a:solidFill>
                  <a:srgbClr val="212B3A"/>
                </a:solidFill>
                <a:latin typeface="Aptos"/>
              </a:defRPr>
            </a:pPr>
            <a:r>
              <a:t>• Separar por subgrupo disponible: edad, sexo, tono de piel, hospital o equipo.</a:t>
            </a:r>
          </a:p>
          <a:p>
            <a:pPr>
              <a:spcAft>
                <a:spcPts val="200"/>
              </a:spcAft>
              <a:defRPr sz="1250">
                <a:solidFill>
                  <a:srgbClr val="212B3A"/>
                </a:solidFill>
                <a:latin typeface="Aptos"/>
              </a:defRPr>
            </a:pPr>
            <a:r>
              <a:t>• Calcular sensibilidad y especificidad por subgrupo.</a:t>
            </a:r>
          </a:p>
          <a:p>
            <a:pPr>
              <a:spcAft>
                <a:spcPts val="200"/>
              </a:spcAft>
              <a:defRPr sz="1250">
                <a:solidFill>
                  <a:srgbClr val="212B3A"/>
                </a:solidFill>
                <a:latin typeface="Aptos"/>
              </a:defRPr>
            </a:pPr>
            <a:r>
              <a:t>• Reportar diferencia máxima de FNR/FPR.</a:t>
            </a:r>
          </a:p>
          <a:p>
            <a:pPr>
              <a:spcAft>
                <a:spcPts val="200"/>
              </a:spcAft>
              <a:defRPr sz="1250">
                <a:solidFill>
                  <a:srgbClr val="212B3A"/>
                </a:solidFill>
                <a:latin typeface="Aptos"/>
              </a:defRPr>
            </a:pPr>
            <a:r>
              <a:t>• Comparar resultado interno vs un conjunto externo o simulado.</a:t>
            </a:r>
          </a:p>
        </p:txBody>
      </p:sp>
      <p:sp>
        <p:nvSpPr>
          <p:cNvPr id="5" name="Rounded Rectangle 4"/>
          <p:cNvSpPr/>
          <p:nvPr/>
        </p:nvSpPr>
        <p:spPr>
          <a:xfrm>
            <a:off x="6355080" y="1143000"/>
            <a:ext cx="5166360" cy="4434840"/>
          </a:xfrm>
          <a:prstGeom prst="roundRect">
            <a:avLst/>
          </a:prstGeom>
          <a:solidFill>
            <a:srgbClr val="EBF6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defRPr sz="1500" b="1">
                <a:solidFill>
                  <a:srgbClr val="0F2648"/>
                </a:solidFill>
                <a:latin typeface="Aptos"/>
              </a:defRPr>
            </a:pPr>
            <a:r>
              <a:t>Entregable</a:t>
            </a:r>
          </a:p>
          <a:p>
            <a:pPr>
              <a:spcAft>
                <a:spcPts val="200"/>
              </a:spcAft>
              <a:defRPr sz="1250">
                <a:solidFill>
                  <a:srgbClr val="212B3A"/>
                </a:solidFill>
                <a:latin typeface="Aptos"/>
              </a:defRPr>
            </a:pPr>
            <a:r>
              <a:t>• Tabla de métricas por subgrupo.</a:t>
            </a:r>
          </a:p>
          <a:p>
            <a:pPr>
              <a:spcAft>
                <a:spcPts val="200"/>
              </a:spcAft>
              <a:defRPr sz="1250">
                <a:solidFill>
                  <a:srgbClr val="212B3A"/>
                </a:solidFill>
                <a:latin typeface="Aptos"/>
              </a:defRPr>
            </a:pPr>
            <a:r>
              <a:t>• Gráfico de fairness gap.</a:t>
            </a:r>
          </a:p>
          <a:p>
            <a:pPr>
              <a:spcAft>
                <a:spcPts val="200"/>
              </a:spcAft>
              <a:defRPr sz="1250">
                <a:solidFill>
                  <a:srgbClr val="212B3A"/>
                </a:solidFill>
                <a:latin typeface="Aptos"/>
              </a:defRPr>
            </a:pPr>
            <a:r>
              <a:t>• Mapa de decisión clínica: quién podría ser subdiagnosticado.</a:t>
            </a:r>
          </a:p>
          <a:p>
            <a:pPr>
              <a:spcAft>
                <a:spcPts val="200"/>
              </a:spcAft>
              <a:defRPr sz="1250">
                <a:solidFill>
                  <a:srgbClr val="212B3A"/>
                </a:solidFill>
                <a:latin typeface="Aptos"/>
              </a:defRPr>
            </a:pPr>
            <a:r>
              <a:t>• Plan de mitigación: datos, threshold, auditoría, HITL.</a:t>
            </a:r>
          </a:p>
          <a:p>
            <a:pPr>
              <a:spcAft>
                <a:spcPts val="200"/>
              </a:spcAft>
              <a:defRPr sz="1250">
                <a:solidFill>
                  <a:srgbClr val="212B3A"/>
                </a:solidFill>
                <a:latin typeface="Aptos"/>
              </a:defRPr>
            </a:pPr>
            <a:r>
              <a:t>• Conclusión: ¿deploy sí/no y bajo qué condiciones?</a:t>
            </a:r>
          </a:p>
        </p:txBody>
      </p:sp>
      <p:sp>
        <p:nvSpPr>
          <p:cNvPr id="6" name="Rectangle 5"/>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1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Un clasificador de radiografía de tórax tiene AUROC 0.91 en promedio, pero en pacientes de 80–100 años su FNR es mucho mayor que en pacientes de 18–40 años. ¿Cuál es el problema principal?</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Buen rendimiento global sin problema clínico</a:t>
            </a:r>
            <a:br/>
            <a:r>
              <a:t>B. Fairness gap con riesgo de underdiagnosis</a:t>
            </a:r>
            <a:br/>
            <a:r>
              <a:t>C. Mayor calibración</a:t>
            </a:r>
            <a:br/>
            <a:r>
              <a:t>D. Mejor transferencia OOD</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B</a:t>
            </a:r>
            <a:br/>
            <a:br/>
            <a:r>
              <a:t>Un FNR mayor significa más casos enfermos no detectados en ese subgrupo; el AUC promedio puede ocultar daño desigual.</a:t>
            </a:r>
          </a:p>
        </p:txBody>
      </p:sp>
      <p:pic>
        <p:nvPicPr>
          <p:cNvPr id="7" name="Picture 6" descr="fig2_shortcuts.png"/>
          <p:cNvPicPr>
            <a:picLocks noChangeAspect="1"/>
          </p:cNvPicPr>
          <p:nvPr/>
        </p:nvPicPr>
        <p:blipFill>
          <a:blip r:embed="rId2"/>
          <a:stretch>
            <a:fillRect/>
          </a:stretch>
        </p:blipFill>
        <p:spPr>
          <a:xfrm>
            <a:off x="685800" y="4663440"/>
            <a:ext cx="3246120" cy="1536192"/>
          </a:xfrm>
          <a:prstGeom prst="rect">
            <a:avLst/>
          </a:prstGeom>
        </p:spPr>
      </p:pic>
      <p:sp>
        <p:nvSpPr>
          <p:cNvPr id="8" name="Rounded Rectangle 7"/>
          <p:cNvSpPr/>
          <p:nvPr/>
        </p:nvSpPr>
        <p:spPr>
          <a:xfrm>
            <a:off x="4069080" y="4736592"/>
            <a:ext cx="7452360" cy="105156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060" b="0">
                <a:solidFill>
                  <a:srgbClr val="495668"/>
                </a:solidFill>
                <a:latin typeface="Aptos"/>
              </a:defRPr>
            </a:pPr>
            <a:r>
              <a:t>Evidencia visual: Figura 2 · Encoding demográfico y fairness gaps (pág. 5). Úsela para conectar sensibilidad/especificidad con fairness en nuevos hospitales o poblaciones.</a:t>
            </a:r>
          </a:p>
        </p:txBody>
      </p:sp>
      <p:sp>
        <p:nvSpPr>
          <p:cNvPr id="9" name="Rectangle 8"/>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2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En este artículo, ¿qué significa ID?</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Imagen digital</a:t>
            </a:r>
            <a:br/>
            <a:r>
              <a:t>B. In-distribution: datos del mismo entorno/dataset usado para desarrollo</a:t>
            </a:r>
            <a:br/>
            <a:r>
              <a:t>C. Índice diagnóstico</a:t>
            </a:r>
            <a:br/>
            <a:r>
              <a:t>D. Interpretabilidad directa</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B</a:t>
            </a:r>
            <a:br/>
            <a:br/>
            <a:r>
              <a:t>ID evalúa el modelo dentro de la distribución donde fue entrenado o seleccionado.</a:t>
            </a:r>
          </a:p>
        </p:txBody>
      </p:sp>
      <p:pic>
        <p:nvPicPr>
          <p:cNvPr id="7" name="Picture 6" descr="fig1_pipeline.png"/>
          <p:cNvPicPr>
            <a:picLocks noChangeAspect="1"/>
          </p:cNvPicPr>
          <p:nvPr/>
        </p:nvPicPr>
        <p:blipFill>
          <a:blip r:embed="rId2"/>
          <a:stretch>
            <a:fillRect/>
          </a:stretch>
        </p:blipFill>
        <p:spPr>
          <a:xfrm>
            <a:off x="685800" y="4663440"/>
            <a:ext cx="3246120" cy="1536192"/>
          </a:xfrm>
          <a:prstGeom prst="rect">
            <a:avLst/>
          </a:prstGeom>
        </p:spPr>
      </p:pic>
      <p:sp>
        <p:nvSpPr>
          <p:cNvPr id="8" name="Rounded Rectangle 7"/>
          <p:cNvSpPr/>
          <p:nvPr/>
        </p:nvSpPr>
        <p:spPr>
          <a:xfrm>
            <a:off x="4069080" y="4736592"/>
            <a:ext cx="7452360" cy="105156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060" b="0">
                <a:solidFill>
                  <a:srgbClr val="495668"/>
                </a:solidFill>
                <a:latin typeface="Aptos"/>
              </a:defRPr>
            </a:pPr>
            <a:r>
              <a:t>Evidencia visual: Figura 1 · Pipeline experimental ID/OOD (pág. 4). Úsela para conectar sensibilidad/especificidad con fairness en nuevos hospitales o poblaciones.</a:t>
            </a:r>
          </a:p>
        </p:txBody>
      </p:sp>
      <p:sp>
        <p:nvSpPr>
          <p:cNvPr id="9" name="Rectangle 8"/>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3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¿Qué significa OOD en el contexto del estudio?</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Otro outcome definitivo</a:t>
            </a:r>
            <a:br/>
            <a:r>
              <a:t>B. Out-of-distribution: datos externos o de otro entorno</a:t>
            </a:r>
            <a:br/>
            <a:r>
              <a:t>C. Optimización de odds</a:t>
            </a:r>
            <a:br/>
            <a:r>
              <a:t>D. Orden de diagnóstico</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B</a:t>
            </a:r>
            <a:br/>
            <a:br/>
            <a:r>
              <a:t>OOD simula despliegue en otro hospital, país, equipo o población no vista durante desarrollo.</a:t>
            </a:r>
          </a:p>
        </p:txBody>
      </p:sp>
      <p:pic>
        <p:nvPicPr>
          <p:cNvPr id="7" name="Picture 6" descr="fig4_ood.png"/>
          <p:cNvPicPr>
            <a:picLocks noChangeAspect="1"/>
          </p:cNvPicPr>
          <p:nvPr/>
        </p:nvPicPr>
        <p:blipFill>
          <a:blip r:embed="rId2"/>
          <a:stretch>
            <a:fillRect/>
          </a:stretch>
        </p:blipFill>
        <p:spPr>
          <a:xfrm>
            <a:off x="685800" y="4663440"/>
            <a:ext cx="3246120" cy="1536192"/>
          </a:xfrm>
          <a:prstGeom prst="rect">
            <a:avLst/>
          </a:prstGeom>
        </p:spPr>
      </p:pic>
      <p:sp>
        <p:nvSpPr>
          <p:cNvPr id="8" name="Rounded Rectangle 7"/>
          <p:cNvSpPr/>
          <p:nvPr/>
        </p:nvSpPr>
        <p:spPr>
          <a:xfrm>
            <a:off x="4069080" y="4736592"/>
            <a:ext cx="7452360" cy="105156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060" b="0">
                <a:solidFill>
                  <a:srgbClr val="495668"/>
                </a:solidFill>
                <a:latin typeface="Aptos"/>
              </a:defRPr>
            </a:pPr>
            <a:r>
              <a:t>Evidencia visual: Figura 4 · Fairness no siempre transfiere a OOD (pág. 7). Úsela para conectar sensibilidad/especificidad con fairness en nuevos hospitales o poblaciones.</a:t>
            </a:r>
          </a:p>
        </p:txBody>
      </p:sp>
      <p:sp>
        <p:nvSpPr>
          <p:cNvPr id="9" name="Rectangle 8"/>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4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¿Por qué la Tabla 1 es importante para la clase?</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Porque muestra que todos los datasets son idénticos</a:t>
            </a:r>
            <a:br/>
            <a:r>
              <a:t>B. Porque muestra variación de localización, tamaño, edad, sexo, raza y prevalencia</a:t>
            </a:r>
            <a:br/>
            <a:r>
              <a:t>C. Porque elimina la necesidad de validación externa</a:t>
            </a:r>
            <a:br/>
            <a:r>
              <a:t>D. Porque solo tiene datos dermatológicos</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B</a:t>
            </a:r>
            <a:br/>
            <a:br/>
            <a:r>
              <a:t>La tabla evidencia que cambiar de dataset cambia la población y la prevalencia, creando condiciones para distribution shift.</a:t>
            </a:r>
          </a:p>
        </p:txBody>
      </p:sp>
      <p:pic>
        <p:nvPicPr>
          <p:cNvPr id="7" name="Picture 6" descr="table1_datasets.png"/>
          <p:cNvPicPr>
            <a:picLocks noChangeAspect="1"/>
          </p:cNvPicPr>
          <p:nvPr/>
        </p:nvPicPr>
        <p:blipFill>
          <a:blip r:embed="rId2"/>
          <a:stretch>
            <a:fillRect/>
          </a:stretch>
        </p:blipFill>
        <p:spPr>
          <a:xfrm>
            <a:off x="685800" y="4663440"/>
            <a:ext cx="3246120" cy="1536192"/>
          </a:xfrm>
          <a:prstGeom prst="rect">
            <a:avLst/>
          </a:prstGeom>
        </p:spPr>
      </p:pic>
      <p:sp>
        <p:nvSpPr>
          <p:cNvPr id="8" name="Rounded Rectangle 7"/>
          <p:cNvSpPr/>
          <p:nvPr/>
        </p:nvSpPr>
        <p:spPr>
          <a:xfrm>
            <a:off x="4069080" y="4736592"/>
            <a:ext cx="7452360" cy="105156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060" b="0">
                <a:solidFill>
                  <a:srgbClr val="495668"/>
                </a:solidFill>
                <a:latin typeface="Aptos"/>
              </a:defRPr>
            </a:pPr>
            <a:r>
              <a:t>Evidencia visual: Tabla 1 · Seis datasets internacionales de radiografía de tórax (pág. 3). Úsela para conectar sensibilidad/especificidad con fairness en nuevos hospitales o poblaciones.</a:t>
            </a:r>
          </a:p>
        </p:txBody>
      </p:sp>
      <p:sp>
        <p:nvSpPr>
          <p:cNvPr id="9" name="Rectangle 8"/>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5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¿Qué es un demographic shortcut?</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Un atajo administrativo del hospital</a:t>
            </a:r>
            <a:br/>
            <a:r>
              <a:t>B. Una característica demográfica codificada que el modelo usa como pista no causal para predecir enfermedad</a:t>
            </a:r>
            <a:br/>
            <a:r>
              <a:t>C. Un error de digitación</a:t>
            </a:r>
            <a:br/>
            <a:r>
              <a:t>D. Una métrica de privacidad</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B</a:t>
            </a:r>
            <a:br/>
            <a:br/>
            <a:r>
              <a:t>El paper estudia cómo las representaciones internas pueden codificar edad, raza, sexo o intersecciones y usarlas como shortcuts.</a:t>
            </a:r>
          </a:p>
        </p:txBody>
      </p:sp>
      <p:pic>
        <p:nvPicPr>
          <p:cNvPr id="7" name="Picture 6" descr="fig2_shortcuts.png"/>
          <p:cNvPicPr>
            <a:picLocks noChangeAspect="1"/>
          </p:cNvPicPr>
          <p:nvPr/>
        </p:nvPicPr>
        <p:blipFill>
          <a:blip r:embed="rId2"/>
          <a:stretch>
            <a:fillRect/>
          </a:stretch>
        </p:blipFill>
        <p:spPr>
          <a:xfrm>
            <a:off x="685800" y="4663440"/>
            <a:ext cx="3246120" cy="1536192"/>
          </a:xfrm>
          <a:prstGeom prst="rect">
            <a:avLst/>
          </a:prstGeom>
        </p:spPr>
      </p:pic>
      <p:sp>
        <p:nvSpPr>
          <p:cNvPr id="8" name="Rounded Rectangle 7"/>
          <p:cNvSpPr/>
          <p:nvPr/>
        </p:nvSpPr>
        <p:spPr>
          <a:xfrm>
            <a:off x="4069080" y="4736592"/>
            <a:ext cx="7452360" cy="105156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060" b="0">
                <a:solidFill>
                  <a:srgbClr val="495668"/>
                </a:solidFill>
                <a:latin typeface="Aptos"/>
              </a:defRPr>
            </a:pPr>
            <a:r>
              <a:t>Evidencia visual: Figura 2 · Encoding demográfico y fairness gaps (pág. 5). Úsela para conectar sensibilidad/especificidad con fairness en nuevos hospitales o poblaciones.</a:t>
            </a:r>
          </a:p>
        </p:txBody>
      </p:sp>
      <p:sp>
        <p:nvSpPr>
          <p:cNvPr id="9" name="Rectangle 8"/>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6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Si un modelo predice bien la raza o edad desde su embedding de imagen, ¿qué indica?</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Que el modelo no usa información demográfica</a:t>
            </a:r>
            <a:br/>
            <a:r>
              <a:t>B. Que la representación contiene atributo sensible</a:t>
            </a:r>
            <a:br/>
            <a:r>
              <a:t>C. Que la imagen no tiene píxeles</a:t>
            </a:r>
            <a:br/>
            <a:r>
              <a:t>D. Que no hace falta auditoría</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B</a:t>
            </a:r>
            <a:br/>
            <a:br/>
            <a:r>
              <a:t>La Figura 2 muestra AUROC de predicción de atributos desde representaciones congeladas; valores sobre azar indican encoding demográfico.</a:t>
            </a:r>
          </a:p>
        </p:txBody>
      </p:sp>
      <p:pic>
        <p:nvPicPr>
          <p:cNvPr id="7" name="Picture 6" descr="fig2_shortcuts.png"/>
          <p:cNvPicPr>
            <a:picLocks noChangeAspect="1"/>
          </p:cNvPicPr>
          <p:nvPr/>
        </p:nvPicPr>
        <p:blipFill>
          <a:blip r:embed="rId2"/>
          <a:stretch>
            <a:fillRect/>
          </a:stretch>
        </p:blipFill>
        <p:spPr>
          <a:xfrm>
            <a:off x="685800" y="4663440"/>
            <a:ext cx="3246120" cy="1536192"/>
          </a:xfrm>
          <a:prstGeom prst="rect">
            <a:avLst/>
          </a:prstGeom>
        </p:spPr>
      </p:pic>
      <p:sp>
        <p:nvSpPr>
          <p:cNvPr id="8" name="Rounded Rectangle 7"/>
          <p:cNvSpPr/>
          <p:nvPr/>
        </p:nvSpPr>
        <p:spPr>
          <a:xfrm>
            <a:off x="4069080" y="4736592"/>
            <a:ext cx="7452360" cy="105156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060" b="0">
                <a:solidFill>
                  <a:srgbClr val="495668"/>
                </a:solidFill>
                <a:latin typeface="Aptos"/>
              </a:defRPr>
            </a:pPr>
            <a:r>
              <a:t>Evidencia visual: Figura 2 · Encoding demográfico y fairness gaps (pág. 5). Úsela para conectar sensibilidad/especificidad con fairness en nuevos hospitales o poblaciones.</a:t>
            </a:r>
          </a:p>
        </p:txBody>
      </p:sp>
      <p:sp>
        <p:nvSpPr>
          <p:cNvPr id="9" name="Rectangle 8"/>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7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¿Qué métrica usó el estudio para fairness clínicamente relevante?</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Solo accuracy total</a:t>
            </a:r>
            <a:br/>
            <a:r>
              <a:t>B. Diferencias de FPR/FNR entre subgrupos</a:t>
            </a:r>
            <a:br/>
            <a:r>
              <a:t>C. Solo pérdida de entrenamiento</a:t>
            </a:r>
            <a:br/>
            <a:r>
              <a:t>D. Solo tamaño del modelo</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B</a:t>
            </a:r>
            <a:br/>
            <a:br/>
            <a:r>
              <a:t>El estudio relaciona fairness con gaps de FPR/FNR, porque esos errores se traducen en overdiagnosis o underdiagnosis por grupo.</a:t>
            </a:r>
          </a:p>
        </p:txBody>
      </p:sp>
      <p:sp>
        <p:nvSpPr>
          <p:cNvPr id="7" name="Rounded Rectangle 6"/>
          <p:cNvSpPr/>
          <p:nvPr/>
        </p:nvSpPr>
        <p:spPr>
          <a:xfrm>
            <a:off x="685800" y="4800600"/>
            <a:ext cx="10835640" cy="91440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30" b="0">
                <a:solidFill>
                  <a:srgbClr val="495668"/>
                </a:solidFill>
                <a:latin typeface="Aptos"/>
              </a:defRPr>
            </a:pPr>
            <a:r>
              <a:t>Discusión docente: el estudiante debe distinguir rendimiento promedio de justicia clínica por subgrupo.</a:t>
            </a:r>
          </a:p>
        </p:txBody>
      </p:sp>
      <p:sp>
        <p:nvSpPr>
          <p:cNvPr id="8" name="Rectangle 7"/>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8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En 'No Finding', un falso positivo significa que el modelo predice sano cuando el paciente está enfermo. ¿Cuál es el riesgo clínico?</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Retraso de tratamiento</a:t>
            </a:r>
            <a:br/>
            <a:r>
              <a:t>B. Demasiados tratamientos correctos</a:t>
            </a:r>
            <a:br/>
            <a:r>
              <a:t>C. Mejor sensibilidad</a:t>
            </a:r>
            <a:br/>
            <a:r>
              <a:t>D. Menos equidad siempre</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A</a:t>
            </a:r>
            <a:br/>
            <a:br/>
            <a:r>
              <a:t>El artículo señala que para 'No Finding' se evalúa FPR porque puede representar underdiagnosis y retraso en cuidado.</a:t>
            </a:r>
          </a:p>
        </p:txBody>
      </p:sp>
      <p:sp>
        <p:nvSpPr>
          <p:cNvPr id="7" name="Rounded Rectangle 6"/>
          <p:cNvSpPr/>
          <p:nvPr/>
        </p:nvSpPr>
        <p:spPr>
          <a:xfrm>
            <a:off x="685800" y="4800600"/>
            <a:ext cx="10835640" cy="91440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30" b="0">
                <a:solidFill>
                  <a:srgbClr val="495668"/>
                </a:solidFill>
                <a:latin typeface="Aptos"/>
              </a:defRPr>
            </a:pPr>
            <a:r>
              <a:t>Discusión docente: el estudiante debe distinguir rendimiento promedio de justicia clínica por subgrupo.</a:t>
            </a:r>
          </a:p>
        </p:txBody>
      </p:sp>
      <p:sp>
        <p:nvSpPr>
          <p:cNvPr id="8" name="Rectangle 7"/>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9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¿Qué muestra la Figura 3?</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Que los métodos de mitigación pueden mejorar fairness ID con trade-off de performance</a:t>
            </a:r>
            <a:br/>
            <a:r>
              <a:t>B. Que ningún algoritmo cambia nada</a:t>
            </a:r>
            <a:br/>
            <a:r>
              <a:t>C. Que OOD siempre mejora</a:t>
            </a:r>
            <a:br/>
            <a:r>
              <a:t>D. Que el dataset no importa</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A</a:t>
            </a:r>
            <a:br/>
            <a:br/>
            <a:r>
              <a:t>La Figura 3 enseña Pareto fronts: reducción de fairness gap y mantenimiento de AUROC dentro del mismo dominio.</a:t>
            </a:r>
          </a:p>
        </p:txBody>
      </p:sp>
      <p:pic>
        <p:nvPicPr>
          <p:cNvPr id="7" name="Picture 6" descr="fig3_local.png"/>
          <p:cNvPicPr>
            <a:picLocks noChangeAspect="1"/>
          </p:cNvPicPr>
          <p:nvPr/>
        </p:nvPicPr>
        <p:blipFill>
          <a:blip r:embed="rId2"/>
          <a:stretch>
            <a:fillRect/>
          </a:stretch>
        </p:blipFill>
        <p:spPr>
          <a:xfrm>
            <a:off x="685800" y="4663440"/>
            <a:ext cx="3246120" cy="1536192"/>
          </a:xfrm>
          <a:prstGeom prst="rect">
            <a:avLst/>
          </a:prstGeom>
        </p:spPr>
      </p:pic>
      <p:sp>
        <p:nvSpPr>
          <p:cNvPr id="8" name="Rounded Rectangle 7"/>
          <p:cNvSpPr/>
          <p:nvPr/>
        </p:nvSpPr>
        <p:spPr>
          <a:xfrm>
            <a:off x="4069080" y="4736592"/>
            <a:ext cx="7452360" cy="105156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060" b="0">
                <a:solidFill>
                  <a:srgbClr val="495668"/>
                </a:solidFill>
                <a:latin typeface="Aptos"/>
              </a:defRPr>
            </a:pPr>
            <a:r>
              <a:t>Evidencia visual: Figura 3 · Fairness local / Pareto front (pág. 6). Úsela para conectar sensibilidad/especificidad con fairness en nuevos hospitales o poblaciones.</a:t>
            </a:r>
          </a:p>
        </p:txBody>
      </p:sp>
      <p:sp>
        <p:nvSpPr>
          <p:cNvPr id="9" name="Rectangle 8"/>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10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¿Cuál es la lección más importante de la Figura 4?</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El fairness gap ID siempre predice fairness OOD</a:t>
            </a:r>
            <a:br/>
            <a:r>
              <a:t>B. El AUROC puede transferir mejor que fairness</a:t>
            </a:r>
            <a:br/>
            <a:r>
              <a:t>C. La validación externa no es necesaria</a:t>
            </a:r>
            <a:br/>
            <a:r>
              <a:t>D. Todos los modelos son igual de justos</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B</a:t>
            </a:r>
            <a:br/>
            <a:br/>
            <a:r>
              <a:t>La figura muestra alta correlación de performance ID/OOD, pero fairness ID/OOD puede ser débil o negativa.</a:t>
            </a:r>
          </a:p>
        </p:txBody>
      </p:sp>
      <p:pic>
        <p:nvPicPr>
          <p:cNvPr id="7" name="Picture 6" descr="fig4_ood.png"/>
          <p:cNvPicPr>
            <a:picLocks noChangeAspect="1"/>
          </p:cNvPicPr>
          <p:nvPr/>
        </p:nvPicPr>
        <p:blipFill>
          <a:blip r:embed="rId2"/>
          <a:stretch>
            <a:fillRect/>
          </a:stretch>
        </p:blipFill>
        <p:spPr>
          <a:xfrm>
            <a:off x="685800" y="4663440"/>
            <a:ext cx="3246120" cy="1536192"/>
          </a:xfrm>
          <a:prstGeom prst="rect">
            <a:avLst/>
          </a:prstGeom>
        </p:spPr>
      </p:pic>
      <p:sp>
        <p:nvSpPr>
          <p:cNvPr id="8" name="Rounded Rectangle 7"/>
          <p:cNvSpPr/>
          <p:nvPr/>
        </p:nvSpPr>
        <p:spPr>
          <a:xfrm>
            <a:off x="4069080" y="4736592"/>
            <a:ext cx="7452360" cy="105156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060" b="0">
                <a:solidFill>
                  <a:srgbClr val="495668"/>
                </a:solidFill>
                <a:latin typeface="Aptos"/>
              </a:defRPr>
            </a:pPr>
            <a:r>
              <a:t>Evidencia visual: Figura 4 · Fairness no siempre transfiere a OOD (pág. 7). Úsela para conectar sensibilidad/especificidad con fairness en nuevos hospitales o poblaciones.</a:t>
            </a:r>
          </a:p>
        </p:txBody>
      </p:sp>
      <p:sp>
        <p:nvSpPr>
          <p:cNvPr id="9" name="Rectangle 8"/>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11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Un hospital compra un modelo porque fue justo en el dataset del fabricante. ¿Qué debe exigir antes de usarlo localmente?</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Solo el AUC global del fabricante</a:t>
            </a:r>
            <a:br/>
            <a:r>
              <a:t>B. Validación local por subgrupo y monitoreo continuo</a:t>
            </a:r>
            <a:br/>
            <a:r>
              <a:t>C. Solo una demo comercial</a:t>
            </a:r>
            <a:br/>
            <a:r>
              <a:t>D. Eliminar a los radiólogos</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B</a:t>
            </a:r>
            <a:br/>
            <a:br/>
            <a:r>
              <a:t>El artículo enfatiza que la fairness no se garantiza en nuevos entornos; se requiere evaluación local y seguimiento.</a:t>
            </a:r>
          </a:p>
        </p:txBody>
      </p:sp>
      <p:sp>
        <p:nvSpPr>
          <p:cNvPr id="7" name="Rounded Rectangle 6"/>
          <p:cNvSpPr/>
          <p:nvPr/>
        </p:nvSpPr>
        <p:spPr>
          <a:xfrm>
            <a:off x="685800" y="4800600"/>
            <a:ext cx="10835640" cy="91440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30" b="0">
                <a:solidFill>
                  <a:srgbClr val="495668"/>
                </a:solidFill>
                <a:latin typeface="Aptos"/>
              </a:defRPr>
            </a:pPr>
            <a:r>
              <a:t>Discusión docente: el estudiante debe distinguir rendimiento promedio de justicia clínica por subgrupo.</a:t>
            </a:r>
          </a:p>
        </p:txBody>
      </p:sp>
      <p:sp>
        <p:nvSpPr>
          <p:cNvPr id="8" name="Rectangle 7"/>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12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¿Por qué elegir el modelo con menor fairness gap ID puede fallar?</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Porque ID fairness puede no transferir a OOD</a:t>
            </a:r>
            <a:br/>
            <a:r>
              <a:t>B. Porque siempre baja el AUC a cero</a:t>
            </a:r>
            <a:br/>
            <a:r>
              <a:t>C. Porque no existen subgrupos</a:t>
            </a:r>
            <a:br/>
            <a:r>
              <a:t>D. Porque no hay imágenes médicas</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A</a:t>
            </a:r>
            <a:br/>
            <a:br/>
            <a:r>
              <a:t>El paper muestra que mínimo fairness gap ID no siempre produce mejor fairness en datasets externos.</a:t>
            </a:r>
          </a:p>
        </p:txBody>
      </p:sp>
      <p:pic>
        <p:nvPicPr>
          <p:cNvPr id="7" name="Picture 6" descr="fig5_selection.png"/>
          <p:cNvPicPr>
            <a:picLocks noChangeAspect="1"/>
          </p:cNvPicPr>
          <p:nvPr/>
        </p:nvPicPr>
        <p:blipFill>
          <a:blip r:embed="rId2"/>
          <a:stretch>
            <a:fillRect/>
          </a:stretch>
        </p:blipFill>
        <p:spPr>
          <a:xfrm>
            <a:off x="685800" y="4663440"/>
            <a:ext cx="3246120" cy="1536192"/>
          </a:xfrm>
          <a:prstGeom prst="rect">
            <a:avLst/>
          </a:prstGeom>
        </p:spPr>
      </p:pic>
      <p:sp>
        <p:nvSpPr>
          <p:cNvPr id="8" name="Rounded Rectangle 7"/>
          <p:cNvSpPr/>
          <p:nvPr/>
        </p:nvSpPr>
        <p:spPr>
          <a:xfrm>
            <a:off x="4069080" y="4736592"/>
            <a:ext cx="7452360" cy="105156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060" b="0">
                <a:solidFill>
                  <a:srgbClr val="495668"/>
                </a:solidFill>
                <a:latin typeface="Aptos"/>
              </a:defRPr>
            </a:pPr>
            <a:r>
              <a:t>Evidencia visual: Figura 5 · Selección de modelos para fairness OOD (pág. 8). Úsela para conectar sensibilidad/especificidad con fairness en nuevos hospitales o poblaciones.</a:t>
            </a:r>
          </a:p>
        </p:txBody>
      </p:sp>
      <p:sp>
        <p:nvSpPr>
          <p:cNvPr id="9" name="Rectangle 8"/>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13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Según la Figura 5, ¿qué criterio puede mejorar fairness OOD?</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Máximo tamaño de modelo</a:t>
            </a:r>
            <a:br/>
            <a:r>
              <a:t>B. Menor encoding de atributos demográficos</a:t>
            </a:r>
            <a:br/>
            <a:r>
              <a:t>C. Mayor número de capas sin validación</a:t>
            </a:r>
            <a:br/>
            <a:r>
              <a:t>D. Solo accuracy global</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B</a:t>
            </a:r>
            <a:br/>
            <a:br/>
            <a:r>
              <a:t>Seleccionar modelos con menor attribute prediction accuracy/AUROC tuvo mejor fairness OOD que seleccionar solo por fairness local.</a:t>
            </a:r>
          </a:p>
        </p:txBody>
      </p:sp>
      <p:pic>
        <p:nvPicPr>
          <p:cNvPr id="7" name="Picture 6" descr="fig5_selection.png"/>
          <p:cNvPicPr>
            <a:picLocks noChangeAspect="1"/>
          </p:cNvPicPr>
          <p:nvPr/>
        </p:nvPicPr>
        <p:blipFill>
          <a:blip r:embed="rId2"/>
          <a:stretch>
            <a:fillRect/>
          </a:stretch>
        </p:blipFill>
        <p:spPr>
          <a:xfrm>
            <a:off x="685800" y="4663440"/>
            <a:ext cx="3246120" cy="1536192"/>
          </a:xfrm>
          <a:prstGeom prst="rect">
            <a:avLst/>
          </a:prstGeom>
        </p:spPr>
      </p:pic>
      <p:sp>
        <p:nvSpPr>
          <p:cNvPr id="8" name="Rounded Rectangle 7"/>
          <p:cNvSpPr/>
          <p:nvPr/>
        </p:nvSpPr>
        <p:spPr>
          <a:xfrm>
            <a:off x="4069080" y="4736592"/>
            <a:ext cx="7452360" cy="105156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060" b="0">
                <a:solidFill>
                  <a:srgbClr val="495668"/>
                </a:solidFill>
                <a:latin typeface="Aptos"/>
              </a:defRPr>
            </a:pPr>
            <a:r>
              <a:t>Evidencia visual: Figura 5 · Selección de modelos para fairness OOD (pág. 8). Úsela para conectar sensibilidad/especificidad con fairness en nuevos hospitales o poblaciones.</a:t>
            </a:r>
          </a:p>
        </p:txBody>
      </p:sp>
      <p:sp>
        <p:nvSpPr>
          <p:cNvPr id="9" name="Rectangle 8"/>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14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¿Qué significa 'locally optimal' en este paper?</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Mejor balance performance–fairness dentro del dataset original</a:t>
            </a:r>
            <a:br/>
            <a:r>
              <a:t>B. Modelo clínicamente aprobado mundialmente</a:t>
            </a:r>
            <a:br/>
            <a:r>
              <a:t>C. Modelo sin necesidad de auditoría</a:t>
            </a:r>
            <a:br/>
            <a:r>
              <a:t>D. Modelo que usa datos de todos los países</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A</a:t>
            </a:r>
            <a:br/>
            <a:br/>
            <a:r>
              <a:t>Un modelo puede ser óptimo localmente en su Pareto front ID, pero no conservar esa ventaja en OOD.</a:t>
            </a:r>
          </a:p>
        </p:txBody>
      </p:sp>
      <p:pic>
        <p:nvPicPr>
          <p:cNvPr id="7" name="Picture 6" descr="fig3_local.png"/>
          <p:cNvPicPr>
            <a:picLocks noChangeAspect="1"/>
          </p:cNvPicPr>
          <p:nvPr/>
        </p:nvPicPr>
        <p:blipFill>
          <a:blip r:embed="rId2"/>
          <a:stretch>
            <a:fillRect/>
          </a:stretch>
        </p:blipFill>
        <p:spPr>
          <a:xfrm>
            <a:off x="685800" y="4663440"/>
            <a:ext cx="3246120" cy="1536192"/>
          </a:xfrm>
          <a:prstGeom prst="rect">
            <a:avLst/>
          </a:prstGeom>
        </p:spPr>
      </p:pic>
      <p:sp>
        <p:nvSpPr>
          <p:cNvPr id="8" name="Rounded Rectangle 7"/>
          <p:cNvSpPr/>
          <p:nvPr/>
        </p:nvSpPr>
        <p:spPr>
          <a:xfrm>
            <a:off x="4069080" y="4736592"/>
            <a:ext cx="7452360" cy="105156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060" b="0">
                <a:solidFill>
                  <a:srgbClr val="495668"/>
                </a:solidFill>
                <a:latin typeface="Aptos"/>
              </a:defRPr>
            </a:pPr>
            <a:r>
              <a:t>Evidencia visual: Figura 3 · Fairness local / Pareto front (pág. 6). Úsela para conectar sensibilidad/especificidad con fairness en nuevos hospitales o poblaciones.</a:t>
            </a:r>
          </a:p>
        </p:txBody>
      </p:sp>
      <p:sp>
        <p:nvSpPr>
          <p:cNvPr id="9" name="Rectangle 8"/>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Pregunta 15 · Fairness</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594360" y="1051560"/>
            <a:ext cx="11018520" cy="868680"/>
          </a:xfrm>
          <a:prstGeom prst="roundRect">
            <a:avLst/>
          </a:prstGeom>
          <a:solidFill>
            <a:srgbClr val="EBF6FF"/>
          </a:solidFill>
          <a:ln w="12700">
            <a:solidFill>
              <a:srgbClr val="A6CDE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440" b="1">
                <a:solidFill>
                  <a:srgbClr val="0F2648"/>
                </a:solidFill>
                <a:latin typeface="Aptos"/>
              </a:defRPr>
            </a:pPr>
            <a:r>
              <a:t>Conclusión práctica: ¿cómo se debe presentar fairness en una auditoría de IA médica?</a:t>
            </a:r>
          </a:p>
        </p:txBody>
      </p:sp>
      <p:sp>
        <p:nvSpPr>
          <p:cNvPr id="5" name="Rounded Rectangle 4"/>
          <p:cNvSpPr/>
          <p:nvPr/>
        </p:nvSpPr>
        <p:spPr>
          <a:xfrm>
            <a:off x="685800" y="2057400"/>
            <a:ext cx="5212080" cy="242316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210" b="0">
                <a:solidFill>
                  <a:srgbClr val="222D3C"/>
                </a:solidFill>
                <a:latin typeface="Aptos"/>
              </a:defRPr>
            </a:pPr>
            <a:r>
              <a:t>A. Solo un promedio global</a:t>
            </a:r>
            <a:br/>
            <a:r>
              <a:t>B. Métricas por subgrupo, validación externa, distribución del dataset, y monitoreo post-despliegue</a:t>
            </a:r>
            <a:br/>
            <a:r>
              <a:t>C. Solo capturas de pantalla</a:t>
            </a:r>
            <a:br/>
            <a:r>
              <a:t>D. Solo número de parámetros</a:t>
            </a:r>
          </a:p>
        </p:txBody>
      </p:sp>
      <p:sp>
        <p:nvSpPr>
          <p:cNvPr id="6" name="Rounded Rectangle 5"/>
          <p:cNvSpPr/>
          <p:nvPr/>
        </p:nvSpPr>
        <p:spPr>
          <a:xfrm>
            <a:off x="6263640" y="2057400"/>
            <a:ext cx="5257800" cy="2423160"/>
          </a:xfrm>
          <a:prstGeom prst="roundRect">
            <a:avLst/>
          </a:prstGeom>
          <a:solidFill>
            <a:srgbClr val="F0FFF7"/>
          </a:solidFill>
          <a:ln w="12700">
            <a:solidFill>
              <a:srgbClr val="AEE1C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90" b="0">
                <a:solidFill>
                  <a:srgbClr val="192D37"/>
                </a:solidFill>
                <a:latin typeface="Aptos"/>
              </a:defRPr>
            </a:pPr>
            <a:r>
              <a:t>Respuesta: B</a:t>
            </a:r>
            <a:br/>
            <a:br/>
            <a:r>
              <a:t>La auditoría debe mostrar desempeño desigual, generalización y plan de seguimiento; fairness es un proceso, no un número único.</a:t>
            </a:r>
          </a:p>
        </p:txBody>
      </p:sp>
      <p:sp>
        <p:nvSpPr>
          <p:cNvPr id="7" name="Rounded Rectangle 6"/>
          <p:cNvSpPr/>
          <p:nvPr/>
        </p:nvSpPr>
        <p:spPr>
          <a:xfrm>
            <a:off x="685800" y="4800600"/>
            <a:ext cx="10835640" cy="91440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130" b="0">
                <a:solidFill>
                  <a:srgbClr val="495668"/>
                </a:solidFill>
                <a:latin typeface="Aptos"/>
              </a:defRPr>
            </a:pPr>
            <a:r>
              <a:t>Discusión docente: el estudiante debe distinguir rendimiento promedio de justicia clínica por subgrupo.</a:t>
            </a:r>
          </a:p>
        </p:txBody>
      </p:sp>
      <p:sp>
        <p:nvSpPr>
          <p:cNvPr id="8" name="Rectangle 7"/>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8F4F9"/>
        </a:solidFill>
        <a:effectLst/>
      </p:bgPr>
    </p:bg>
    <p:spTree>
      <p:nvGrpSpPr>
        <p:cNvPr id="1" name=""/>
        <p:cNvGrpSpPr/>
        <p:nvPr/>
      </p:nvGrpSpPr>
      <p:grpSpPr/>
      <p:sp>
        <p:nvSpPr>
          <p:cNvPr id="2" name="TextBox 1"/>
          <p:cNvSpPr txBox="1"/>
          <p:nvPr/>
        </p:nvSpPr>
        <p:spPr>
          <a:xfrm>
            <a:off x="502920" y="219456"/>
            <a:ext cx="11155680" cy="530352"/>
          </a:xfrm>
          <a:prstGeom prst="rect">
            <a:avLst/>
          </a:prstGeom>
          <a:noFill/>
        </p:spPr>
        <p:txBody>
          <a:bodyPr wrap="none">
            <a:spAutoFit/>
          </a:bodyPr>
          <a:lstStyle/>
          <a:p>
            <a:pPr>
              <a:defRPr sz="2550" b="1">
                <a:solidFill>
                  <a:srgbClr val="0F2648"/>
                </a:solidFill>
                <a:latin typeface="Aptos"/>
              </a:defRPr>
            </a:pPr>
            <a:r>
              <a:t>Cierre: Fairness en imagen médica</a:t>
            </a:r>
          </a:p>
        </p:txBody>
      </p:sp>
      <p:sp>
        <p:nvSpPr>
          <p:cNvPr id="3" name="TextBox 2"/>
          <p:cNvSpPr txBox="1"/>
          <p:nvPr/>
        </p:nvSpPr>
        <p:spPr>
          <a:xfrm>
            <a:off x="530352" y="749808"/>
            <a:ext cx="11064240" cy="310896"/>
          </a:xfrm>
          <a:prstGeom prst="rect">
            <a:avLst/>
          </a:prstGeom>
          <a:noFill/>
        </p:spPr>
        <p:txBody>
          <a:bodyPr wrap="none">
            <a:spAutoFit/>
          </a:bodyPr>
          <a:lstStyle/>
          <a:p>
            <a:pPr>
              <a:defRPr sz="1220">
                <a:solidFill>
                  <a:srgbClr val="495668"/>
                </a:solidFill>
                <a:latin typeface="Aptos"/>
              </a:defRPr>
            </a:pPr>
            <a:r>
              <a:t>¿Algún grupo recibe peor sensibilidad/especificidad?</a:t>
            </a:r>
          </a:p>
        </p:txBody>
      </p:sp>
      <p:sp>
        <p:nvSpPr>
          <p:cNvPr id="4" name="Rounded Rectangle 3"/>
          <p:cNvSpPr/>
          <p:nvPr/>
        </p:nvSpPr>
        <p:spPr>
          <a:xfrm>
            <a:off x="685800" y="1143000"/>
            <a:ext cx="5349240" cy="4434840"/>
          </a:xfrm>
          <a:prstGeom prst="roundRect">
            <a:avLst/>
          </a:prstGeom>
          <a:solidFill>
            <a:srgbClr val="FFFF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defRPr sz="1500" b="1">
                <a:solidFill>
                  <a:srgbClr val="0F2648"/>
                </a:solidFill>
                <a:latin typeface="Aptos"/>
              </a:defRPr>
            </a:pPr>
            <a:r>
              <a:t>Conclusiones</a:t>
            </a:r>
          </a:p>
          <a:p>
            <a:pPr>
              <a:spcAft>
                <a:spcPts val="200"/>
              </a:spcAft>
              <a:defRPr sz="1250">
                <a:solidFill>
                  <a:srgbClr val="212B3A"/>
                </a:solidFill>
                <a:latin typeface="Aptos"/>
              </a:defRPr>
            </a:pPr>
            <a:r>
              <a:t>• Un modelo puede ser muy preciso en promedio y fallar en subgrupos.</a:t>
            </a:r>
          </a:p>
          <a:p>
            <a:pPr>
              <a:spcAft>
                <a:spcPts val="200"/>
              </a:spcAft>
              <a:defRPr sz="1250">
                <a:solidFill>
                  <a:srgbClr val="212B3A"/>
                </a:solidFill>
                <a:latin typeface="Aptos"/>
              </a:defRPr>
            </a:pPr>
            <a:r>
              <a:t>• Los modelos de imagen pueden codificar atributos sensibles sin que el clínico lo vea.</a:t>
            </a:r>
          </a:p>
          <a:p>
            <a:pPr>
              <a:spcAft>
                <a:spcPts val="200"/>
              </a:spcAft>
              <a:defRPr sz="1250">
                <a:solidFill>
                  <a:srgbClr val="212B3A"/>
                </a:solidFill>
                <a:latin typeface="Aptos"/>
              </a:defRPr>
            </a:pPr>
            <a:r>
              <a:t>• Reducir fairness gap localmente no garantiza fairness externa.</a:t>
            </a:r>
          </a:p>
          <a:p>
            <a:pPr>
              <a:spcAft>
                <a:spcPts val="200"/>
              </a:spcAft>
              <a:defRPr sz="1250">
                <a:solidFill>
                  <a:srgbClr val="212B3A"/>
                </a:solidFill>
                <a:latin typeface="Aptos"/>
              </a:defRPr>
            </a:pPr>
            <a:r>
              <a:t>• La selección del modelo debe considerar distribución, subgrupos y despliegue real.</a:t>
            </a:r>
          </a:p>
        </p:txBody>
      </p:sp>
      <p:sp>
        <p:nvSpPr>
          <p:cNvPr id="5" name="Rounded Rectangle 4"/>
          <p:cNvSpPr/>
          <p:nvPr/>
        </p:nvSpPr>
        <p:spPr>
          <a:xfrm>
            <a:off x="6355080" y="1143000"/>
            <a:ext cx="5166360" cy="4434840"/>
          </a:xfrm>
          <a:prstGeom prst="roundRect">
            <a:avLst/>
          </a:prstGeom>
          <a:solidFill>
            <a:srgbClr val="EBF6FF"/>
          </a:solidFill>
          <a:ln w="12700">
            <a:solidFill>
              <a:srgbClr val="D6E0EB"/>
            </a:solidFill>
          </a:ln>
        </p:spPr>
        <p:style>
          <a:lnRef idx="1">
            <a:schemeClr val="accent1"/>
          </a:lnRef>
          <a:fillRef idx="3">
            <a:schemeClr val="accent1"/>
          </a:fillRef>
          <a:effectRef idx="2">
            <a:schemeClr val="accent1"/>
          </a:effectRef>
          <a:fontRef idx="minor">
            <a:schemeClr val="lt1"/>
          </a:fontRef>
        </p:style>
        <p:txBody>
          <a:bodyPr rtlCol="0" anchor="ctr" wrap="square" lIns="164592" rIns="146304" tIns="91440" bIns="54864">
            <a:normAutofit/>
          </a:bodyPr>
          <a:lstStyle/>
          <a:p>
            <a:pPr algn="ctr">
              <a:defRPr sz="1500" b="1">
                <a:solidFill>
                  <a:srgbClr val="0F2648"/>
                </a:solidFill>
                <a:latin typeface="Aptos"/>
              </a:defRPr>
            </a:pPr>
            <a:r>
              <a:t>Checklist para práctica clínica</a:t>
            </a:r>
          </a:p>
          <a:p>
            <a:pPr>
              <a:spcAft>
                <a:spcPts val="200"/>
              </a:spcAft>
              <a:defRPr sz="1250">
                <a:solidFill>
                  <a:srgbClr val="212B3A"/>
                </a:solidFill>
                <a:latin typeface="Aptos"/>
              </a:defRPr>
            </a:pPr>
            <a:r>
              <a:t>• Pedir métricas por subgrupo.</a:t>
            </a:r>
          </a:p>
          <a:p>
            <a:pPr>
              <a:spcAft>
                <a:spcPts val="200"/>
              </a:spcAft>
              <a:defRPr sz="1250">
                <a:solidFill>
                  <a:srgbClr val="212B3A"/>
                </a:solidFill>
                <a:latin typeface="Aptos"/>
              </a:defRPr>
            </a:pPr>
            <a:r>
              <a:t>• Pedir validación externa y local.</a:t>
            </a:r>
          </a:p>
          <a:p>
            <a:pPr>
              <a:spcAft>
                <a:spcPts val="200"/>
              </a:spcAft>
              <a:defRPr sz="1250">
                <a:solidFill>
                  <a:srgbClr val="212B3A"/>
                </a:solidFill>
                <a:latin typeface="Aptos"/>
              </a:defRPr>
            </a:pPr>
            <a:r>
              <a:t>• Evaluar FNR/FPR, no solo AUC.</a:t>
            </a:r>
          </a:p>
          <a:p>
            <a:pPr>
              <a:spcAft>
                <a:spcPts val="200"/>
              </a:spcAft>
              <a:defRPr sz="1250">
                <a:solidFill>
                  <a:srgbClr val="212B3A"/>
                </a:solidFill>
                <a:latin typeface="Aptos"/>
              </a:defRPr>
            </a:pPr>
            <a:r>
              <a:t>• Monitorear drift tras despliegue.</a:t>
            </a:r>
          </a:p>
          <a:p>
            <a:pPr>
              <a:spcAft>
                <a:spcPts val="200"/>
              </a:spcAft>
              <a:defRPr sz="1250">
                <a:solidFill>
                  <a:srgbClr val="212B3A"/>
                </a:solidFill>
                <a:latin typeface="Aptos"/>
              </a:defRPr>
            </a:pPr>
            <a:r>
              <a:t>• Mantener human-in-the-loop para casos de riesgo.</a:t>
            </a:r>
          </a:p>
        </p:txBody>
      </p:sp>
      <p:sp>
        <p:nvSpPr>
          <p:cNvPr id="6" name="Rounded Rectangle 5"/>
          <p:cNvSpPr/>
          <p:nvPr/>
        </p:nvSpPr>
        <p:spPr>
          <a:xfrm>
            <a:off x="777240" y="5687568"/>
            <a:ext cx="10561320" cy="457200"/>
          </a:xfrm>
          <a:prstGeom prst="roundRect">
            <a:avLst/>
          </a:prstGeom>
          <a:solidFill>
            <a:srgbClr val="FFF6EB"/>
          </a:solidFill>
          <a:ln w="12700">
            <a:solidFill>
              <a:srgbClr val="E6C8A0"/>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normAutofit/>
          </a:bodyPr>
          <a:lstStyle/>
          <a:p>
            <a:pPr algn="ctr">
              <a:defRPr sz="1320" b="1">
                <a:solidFill>
                  <a:srgbClr val="0F2648"/>
                </a:solidFill>
                <a:latin typeface="Aptos"/>
              </a:defRPr>
            </a:pPr>
            <a:r>
              <a:t>Frase final: “Fairness clínica no es que el promedio sea bueno; es que ningún grupo pague el costo oculto del error.”</a:t>
            </a:r>
          </a:p>
        </p:txBody>
      </p:sp>
      <p:sp>
        <p:nvSpPr>
          <p:cNvPr id="7" name="Rectangle 6"/>
          <p:cNvSpPr/>
          <p:nvPr/>
        </p:nvSpPr>
        <p:spPr>
          <a:xfrm>
            <a:off x="502920" y="6336792"/>
            <a:ext cx="11201400" cy="9144"/>
          </a:xfrm>
          <a:prstGeom prst="rect">
            <a:avLst/>
          </a:prstGeom>
          <a:solidFill>
            <a:srgbClr val="D5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28232"/>
            <a:ext cx="11201400" cy="256032"/>
          </a:xfrm>
          <a:prstGeom prst="rect">
            <a:avLst/>
          </a:prstGeom>
          <a:noFill/>
        </p:spPr>
        <p:txBody>
          <a:bodyPr wrap="none">
            <a:spAutoFit/>
          </a:bodyPr>
          <a:lstStyle/>
          <a:p>
            <a:pPr algn="ctr">
              <a:defRPr sz="750">
                <a:solidFill>
                  <a:srgbClr val="697382"/>
                </a:solidFill>
                <a:latin typeface="Aptos"/>
              </a:defRPr>
            </a:pPr>
            <a:r>
              <a:t>Yang et al. “The limits of fair medical imaging AI in real-world generalization” · Nature Medicine 2024 · DOI: 10.1038/s41591-024-03113-4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