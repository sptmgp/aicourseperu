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5 — Métricas clínicas de 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De la “accuracy” a decisiones clínicas: TP/TN/FP/FN, sensibilidad, especificidad, ROC/AUC y umbrales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155680" cy="4480560"/>
          </a:xfrm>
          <a:prstGeom prst="rect">
            <a:avLst/>
          </a:prstGeom>
          <a:solidFill>
            <a:srgbClr val="F0F6FF"/>
          </a:solidFill>
          <a:ln w="12700">
            <a:solidFill>
              <a:srgbClr val="D8E7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Pregunta guía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¿Qué significa “mejor modelo” cuando un falso negativo o falso positivo puede afectar a un paciente?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175564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1737360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Accuracy puede engañar.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2585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240280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El umbral cambia la acción clínica.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7614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La utilidad depende de prevalencia, recursos y consecuencias del error.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Material basado en seis artículos 2026 incluidos por el usuario.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40 minutos dentro de la Sesión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La clase conecta fórmulas, evidencia real y práctica en Orange.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F0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1947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AA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Confusion matrix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6700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0"/>
                </a:solidFill>
              </a:rPr>
              <a:t>TP/TN/FP/FN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404872" y="2212848"/>
            <a:ext cx="384048" cy="384048"/>
          </a:xfrm>
          <a:prstGeom prst="chevron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82880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EEF7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947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AA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23957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Métricas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26700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0"/>
                </a:solidFill>
              </a:rPr>
              <a:t>Sensitivity, specificity, PPV, NPV, F1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645152" y="2212848"/>
            <a:ext cx="384048" cy="384048"/>
          </a:xfrm>
          <a:prstGeom prst="chevron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182880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F0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33288" y="1947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AA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7800" y="23957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ROC/AUC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57800" y="26700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0"/>
                </a:solidFill>
              </a:rPr>
              <a:t>Varios thresholds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885432" y="2212848"/>
            <a:ext cx="384048" cy="384048"/>
          </a:xfrm>
          <a:prstGeom prst="chevron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82880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EEF7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3568" y="1947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AA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0" y="23957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Threshold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0" y="26700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0"/>
                </a:solidFill>
              </a:rPr>
              <a:t>Costo clínico del error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125712" y="2212848"/>
            <a:ext cx="384048" cy="384048"/>
          </a:xfrm>
          <a:prstGeom prst="chevron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182880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F0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13848" y="1947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AA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38360" y="23957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Orange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38360" y="26700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0"/>
                </a:solidFill>
              </a:rPr>
              <a:t>Test &amp; Score + Confusion Matrix + ROC Analysis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14400" y="4206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Resultado esperado: el estudiante deja de preguntar solo “¿qué accuracy tiene?” y empieza a preguntar “¿qué error clínico estamos aceptando?”.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Diseño didáctico propio para la sesión.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artículos para convertir métricas en decisiones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Cada paper aporta una lección diferente para la evaluación clínica de IA.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Framework médico 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37560" y="12344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Qué evaluar y cuándo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60920" y="12344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AA"/>
                </a:solidFill>
              </a:rPr>
              <a:t>validación técnica → real-world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709928"/>
            <a:ext cx="10607040" cy="0"/>
          </a:xfrm>
          <a:prstGeom prst="line">
            <a:avLst/>
          </a:prstGeom>
          <a:noFill/>
          <a:ln w="762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20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Retinopatía diabética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sensibilidad/especificidad + net benefit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60920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AA"/>
                </a:solidFill>
              </a:rPr>
              <a:t>threshold + prevalencia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395728"/>
            <a:ext cx="10607040" cy="0"/>
          </a:xfrm>
          <a:prstGeom prst="line">
            <a:avLst/>
          </a:prstGeom>
          <a:noFill/>
          <a:ln w="762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060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AI‑ECG + AI‑FoCUS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PPV/NPV y test en dos etapas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2606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AA"/>
                </a:solidFill>
              </a:rPr>
              <a:t>screening escalable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081528"/>
            <a:ext cx="10607040" cy="0"/>
          </a:xfrm>
          <a:prstGeom prst="line">
            <a:avLst/>
          </a:prstGeom>
          <a:noFill/>
          <a:ln w="762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91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Melanoma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3291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humanos vs IA vs humanos+IA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60920" y="3291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AA"/>
                </a:solidFill>
              </a:rPr>
              <a:t>sensibilidad/especificidad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767328"/>
            <a:ext cx="10607040" cy="0"/>
          </a:xfrm>
          <a:prstGeom prst="line">
            <a:avLst/>
          </a:prstGeom>
          <a:noFill/>
          <a:ln w="762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776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Brain MRI LLM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AUROC/AUPRC y class imbalance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60920" y="3977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AA"/>
                </a:solidFill>
              </a:rPr>
              <a:t>LLM como apoyo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453128"/>
            <a:ext cx="10607040" cy="0"/>
          </a:xfrm>
          <a:prstGeom prst="line">
            <a:avLst/>
          </a:prstGeom>
          <a:noFill/>
          <a:ln w="762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663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CRLM prognosis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46634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impacto en clinician performance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46634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AA"/>
                </a:solidFill>
              </a:rPr>
              <a:t>AUC + tiempo + confianza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Referencias principales: npj Digital Medicine 2026 + JAMA Dermatology 2026.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Figura clave: marco de evaluación en cinco fases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Mensaje: la evaluación clínica no termina en AUROC retrospectivo.</a:t>
            </a:r>
            <a:endParaRPr lang="en-US" sz="1050" dirty="0"/>
          </a:p>
        </p:txBody>
      </p:sp>
      <p:pic>
        <p:nvPicPr>
          <p:cNvPr id="6" name="Image 0" descr="/mnt/data/session5_crops/framework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388" y="1143000"/>
            <a:ext cx="4026103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143000"/>
            <a:ext cx="5760720" cy="5074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52704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1508760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La figura organiza validación técnica, robustez operativa, interacción humano‑IA, evidencia clínica e integración real.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20840" y="218541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49440" y="2167128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El modelo debe poder volver a fases anteriores si hay drift, actualización o señal de seguridad.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20840" y="284378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49440" y="2825496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Excelente para explicar que métricas offline son solo el inicio.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20840" y="475488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93992" y="4809744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Figura para abrir la sesión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Ye et al., npj Digital Medicine 2026 — five‑phase evaluation framework.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métrica de laboratorio a beneficio clínico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Punto docente para Session 5: “un buen AUC no basta”.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Fase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Technical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</a:rPr>
              <a:t>¿El modelo generaliza a datos externos?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Fase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Operational robustness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</a:rPr>
              <a:t>¿Soporta ruido, cambios y flujo real?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Fase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Controlled interaction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926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</a:rPr>
              <a:t>¿Mejora o confunde al clínico?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Fase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Clinical evidence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7947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</a:rPr>
              <a:t>¿Cambia decisiones / resultados?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Fase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4663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Real‑world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46634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</a:rPr>
              <a:t>¿Sigue seguro con drift y uso real?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34440" y="1645920"/>
            <a:ext cx="0" cy="356616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Ye et al., npj Digital Medicine 2026.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matrix: la tabla que traduce IA a seguridad clínica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Primero la matriz; después las métricas.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31920" y="1133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0"/>
                </a:solidFill>
              </a:rPr>
              <a:t>REALIDAD CLÍNICA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554480"/>
            <a:ext cx="20116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554480"/>
            <a:ext cx="20116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Enfermo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20116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Sano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2377440"/>
            <a:ext cx="20116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Predice enfermo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2377440"/>
            <a:ext cx="2011680" cy="822960"/>
          </a:xfrm>
          <a:prstGeom prst="rect">
            <a:avLst/>
          </a:prstGeom>
          <a:solidFill>
            <a:srgbClr val="EAF8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TP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852160" y="2377440"/>
            <a:ext cx="2011680" cy="822960"/>
          </a:xfrm>
          <a:prstGeom prst="rect">
            <a:avLst/>
          </a:prstGeom>
          <a:solidFill>
            <a:srgbClr val="FFF2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3D3D"/>
                </a:solidFill>
              </a:rPr>
              <a:t>FP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828800" y="3200400"/>
            <a:ext cx="20116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Predice sano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0" y="3200400"/>
            <a:ext cx="2011680" cy="822960"/>
          </a:xfrm>
          <a:prstGeom prst="rect">
            <a:avLst/>
          </a:prstGeom>
          <a:solidFill>
            <a:srgbClr val="FFF2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3D3D"/>
                </a:solidFill>
              </a:rPr>
              <a:t>FN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852160" y="3200400"/>
            <a:ext cx="2011680" cy="822960"/>
          </a:xfrm>
          <a:prstGeom prst="rect">
            <a:avLst/>
          </a:prstGeom>
          <a:solidFill>
            <a:srgbClr val="EAF8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TN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38160" y="18470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9AA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66760" y="182880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FN: paciente enfermo no detectado.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23500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9AA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66760" y="233172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FP: paciente sano alarmado.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38160" y="285292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9AA"/>
                </a:solidFill>
              </a:rPr>
              <a:t>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66760" y="283464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El “peor” error depende del contexto clínico.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Concepto de evaluación aplicado a todos los modelos de la sesión.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 puede engañar en enfermedades poco frecuentes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Una accuracy alta puede esconder sensibilidad cero.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62456"/>
            <a:ext cx="347472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 pacientes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990 sanos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enfermos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inútil: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predice TODOS como sanos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6636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874C"/>
                </a:solidFill>
              </a:rPr>
              <a:t>99%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166360" y="19751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accuracy aparente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6636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3D3D"/>
                </a:solidFill>
              </a:rPr>
              <a:t>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66360" y="34381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sensitivity real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181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</a:rPr>
              <a:t>Lección para clínica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1892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9AA"/>
                </a:solidFill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1874520"/>
            <a:ext cx="3337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Nunca evalúe un modelo médico solo por accuracy.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8120" y="242316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9AA"/>
                </a:solidFill>
              </a:rPr>
              <a:t>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2404872"/>
            <a:ext cx="3337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En screening, perder positivos puede ser más grave que alarmar sanos.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8120" y="2953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9AA"/>
                </a:solidFill>
              </a:rPr>
              <a:t>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0" y="2935224"/>
            <a:ext cx="3337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Session 5 enseña a mirar la matriz completa.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Concepto clave antes de Test &amp; Score.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Retinopatía diabética: sensibilidad, especificidad y utilidad clínica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AI vs store‑and‑forward no es una pelea de “quién gana”; depende del entorno.</a:t>
            </a:r>
            <a:endParaRPr lang="en-US" sz="1050" dirty="0"/>
          </a:p>
        </p:txBody>
      </p:sp>
      <p:pic>
        <p:nvPicPr>
          <p:cNvPr id="6" name="Image 0" descr="/mnt/data/session5_crops/dr_ai_sensitivity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38247"/>
            <a:ext cx="5577840" cy="39906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70432"/>
            <a:ext cx="55778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52704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769AA"/>
                </a:solidFill>
              </a:rPr>
              <a:t>•</a:t>
            </a:r>
            <a:endParaRPr lang="en-US" sz="1530" dirty="0"/>
          </a:p>
        </p:txBody>
      </p:sp>
      <p:sp>
        <p:nvSpPr>
          <p:cNvPr id="9" name="Text 6"/>
          <p:cNvSpPr/>
          <p:nvPr/>
        </p:nvSpPr>
        <p:spPr>
          <a:xfrm>
            <a:off x="6720840" y="1508760"/>
            <a:ext cx="4800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0B1F3A"/>
                </a:solidFill>
              </a:rPr>
              <a:t>AI mostró mayor sensibilidad pooled para any DR, RDR, VTDR y DME.</a:t>
            </a:r>
            <a:endParaRPr lang="en-US" sz="1530" dirty="0"/>
          </a:p>
        </p:txBody>
      </p:sp>
      <p:sp>
        <p:nvSpPr>
          <p:cNvPr id="10" name="Text 7"/>
          <p:cNvSpPr/>
          <p:nvPr/>
        </p:nvSpPr>
        <p:spPr>
          <a:xfrm>
            <a:off x="6492240" y="216712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769AA"/>
                </a:solidFill>
              </a:rPr>
              <a:t>•</a:t>
            </a:r>
            <a:endParaRPr lang="en-US" sz="1530" dirty="0"/>
          </a:p>
        </p:txBody>
      </p:sp>
      <p:sp>
        <p:nvSpPr>
          <p:cNvPr id="11" name="Text 8"/>
          <p:cNvSpPr/>
          <p:nvPr/>
        </p:nvSpPr>
        <p:spPr>
          <a:xfrm>
            <a:off x="6720840" y="2148840"/>
            <a:ext cx="4800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0B1F3A"/>
                </a:solidFill>
              </a:rPr>
              <a:t>Para RDR y VTDR, sensibilidad AI ≈ 96.2% en el meta‑análisis.</a:t>
            </a:r>
            <a:endParaRPr lang="en-US" sz="1530" dirty="0"/>
          </a:p>
        </p:txBody>
      </p:sp>
      <p:sp>
        <p:nvSpPr>
          <p:cNvPr id="12" name="Text 9"/>
          <p:cNvSpPr/>
          <p:nvPr/>
        </p:nvSpPr>
        <p:spPr>
          <a:xfrm>
            <a:off x="6492240" y="28072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769AA"/>
                </a:solidFill>
              </a:rPr>
              <a:t>•</a:t>
            </a:r>
            <a:endParaRPr lang="en-US" sz="1530" dirty="0"/>
          </a:p>
        </p:txBody>
      </p:sp>
      <p:sp>
        <p:nvSpPr>
          <p:cNvPr id="13" name="Text 10"/>
          <p:cNvSpPr/>
          <p:nvPr/>
        </p:nvSpPr>
        <p:spPr>
          <a:xfrm>
            <a:off x="6720840" y="2788920"/>
            <a:ext cx="4800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0B1F3A"/>
                </a:solidFill>
              </a:rPr>
              <a:t>La preferencia del pathway depende de prevalencia, umbral y peso de errores.</a:t>
            </a:r>
            <a:endParaRPr lang="en-US" sz="1530" dirty="0"/>
          </a:p>
        </p:txBody>
      </p:sp>
      <p:sp>
        <p:nvSpPr>
          <p:cNvPr id="14" name="Shape 1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Chen et al., npj Digital Medicine 2026 — DR screening meta-analysis.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métrica cambia con el pathway clínico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paper compara AI autónoma con store‑and‑forward, pero advierte contra una conclusión simplista.</a:t>
            </a:r>
            <a:endParaRPr lang="en-US" sz="1050" dirty="0"/>
          </a:p>
        </p:txBody>
      </p:sp>
      <p:pic>
        <p:nvPicPr>
          <p:cNvPr id="6" name="Image 0" descr="/mnt/data/session5_crops/dr_saf_sensitivity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366"/>
            <a:ext cx="5303520" cy="37943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5303520" cy="4389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8" name="Image 1" descr="/mnt/data/session5_crops/dr_decision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06667"/>
            <a:ext cx="5303520" cy="386178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17920" y="1143000"/>
            <a:ext cx="5303520" cy="4389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97280" y="56509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Punto para estudiantes: la curva ROC no decide sola. El hospital decide según recursos, prevalencia y costo de FP/FN.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Chen et al., npj Digital Medicine 2026.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AI‑ECG + AI‑FoCUS: por qué PPV/NPV importan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Una prueba puede descartar bien pero confirmar mal.</a:t>
            </a:r>
            <a:endParaRPr lang="en-US" sz="1050" dirty="0"/>
          </a:p>
        </p:txBody>
      </p:sp>
      <p:pic>
        <p:nvPicPr>
          <p:cNvPr id="6" name="Image 0" descr="/mnt/data/session5_crops/shd_metrics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822" y="1143000"/>
            <a:ext cx="55863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5669280" cy="4709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874C"/>
                </a:solidFill>
              </a:rPr>
              <a:t>95.8%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720840" y="1929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NPV AI‑ECG solo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354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8C28"/>
                </a:solidFill>
              </a:rPr>
              <a:t>29.6%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235440" y="1929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PPV AI‑ECG solo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2084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69AA"/>
                </a:solidFill>
              </a:rPr>
              <a:t>96.1%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720840" y="39410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PPV two‑step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23544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874C"/>
                </a:solidFill>
              </a:rPr>
              <a:t>95.6%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235440" y="39410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NPV two‑step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Killalea et al., npj Digital Medicine 2026 — SHD screening.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Screening en dos etapas: reducir falsos positivos y uso de recursos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AI‑ECG primero; AI‑FoCUS solo si positivo.</a:t>
            </a:r>
            <a:endParaRPr lang="en-US" sz="1050" dirty="0"/>
          </a:p>
        </p:txBody>
      </p:sp>
      <p:pic>
        <p:nvPicPr>
          <p:cNvPr id="6" name="Image 0" descr="/mnt/data/session5_crops/shd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62100"/>
            <a:ext cx="5669280" cy="3779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143000"/>
            <a:ext cx="5669280" cy="4617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141732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3720" y="1545336"/>
            <a:ext cx="3931920" cy="2121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AI‑ECG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if positive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AI‑FoCUS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 interpretation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 decision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66560" y="41330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4114800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El valor no es solo accuracy: es flujo clínico.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45902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95160" y="4572000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Un test de primera línea puede tener alto NPV y bajo PPV.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66560" y="50474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95160" y="5029200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La segunda etapa mejora la utilidad y reduce derivaciones innecesarias.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Killalea et al., npj Digital Medicine 2026.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Melanoma: IA sola, dermatólogos y dermatólogos + 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Buen ejemplo para comparar sensibilidad y especificidad en diagnóstico real.</a:t>
            </a:r>
            <a:endParaRPr lang="en-US" sz="1050" dirty="0"/>
          </a:p>
        </p:txBody>
      </p:sp>
      <p:pic>
        <p:nvPicPr>
          <p:cNvPr id="6" name="Image 0" descr="/mnt/data/session5_crops/melanoma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815" y="1143000"/>
            <a:ext cx="5773249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5852160" cy="4709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69AA"/>
                </a:solidFill>
              </a:rPr>
              <a:t>78.6%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720840" y="18836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sensibilidad dermatólogos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69AA"/>
                </a:solidFill>
              </a:rPr>
              <a:t>80.9%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144000" y="18836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sensibilidad IA sola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2084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874C"/>
                </a:solidFill>
              </a:rPr>
              <a:t>91.9%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720840" y="37124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sensibilidad derm + IA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874C"/>
                </a:solidFill>
              </a:rPr>
              <a:t>83.7%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144000" y="37124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especificidad derm + IA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Laiouar‑Pedari et al., JAMA Dermatology 2026.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Lección melanoma: comparable no significa “listo para todo hospital”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La meta-análisis enfatiza prospective evidence y generalizabilidad.</a:t>
            </a:r>
            <a:endParaRPr lang="en-US" sz="1050" dirty="0"/>
          </a:p>
        </p:txBody>
      </p:sp>
      <p:pic>
        <p:nvPicPr>
          <p:cNvPr id="6" name="Image 0" descr="/mnt/data/session5_crops/melanoma_abs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25338"/>
            <a:ext cx="4343400" cy="45444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143000"/>
            <a:ext cx="4343400" cy="4709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49240" y="15727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577840" y="1554480"/>
            <a:ext cx="5806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La AI puede alcanzar desempeño comparable al dermatólogo en estudios prospectivos.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349240" y="22585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577840" y="2240280"/>
            <a:ext cx="5806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El valor clínico más interesante aparece como decision-support, no como reemplazo.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349240" y="29443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577840" y="2926080"/>
            <a:ext cx="5806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Riesgo de bias y generalizabilidad limitada siguen siendo problemas reales.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349240" y="507492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5B4EAE"/>
          </a:solidFill>
          <a:ln w="12700">
            <a:solidFill>
              <a:srgbClr val="5B4EA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22392" y="5129784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Use para discutir: AI ≠ autonomía inmediata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Laiouar‑Pedari et al., JAMA Dermatology 2026.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Brain MRI LLM: AUROC y AUPRC en datos desbalanceados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AUPRC es muy útil cuando las clases diagnósticas no son frecuentes.</a:t>
            </a:r>
            <a:endParaRPr lang="en-US" sz="1050" dirty="0"/>
          </a:p>
        </p:txBody>
      </p:sp>
      <p:pic>
        <p:nvPicPr>
          <p:cNvPr id="6" name="Image 0" descr="/mnt/data/session5_crops/brain_model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54829"/>
            <a:ext cx="5623560" cy="40397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5623560" cy="4663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280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69AA"/>
                </a:solidFill>
              </a:rPr>
              <a:t>89.6%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675120" y="1792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sensitivity DeepSeek‑R1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0" y="1280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874C"/>
                </a:solidFill>
              </a:rPr>
              <a:t>99.2%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144000" y="1792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specificity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7512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EAE"/>
                </a:solidFill>
              </a:rPr>
              <a:t>0.944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675120" y="37581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AUROC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8C28"/>
                </a:solidFill>
              </a:rPr>
              <a:t>0.837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144000" y="37581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AUPRC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Wang et al., npj Digital Medicine 2026 — brain MRI LLM benchmark.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+ clinical input mejora métricas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input también es una intervención de calidad de datos.</a:t>
            </a:r>
            <a:endParaRPr lang="en-US" sz="1050" dirty="0"/>
          </a:p>
        </p:txBody>
      </p:sp>
      <p:pic>
        <p:nvPicPr>
          <p:cNvPr id="6" name="Image 0" descr="/mnt/data/session5_crops/brain_input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189" y="1143000"/>
            <a:ext cx="5439141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6400800" cy="4617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15727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69AA"/>
                </a:solidFill>
              </a:rPr>
              <a:t>•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43800" y="1554480"/>
            <a:ext cx="3794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</a:rPr>
              <a:t>Free text alone → lower performance.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0" y="216712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69AA"/>
                </a:solidFill>
              </a:rPr>
              <a:t>•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43800" y="2148840"/>
            <a:ext cx="3794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</a:rPr>
              <a:t>Structured findings + clinical information → best performance.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315200" y="27614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69AA"/>
                </a:solidFill>
              </a:rPr>
              <a:t>•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543800" y="2743200"/>
            <a:ext cx="3794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</a:rPr>
              <a:t>Mensaje para Session 3–5: datos clínicos bien estructurados mejoran la evaluación.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Wang et al., npj Digital Medicine 2026.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Reader study: medir humano + IA, no solo IA aislada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La evaluación clínica real pregunta si mejora la lectura del profesional.</a:t>
            </a:r>
            <a:endParaRPr lang="en-US" sz="1050" dirty="0"/>
          </a:p>
        </p:txBody>
      </p:sp>
      <p:pic>
        <p:nvPicPr>
          <p:cNvPr id="6" name="Image 0" descr="/mnt/data/session5_crops/brain_reader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563" y="1143000"/>
            <a:ext cx="5659515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6217920" cy="4663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78040" y="152704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06640" y="1508760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El paper comparó radiologists with and without LLM assistance.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78040" y="218541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06640" y="2167128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La asistencia mejoró AUPRC y redujo tiempo de lectura.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78040" y="284378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06640" y="2825496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Lección: el endpoint puede ser human+AI performance.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Wang et al., npj Digital Medicine 2026.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CRLM: de “modelo bueno” a “clínico más preciso y rápido”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Uno de los mejores ejemplos de clinical performance, no solo model performance.</a:t>
            </a:r>
            <a:endParaRPr lang="en-US" sz="1050" dirty="0"/>
          </a:p>
        </p:txBody>
      </p:sp>
      <p:pic>
        <p:nvPicPr>
          <p:cNvPr id="6" name="Image 0" descr="/mnt/data/session5_crops/crlm_table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56355"/>
            <a:ext cx="5715000" cy="434528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5715000" cy="4572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69AA"/>
                </a:solidFill>
              </a:rPr>
              <a:t>+0.091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766560" y="19293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AUC difference for 3‑year mortality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874C"/>
                </a:solidFill>
              </a:rPr>
              <a:t>2.53 vs 3.04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144000" y="19293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minutes with vs without AI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66560" y="36758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9AA"/>
                </a:solidFill>
              </a:rPr>
              <a:t>•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95160" y="3657600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12 surgical oncologists, 166 cases, 3984 assessments.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66560" y="411480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9AA"/>
                </a:solidFill>
              </a:rPr>
              <a:t>•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995160" y="4096512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AI increased confidence and reduced decision time.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766560" y="45537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9AA"/>
                </a:solidFill>
              </a:rPr>
              <a:t>•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95160" y="4535424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Benefit greatest for junior to mid-level oncologists.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Chen et al., npj Digital Medicine 2026 — CRLM prognostic tool.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CRLM figure: who benefits most from model assistance?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Use this to teach subgroup performance and human factors.</a:t>
            </a:r>
            <a:endParaRPr lang="en-US" sz="1050" dirty="0"/>
          </a:p>
        </p:txBody>
      </p:sp>
      <p:pic>
        <p:nvPicPr>
          <p:cNvPr id="6" name="Image 0" descr="/mnt/data/session5_crops/crlm_reader_experi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725" y="1143000"/>
            <a:ext cx="5407269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43000"/>
            <a:ext cx="6675120" cy="4572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5727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69AA"/>
                </a:solidFill>
              </a:rPr>
              <a:t>•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55280" y="1554480"/>
            <a:ext cx="3520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</a:rPr>
              <a:t>Figure explores performance by reader experience.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26680" y="213969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69AA"/>
                </a:solidFill>
              </a:rPr>
              <a:t>•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55280" y="2121408"/>
            <a:ext cx="3520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</a:rPr>
              <a:t>Important for deployment: the same AI may help junior, mid-level and senior clinicians differently.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26680" y="27066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69AA"/>
                </a:solidFill>
              </a:rPr>
              <a:t>•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55280" y="2688336"/>
            <a:ext cx="3520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</a:rPr>
              <a:t>Session 5 question: are we evaluating algorithm accuracy or team performance?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Chen et al., npj Digital Medicine 2026.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Threshold: matemática que cambia el flujo clínico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mismo modelo produce diferentes decisiones según el umbral.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53896"/>
            <a:ext cx="356616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A = 0.12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B = 0.38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C = 0.63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D = 0.91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554480"/>
            <a:ext cx="2286000" cy="530352"/>
          </a:xfrm>
          <a:prstGeom prst="roundRect">
            <a:avLst>
              <a:gd name="adj" fmla="val 12069"/>
            </a:avLst>
          </a:prstGeom>
          <a:solidFill>
            <a:srgbClr val="F0F6FF"/>
          </a:solidFill>
          <a:ln w="12700">
            <a:solidFill>
              <a:srgbClr val="D4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38928" y="170078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69AA"/>
                </a:solidFill>
              </a:rPr>
              <a:t>Threshold = 0.50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35240" y="14356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1417320"/>
            <a:ext cx="3611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Threshold bajo → sensibilidad ↑, FP ↑.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35240" y="2029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0" y="2011680"/>
            <a:ext cx="3611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Threshold alto → especificidad ↑, FN ↑.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262432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0" y="2606040"/>
            <a:ext cx="3611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No existe umbral “universalmente correcto”.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El umbral final debe reflejar objetivo clínico, prevalencia, riesgo y recursos.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Concepto central para ROC Analysis en Orange.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ROC curve: una curva de umbrales, no una decoración estadística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Cada punto puede implicar otra decisión clínica.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80160" y="5029200"/>
            <a:ext cx="3657600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5029200"/>
            <a:ext cx="0" cy="-310896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28800"/>
            <a:ext cx="3657600" cy="3200400"/>
          </a:xfrm>
          <a:prstGeom prst="arc">
            <a:avLst/>
          </a:prstGeom>
          <a:noFill/>
          <a:ln w="38100">
            <a:solidFill>
              <a:srgbClr val="1769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5440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1 − Specificity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 rot="16200000">
            <a:off x="502920" y="29718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Sensitivity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8470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1828800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AUC resume separación global.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5328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Pero AUC no elige automáticamente el umbral clínico.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32186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29400" y="3200400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Use ROC + costos de error para decidir cómo actuar.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Concepto para Session 5 + Orange ROC Analysis.</a:t>
            </a:r>
            <a:endParaRPr lang="en-US" sz="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Orange: workflow de evaluación clínica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Continuación natural de Session 4.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0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48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File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93392" y="2203704"/>
            <a:ext cx="25603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192024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0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048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Select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Columns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47872" y="2203704"/>
            <a:ext cx="25603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192024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0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2048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Impute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93792" y="2203704"/>
            <a:ext cx="25603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192024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0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048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4 modelos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56832" y="2203704"/>
            <a:ext cx="25603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192024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EEF7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2048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Test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94192" y="2203704"/>
            <a:ext cx="25603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78240" y="128016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EEF7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14081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Confusion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Matrix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78240" y="265176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EEF7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3960" y="27797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ROC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49840" y="196596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EEF7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2093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Predictions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" y="4178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43000" y="4160520"/>
            <a:ext cx="9646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Test &amp; Score: comparar métricas globales.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4400" y="468172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43000" y="4663440"/>
            <a:ext cx="9646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Confusion Matrix: traducir errores a pacientes.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4400" y="518464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</a:rPr>
              <a:t>•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143000" y="5166360"/>
            <a:ext cx="9646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ROC Analysis: explorar trade‑offs de threshold.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Software: Orange Data Mining — Test &amp; Score + Confusion Matrix + ROC Analysis.</a:t>
            </a:r>
            <a:endParaRPr lang="en-US" sz="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Actividad: completar la tabla de modelos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objetivo no es elegir el mayor número; es justificar la decisión.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01168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90472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Modelo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09728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14904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Accuracy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749040" y="1371600"/>
            <a:ext cx="1234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490472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Sensitivity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983480" y="1371600"/>
            <a:ext cx="1234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1490472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Specificity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109728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4904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Precision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315200" y="1371600"/>
            <a:ext cx="7315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51776" y="149047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F1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8046720" y="1371600"/>
            <a:ext cx="7315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296" y="149047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AUC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8778240" y="1371600"/>
            <a:ext cx="19202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14816" y="1490472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Uso clínico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40080" y="1828800"/>
            <a:ext cx="20116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19933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1828800"/>
            <a:ext cx="10972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182880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182880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828800"/>
            <a:ext cx="10972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1828800"/>
            <a:ext cx="7315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1828800"/>
            <a:ext cx="7315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1828800"/>
            <a:ext cx="1920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2395728"/>
            <a:ext cx="201168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560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Decision Tree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51760" y="2395728"/>
            <a:ext cx="109728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0" y="2395728"/>
            <a:ext cx="123444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2395728"/>
            <a:ext cx="123444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2395728"/>
            <a:ext cx="109728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2395728"/>
            <a:ext cx="73152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2395728"/>
            <a:ext cx="73152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0" y="2395728"/>
            <a:ext cx="192024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2962656"/>
            <a:ext cx="20116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127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51760" y="2962656"/>
            <a:ext cx="10972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49040" y="2962656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83480" y="2962656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2962656"/>
            <a:ext cx="10972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0" y="2962656"/>
            <a:ext cx="7315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0" y="2962656"/>
            <a:ext cx="7315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78240" y="2962656"/>
            <a:ext cx="1920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3529584"/>
            <a:ext cx="201168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6941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kNN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651760" y="3529584"/>
            <a:ext cx="109728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9040" y="3529584"/>
            <a:ext cx="123444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83480" y="3529584"/>
            <a:ext cx="123444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3529584"/>
            <a:ext cx="109728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0" y="3529584"/>
            <a:ext cx="73152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0" y="3529584"/>
            <a:ext cx="73152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8240" y="3529584"/>
            <a:ext cx="1920240" cy="530352"/>
          </a:xfrm>
          <a:prstGeom prst="rect">
            <a:avLst/>
          </a:prstGeom>
          <a:solidFill>
            <a:srgbClr val="F8FA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0120" y="4800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69AA"/>
                </a:solidFill>
              </a:rPr>
              <a:t>Discusión: ¿modelo para screening o confirmación? ¿Qué error toleramos menos?</a:t>
            </a:r>
            <a:endParaRPr lang="en-US" sz="1900" dirty="0"/>
          </a:p>
        </p:txBody>
      </p:sp>
      <p:sp>
        <p:nvSpPr>
          <p:cNvPr id="59" name="Shape 5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Actividad práctica Session 5.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escenarios clínicos para decidir la métrica prioritaria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Los estudiantes seleccionan metric + threshold según consecuencia.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</a:rPr>
              <a:t>Cáncer temprano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402336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3D3D"/>
                </a:solidFill>
              </a:rPr>
              <a:t>FN costoso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0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sensibilidad ↑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</a:rPr>
              <a:t>Biopsia invasiva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02336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3D3D"/>
                </a:solidFill>
              </a:rPr>
              <a:t>FP costoso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especificidad/PPV 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</a:rPr>
              <a:t>Sepsis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02336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3D3D"/>
                </a:solidFill>
              </a:rPr>
              <a:t>FN crítico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threshold bajo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</a:rPr>
              <a:t>Farmacia: evento adverso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02336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3D3D"/>
                </a:solidFill>
              </a:rPr>
              <a:t>FP genera fatiga de alerta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PPV + revisión humana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</a:rPr>
              <a:t>Tuberculosis screening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02336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3D3D"/>
                </a:solidFill>
              </a:rPr>
              <a:t>recursos limitados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0" y="4251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net benefit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Pregunta: ¿qué ocurriría si aplicamos el mismo threshold a todos?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Actividad interdisciplinaria.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interdisciplinario: modelo cardiovascular = 0.72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El mismo riesgo genera acciones distintas por profesión.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53896"/>
            <a:ext cx="310896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 67 años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HTA + diabetes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colesterol elevado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dolor torácico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modelo: risk = 0.72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527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AA"/>
                </a:solidFill>
              </a:rPr>
              <a:t>Medicina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81728" y="1764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F3A"/>
                </a:solidFill>
              </a:rPr>
              <a:t>confirmar y estratificar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1527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AA"/>
                </a:solidFill>
              </a:rPr>
              <a:t>Enfermería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65008" y="1764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F3A"/>
                </a:solidFill>
              </a:rPr>
              <a:t>vigilar signos y deterioro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572000" y="260604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715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AA"/>
                </a:solidFill>
              </a:rPr>
              <a:t>Farmacia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81728" y="2953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F3A"/>
                </a:solidFill>
              </a:rPr>
              <a:t>revisar medicación y riesgos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955280" y="260604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2715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AA"/>
                </a:solidFill>
              </a:rPr>
              <a:t>Salud pública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65008" y="2953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F3A"/>
                </a:solidFill>
              </a:rPr>
              <a:t>intervenir factores modificables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572000" y="379476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904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AA"/>
                </a:solidFill>
              </a:rPr>
              <a:t>Data/IA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1728" y="4142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F3A"/>
                </a:solidFill>
              </a:rPr>
              <a:t>revisar threshold y errores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Actividad final de discusión.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question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Métrica para screening de enfermedad grave.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Un modelo para screening de una enfermedad grave tiene accuracy 96%, pero sensibilidad 40%. ¿Cuál es la interpretación más segura?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A. Es excelente porque accuracy es alta.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74C"/>
                </a:solidFill>
              </a:rPr>
              <a:t>B. Es peligroso para screening porque pierde muchos verdaderos positivos.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C. Es perfecto si tiene AUC mayor de 0.70.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D. No importa porque la especificidad decide todo.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74C"/>
                </a:solidFill>
              </a:rPr>
              <a:t>Respuesta: B — en screening de enfermedad grave, un FN puede retrasar diagnóstico y tratamiento.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Quiz Session 5.</a:t>
            </a:r>
            <a:endParaRPr lang="en-US" sz="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question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AUC no reemplaza decisión clínica de threshold.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Un modelo tiene AUROC = 0.94. ¿Cuál afirmación es más correcta?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A. El umbral clínico ya está decidido.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8163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874C"/>
                </a:solidFill>
              </a:rPr>
              <a:t>B. El modelo discrimina bien, pero aún debe seleccionarse un umbral según daño de FP/FN.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3467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C. Ya puede usarse sin validación externa.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38770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D. AUC alto significa PPV alto en cualquier población.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74C"/>
                </a:solidFill>
              </a:rPr>
              <a:t>Respuesta: B — AUC resume discriminación global; la acción clínica depende del threshold y del contexto.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Quiz Session 5.</a:t>
            </a:r>
            <a:endParaRPr lang="en-US" sz="6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question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PPV bajo no siempre significa prueba inútil.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AI‑ECG tiene NPV muy alto pero PPV bajo para structural heart disease. ¿Cuál es un uso razonable?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A. Confirmar diagnóstico sin más pruebas.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874C"/>
                </a:solidFill>
              </a:rPr>
              <a:t>B. Usarlo como primera etapa y confirmar positivos con AI‑FoCUS/eco.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4381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C. Reemplazar ecocardiografía formal.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39684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D. Ignorar todos los positivos.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874C"/>
                </a:solidFill>
              </a:rPr>
              <a:t>Respuesta: B — un test con alto NPV puede descartar; positivos necesitan confirmación.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Quiz Session 5.</a:t>
            </a:r>
            <a:endParaRPr lang="en-US" sz="6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 aprender el estudiante al final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Checklist conceptual y práctico.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29844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69AA"/>
                </a:solidFill>
              </a:rPr>
              <a:t>•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10287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Construir e interpretar una confusion matrix.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69AA"/>
                </a:solidFill>
              </a:rPr>
              <a:t>•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43000" y="1874520"/>
            <a:ext cx="10287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Calcular qué significa sensibilidad, especificidad, PPV, NPV y F1 en lenguaje clínico.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69AA"/>
                </a:solidFill>
              </a:rPr>
              <a:t>•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2468880"/>
            <a:ext cx="10287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Explicar por qué accuracy sola puede ser peligrosa.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08152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69AA"/>
                </a:solidFill>
              </a:rPr>
              <a:t>•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43000" y="3063240"/>
            <a:ext cx="10287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Usar Test &amp; Score, Confusion Matrix y ROC Analysis en Orange.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758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69AA"/>
                </a:solidFill>
              </a:rPr>
              <a:t>•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3000" y="3657600"/>
            <a:ext cx="10287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Definir qué error es más costoso según el caso clínico.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427024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69AA"/>
                </a:solidFill>
              </a:rPr>
              <a:t>•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287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</a:rPr>
              <a:t>Justificar un threshold como decisión clínica, no solo matemática.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Cierre de Session 5.</a:t>
            </a:r>
            <a:endParaRPr lang="en-US" sz="6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frase final de la sesión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Métrica = matemática; umbral = decisión clínica.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3A"/>
                </a:solidFill>
              </a:rPr>
              <a:t>En IA clínica, una métrica es matemática; elegir qué error estamos dispuestos a aceptar es una decisión clínica.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234440" y="4160520"/>
            <a:ext cx="97840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288536"/>
            <a:ext cx="95097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→ MODEL → TP/TN/FP/FN → METRICS → THRESHOLD → CLINICAL ACTION → HUMAN DECISION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Cierre didáctico.</a:t>
            </a:r>
            <a:endParaRPr lang="en-US" sz="6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principales incorporadas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Estas son las fuentes de figuras, resultados y puntos docentes.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25272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•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0561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Ye et al. A five-phase evaluation framework for diagnostic and predictive medical AI. npj Digital Medicine, 2026.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81965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•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801368"/>
            <a:ext cx="10561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Chen et al. Clinical setting-dependent diagnostic accuracy of AI and store-and-forward DR screening. npj Digital Medicine, 2026.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38658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•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368296"/>
            <a:ext cx="10561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Killalea et al. Improving structural heart disease screening: AI-ECG and novice AI-guided FoCUS. npj Digital Medicine, 2026.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53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•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935224"/>
            <a:ext cx="10561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Laiouar‑Pedari et al. Prospective Evidence on AI-Assisted Melanoma Diagnostics. JAMA Dermatology, 2026.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•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3502152"/>
            <a:ext cx="10561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Wang et al. Evaluation of LLMs for diagnostic impression generation from brain MRI report findings. npj Digital Medicine, 2026.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0873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•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10561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Chen et al. Impact of an AI prognostic tool on clinician performance in colorectal liver metastases. npj Digital Medicine, 2026.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C737F"/>
                </a:solidFill>
              </a:rPr>
              <a:t>El deck usa capturas/figuras de PDFs proporcionados por el usuario.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5 — Métricas clínicas de IA: evidence figures and key points</dc:title>
  <dc:subject>Session 5 clinical AI metrics with 2026 evidence figures</dc:subject>
  <dc:creator>OpenAI</dc:creator>
  <cp:lastModifiedBy>OpenAI</cp:lastModifiedBy>
  <cp:revision>1</cp:revision>
  <dcterms:created xsi:type="dcterms:W3CDTF">2026-09-28T01:41:55Z</dcterms:created>
  <dcterms:modified xsi:type="dcterms:W3CDTF">2026-09-28T01:41:55Z</dcterms:modified>
</cp:coreProperties>
</file>