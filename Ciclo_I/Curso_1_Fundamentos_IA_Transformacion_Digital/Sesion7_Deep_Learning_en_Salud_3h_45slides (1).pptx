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la sesión con una idea: deep learning no es magia ni reemplazo profesional; es una forma de convertir datos clínicos repetidos en señales de priorización.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realistic_professional_looking_indoor_tra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30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SESIÓN 7 · DEEP LEARNING EN SALUD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21792" y="1078992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4FF"/>
                </a:solidFill>
              </a:rPr>
              <a:t>Google Colab + red neuronal sencilla para clasificación clínica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58368" y="5120640"/>
            <a:ext cx="5212080" cy="594360"/>
          </a:xfrm>
          <a:prstGeom prst="roundRect">
            <a:avLst>
              <a:gd name="adj" fmla="val 9231"/>
            </a:avLst>
          </a:prstGeom>
          <a:solidFill>
            <a:srgbClr val="0B65C2">
              <a:alpha val="92000"/>
            </a:srgbClr>
          </a:solidFill>
          <a:ln w="12700">
            <a:solidFill>
              <a:srgbClr val="0B65C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53218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 horas · 45 slides · enfoque para estudiantes clínicos, enfermería, fisioterapia y profesionales aliados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Objetivo clínico de la sesión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Al terminar, el estudiante debe explicar y ejecutar una red neuronal simple sin perder el criterio clínico.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44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Lo técnico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Neurona artificial · capas · pesos · activación · forward pass · loss · backpropagation · overfitting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441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Lo clínico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7335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Usar datos disponibles antes de la decisión para priorizar revisión, alerta o seguimiento.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33756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34416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Lo práctico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66760" y="1673352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Google Colab: dataset clínico simple → modelo denso → curvas de entrenamiento → matriz de confusión.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424160" cy="2194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No se enseña “IA abstracta”: se enseña razonamiento reproducible para ambientes clínicos.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Cada concepto matemático se conecta con una acción: observar, priorizar, confirmar, derivar.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La red neuronal final será deliberadamente sencilla para que pueda adaptarse en hospitales, clínicas o prácticas profesionales.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Mapa de 3 horas: 45 diapositivas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Distribución sugerida para una clase completa con explicación, discusión y práctica.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527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0–25 min · Intuición clínica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¿Por qué deep learning? Datos, riesgos, clasificación.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527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25–60 min · Fundamentos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58191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Neurona, pesos, capas, activación, forward pass.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700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60–95 min · Aprendizaje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Loss, optimización, backpropagation, overfitting.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6700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95–125 min · Evidencia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9923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AKI, sepsis, UCI, cirugía, insuficiencia cardiaca.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873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125–170 min · Colab vivo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41655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Red neuronal simple: código, entrenamiento, evaluación.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0873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170–180 min · Desafío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41655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Tres problemas innovadores para practicar en su ambiente clínico.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¿Para quién está diseñada esta sesión?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Cada profesión ve deep learning desde una pregunta clínica distinta.</a:t>
            </a:r>
            <a:endParaRPr lang="en-US" sz="1050" dirty="0"/>
          </a:p>
        </p:txBody>
      </p:sp>
      <p:pic>
        <p:nvPicPr>
          <p:cNvPr id="4" name="Image 0" descr="/mnt/data/wide_cinematic_hospital_medical_scene_with_a_shall_batch_2.png">    </p:cNvPr>
          <p:cNvPicPr>
            <a:picLocks noChangeAspect="1"/>
          </p:cNvPicPr>
          <p:nvPr/>
        </p:nvPicPr>
        <p:blipFill>
          <a:blip r:embed="rId1"/>
          <a:srcRect l="21329" r="21329" t="0" b="0"/>
          <a:stretch/>
        </p:blipFill>
        <p:spPr>
          <a:xfrm>
            <a:off x="548640" y="1051560"/>
            <a:ext cx="493776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1298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Enfermería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6276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¿Quién puede deteriorarse durante mi turno?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873252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0" y="1298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Medicina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0" y="16276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paciente requiere confirmación temprana?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806440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6243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Fisioterapia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953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patrón motor muestra recuperación o riesgo?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8732520" y="2514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26243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Laboratorio / imagen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69680" y="2953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señal necesita revisión prioritaria?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5806440" y="3840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9502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Regla de seguridad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0" y="4279392"/>
            <a:ext cx="5303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La salida de una red neuronal es una probabilidad o señal de priorización. No es diagnóstico final, no reemplaza examen físico, juicio profesional ni protocolos.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El problema clínico se convierte en problema de clasificación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Antes de hablar de neuronas, decidir exactamente qué se quiere clasificar.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Paciente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edad, signos, lab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377440" y="2423160"/>
            <a:ext cx="457200" cy="0"/>
          </a:xfrm>
          <a:prstGeom prst="line">
            <a:avLst/>
          </a:prstGeom>
          <a:noFill/>
          <a:ln w="1524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82880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Variables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267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tabla limpia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572000" y="2423160"/>
            <a:ext cx="457200" cy="0"/>
          </a:xfrm>
          <a:prstGeom prst="line">
            <a:avLst/>
          </a:prstGeom>
          <a:noFill/>
          <a:ln w="1524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82880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Red neuronal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66360" y="2267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aprende patrones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766560" y="2423160"/>
            <a:ext cx="457200" cy="0"/>
          </a:xfrm>
          <a:prstGeom prst="line">
            <a:avLst/>
          </a:prstGeom>
          <a:noFill/>
          <a:ln w="1524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82880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Probabilidad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2267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riesgo 0–1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961120" y="2423160"/>
            <a:ext cx="457200" cy="0"/>
          </a:xfrm>
          <a:prstGeom prst="line">
            <a:avLst/>
          </a:prstGeom>
          <a:noFill/>
          <a:ln w="1524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18320" y="182880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1938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Acción humana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55480" y="22677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revisar / confirmar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1033272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Ejemplo: “riesgo de AKI en 24–48 h” no significa diagnosticar AKI ahora.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Significa: este paciente merece vigilancia, creatinina de control, hidratación o revisión médica según protocolo.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Para enfermería: priorización de turno. Para fisioterapia: seguimiento de progreso. Para clínica ambulatoria: seguimiento remoto.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Neurona artificial: la idea básica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Una neurona combina señales clínicas con pesos y produce una salida.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1143000" cy="32918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91109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x₁ edad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39112" y="1993392"/>
            <a:ext cx="1234440" cy="100584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2487168"/>
            <a:ext cx="1143000" cy="32918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56946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x₂ SpO₂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39112" y="2651760"/>
            <a:ext cx="1234440" cy="347472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68680" y="3145536"/>
            <a:ext cx="1143000" cy="32918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3227832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x₃ creatinina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39112" y="3310128"/>
            <a:ext cx="1234440" cy="-310896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68680" y="3803904"/>
            <a:ext cx="1143000" cy="329184"/>
          </a:xfrm>
          <a:prstGeom prst="ellipse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8862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B1F3A"/>
                </a:solidFill>
              </a:rPr>
              <a:t>x₄ FR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39112" y="3968496"/>
            <a:ext cx="1234440" cy="-969264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2487168"/>
            <a:ext cx="1417320" cy="914400"/>
          </a:xfrm>
          <a:prstGeom prst="ellipse">
            <a:avLst/>
          </a:prstGeom>
          <a:solidFill>
            <a:srgbClr val="DBEAFE"/>
          </a:solidFill>
          <a:ln w="15240">
            <a:solidFill>
              <a:srgbClr val="0B65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27432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Σ w·x + 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activación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00600" y="2944368"/>
            <a:ext cx="1143000" cy="0"/>
          </a:xfrm>
          <a:prstGeom prst="line">
            <a:avLst/>
          </a:prstGeom>
          <a:noFill/>
          <a:ln w="1778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35040" y="276148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53912" y="287121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riesgo 0–1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14630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Analogía clínica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26680" y="190195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Un profesional no mira una variable aislada; integra edad + signos + laboratorio + contexto. La neurona hace una suma ponderada.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589520" y="288036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2990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Salida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26680" y="331927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La salida puede ser “probabilidad de deterioro”, “probabilidad de readmisión” o “probabilidad de infección”.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589520" y="4297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44074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Mensaje para estudiantes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26680" y="473659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Los pesos no son opiniones; se ajustan durante el entrenamiento usando ejemplos previos.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Pesos y sesgo: qué variable importa más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Los pesos indican cuánto empuja cada variable la predicción.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Creatinina 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peso alto: puede aumentar riesgo AKI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58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SpO₂ 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peso medio: alerta respiratoria/perfusión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611880" y="12344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344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Edad 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16733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peso medio: vulnerabilidad basal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611880" y="2148840"/>
            <a:ext cx="265176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258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Glucosa 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5877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peso bajo/medio: contexto metabólico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903720" y="132588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4356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Fórmula mínima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1764792"/>
            <a:ext cx="4114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z = peso₁×edad + peso₂×SpO₂ + peso₃×creatinina + sesgo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903720" y="288036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9900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Sesgo / bias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319272"/>
            <a:ext cx="4114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Es el “punto de partida” del modelo: una corrección global antes de mirar cada variable.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903720" y="4434840"/>
            <a:ext cx="438912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45445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Cuidado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40880" y="487375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Peso alto no siempre significa causalidad; solo significa asociación aprendida en los datos.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Activaciones: convertir la suma en una decisión útil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activación decide cómo pasa la señal a la siguiente capa.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Sigmoid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Salida entre 0 y 1. Ideal para clasificación binaria: riesgo sí/no, deterioro sí/no.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441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ReLU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7335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Pasa valores positivos y bloquea negativos. Muy usada en capas ocultas.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138160" y="12344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3441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Softmax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167335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Convierte salidas en probabilidades para varias clases: bajo / medio / alto.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Ejemplo de enfermería: sigmoid produce riesgo de deterioro = 0.82.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Ejemplo de fisioterapia: softmax clasifica recuperación como lenta, estable o rápida.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La activación no “cura” datos malos: si el dataset está mal etiquetado, la salida será poco confiable.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Capas: de variables simples a patrones clínicos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Las capas ocultas combinan variables para detectar patrones no obvios.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911096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0008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69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Entrada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947672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386584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2825496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3264408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069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Capa 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80560" y="1709928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2148840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2587752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3026664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069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Capa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309360" y="2313432"/>
            <a:ext cx="310896" cy="31089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0690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Salida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5920" y="2532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474720" y="2532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03520" y="25328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543800" y="12801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1389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Entrada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80960" y="171907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Variables disponibles antes de la decisión: edad, vitals, laboratorio, síntomas.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543800" y="26060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2715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Capas ocultas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80960" y="304495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Combinan señales: “creatinina + presión + edad” puede indicar riesgo distinto que cada variable sola.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7543800" y="39319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4041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Salida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80960" y="4370832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Probabilidad o clase clínica: bajo, medio, alto riesgo.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Forward pass: cómo una red hace una predicción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Es el viaje de los datos desde la fila del paciente hasta la salida.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1. Fila paciente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edad=72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SpO₂=91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creatinina=2.0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2. Capa oculta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combina signos + laboratorio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760720" y="1188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3. Activación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mantiene señales útiles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275320" y="118872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4. Salida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16276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riesgo AKI = 0.78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852928" y="1691640"/>
            <a:ext cx="347472" cy="0"/>
          </a:xfrm>
          <a:prstGeom prst="line">
            <a:avLst/>
          </a:prstGeom>
          <a:noFill/>
          <a:ln w="1651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67528" y="1691640"/>
            <a:ext cx="347472" cy="0"/>
          </a:xfrm>
          <a:prstGeom prst="line">
            <a:avLst/>
          </a:prstGeom>
          <a:noFill/>
          <a:ln w="1651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82128" y="1691640"/>
            <a:ext cx="347472" cy="0"/>
          </a:xfrm>
          <a:prstGeom prst="line">
            <a:avLst/>
          </a:prstGeom>
          <a:noFill/>
          <a:ln w="16510">
            <a:solidFill>
              <a:srgbClr val="0B65C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Durante el forward pass la red no aprende; solo calcula.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Aprende después, cuando compara la predicción con la respuesta real.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En Colab, esto ocurre cada vez que llamamos model.predict().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Loss: medir cuánto se equivocó el modelo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pérdida es el “dolor matemático” que guía el aprendizaje.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Predicción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764792"/>
            <a:ext cx="2926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Paciente real con AKI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Modelo predice 0.20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435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764792"/>
            <a:ext cx="2926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La predicción está lejos de la realidad. Loss alta.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138160" y="13258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356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Aprendizaje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1764792"/>
            <a:ext cx="2926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El modelo ajusta pesos para reducir errores similares.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1051560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Para clasificación binaria se usa con frecuencia binary cross-entropy.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No se busca memorizar todos los pacientes; se busca generalizar a nuevos pacientes.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La curva de loss debe bajar en entrenamiento y validación; si solo baja en entrenamiento, sospechar overfitting.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Backpropagation: aprender de los errores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red retrocede desde el error final y corrige pesos capa por capa.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819656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58568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Entrada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417320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856232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295144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734056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3172968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Capa 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89120" y="1618488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057400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496312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2935224"/>
            <a:ext cx="310896" cy="310896"/>
          </a:xfrm>
          <a:prstGeom prst="ellipse">
            <a:avLst/>
          </a:prstGeom>
          <a:solidFill>
            <a:srgbClr val="EDE9F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Capa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2221992"/>
            <a:ext cx="310896" cy="310896"/>
          </a:xfrm>
          <a:prstGeom prst="ellipse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</a:rPr>
              <a:t>Salida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54480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83280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212080" y="24414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65C2"/>
                </a:solidFill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989320" y="1353312"/>
            <a:ext cx="-448056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2286000" y="1078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el error vuelve hacia atrás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12801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3898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Mensaje simple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171907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Backpropagation no es una caja mágica: calcula qué pesos contribuyeron al error y los ajusta.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498080" y="28346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944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Ejemplo clínico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32735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Si el modelo subestima pacientes con creatinina alta, aumentará el peso asociado a esa señal si el patrón se repite.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Epochs, batch size y learning rate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Tres controles que los estudiantes verán en Google Colab.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Epoch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Una vuelta completa por los datos de entrenamiento.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98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Batch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2763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Grupo pequeño de pacientes usado para actualizar pesos.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92440" y="1188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29844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Learning 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627632"/>
            <a:ext cx="3017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Tamaño del paso al corregir los pesos.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100584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Pocas epochs: el modelo puede no aprender suficiente.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Demasiadas epochs: puede memorizar el dataset.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Learning rate muy alto: aprendizaje inestable; muy bajo: aprendizaje lento.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Overfitting: cuando el modelo memoriza y falla en clínica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Este concepto es esencial para seguridad del paciente.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98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Señal de alerta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6276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Accuracy entrenamiento 99%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Accuracy validación 70%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298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Causa frecuente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627632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Modelo demasiado complejo, dataset pequeño, fuga de información, variables futuras.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321040" y="118872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29844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Solución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58200" y="16276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Validación, dropout, early stopping, dataset externo, revisión clínica.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22960" y="3886200"/>
            <a:ext cx="10515600" cy="1234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Para enfermería y profesiones clínicas: no confiar en una red solo porque “funcionó” en una base pequeña.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Preguntar siempre: ¿funciona en otro hospital, otro turno, otro perfil de pacientes?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La validación externa es tan importante como la arquitectura.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Sesgo, fuga de información y variables futuras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Una red neuronal puede aprender trucos peligrosos si el diseño del dataset es incorrecto.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887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98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Sesgo de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Pacientes de un solo hospital o población no representativa.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1887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98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Leakage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27632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Usar una variable que ya contiene el resultado: “UCI” para predecir “UCI”.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92440" y="118872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298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Variable futura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627632"/>
            <a:ext cx="31089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Usar información que no estaba disponible al momento de decidir.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104241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Regla práctica: cada variable debe estar disponible antes de la acción clínica.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En cada proyecto pedir a estudiantes que marquen: variables permitidas, prohibidas y dudosas.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La seguridad del modelo empieza antes del código.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Métricas clínicas: no basta con accuracy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En salud, el tipo de error importa más que un número global.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527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Verdadero positivo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Alerta sí + evento sí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2527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Falso positivo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581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Alerta sí + evento no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50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Falso negativo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Alerta no + evento sí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3246120" y="2240280"/>
            <a:ext cx="2240280" cy="82296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3500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Verdadero negativo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Alerta no + evento no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9844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Sensibilidad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627632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¿Cuántos pacientes enfermos detecto?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035040" y="24231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5328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PPV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862072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De mis alertas, ¿cuántas son realmente útiles?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035040" y="36576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7673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AUC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4096512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Capacidad de separar grupos, pero no decide por sí sola si el sistema es clínicamente usable.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Algoritmos usados en los artículos: de simple a profundo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Los estudiantes deben ubicar cada método en una escalera de complejidad.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Regresión logística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81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base interpretable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Random Forest / XGBoost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81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árboles fuertes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183880" y="114300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Red densa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5819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tabular sencillo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85800" y="265176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61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CNN 1D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0906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señales y series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434840" y="265176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761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LSTM-Attention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0906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secuencias clínicas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8183880" y="2651760"/>
            <a:ext cx="333756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761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Transformer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09067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eventos irregulares / EHR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868680" y="4572000"/>
            <a:ext cx="1042416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La práctica de Colab usa una red densa porque es suficiente para enseñar la mecánica.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Los artículos muestran cómo las mismas ideas escalan a CNN, LSTM, Transformer, SHAP y modelos clínicos reales.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Lo importante no es memorizar nombres: es entender qué tipo de dato procesa cada algoritmo.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Artículo central: deep learning para AKI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Fuente: npj Digital Medicine 2026 · AKI prediction</a:t>
            </a:r>
            <a:endParaRPr lang="en-US" sz="1050" dirty="0"/>
          </a:p>
        </p:txBody>
      </p:sp>
      <p:pic>
        <p:nvPicPr>
          <p:cNvPr id="4" name="Image 0" descr="/mnt/data/session7_assets/aki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Usa 157,323 admisiones de tres cohortes.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Compara LSTM-Attention, Masked CNN, ITE-Transformer, XGBoost y regresión logística.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Entrena modelos en horizontes 0 h, 48 h y 72 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Ideal para enseñar cómo un problema clínico se transforma en red neuronal y monitoreo continuo.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AKI: evaluación continua, no solo una predicción fija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El artículo advierte que el rendimiento de una predicción puntual puede no reflejar la práctica clínica.</a:t>
            </a:r>
            <a:endParaRPr lang="en-US" sz="1050" dirty="0"/>
          </a:p>
        </p:txBody>
      </p:sp>
      <p:pic>
        <p:nvPicPr>
          <p:cNvPr id="4" name="Image 0" descr="/mnt/data/session7_assets/aki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En práctica clínica, las alertas se actualizan repetidamente.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El artículo introduce “clinical faithfulness”: el riesgo debería mejorar a medida que se acerca el evento.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Para estudiantes: un modelo debe ser útil durante el turno, no solo en una tabla de resultados.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Discusión: ¿cada cuántas horas debería recalcularse el riesgo en una sala real?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AKI: ROC, precision–recall y comparación de modelos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Figura de rendimiento para explicar AUC, precisión, sensibilidad y falsa alarma.</a:t>
            </a:r>
            <a:endParaRPr lang="en-US" sz="1050" dirty="0"/>
          </a:p>
        </p:txBody>
      </p:sp>
      <p:pic>
        <p:nvPicPr>
          <p:cNvPr id="4" name="Image 0" descr="/mnt/data/session7_assets/aki_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CNN puede parecer excelente en una evaluación puntual.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Transformers y LSTM se usan cuando importa la secuencia temporal.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Precision–recall es clave cuando el evento es poco frecuente.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Pregunta al estudiante: ¿qué métrica importa más para una alerta de enfermería?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AKI: simulación online y “clinical faithfulness”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arquitectura con mejor AUC puntual no siempre es la mejor para despliegue.</a:t>
            </a:r>
            <a:endParaRPr lang="en-US" sz="1050" dirty="0"/>
          </a:p>
        </p:txBody>
      </p:sp>
      <p:pic>
        <p:nvPicPr>
          <p:cNvPr id="4" name="Image 0" descr="/mnt/data/session7_assets/aki_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Predicciones cada 12 horas antes de AKI.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0 h mostró mejor estabilidad al acercarse el evento.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El artículo reporta que Masked CNN tuvo alto AUROC puntual, pero mal perfil de despliegue.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Lección: evaluar cómo se comporta la alerta a lo largo del tiempo.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Sepsis: trayectorias dinámicas de deterioro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Artículo útil para enseñar que no todos los pacientes siguen el mismo camino clínico.</a:t>
            </a:r>
            <a:endParaRPr lang="en-US" sz="1050" dirty="0"/>
          </a:p>
        </p:txBody>
      </p:sp>
      <p:pic>
        <p:nvPicPr>
          <p:cNvPr id="4" name="Image 0" descr="/mnt/data/session7_assets/sepsis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Identifica recuperación rápida, recuperación lenta y deterioro.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Modelo con variabilidad fisiológica dinámica.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La advertencia mediana antes del deterioro fue 17.6 h.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Para enfermería: priorizar vigilancia antes de que el deterioro sea obvio.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Sepsis: diseño del estudio y grupos de trayectoria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Los estudiantes pueden convertir esto en un ejercicio de clasificación.</a:t>
            </a:r>
            <a:endParaRPr lang="en-US" sz="1050" dirty="0"/>
          </a:p>
        </p:txBody>
      </p:sp>
      <p:pic>
        <p:nvPicPr>
          <p:cNvPr id="4" name="Image 0" descr="/mnt/data/session7_assets/sepsis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Input: SOFA, signos vitales, lactato, variabilidad de frecuencia cardiaca.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Target: trayectoria clínica o deterioro.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Discusión: ¿qué señales están disponibles en su hospital o clínica?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Práctica: crear un dataset sintético con tres clases de trayectoria.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Sepsis: de punto aislado a patrón temporal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El valor de deep learning es capturar relaciones no lineales y secuencias.</a:t>
            </a:r>
            <a:endParaRPr lang="en-US" sz="1050" dirty="0"/>
          </a:p>
        </p:txBody>
      </p:sp>
      <p:pic>
        <p:nvPicPr>
          <p:cNvPr id="4" name="Image 0" descr="/mnt/data/session7_assets/sepsis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Los cambios de pendiente SOFA importan más que un valor único.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La trayectoria de deterioro tenía SOFA ascendente y mayor necesidad de soporte.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Ejercicio clínico: ¿qué patrón vería primero una enfermera en el turno?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Conectar con forward pass: una fila aislada vs una serie temporal.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Cirugía: infección postoperatoria desde signos vitales intraoperatorios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Ejemplo de cómo variables fisiológicas se vuelven features para un modelo.</a:t>
            </a:r>
            <a:endParaRPr lang="en-US" sz="1050" dirty="0"/>
          </a:p>
        </p:txBody>
      </p:sp>
      <p:pic>
        <p:nvPicPr>
          <p:cNvPr id="4" name="Image 0" descr="/mnt/data/session7_assets/surgery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804" y="1143000"/>
            <a:ext cx="37333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Usa presión arterial, frecuencia cardiaca, SpO₂, temperatura y CO₂ espirado.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Predice infección al final de cirugía.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AUROC reportado 0.88 con features intraoperatorias.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Ideal para estudiantes de quirófano, anestesia, enfermería y recuperación.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Cirugía: el momento de decisión es “fin de cirugía”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El artículo convierte el fin de cirugía en punto de apoyo para monitoreo preventivo.</a:t>
            </a:r>
            <a:endParaRPr lang="en-US" sz="1050" dirty="0"/>
          </a:p>
        </p:txBody>
      </p:sp>
      <p:pic>
        <p:nvPicPr>
          <p:cNvPr id="4" name="Image 0" descr="/mnt/data/session7_assets/surgery_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804" y="1143000"/>
            <a:ext cx="37333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Cohorte modelada: 10,719 cirugías.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Infección posoperatoria en 4.7%.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Variables agrupadas por tiempo: preoperatorias, intraoperatorias y posoperatorias.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Mensaje: el modelo debe calcularse cuando todavía puede cambiarse la conducta.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Cirugía: modelo + explicabilidad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SHAP y features interpretables ayudan a revisar por qué el modelo alerta.</a:t>
            </a:r>
            <a:endParaRPr lang="en-US" sz="1050" dirty="0"/>
          </a:p>
        </p:txBody>
      </p:sp>
      <p:pic>
        <p:nvPicPr>
          <p:cNvPr id="4" name="Image 0" descr="/mnt/data/session7_assets/surgery_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804" y="1143000"/>
            <a:ext cx="37333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Random Forest fue el mejor en esta investigación.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Las series vitales se transforman en resumen, tendencia, distribución, entropía.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Explicabilidad: clave para confianza del personal clínico.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Práctica: crear features como media, mínimo, máximo y desviación estándar.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UCI: comparar IA con clínicos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pregunta no es “IA o humano”, sino cómo combinarlos de manera segura.</a:t>
            </a:r>
            <a:endParaRPr lang="en-US" sz="1050" dirty="0"/>
          </a:p>
        </p:txBody>
      </p:sp>
      <p:pic>
        <p:nvPicPr>
          <p:cNvPr id="4" name="Image 0" descr="/mnt/data/session7_assets/icu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804" y="1143000"/>
            <a:ext cx="37333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AI entrenada con 46,631 admisiones de UCI.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Comparación retrospectiva y prospectiva.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Resultados: las combinaciones clínico + IA a menudo logran mejor rendimiento.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Mensaje para la clase: apoyo a la decisión, no reemplazo profesional.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UCI: XGBoost, calibración y SHAP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Aunque no todo es deep learning, el razonamiento de evaluación es el mismo.</a:t>
            </a:r>
            <a:endParaRPr lang="en-US" sz="1050" dirty="0"/>
          </a:p>
        </p:txBody>
      </p:sp>
      <p:pic>
        <p:nvPicPr>
          <p:cNvPr id="4" name="Image 0" descr="/mnt/data/session7_assets/icu_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3804" y="1143000"/>
            <a:ext cx="3733352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Usa modelos de clasificación y regresión.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Reporta calibración y Brier score.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SHAP identifica variables clínicas importantes.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Discusión: ¿una red neuronal debe explicar sus razones para ser aceptada?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Insuficiencia cardiaca: de Transformer a modelo simple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Un ejemplo de traducción: IA compleja → modelo clínico parsimonioso.</a:t>
            </a:r>
            <a:endParaRPr lang="en-US" sz="1050" dirty="0"/>
          </a:p>
        </p:txBody>
      </p:sp>
      <p:pic>
        <p:nvPicPr>
          <p:cNvPr id="4" name="Image 0" descr="/mnt/data/session7_assets/hf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373,389 adultos con insuficiencia cardiaca.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Un Transformer identifica señales; SHAP destila 11 variables.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SIMPLE-HF supera MAGGIC-EHR en C-index.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Lección: un buen proyecto clínico busca implementación, no solo arquitectura sofisticada.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SIMPLE-HF: balance entre precisión e implementación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En hospitales reales, lo usable importa tanto como lo avanzado.</a:t>
            </a:r>
            <a:endParaRPr lang="en-US" sz="1050" dirty="0"/>
          </a:p>
        </p:txBody>
      </p:sp>
      <p:pic>
        <p:nvPicPr>
          <p:cNvPr id="4" name="Image 0" descr="/mnt/data/session7_assets/hf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57" y="1143000"/>
            <a:ext cx="3820445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143000"/>
            <a:ext cx="4160520" cy="5074920"/>
          </a:xfrm>
          <a:prstGeom prst="roundRect">
            <a:avLst>
              <a:gd name="adj" fmla="val 1319"/>
            </a:avLst>
          </a:prstGeom>
          <a:solidFill>
            <a:srgbClr val="F5F8FB"/>
          </a:solidFill>
          <a:ln w="12700">
            <a:solidFill>
              <a:srgbClr val="DDE6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99248" y="1417320"/>
            <a:ext cx="3703320" cy="4297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Variables de punto de atención: edad, IMC, comorbilidades, medicamentos.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Evaluación con discriminación, calibración, net benefit e impacto clínico.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Ejercicio: pedir a estudiantes que propongan 10 variables disponibles en su ambiente.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Conectar con sesgo: ¿estas variables existen de forma completa en todos los pacientes?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Preparación del Colab: dataset clínico sintético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Para practicar sin datos sensibles de pacientes reales.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71600"/>
            <a:ext cx="506577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pandas as pd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confusion_matrix, classification_report, roc_auc_score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tensorflow as tf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tensorflow import keras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np.random.seed(42)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46520" y="128016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3898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Objetivo práctico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1719072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Crear un clasificador sencillo: riesgo de deterioro = 0/1 usando variables clínicas simuladas.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446520" y="260604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7157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Por qué sintético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3044952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Permite aprender estructura, evitar datos sensibles y adaptar luego a un CSV real del hospital.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446520" y="39319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0416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Rol docente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370832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Insistir: esto es entrenamiento educativo, no implementación clínica inmediata.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crear datos clínicos de práctica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Cada fila representa un paciente o ventana de observación.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6217920" cy="4846320"/>
          </a:xfrm>
          <a:prstGeom prst="roundRect">
            <a:avLst>
              <a:gd name="adj" fmla="val 113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80160"/>
            <a:ext cx="5888736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np.random.normal(62, 14,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spo2 = np.random.normal(94, 4,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 = np.random.normal(88, 18,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creatinine = np.random.lognormal(0.15, 0.45, 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glucose = np.random.normal(145, 45, n)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 = -7 + 0.04*age -0.08*spo2 + 0.025*hr + 1.2*creatinine + 0.006*glucose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 = 1/(1+np.exp(-logit))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(np.random.rand(n) &lt; prob).astype(int)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pd.DataFrame({'age':age,'spo2':spo2,'hr':hr,'creatinine':creatinine,'glucose':glucose,'risk':y})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0" y="141732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5270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Discusión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69480" y="185623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variables cambiarían si el proyecto fuera de fisioterapia, enfermería domiciliaria o cirugía?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132320" y="283464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Punto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69480" y="32735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El target debe estar claramente definido: deterioro, AKI, caída, readmisión o complicación.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132320" y="425196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4361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Seguridad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46908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Nunca usar nombres, cédulas, direcciones ni datos identificables para práctica en clase.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train/test split + escalamiento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red aprende del entrenamiento y se prueba con datos no vistos.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577840" cy="356616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71600"/>
            <a:ext cx="5248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df[['age','spo2','hr','creatinine','glucose']].values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df['risk'].values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test_size=0.25, random_state=42, stratify=y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= scaler.transform(X_test)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720840" y="1508760"/>
            <a:ext cx="45720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stratify mantiene proporción de clases.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StandardScaler evita que una variable domine por escala.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fit_transform se usa solo en entrenamiento; transform en test evita fuga de información.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red neuronal sencilla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Arquitectura intencionalmente pequeña para que todos entiendan cada parte.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70432"/>
            <a:ext cx="5852160" cy="4892040"/>
          </a:xfrm>
          <a:prstGeom prst="roundRect">
            <a:avLst>
              <a:gd name="adj" fmla="val 11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07592"/>
            <a:ext cx="552297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keras.layers.Input(shape=(5,)),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keras.layers.Dense(16, activation='relu'),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keras.layers.Dropout(0.20),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keras.layers.Dense(8, activation='relu'),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keras.layers.Dense(1, activation='sigmoid')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optimizer=keras.optimizers.Adam(learning_rate=0.001),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loss='binary_crossentropy',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metrics=['accuracy', keras.metrics.AUC(name='auc')]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model.summary()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995160" y="14173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527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Capas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8562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Dense 16 → Dense 8 → salida sigmoid.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995160" y="27889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28986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Dropout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32278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Apaga neuronas aleatorias para reducir overfitting.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995160" y="41605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42702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Salida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459943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Un número entre 0 y 1: probabilidad estimada de riesgo.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entrenamiento y curvas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La clase debe ver cómo loss y AUC cambian con las epochs.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989320" cy="4800600"/>
          </a:xfrm>
          <a:prstGeom prst="roundRect">
            <a:avLst>
              <a:gd name="adj" fmla="val 114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80160"/>
            <a:ext cx="5660136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model.fit(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X_train, y_train,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validation_split=0.2,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epochs=40,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batch_size=32,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plt.plot(history.history['loss'], label='train loss')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plt.plot(history.history['val_loss'], label='val loss')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plt.legend(); plt.xlabel('epoch'); plt.ylabel('loss');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995160" y="1554480"/>
            <a:ext cx="4297680" cy="2286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Si train loss baja y val loss sube: overfitting.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Si ambas no bajan: el modelo no aprende o los datos no tienen señal.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Preguntar: ¿qué haría un clínico antes de confiar en este modelo?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evaluación clínica mínima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No entregar un modelo sin matriz de confusión y discusión de errores.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71600"/>
            <a:ext cx="4791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= model.predict(X_test).ravel()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(proba &gt;= 0.50).astype(int)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print('AUC:', roc_auc_score(y_test, proba))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print(confusion_matrix(y_test, pred))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pred))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3441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Pregunta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67335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cuesta más: un falso negativo o un falso positivo?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25146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6243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Pregunta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295351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¿Con qué umbral se activa una revisión profesional?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17920" y="37947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90448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Pregunta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23367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¿Quién recibe la alerta y qué protocolo sigue?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Colab: predicción de un paciente individual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Convertir probabilidad en acción profesional, no en diagnóstico automático.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63040"/>
            <a:ext cx="47914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 = pd.DataFrame([{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'age': 74, 'spo2': 90, 'hr': 112,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'creatinine': 1.9, 'glucose': 210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nuevo_scaled = scaler.transform(nuevo)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= model.predict(nuevo_scaled)[0,0]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print(f'Riesgo estimado = {risk:.2f}')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4356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No decir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7647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“La IA diagnosticó deterioro”.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8529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Decir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318211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“El modelo prioriza revisión clínica porque la probabilidad es alta”.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6217920" y="41605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42702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Acción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59943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Revisar signos, confirmar laboratorio, aplicar protocolo y documentar criterio profesional.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Práctica guiada 1: enfermería · deterioro durante el turno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Proyecto realizable con Google Colab y una tabla sencilla.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44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paciente debe ser revisado primero durante el turno?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344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673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Edad, presión, FC, FR, SpO₂, temperatura, dolor, glucosa, diuresis.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46720" y="123444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3441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16733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Deterioro en 6–12 h, llamada médica, traslado, evento adverso.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100584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Innovación: tablero de priorización de pacientes de sala usando una red neuronal pequeña.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Práctica: simular dataset y comparar regresión logística vs red densa.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Validación: revisar falsos negativos con un profesional clínico.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Práctica guiada 2: fisioterapia · progreso funcional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Usar deep learning para clasificar patrones de recuperación, no para reemplazar evaluación.</a:t>
            </a:r>
            <a:endParaRPr lang="en-US" sz="1050" dirty="0"/>
          </a:p>
        </p:txBody>
      </p:sp>
      <p:pic>
        <p:nvPicPr>
          <p:cNvPr id="4" name="Image 0" descr="/mnt/data/a_clean_modern_physiotherapy_rehab_clinic_scene_w_batch_3.png">    </p:cNvPr>
          <p:cNvPicPr>
            <a:picLocks noChangeAspect="1"/>
          </p:cNvPicPr>
          <p:nvPr/>
        </p:nvPicPr>
        <p:blipFill>
          <a:blip r:embed="rId1"/>
          <a:srcRect l="21334" r="21334" t="0" b="0"/>
          <a:stretch/>
        </p:blipFill>
        <p:spPr>
          <a:xfrm>
            <a:off x="594360" y="1051560"/>
            <a:ext cx="498348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12344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26480" y="13441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Problema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26480" y="1673352"/>
            <a:ext cx="502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¿El paciente progresa rápido, lento o se estanca?</a:t>
            </a:r>
            <a:endParaRPr lang="en-US" sz="930" dirty="0"/>
          </a:p>
        </p:txBody>
      </p:sp>
      <p:sp>
        <p:nvSpPr>
          <p:cNvPr id="8" name="Shape 5"/>
          <p:cNvSpPr/>
          <p:nvPr/>
        </p:nvSpPr>
        <p:spPr>
          <a:xfrm>
            <a:off x="5989320" y="26060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27157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Datos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3044952"/>
            <a:ext cx="502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Rango de movimiento, velocidad, repeticiones, dolor, fatiga, balance, adherencia.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5989320" y="39776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40873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Proyecto Colab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4416552"/>
            <a:ext cx="5029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Clasificador de tres clases: recuperación rápida / lenta / riesgo de abandono.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Práctica guiada 3: cirugía / recuperación · riesgo de infección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Inspirado en el artículo de signos vitales intraoperatorios.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Problema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8191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¿Qué paciente requiere vigilancia preventiva al salir de cirugía?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8191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Temperatura, FC, PA, SpO₂, duración quirúrgica, glucosa, tipo de cirugía.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092440" y="11430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252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581912"/>
            <a:ext cx="30632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Infección, fiebre persistente, antibiótico adicional, reingreso.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68680" y="3657600"/>
            <a:ext cx="104241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Innovación: mini-score local para recuperación posoperatoria temprana.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Colab: calcular features de tiempo: media, máximo, mínimo, variabilidad.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Seguridad: el output sugiere vigilancia, no antibiótico automático.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Tres problemas innovadores que los estudiantes pueden adoptar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Cada equipo elige uno, crea dataset sintético y entrena un prototipo.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44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 · Alerta de turno para enfermería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32004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Clasificar pacientes en bajo/medio/alto riesgo de deterioro usando signos vitales y laboratorio disponible. Producto: lista priorizada de revisión.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44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 · Motor de rehabilitación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673352"/>
            <a:ext cx="32004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Clasificar recuperación funcional desde medidas simples: rango, dolor, repeticiones, tiempo, adherencia. Producto: seguimiento semanal.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8183880" y="12344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7ED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3441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 · Vigilancia posquirúrgica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21040" y="1673352"/>
            <a:ext cx="32004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Predecir quién requiere vigilancia estrecha posoperatoria por señales fisiológicas y factores quirúrgicos. Producto: checklist + riesgo.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</a:rPr>
              <a:t>Entregable: Colab + 1 diapositiva clínica + matriz de confusión + propuesta de implementación segura.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Actividad de clase: convertir una pregunta clínica en red neuronal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Plantilla para trabajo en grupos durante la última parte.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6128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1. ¿Qué decisión clínica queremos priorizar?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52120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731520" y="1709928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1965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2. ¿Qué variables están disponibles antes de la decisión?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2120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2368296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7802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3. ¿Cuál es el target y cómo se etiqueta?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807208"/>
            <a:ext cx="52120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731520" y="3026664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36392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4. ¿Qué error es más peligroso?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3465576"/>
            <a:ext cx="52120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31520" y="3685032"/>
            <a:ext cx="5486400" cy="475488"/>
          </a:xfrm>
          <a:prstGeom prst="roundRect">
            <a:avLst>
              <a:gd name="adj" fmla="val 15385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947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5. ¿Qué acción humana sigue al riesgo alto?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123944"/>
            <a:ext cx="52120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675120" y="123444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3441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Producto final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167335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Una celda de Colab que entrena el modelo + una explicación clínica de uso seguro.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675120" y="2743200"/>
            <a:ext cx="438912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85292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Evaluación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31821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</a:rPr>
              <a:t>No gana el AUC más alto; gana el proyecto más claro, seguro y aplicable.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Interpretación y seguridad clínica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Checklist obligatorio antes de usar cualquier prototipo.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070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¿El dato es correcto y no tiene fuga?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53619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20700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¿El target está bien definido?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55080" y="153619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243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¿El modelo fue validado fuera del entrenamiento?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95351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17920" y="25146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6243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¿Se revisaron falsos negativos?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95351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416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¿El umbral fue elegido con criterio clínico?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37083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635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04164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✓ ¿Existe protocolo humano después de la alerta?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370832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Sesión 7 · Deep Learning en salud · Google Colab + red neuronal sencilla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418320" y="6510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</a:rPr>
              <a:t>SIT Health · formación clínica aplicada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hospital_medical_scene_with_a_shall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94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Cierre · Deep learning útil es deep learning clínicamente responsable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68680" y="1828800"/>
            <a:ext cx="740664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Una neurona artificial combina señales; una red combina patrones.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La práctica en Colab enseña el flujo: datos → red → métricas → acción humana.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En salud, el objetivo no es automatizar decisiones: es apoyar mejores decisiones profesionales.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Desafío: traer un problema real de su práctica y convertirlo en un prototipo seguro.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68680" y="52303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F4FF"/>
                </a:solidFill>
              </a:rPr>
              <a:t>Entrega del estudiante: Colab + métrica + matriz de confusión + plan de seguridad clínica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SIT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7 · Deep Learning en salud</dc:title>
  <dc:subject>Deep Learning en salud</dc:subject>
  <dc:creator>SIT Health / Dr. Saravana</dc:creator>
  <cp:lastModifiedBy>SIT Health / Dr. Saravana</cp:lastModifiedBy>
  <cp:revision>1</cp:revision>
  <dcterms:created xsi:type="dcterms:W3CDTF">2026-09-28T17:15:36Z</dcterms:created>
  <dcterms:modified xsi:type="dcterms:W3CDTF">2026-09-28T17:15:36Z</dcterms:modified>
</cp:coreProperties>
</file>