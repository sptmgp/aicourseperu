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docente (30 s): Presentar el objetivo: no es solo “usar computadoras”, sino medir madurez digital y conectar datos con seguridad y calidad clínica.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docente (35 s): Explicar que este artículo no enseña un software específico; enseña cómo saber si el hospital ya está listo para usar IA y transformación digital de forma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docente (35 s): Usar una analogía: el hospital tradicional tiene información en habitaciones separadas; el digital crea un pasillo de datos clínicos.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docente (35 s): Recalcar que “madurez digital” no es tener una computadora: es tener sistemas integrados, gobernanza, seguridad, alertas y datos útiles para decisiones.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docente (35 s): Explicar que no es un ensayo clínico. Es una asociación estadística entre madurez digital y resultados de seguridad, controlando características hospitalarias.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docente (40 s): Este es el dato más importante para memorizar. La pregunta para la clase: ¿qué elementos de un hospital digital podrían explicar esta diferencia?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docente (35 s): Explicar los acrónimos rápidamente: CPOE reduce errores de prescripción; BCMA verifica paciente-medicamento; SP1 y SP9 indican cultura y personal para sostener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docente (35 s): No prometer que todos los eventos bajan automáticamente. Decir que el resultado más claro fue CLABSI y que varios indicadores apuntan hacia menor daño.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docente (35 s): Usar como transición a práctica: laboratorio, urgencias, farmacia o radiología. Pedir que identifiquen qué dato se pierde en el hospital tradicional y cómo se integra.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docente (35 s): Cierre completo: la transformación digital no es comprar software; es construir una infraestructura de datos segura para mejorar resultados y preparar el hospital para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01400" cy="0"/>
          </a:xfrm>
          <a:prstGeom prst="line">
            <a:avLst/>
          </a:prstGeom>
          <a:noFill/>
          <a:ln w="12700">
            <a:solidFill>
              <a:srgbClr val="D7E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C7A89"/>
                </a:solidFill>
              </a:rPr>
              <a:t>Fundamentos de IA y Transformación Digital en Salud · Capítulo: Hospital tradicional → hospital digital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futuristic_high_tech_hospital_m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92240" cy="6199632"/>
          </a:xfrm>
          <a:prstGeom prst="rect">
            <a:avLst/>
          </a:prstGeom>
          <a:solidFill>
            <a:srgbClr val="F7FBFF">
              <a:alpha val="95000"/>
            </a:srgbClr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92240" y="0"/>
            <a:ext cx="713232" cy="6199632"/>
          </a:xfrm>
          <a:prstGeom prst="rect">
            <a:avLst/>
          </a:prstGeom>
          <a:solidFill>
            <a:srgbClr val="F7FBFF">
              <a:alpha val="50000"/>
            </a:srgbClr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71323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6304A"/>
                </a:solidFill>
              </a:rPr>
              <a:t>Madurez digital hospitalaria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03504" y="14630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73C8"/>
                </a:solidFill>
              </a:rPr>
              <a:t>De hospital tradicional a hospital digital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21792" y="1993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6324F"/>
                </a:solidFill>
              </a:rPr>
              <a:t>10 diapositivas · explicación máxima: 6 minutos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621792" y="5440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738C"/>
                </a:solidFill>
              </a:rPr>
              <a:t>Artículo base: “Digital Maturity as a Predictor of Quality and Safety Outcomes in US Hospitals” (JMIR, 2024)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627278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A7888"/>
                </a:solidFill>
              </a:rPr>
              <a:t>Fuente: Snowdon et al., Journal of Medical Internet Research 2024;26:e56316; doi:10.2196/56316. Líneas 17–24, 54–56.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30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este artículo encaja en el capítulo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738C"/>
                </a:solidFill>
              </a:rPr>
              <a:t>Transformación digital en salud = datos, flujos de trabajo, seguridad y calidad clínica.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3C8"/>
                </a:solidFill>
              </a:rPr>
              <a:t>La idea central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10698480" cy="0"/>
          </a:xfrm>
          <a:prstGeom prst="line">
            <a:avLst/>
          </a:prstGeom>
          <a:noFill/>
          <a:ln w="25400">
            <a:solidFill>
              <a:srgbClr val="CFE2F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22960" y="1755648"/>
            <a:ext cx="530352" cy="530352"/>
          </a:xfrm>
          <a:prstGeom prst="ellipse">
            <a:avLst/>
          </a:prstGeom>
          <a:solidFill>
            <a:srgbClr val="0B73C8"/>
          </a:solidFill>
          <a:ln w="12700">
            <a:solidFill>
              <a:srgbClr val="0B73C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4964" y="1851660"/>
            <a:ext cx="466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2395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Datos clínicos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2724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38C"/>
                </a:solidFill>
              </a:rPr>
              <a:t>EHR, laboratorio, farmacia, imagen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1755648"/>
            <a:ext cx="530352" cy="530352"/>
          </a:xfrm>
          <a:prstGeom prst="ellipse">
            <a:avLst/>
          </a:prstGeom>
          <a:solidFill>
            <a:srgbClr val="21A59A"/>
          </a:solidFill>
          <a:ln w="12700">
            <a:solidFill>
              <a:srgbClr val="21A59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6644" y="1851660"/>
            <a:ext cx="466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50592" y="2395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Madurez digital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67712" y="2724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38C"/>
                </a:solidFill>
              </a:rPr>
              <a:t>infraestructura + gobernanza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0600" y="1755648"/>
            <a:ext cx="530352" cy="5303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2604" y="1851660"/>
            <a:ext cx="466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16552" y="2395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Automatización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33672" y="2724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38C"/>
                </a:solidFill>
              </a:rPr>
              <a:t>flujo de datos y alertas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0" y="1755648"/>
            <a:ext cx="530352" cy="530352"/>
          </a:xfrm>
          <a:prstGeom prst="ellipse">
            <a:avLst/>
          </a:prstGeom>
          <a:solidFill>
            <a:srgbClr val="6655CC"/>
          </a:solidFill>
          <a:ln w="12700">
            <a:solidFill>
              <a:srgbClr val="6655C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0004" y="1851660"/>
            <a:ext cx="466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73952" y="2395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Decisión clínica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91072" y="2724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38C"/>
                </a:solidFill>
              </a:rPr>
              <a:t>seguimiento y riesgos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915400" y="1755648"/>
            <a:ext cx="530352" cy="530352"/>
          </a:xfrm>
          <a:prstGeom prst="ellipse">
            <a:avLst/>
          </a:prstGeom>
          <a:solidFill>
            <a:srgbClr val="23A567"/>
          </a:solidFill>
          <a:ln w="12700">
            <a:solidFill>
              <a:srgbClr val="23A56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47404" y="1851660"/>
            <a:ext cx="466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31352" y="2395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Calidad y seguridad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48472" y="2724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738C"/>
                </a:solidFill>
              </a:rPr>
              <a:t>menos errores y daño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22960" y="3931920"/>
            <a:ext cx="10332720" cy="1143000"/>
          </a:xfrm>
          <a:prstGeom prst="roundRect">
            <a:avLst>
              <a:gd name="adj" fmla="val 6400"/>
            </a:avLst>
          </a:prstGeom>
          <a:solidFill>
            <a:srgbClr val="EAF5FF"/>
          </a:solidFill>
          <a:ln w="8890">
            <a:solidFill>
              <a:srgbClr val="BFD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41879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3C8"/>
                </a:solidFill>
              </a:rPr>
              <a:t>Mensaje para estudiantes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0440" y="4096512"/>
            <a:ext cx="7178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La salud digital debe demostrar impacto: mejores decisiones, menos errores, mejor experiencia y trabajo clínico más sostenible.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" y="627278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A7888"/>
                </a:solidFill>
              </a:rPr>
              <a:t>Fuente: el artículo define salud digital como oportunidad para calidad, seguridad, experiencia y desempeño; líneas 85–90.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30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del hospital tradicional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738C"/>
                </a:solidFill>
              </a:rPr>
              <a:t>Sistemas aislados producen trabajo manual, demoras y poca visibilidad del riesgo.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68580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F4A47"/>
                </a:solidFill>
              </a:rPr>
              <a:t>Hospital tradicional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383280" cy="420624"/>
          </a:xfrm>
          <a:prstGeom prst="roundRect">
            <a:avLst>
              <a:gd name="adj" fmla="val 17391"/>
            </a:avLst>
          </a:prstGeom>
          <a:solidFill>
            <a:srgbClr val="FFF2F0"/>
          </a:solidFill>
          <a:ln w="12700">
            <a:solidFill>
              <a:srgbClr val="F5C0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0195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</a:rPr>
              <a:t>Laboratorio separado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3383280" cy="420624"/>
          </a:xfrm>
          <a:prstGeom prst="roundRect">
            <a:avLst>
              <a:gd name="adj" fmla="val 17391"/>
            </a:avLst>
          </a:prstGeom>
          <a:solidFill>
            <a:srgbClr val="FFF2F0"/>
          </a:solidFill>
          <a:ln w="12700">
            <a:solidFill>
              <a:srgbClr val="F5C0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58775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</a:rPr>
              <a:t>Farmacia separado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3383280" cy="420624"/>
          </a:xfrm>
          <a:prstGeom prst="roundRect">
            <a:avLst>
              <a:gd name="adj" fmla="val 17391"/>
            </a:avLst>
          </a:prstGeom>
          <a:solidFill>
            <a:srgbClr val="FFF2F0"/>
          </a:solidFill>
          <a:ln w="12700">
            <a:solidFill>
              <a:srgbClr val="F5C0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27355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</a:rPr>
              <a:t>Imagen separado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3840480"/>
            <a:ext cx="3383280" cy="420624"/>
          </a:xfrm>
          <a:prstGeom prst="roundRect">
            <a:avLst>
              <a:gd name="adj" fmla="val 17391"/>
            </a:avLst>
          </a:prstGeom>
          <a:solidFill>
            <a:srgbClr val="FFF2F0"/>
          </a:solidFill>
          <a:ln w="12700">
            <a:solidFill>
              <a:srgbClr val="F5C0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95935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</a:rPr>
              <a:t>Cardiología separado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25112" y="3108960"/>
            <a:ext cx="1645920" cy="0"/>
          </a:xfrm>
          <a:prstGeom prst="line">
            <a:avLst/>
          </a:prstGeom>
          <a:noFill/>
          <a:ln w="31750">
            <a:solidFill>
              <a:srgbClr val="5F738C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096512" y="341985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5F738C"/>
                </a:solidFill>
              </a:rPr>
              <a:t>búsqueda manual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5F738C"/>
                </a:solidFill>
              </a:rPr>
              <a:t>+ doble registro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5F738C"/>
                </a:solidFill>
              </a:rPr>
              <a:t>+ datos incompletos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649224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A567"/>
                </a:solidFill>
              </a:rPr>
              <a:t>Hospital digital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92240" y="1847088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EAF9F4"/>
          </a:solidFill>
          <a:ln w="12700">
            <a:solidFill>
              <a:srgbClr val="A8DE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0391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</a:rPr>
              <a:t>Historia clínica integrada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903720" y="26700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5F738C"/>
                </a:solidFill>
              </a:rPr>
              <a:t>Datos disponibles para el profesional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dirty="0">
                <a:solidFill>
                  <a:srgbClr val="5F738C"/>
                </a:solidFill>
              </a:rPr>
              <a:t>en el momento de la atención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777240" y="4709160"/>
            <a:ext cx="106527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FE2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873752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6324F"/>
                </a:solidFill>
              </a:rPr>
              <a:t>Concepto clave: sin integración de datos no hay IA clínica confiable, porque el modelo aprende de datos incompletos o fragmentados.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502920" y="627278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A7888"/>
                </a:solidFill>
              </a:rPr>
              <a:t>Fuente: EMRAM nivel 0 indica falta de integración de laboratorio, farmacia, imagen y cardiología; líneas 177–182 y 356–358.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30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Madurez digital: medir antes de prometer 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738C"/>
                </a:solidFill>
              </a:rPr>
              <a:t>EMRAM clasifica la capacidad digital desde nivel 0 hasta nivel 7.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94360" y="4453128"/>
            <a:ext cx="914400" cy="320040"/>
          </a:xfrm>
          <a:prstGeom prst="rect">
            <a:avLst/>
          </a:prstGeom>
          <a:solidFill>
            <a:srgbClr val="C9D7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04A"/>
                </a:solidFill>
              </a:rPr>
              <a:t>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" y="519379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F738C"/>
                </a:solidFill>
              </a:rPr>
              <a:t>Sin sistemas clave</a:t>
            </a:r>
            <a:endParaRPr lang="en-US" sz="670" dirty="0"/>
          </a:p>
        </p:txBody>
      </p:sp>
      <p:sp>
        <p:nvSpPr>
          <p:cNvPr id="7" name="Shape 5"/>
          <p:cNvSpPr/>
          <p:nvPr/>
        </p:nvSpPr>
        <p:spPr>
          <a:xfrm>
            <a:off x="2011680" y="4251960"/>
            <a:ext cx="914400" cy="521208"/>
          </a:xfrm>
          <a:prstGeom prst="rect">
            <a:avLst/>
          </a:prstGeom>
          <a:solidFill>
            <a:srgbClr val="C9D7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04A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47088" y="519379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F738C"/>
                </a:solidFill>
              </a:rPr>
              <a:t>Reportes diagnósticos</a:t>
            </a:r>
            <a:endParaRPr lang="en-US" sz="670" dirty="0"/>
          </a:p>
        </p:txBody>
      </p:sp>
      <p:sp>
        <p:nvSpPr>
          <p:cNvPr id="10" name="Shape 8"/>
          <p:cNvSpPr/>
          <p:nvPr/>
        </p:nvSpPr>
        <p:spPr>
          <a:xfrm>
            <a:off x="3429000" y="4050792"/>
            <a:ext cx="914400" cy="722376"/>
          </a:xfrm>
          <a:prstGeom prst="rect">
            <a:avLst/>
          </a:prstGeom>
          <a:solidFill>
            <a:srgbClr val="8FC4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04A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4408" y="519379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F738C"/>
                </a:solidFill>
              </a:rPr>
              <a:t>CDR + seguridad</a:t>
            </a:r>
            <a:endParaRPr lang="en-US" sz="670" dirty="0"/>
          </a:p>
        </p:txBody>
      </p:sp>
      <p:sp>
        <p:nvSpPr>
          <p:cNvPr id="13" name="Shape 11"/>
          <p:cNvSpPr/>
          <p:nvPr/>
        </p:nvSpPr>
        <p:spPr>
          <a:xfrm>
            <a:off x="4846320" y="3849624"/>
            <a:ext cx="914400" cy="923544"/>
          </a:xfrm>
          <a:prstGeom prst="rect">
            <a:avLst/>
          </a:prstGeom>
          <a:solidFill>
            <a:srgbClr val="8FC4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04A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1728" y="519379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F738C"/>
                </a:solidFill>
              </a:rPr>
              <a:t>Documentación remota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6263640" y="3648456"/>
            <a:ext cx="914400" cy="1124712"/>
          </a:xfrm>
          <a:prstGeom prst="rect">
            <a:avLst/>
          </a:prstGeom>
          <a:solidFill>
            <a:srgbClr val="8FC4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04A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99048" y="519379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F738C"/>
                </a:solidFill>
              </a:rPr>
              <a:t>Orden electrónica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7680960" y="3447288"/>
            <a:ext cx="914400" cy="1325880"/>
          </a:xfrm>
          <a:prstGeom prst="rect">
            <a:avLst/>
          </a:prstGeom>
          <a:solidFill>
            <a:srgbClr val="37B6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04A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16368" y="519379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F738C"/>
                </a:solidFill>
              </a:rPr>
              <a:t>Alertas + telehealth</a:t>
            </a:r>
            <a:endParaRPr lang="en-US" sz="670" dirty="0"/>
          </a:p>
        </p:txBody>
      </p:sp>
      <p:sp>
        <p:nvSpPr>
          <p:cNvPr id="22" name="Shape 20"/>
          <p:cNvSpPr/>
          <p:nvPr/>
        </p:nvSpPr>
        <p:spPr>
          <a:xfrm>
            <a:off x="9098280" y="3246120"/>
            <a:ext cx="914400" cy="1527048"/>
          </a:xfrm>
          <a:prstGeom prst="rect">
            <a:avLst/>
          </a:prstGeom>
          <a:solidFill>
            <a:srgbClr val="37B6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04A"/>
                </a:solidFill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33688" y="519379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F738C"/>
                </a:solidFill>
              </a:rPr>
              <a:t>Dispositivos + HIE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10515600" y="3044952"/>
            <a:ext cx="914400" cy="1728216"/>
          </a:xfrm>
          <a:prstGeom prst="rect">
            <a:avLst/>
          </a:prstGeom>
          <a:solidFill>
            <a:srgbClr val="37B6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04A"/>
                </a:solidFill>
              </a:rPr>
              <a:t>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351008" y="519379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F738C"/>
                </a:solidFill>
              </a:rPr>
              <a:t>Datos externos + engagement</a:t>
            </a:r>
            <a:endParaRPr lang="en-US" sz="670" dirty="0"/>
          </a:p>
        </p:txBody>
      </p:sp>
      <p:sp>
        <p:nvSpPr>
          <p:cNvPr id="28" name="Text 26"/>
          <p:cNvSpPr/>
          <p:nvPr/>
        </p:nvSpPr>
        <p:spPr>
          <a:xfrm>
            <a:off x="585216" y="12435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F4A47"/>
                </a:solidFill>
              </a:rPr>
              <a:t>Bajo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84080" y="12435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A567"/>
                </a:solidFill>
              </a:rPr>
              <a:t>Avanzado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5840" y="1444752"/>
            <a:ext cx="9875520" cy="0"/>
          </a:xfrm>
          <a:prstGeom prst="line">
            <a:avLst/>
          </a:prstGeom>
          <a:noFill/>
          <a:ln w="25400">
            <a:solidFill>
              <a:srgbClr val="CFE2F3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960120" y="17190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En este estudio: hospitales nivel 0 = madurez subdesarrollada; niveles 6–7 = madurez avanzada.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02920" y="627278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A7888"/>
                </a:solidFill>
              </a:rPr>
              <a:t>Fuente: descripción de niveles EMRAM 0–7 y funciones como CDR, CPOE, alertas, wearables e integración externa; líneas 177–188.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30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del estudio: evidencia hospitalaria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738C"/>
                </a:solidFill>
              </a:rPr>
              <a:t>Estudio observacional transversal con hospitales de EE. UU.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73C8"/>
                </a:solidFill>
              </a:rPr>
              <a:t>1026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025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hospitales con datos completos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10896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3A567"/>
                </a:solidFill>
              </a:rPr>
              <a:t>15.8%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971800" y="20025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madurez avanzada EMRAM 6–7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40680" y="1417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F4A47"/>
                </a:solidFill>
              </a:rPr>
              <a:t>84.2%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0" y="20025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madurez subdesarrollada EMRAM 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19872" y="1627632"/>
            <a:ext cx="731520" cy="0"/>
          </a:xfrm>
          <a:prstGeom prst="line">
            <a:avLst/>
          </a:prstGeom>
          <a:noFill/>
          <a:ln w="25400">
            <a:solidFill>
              <a:srgbClr val="CFE2F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979408" y="1243584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324F"/>
                </a:solidFill>
              </a:rPr>
              <a:t>Compararon madurez digital con calificaciones de seguridad Leapfrog y métricas de calidad/seguridad.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68680" y="3822192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FE2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0507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3C8"/>
                </a:solidFill>
              </a:rPr>
              <a:t>Variables de control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0507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324F"/>
                </a:solidFill>
              </a:rPr>
              <a:t>docencia · rural/urbano · tamaño del hospital · centro de referencia · tipo de propiedad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27278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A7888"/>
                </a:solidFill>
              </a:rPr>
              <a:t>Fuente: métodos y muestra; líneas 45–49, 105–110 y 212–215.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30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principal: más madurez, mejor seguridad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738C"/>
                </a:solidFill>
              </a:rPr>
              <a:t>Los hospitales con madurez avanzada tuvieron mayores probabilidades de mejor calificación de seguridad.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3A567"/>
                </a:solidFill>
              </a:rPr>
              <a:t>3.25×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35915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mayores odds de lograr una calificación de seguridad Leapfrog más alta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918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738C"/>
                </a:solidFill>
              </a:rPr>
              <a:t>OR 3.25; IC95% 2.33–4.55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0" cy="4023360"/>
          </a:xfrm>
          <a:prstGeom prst="line">
            <a:avLst/>
          </a:prstGeom>
          <a:noFill/>
          <a:ln w="15240">
            <a:solidFill>
              <a:srgbClr val="5F73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5230368"/>
            <a:ext cx="5669280" cy="0"/>
          </a:xfrm>
          <a:prstGeom prst="line">
            <a:avLst/>
          </a:prstGeom>
          <a:noFill/>
          <a:ln w="15240">
            <a:solidFill>
              <a:srgbClr val="5F73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66420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738C"/>
                </a:solidFill>
              </a:rPr>
              <a:t>Madurez subdesarrollada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029200" y="1874520"/>
            <a:ext cx="3886200" cy="411480"/>
          </a:xfrm>
          <a:prstGeom prst="rect">
            <a:avLst/>
          </a:prstGeom>
          <a:solidFill>
            <a:srgbClr val="E5EDF7"/>
          </a:solidFill>
          <a:ln w="12700">
            <a:solidFill>
              <a:srgbClr val="E5EDF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74520"/>
            <a:ext cx="971550" cy="411480"/>
          </a:xfrm>
          <a:prstGeom prst="rect">
            <a:avLst/>
          </a:prstGeom>
          <a:solidFill>
            <a:srgbClr val="DF4A47"/>
          </a:solidFill>
          <a:ln w="12700">
            <a:solidFill>
              <a:srgbClr val="DF4A4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88552" y="18379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324F"/>
                </a:solidFill>
              </a:rPr>
              <a:t>Ref.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271576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F738C"/>
                </a:solidFill>
              </a:rPr>
              <a:t>Madurez avanzada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29200" y="2926080"/>
            <a:ext cx="3886200" cy="411480"/>
          </a:xfrm>
          <a:prstGeom prst="rect">
            <a:avLst/>
          </a:prstGeom>
          <a:solidFill>
            <a:srgbClr val="E5EDF7"/>
          </a:solidFill>
          <a:ln w="12700">
            <a:solidFill>
              <a:srgbClr val="E5EDF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926080"/>
            <a:ext cx="3157538" cy="411480"/>
          </a:xfrm>
          <a:prstGeom prst="rect">
            <a:avLst/>
          </a:prstGeom>
          <a:solidFill>
            <a:srgbClr val="23A567"/>
          </a:solidFill>
          <a:ln w="12700">
            <a:solidFill>
              <a:srgbClr val="23A56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88552" y="288950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324F"/>
                </a:solidFill>
              </a:rPr>
              <a:t>3.25×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92040" y="43159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3C8"/>
                </a:solidFill>
              </a:rPr>
              <a:t>Lectura docente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29400" y="42793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6324F"/>
                </a:solidFill>
              </a:rPr>
              <a:t>No dice que la tecnología sola cause calidad; muestra una asociación fuerte entre madurez digital avanzada y mejores resultados de seguridad.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502920" y="627278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A7888"/>
                </a:solidFill>
              </a:rPr>
              <a:t>Fuente: resultado principal y tabla 4; líneas 48–52, 206–208 y 247–249.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30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funciones digitales aparecen detrás del resultado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738C"/>
                </a:solidFill>
              </a:rPr>
              <a:t>La madurez avanzada integra procesos clínicos que reducen errores y mejoran seguimiento.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1371600" y="1472184"/>
            <a:ext cx="8869680" cy="0"/>
          </a:xfrm>
          <a:prstGeom prst="line">
            <a:avLst/>
          </a:prstGeom>
          <a:noFill/>
          <a:ln w="12700">
            <a:solidFill>
              <a:srgbClr val="CF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3C8"/>
                </a:solidFill>
              </a:rPr>
              <a:t>CPOE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83080" y="13075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</a:rPr>
              <a:t>órdenes médicas electrónicas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0" y="1252728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304A"/>
                </a:solidFill>
              </a:rPr>
              <a:t>2.29×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258568"/>
            <a:ext cx="8869680" cy="0"/>
          </a:xfrm>
          <a:prstGeom prst="line">
            <a:avLst/>
          </a:prstGeom>
          <a:noFill/>
          <a:ln w="12700">
            <a:solidFill>
              <a:srgbClr val="CFE2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208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A59A"/>
                </a:solidFill>
              </a:rPr>
              <a:t>BCMA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83080" y="209397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</a:rPr>
              <a:t>código de barras para medicación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0" y="2039112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304A"/>
                </a:solidFill>
              </a:rPr>
              <a:t>1.51×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3044952"/>
            <a:ext cx="8869680" cy="0"/>
          </a:xfrm>
          <a:prstGeom prst="line">
            <a:avLst/>
          </a:prstGeom>
          <a:noFill/>
          <a:ln w="12700">
            <a:solidFill>
              <a:srgbClr val="CFE2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072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</a:rPr>
              <a:t>IPS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28803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</a:rPr>
              <a:t>dotación médica en UCI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0" y="2825496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304A"/>
                </a:solidFill>
              </a:rPr>
              <a:t>1.75×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3831336"/>
            <a:ext cx="8869680" cy="0"/>
          </a:xfrm>
          <a:prstGeom prst="line">
            <a:avLst/>
          </a:prstGeom>
          <a:noFill/>
          <a:ln w="12700">
            <a:solidFill>
              <a:srgbClr val="CFE2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935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55CC"/>
                </a:solidFill>
              </a:rPr>
              <a:t>SP1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366674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</a:rPr>
              <a:t>cultura de liderazgo en seguridad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3611880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304A"/>
                </a:solidFill>
              </a:rPr>
              <a:t>3.45×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71600" y="4617720"/>
            <a:ext cx="8869680" cy="0"/>
          </a:xfrm>
          <a:prstGeom prst="line">
            <a:avLst/>
          </a:prstGeom>
          <a:noFill/>
          <a:ln w="12700">
            <a:solidFill>
              <a:srgbClr val="CFE2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7997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A567"/>
                </a:solidFill>
              </a:rPr>
              <a:t>SP9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83080" y="44531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</a:rPr>
              <a:t>fuerza laboral de enfermería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0" y="4398264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304A"/>
                </a:solidFill>
              </a:rPr>
              <a:t>3.54×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5486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3C8"/>
                </a:solidFill>
              </a:rPr>
              <a:t>Interpretación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70048" y="546811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6324F"/>
                </a:solidFill>
              </a:rPr>
              <a:t>Un hospital digital no solo guarda datos: cambia la forma de ordenar medicamentos, validar administración, vigilar riesgos y organizar equipos.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02920" y="627278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A7888"/>
                </a:solidFill>
              </a:rPr>
              <a:t>Fuente: medidas CPOE/BCMA/IPS y prácticas de seguridad; líneas 117–124, 247–249 y 269–271.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30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Impacto en seguridad del paciente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738C"/>
                </a:solidFill>
              </a:rPr>
              <a:t>El artículo encuentra señales de menor daño y mejores resultados en hospitales digitalmente maduros.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868680" y="1234440"/>
            <a:ext cx="2834640" cy="2834640"/>
          </a:xfrm>
          <a:prstGeom prst="ellipse">
            <a:avLst/>
          </a:prstGeom>
          <a:solidFill>
            <a:srgbClr val="EAF9F4"/>
          </a:solidFill>
          <a:ln w="15240">
            <a:solidFill>
              <a:srgbClr val="A8DE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470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23A567"/>
                </a:solidFill>
              </a:rPr>
              <a:t>21%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1234440" y="26334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menor tasa promedio de CLABSI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8152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F738C"/>
                </a:solidFill>
              </a:rPr>
              <a:t>infección del torrente sanguíneo asociada a línea central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572000" y="1298448"/>
            <a:ext cx="530352" cy="530352"/>
          </a:xfrm>
          <a:prstGeom prst="ellipse">
            <a:avLst/>
          </a:prstGeom>
          <a:solidFill>
            <a:srgbClr val="23A567"/>
          </a:solidFill>
          <a:ln w="12700">
            <a:solidFill>
              <a:srgbClr val="23A56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4004" y="1394460"/>
            <a:ext cx="466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85232" y="1316736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</a:rPr>
              <a:t>Mejores indicadores de seguridad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03520" y="1636776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738C"/>
                </a:solidFill>
              </a:rPr>
              <a:t>úlceras por presión, neumotórax, punción/laceración accidental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322576"/>
            <a:ext cx="530352" cy="530352"/>
          </a:xfrm>
          <a:prstGeom prst="ellipse">
            <a:avLst/>
          </a:prstGeom>
          <a:solidFill>
            <a:srgbClr val="0B73C8"/>
          </a:solidFill>
          <a:ln w="12700">
            <a:solidFill>
              <a:srgbClr val="0B73C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4004" y="2418588"/>
            <a:ext cx="466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85232" y="234086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</a:rPr>
              <a:t>Menos dependencia de memoria y búsqueda manual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03520" y="2660904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738C"/>
                </a:solidFill>
              </a:rPr>
              <a:t>datos fluyen al registro y a tableros de seguimiento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346704"/>
            <a:ext cx="530352" cy="53035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4004" y="3442716"/>
            <a:ext cx="466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85232" y="3364992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</a:rPr>
              <a:t>Más capacidad de prevención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03520" y="3685032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738C"/>
                </a:solidFill>
              </a:rPr>
              <a:t>alertas, monitoreo y decisiones basadas en datos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27278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A7888"/>
                </a:solidFill>
              </a:rPr>
              <a:t>Fuente: CLABSI 21% menor y discusión de indicadores de seguridad; líneas 208–210, 323–325 y 356–365.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30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del capítulo: hospital tradicional → hospital digital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738C"/>
                </a:solidFill>
              </a:rPr>
              <a:t>Usar este artículo para que los estudiantes construyan el mapa de transformación.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FFF6F5"/>
          </a:solidFill>
          <a:ln w="12700">
            <a:solidFill>
              <a:srgbClr val="F5C0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8249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F4A47"/>
                </a:solidFill>
              </a:rPr>
              <a:t>1. Situación actual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6324F"/>
                </a:solidFill>
              </a:rPr>
              <a:t>Sistemas no integrados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6324F"/>
                </a:solidFill>
              </a:rPr>
              <a:t>Laboratorio/farmacia/imagen aislados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2944368" y="2971800"/>
            <a:ext cx="566928" cy="0"/>
          </a:xfrm>
          <a:prstGeom prst="line">
            <a:avLst/>
          </a:prstGeom>
          <a:noFill/>
          <a:ln w="22860">
            <a:solidFill>
              <a:srgbClr val="5F73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46120" y="141732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FFF8E8"/>
          </a:solidFill>
          <a:ln w="12700">
            <a:solidFill>
              <a:srgbClr val="F5DA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68249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2. Brecha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423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6324F"/>
                </a:solidFill>
              </a:rPr>
              <a:t>Sin flujo automático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6324F"/>
                </a:solidFill>
              </a:rPr>
              <a:t>Datos incompletos para decisiones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5458968" y="2971800"/>
            <a:ext cx="566928" cy="0"/>
          </a:xfrm>
          <a:prstGeom prst="line">
            <a:avLst/>
          </a:prstGeom>
          <a:noFill/>
          <a:ln w="22860">
            <a:solidFill>
              <a:srgbClr val="5F73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60720" y="141732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EAF5FF"/>
          </a:solidFill>
          <a:ln w="12700">
            <a:solidFill>
              <a:srgbClr val="BFD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25312" y="168249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3C8"/>
                </a:solidFill>
              </a:rPr>
              <a:t>3. Intervención digital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2423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6324F"/>
                </a:solidFill>
              </a:rPr>
              <a:t>EMR avanzado + CDR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6324F"/>
                </a:solidFill>
              </a:rPr>
              <a:t>CPOE · BCMA · HIE · alertas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973568" y="2971800"/>
            <a:ext cx="566928" cy="0"/>
          </a:xfrm>
          <a:prstGeom prst="line">
            <a:avLst/>
          </a:prstGeom>
          <a:noFill/>
          <a:ln w="22860">
            <a:solidFill>
              <a:srgbClr val="5F73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75320" y="141732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EAF9F4"/>
          </a:solidFill>
          <a:ln w="12700">
            <a:solidFill>
              <a:srgbClr val="A8DE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168249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A567"/>
                </a:solidFill>
              </a:rPr>
              <a:t>4. Resultado esperado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2423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6324F"/>
                </a:solidFill>
              </a:rPr>
              <a:t>Mayor seguridad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6324F"/>
                </a:solidFill>
              </a:rPr>
              <a:t>Menos infecciones y mejor seguimiento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822960" y="5166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3C8"/>
                </a:solidFill>
              </a:rPr>
              <a:t>Actividad rápida para estudiantes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74720" y="51572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6324F"/>
                </a:solidFill>
              </a:rPr>
              <a:t>En 3 minutos, elijan un servicio hospitalario y completen las cuatro columnas con un ejemplo real.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502920" y="627278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A7888"/>
                </a:solidFill>
              </a:rPr>
              <a:t>Fuente: el artículo conecta madurez digital con flujo de datos, integración y seguimiento de resultados; líneas 177–188, 356–365 y 369–371.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30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Guion de explicación: máximo 6 minutos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738C"/>
                </a:solidFill>
              </a:rPr>
              <a:t>Versión corta para esta clase: solo los puntos imprescindibles.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3C8"/>
                </a:solidFill>
              </a:rPr>
              <a:t>0:00–0:40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240280" y="11155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324F"/>
                </a:solidFill>
              </a:rPr>
              <a:t>Por qué importa: salud digital debe mejorar calidad y seguridad.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868680" y="18013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3C8"/>
                </a:solidFill>
              </a:rPr>
              <a:t>0:40–1:25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40280" y="17830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324F"/>
                </a:solidFill>
              </a:rPr>
              <a:t>Problema: hospital tradicional = silos y búsqueda manual.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3C8"/>
                </a:solidFill>
              </a:rPr>
              <a:t>1:25–2:10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40280" y="2450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324F"/>
                </a:solidFill>
              </a:rPr>
              <a:t>Madurez digital: EMRAM 0 frente a EMRAM 6–7.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68680" y="31363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3C8"/>
                </a:solidFill>
              </a:rPr>
              <a:t>2:10–3:10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40280" y="311810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324F"/>
                </a:solidFill>
              </a:rPr>
              <a:t>Evidencia: 1026 hospitales; 3.25× mayores odds de mejor seguridad.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68680" y="38039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3C8"/>
                </a:solidFill>
              </a:rPr>
              <a:t>3:10–4:20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40280" y="378561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324F"/>
                </a:solidFill>
              </a:rPr>
              <a:t>Mecanismo: CPOE, BCMA, integración, alertas y liderazgo.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68680" y="447141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3C8"/>
                </a:solidFill>
              </a:rPr>
              <a:t>4:20–5:15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40280" y="44531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324F"/>
                </a:solidFill>
              </a:rPr>
              <a:t>Resultado clínico: menor CLABSI y mejor seguimiento de riesgos.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68680" y="5138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3C8"/>
                </a:solidFill>
              </a:rPr>
              <a:t>5:15–6:00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40280" y="51206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324F"/>
                </a:solidFill>
              </a:rPr>
              <a:t>Cierre: sin infraestructura digital madura, IA clínica no escala con seguridad.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960120" y="5879592"/>
            <a:ext cx="10012680" cy="347472"/>
          </a:xfrm>
          <a:prstGeom prst="roundRect">
            <a:avLst>
              <a:gd name="adj" fmla="val 15789"/>
            </a:avLst>
          </a:prstGeom>
          <a:solidFill>
            <a:srgbClr val="EAF9F4"/>
          </a:solidFill>
          <a:ln w="12700">
            <a:solidFill>
              <a:srgbClr val="A8DE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144" y="5975604"/>
            <a:ext cx="9601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3A567"/>
                </a:solidFill>
              </a:rPr>
              <a:t>Pregunta final a la clase: ¿qué debe digitalizar primero un hospital para que una futura IA sea clínicamente segura?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502920" y="6272784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6A7888"/>
                </a:solidFill>
              </a:rPr>
              <a:t>Referencia base: Snowdon A. et al. Digital Maturity as a Predictor of Quality and Safety Outcomes in US Hospitals. JMIR 2024;26:e56316; doi:10.2196/56316. Líneas 17–24, 54–56.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SIT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Madurez digital hospitalaria: 10 slides con citas</dc:title>
  <dc:subject>Fundamentos de Inteligencia Artificial y Transformación Digital en Salud</dc:subject>
  <dc:creator>OpenAI</dc:creator>
  <cp:lastModifiedBy>OpenAI</cp:lastModifiedBy>
  <cp:revision>1</cp:revision>
  <dcterms:created xsi:type="dcterms:W3CDTF">2026-09-26T18:39:59Z</dcterms:created>
  <dcterms:modified xsi:type="dcterms:W3CDTF">2026-09-26T18:39:59Z</dcterms:modified>
</cp:coreProperties>
</file>