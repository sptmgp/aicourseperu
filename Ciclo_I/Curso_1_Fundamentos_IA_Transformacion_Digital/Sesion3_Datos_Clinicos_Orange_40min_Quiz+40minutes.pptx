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sesión indicando que antes de hacer modelos predictivos, los datos deben ser entendidos y limpiados. La preparación de datos es el puente entre la práctica clínica diaria y la IA aplicable.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permite al docente controlar el ritmo. El bloque de Orange no debe ser solo demostración: los estudiantes deben ir construyendo el mismo flujo en sus computadoras.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la preparación de datos no es trabajo técnico menor; es una intervención de seguridad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Sesión 1: hospital digital e interoperabilidad. La Sesión 3 responde: ¿los datos ya conectados son suficientemente confiables?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den ejemplos de datos de su propio servicio: emergencias, enfermería, laboratorio, consulta externa o salud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una variable categórica escrita como texto libre puede arruinar el análisis: “Emergencia”, “ER”, “urgencias” son el mismo concepto pero aparecen como tres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en medicina no basta con “llenar huecos”. Primero se pregunta por qué falta el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Enseñar que la imputación es una decisión metodológica, no un botón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todos los modelos requieren normalización, pero sí es importante entender el problema. Orange ayuda a explorar antes de modelar.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diferencia entre outlier estadístico y outlier clínico. Esta distinción es clave para estudiantes de salud.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estas dimensiones como una checklist mental para cualquier dataset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justifica académicamente la sesión: la preparación de datos tiene base de investigación y no es una simple habilidad informática.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que Orange permite cargar datasets y visualizar distribuciones, box plots y otros análisis de manera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abrir Orange y construir el flujo exactamente como aparece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Recomendación: antes de la clase, pedir a todos que instalen Orange y descarguen el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énfasis en que Select Columns es una decisión clínica: no todas las columnas deben entrar al análisis.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Proponer que los estudiantes comparen resultados antes y después de imputar.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Distributions responde “qué tan frecuente”, Box Plot responde “qué tan extremo”.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seleccionar un outlier en Box Plot y verlo en Data Table para discusión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problemas pueden convertirse en trabajo grupal posterior. Cada grupo usa los mismos widgets, pero responde una pregunta distinta.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el quiz antes de mostrar las respuestas. Permite medir comprensión inmediata.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con la siguiente sesión: clasificación y predicción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Sesión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clínicos y preparación de datos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Orange Data Mining · Pipeline práctico de calidad de datos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D9F2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602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E9F8F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174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Select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FF3D9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Impute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934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3E8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506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Distributions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FE6E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Box Plot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52660" y="274320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EAF3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8380" y="290779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Data Table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892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Duración: 40 minutos · Incluye quiz + ejecución guiada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Software: Orange Data Mining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40 minutos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clase combina teoría clínica, ejecución en Orange y evaluación rápida.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441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0–5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441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Por qué la calidad de datos salva tiempo, dinero y seguridad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756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5–12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07568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Tipos de datos clínicos y 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0720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12–20 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80720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Faltantes, normalización, outliers y calidad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3872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20–32 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53872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Demo Orange: File → Select Columns → Impute → Distributions → Box Plot → Data 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7024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32–37 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2702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Caso clínico aplicado: priorizar pacientes y detectar errores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0017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37–40 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50017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Quiz de 8 preguntas + cierre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esto importa en clínica y salud pública?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IA falla si el dato clínico está incompleto, mal codificado o fuera de contexto.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5A5A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dato faltante puede cambiar una decisión de riesgo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Ejemplo: SpO₂ faltante en un paciente respiratorio puede hacer invisible un deterioro clínico.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544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C28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09160" y="19476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outlier puede ser error o emergencia real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743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Temperatura 45°C puede ser error de captura; glucosa 480 mg/dL puede ser crisis metabólica.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5544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5DF6"/>
                </a:solidFill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0" y="19476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variable mal definida genera sesgo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2743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Si “alto riesgo” se define por costo y no por necesidad clínica, el modelo puede reproducir inequidades.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Base conceptual: Kahn et al., eGEMs 2016; Weiskopf &amp; Weng 2013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Breve historia: de la ficha clínica al dato reutilizable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calidad de datos aparece cuando la información se usa más allá de la consulta original.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51560" cy="105156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Papel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3429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registro narrativo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901952" y="2148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051560" cy="105156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EHR/HCE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3429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datos estructurados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005072" y="2148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1051560" cy="1051560"/>
          </a:xfrm>
          <a:prstGeom prst="ellipse">
            <a:avLst/>
          </a:prstGeom>
          <a:solidFill>
            <a:srgbClr val="E9F8F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Interoperabilidad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3429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flujo entre sistemas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108192" y="2148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40880" y="1828800"/>
            <a:ext cx="1051560" cy="1051560"/>
          </a:xfrm>
          <a:prstGeom prst="ellipse">
            <a:avLst/>
          </a:prstGeom>
          <a:solidFill>
            <a:srgbClr val="FFF3D9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Investigación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429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uso secundario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211312" y="2148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1051560" cy="105156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2328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23960" y="30632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45A"/>
                </a:solidFill>
              </a:rPr>
              <a:t>IA clínica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41080" y="3429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modelos predictivos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051560" y="484632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345A"/>
                </a:solidFill>
              </a:rPr>
              <a:t>Lección histórica: mientras más se reutilizan los datos, más crítica se vuelve su calidad.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Literatura: EHR data quality frameworks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datos clínicos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 todos los datos se limpian igual ni sirven para el mismo análisis.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990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Estructurados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764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edad, glucosa, presión arterial, SpO₂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modelos tabulares, dashboards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3990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Categóricos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1764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sexo, diagnóstico, servicio, triage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99432" y="22219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frecuencias, clasificación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3990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Temporales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94192" y="1764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signos vitales por hora, evolución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394192" y="22219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alertas y tendencia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3E8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4564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Texto clínico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822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notas, reportes, evolución médica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04672" y="4279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NLP, resúmenes, extracción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E6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4564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Imágenes/señales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9432" y="3822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rayos X, ECG, ultrasonido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99432" y="4279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DL, detección, priorización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34564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5A"/>
                </a:solidFill>
              </a:rPr>
              <a:t>Administrativos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94192" y="3822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ingresos, estancia, costos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394192" y="4279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Uso: gestión, salud pública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categóricas vs. numéricas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Antes de entrenar modelos, debemos entender qué representa cada columna.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EAF3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Variables numéricas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edad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frecuencia cardiaca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SpO₂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glucosa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temperatura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número de ingresos previos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846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F6FED"/>
                </a:solidFill>
              </a:rPr>
              <a:t>Preguntas: ¿rango?, ¿unidad?, ¿outlier?, ¿necesita normalización?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E9F8F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Variables categóricas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sexo / género registrado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servicio hospitalario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diagnóstico CIE-10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tipo de seguro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estado de vacunación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triage: rojo/amarillo/verde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4846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A6A6"/>
                </a:solidFill>
              </a:rPr>
              <a:t>Preguntas: ¿categorías consistentes?, ¿texto libre?, ¿valores raros?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faltantes: no siempre significan lo mismo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dato faltante puede ser administrativo, clínico, técnico o estructural.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No medido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no se tomó SpO₂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28016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5A5A"/>
                </a:solidFill>
              </a:rPr>
              <a:t>riesgo invisible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Medido pero no registrado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10312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enfermería tomó FC pero no lo ingresó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5A5A"/>
                </a:solidFill>
              </a:rPr>
              <a:t>error de documentación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260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No aplicable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embarazo en paciente masculino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92608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5A5A"/>
                </a:solidFill>
              </a:rPr>
              <a:t>no imputar como cero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490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Perdido por sistema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26080" y="37490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fallo del HIS / laboratorio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374904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5A5A"/>
                </a:solidFill>
              </a:rPr>
              <a:t>silo o interoperabilidad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434840"/>
            <a:ext cx="1097280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72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Ausente por inequidad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26080" y="45720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paciente sin acceso digital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457200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5A5A"/>
                </a:solidFill>
              </a:rPr>
              <a:t>sesgo poblacional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Dato faltante en EHR: tema recurrente en calidad de datos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Imputación: llenar faltantes con criterio clínico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Impute en Orange ayuda, pero la decisión debe ser clínica y trazable.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Media / mediana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Útil para variables numéricas relativamente estables. Ej.: BMI faltante en un dataset exploratorio.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65A5A"/>
                </a:solidFill>
              </a:rPr>
              <a:t>Riesgo: puede ocultar grupos clínicos extremos.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Valor frecuente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20574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Útil para categorías si el faltante es pequeño. Ej.: servicio más frecuente.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65A5A"/>
                </a:solidFill>
              </a:rPr>
              <a:t>Riesgo: puede aumentar artificialmente la mayoría.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No imputar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20574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Cuando el faltante es clínicamente informativo o no aplicable. Ej.: prueba no pedida por criterio médico.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AA876"/>
                </a:solidFill>
              </a:rPr>
              <a:t>Documentar: qué se imputó y por qué.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Orange widget: Impute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Normalización: hacer comparables las escalas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Algunos modelos se confunden cuando una variable tiene números mucho más grandes que otra.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29200" cy="182880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4754880" cy="1627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Glucosa:       70 – 500 mg/dL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Temperatura:   35 – 41 °C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SpO₂:          70 – 100 %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Edad:           0 – 100 años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Sin normalizar, variables con rangos grandes pueden dominar distancias, gráficos o algunos modelos.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45A"/>
                </a:solidFill>
              </a:rPr>
              <a:t>Uso clínico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4389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comparar pacientes en escalas diferentes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preparar datos para kNN, PCA, clustering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evitar que “número grande” parezca “más importante”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mantener unidades originales en la interpretación clínica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Outliers: error de captura o señal clínica crítica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Un valor extremo no debe eliminarse sin interpretación profesional.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754880" y="1645920"/>
            <a:ext cx="164592" cy="164592"/>
          </a:xfrm>
          <a:prstGeom prst="ellipse">
            <a:avLst/>
          </a:prstGeom>
          <a:solidFill>
            <a:srgbClr val="D65A5A"/>
          </a:solidFill>
          <a:ln w="12700">
            <a:solidFill>
              <a:srgbClr val="D65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417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5A5A"/>
                </a:solidFill>
              </a:rPr>
              <a:t>outlier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0" y="118872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554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Tres preguntas clínicas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20840" y="2103120"/>
            <a:ext cx="43891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¿es fisiológicamente posible?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¿la unidad está correcta?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¿representa un evento crítico?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¿aparece en muchos pacientes o solo uno?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¿debo verificar con Data Table?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65A5A"/>
                </a:solidFill>
              </a:rPr>
              <a:t>Ejemplo: presión sistólica 300 puede ser error; SpO₂ 72 puede ser emergencia.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Orange widget: Box Plot + Data Table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de datos clínicos: 5 dimensiones prácticas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literatura de calidad de EHR insiste en que “calidad” depende de la tarea.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45A"/>
                </a:solidFill>
              </a:rPr>
              <a:t>Completeness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¿faltan datos?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53512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783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45A"/>
                </a:solidFill>
              </a:rPr>
              <a:t>Correctness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36392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¿son correctos?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21224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2664" y="1783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45A"/>
                </a:solidFill>
              </a:rPr>
              <a:t>Concordance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04104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¿coinciden fuentes?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88936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E6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0376" y="1783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45A"/>
                </a:solidFill>
              </a:rPr>
              <a:t>Plausibility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71816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¿son creíbles?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56648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3E8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1783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45A"/>
                </a:solidFill>
              </a:rPr>
              <a:t>Currency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39528" y="2331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¿están actualizados?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45A"/>
                </a:solidFill>
              </a:rPr>
              <a:t>Ejemplo: antes de predecir readmisión, necesitamos saber si “readmisión” está registrada igual en todas las unidades.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Kahn et al. 2016; Weiskopf &amp; Weng 2013; DQA guideline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dice la literatura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Tres ideas para que los estudiantes no vean esto como “solo software”.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Frameworks de calidad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331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Kahn et al. propusieron una terminología armonizada para evaluar datos de EHR usados secundariamente.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1005840" y="4251960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4302252"/>
            <a:ext cx="2231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eGEMs, 2016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Evaluación por tarea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1728" y="2331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Las guías DQA enfatizan que la calidad depende de la pregunta: pacientes, variables y tiempo.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709160" y="4251960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4302252"/>
            <a:ext cx="2231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eGEMs guideline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EHR imperfecto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5048" y="2331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Los registros electrónicos pueden tener condiciones faltantes o mal clasificadas; eso afecta investigación y decisiones.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412480" y="4251960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4302252"/>
            <a:ext cx="2231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Ford et al., 2020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Fuentes: Kahn 2016; DQA Guideline; Ford 2020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de la sesión: Orange Data Mining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Visual programming: construir análisis conectando widgets, sin programar.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Por qué Orange sirve en salud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41605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• no-code: útil para médicos y enfermería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• permite ver el flujo completo de datos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• cada widget equivale a una decisión analítica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• ideal para enseñar calidad antes de modelar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• exporta resultados para discusión clínica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2648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No es solo “hacer clic”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Cada conexión debe responder a una pregunta clínica: ¿qué datos uso?, ¿qué variable explico?, ¿qué falta?, ¿qué es raro?, ¿qué paciente debo revisar?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4343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File → Select → Impute → Plot → Audit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Orange Data Mining: visual programming and interactive visualization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hoy: del archivo a la auditoría clínica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objetivo no es predecir todavía: es saber si el dataset merece confianza.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D9F2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4602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E9F8F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174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Select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FF3D9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Impute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934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3E8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506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Distributions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FFE6E6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Box Plot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52660" y="1417320"/>
            <a:ext cx="1714500" cy="685800"/>
          </a:xfrm>
          <a:prstGeom prst="roundRect">
            <a:avLst>
              <a:gd name="adj" fmla="val 10667"/>
            </a:avLst>
          </a:prstGeom>
          <a:solidFill>
            <a:srgbClr val="EAF3FF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8380" y="1581912"/>
            <a:ext cx="16230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5A"/>
                </a:solidFill>
              </a:rPr>
              <a:t>Data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cargar CSV clínico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452628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0640" y="29992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definir variables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27532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69680" y="29992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tratar faltantes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976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325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ver frecuencias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4526280" y="411480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2976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20640" y="4325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detectar outliers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8275320" y="411480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2976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9680" y="4325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auditar registros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paso a paso en Orange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Los estudiantes deben replicar el flujo mientras usted lo construye.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5272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1. File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97480" y="1252728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Abrir clinical_public_health_orange_dataset.csv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56232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2. Select Columns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1965960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Target: risk_group / Variables: signos, edad, factores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569464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7919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3. Impute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2679192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Revisar y reemplazar faltantes con estrategia visible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282696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92424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4. Distributions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3392424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Comparar variables: diabetes, SpO₂, vacuna, triage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995928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0565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5. Box Plot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97480" y="4105656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Seleccionar high risk vs low risk y mirar outliers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1888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</a:rPr>
              <a:t>6. Data Table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97480" y="4818888"/>
            <a:ext cx="80010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Hacer auditoría del registro sospechoso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5715000" y="6647688"/>
            <a:ext cx="6172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64748B"/>
                </a:solidFill>
              </a:rPr>
              <a:t>Dataset de práctica incluido</a:t>
            </a:r>
            <a:endParaRPr lang="en-US" sz="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Widgets 1–2: File + Select Columns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Primero se carga el dato y luego se define la pregunta.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45A"/>
                </a:solidFill>
              </a:rPr>
              <a:t>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4389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carga CSV/Excel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muestra tipos de variables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permite detectar columnas mal leídas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primer control: ¿tiene las filas esperadas?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45A"/>
                </a:solidFill>
              </a:rPr>
              <a:t>Select Columns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389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separa features, target y metas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evita usar variables indebidas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define la pregunta clínica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ejemplo: target = riesgo o readmisión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3: Impute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Una limpieza mal hecha puede crear falsa seguridad.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Qué hace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3108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detecta valores faltantes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aplica una regla de reemplazo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permite continuar el análisis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documenta una decisión de preparación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45A"/>
                </a:solidFill>
              </a:rPr>
              <a:t>Reglas típicas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83480" y="2103120"/>
            <a:ext cx="22860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media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mediana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valor frecuente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modelo simple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dejar faltante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12344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E6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Riesgo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92440" y="219456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Imputar sin criterio clínico puede ocultar inequidades, errores de registro o diferencias importantes entre pacientes.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5A5A"/>
                </a:solidFill>
              </a:rPr>
              <a:t>Siempre anote la regla.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Widgets 4–5: Distributions + Box Plot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Aquí se descubre si el dataset cuenta una historia clínica creíble.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3E8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45A"/>
                </a:solidFill>
              </a:rPr>
              <a:t>Distributions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frecuencia de diagnósticos o categorías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prevalencia de vacunación o riesgo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comparación por sexo, edad o servicio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primera vista para salud pública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E6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45A"/>
                </a:solidFill>
              </a:rPr>
              <a:t>Box Plot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5720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comparar glucosa por riesgo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ver SpO₂ extrema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detectar edad o BMI sospechoso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seleccionar outliers y auditarlos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 6: Data 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último paso vuelve al paciente/registro: auditoría antes de modelar.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303520" cy="22860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35608"/>
            <a:ext cx="5029200" cy="2084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Patient_ID | Age | SpO2 | Glucose | Risk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P-014      | 67  | 72   | 210     | HIGH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P-088      | 34  | 99   | 480     | HIGH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P-122      | 90  |      | 95      | ?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P-173      | 45  | 98   | 40      | LOW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92240" y="132588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45A"/>
                </a:solidFill>
              </a:rPr>
              <a:t>Preguntas de auditoría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12280" y="2240280"/>
            <a:ext cx="4023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¿el valor extremo es real?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¿qué columna falta?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¿hay duplicados?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¿hay unidad incorrecta?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¿necesito consultar la fuente original?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problemas prácticos para 40 minutos de laboratorio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Después de esta mini-clase, los estudiantes pueden resolver problemas reales y cotidianos.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99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5A"/>
                </a:solidFill>
              </a:rPr>
              <a:t>1. Diabetes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3898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¿qué pacientes tienen glucosa extrema o faltante?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E9F8F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99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5A"/>
                </a:solidFill>
              </a:rPr>
              <a:t>2. Urgencias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13898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¿qué signos vitales separan alto y bajo riesgo?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3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16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5A"/>
                </a:solidFill>
              </a:rPr>
              <a:t>3. Vacunación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8072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¿qué grupo tiene menor cobertura y seguimiento?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E6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16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5A"/>
                </a:solidFill>
              </a:rPr>
              <a:t>4. Respiratorio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8072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¿qué pacientes tienen SpO₂ crítica o inconsistente?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3E8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33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5A"/>
                </a:solidFill>
              </a:rPr>
              <a:t>5. Calidad de registro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4224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¿qué columnas impiden entrenar un modelo confiable?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rápido: 8 preguntas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Responder individualmente en 4 minutos. Luego discutir en grupo.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1. ¿Qué widget carga el archivo CSV?</a:t>
            </a:r>
            <a:endParaRPr lang="en-US" sz="1270" dirty="0"/>
          </a:p>
        </p:txBody>
      </p:sp>
      <p:sp>
        <p:nvSpPr>
          <p:cNvPr id="6" name="Shape 4"/>
          <p:cNvSpPr/>
          <p:nvPr/>
        </p:nvSpPr>
        <p:spPr>
          <a:xfrm>
            <a:off x="6400800" y="114300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258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2. ¿Qué widget define target y variables?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3. ¿Por qué no todo faltante debe imputarse?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3774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4. Dé un ejemplo de variable categórica clínica.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290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5. Dé un ejemplo de variable numérica clínica.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4290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6. ¿Qué widget ayuda a ver outliers?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80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7. ¿Qué dimensión de calidad pregunta “¿faltan datos?”?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400800" y="429768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480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8. ¿Por qué Data Table es importante después de Box Plot?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4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Respuestas del quiz y cierre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meta no es memorizar widgets; es pensar clínicamente con datos.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0120" y="10972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1. File</a:t>
            </a:r>
            <a:endParaRPr lang="en-US" sz="1340" dirty="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2. Select Columns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3. porque puede ser no aplicable, sesgo, error del sistema o información clínica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4. sexo, servicio, diagnóstico, triage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5. edad, glucosa, SpO₂, temperatura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6. Box Plot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60120" y="411480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7. Completeness / completitud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60120" y="461772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8. permite revisar el registro real y decidir si el outlier es error o evento clínico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960120" y="5577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45A"/>
                </a:solidFill>
              </a:rPr>
              <a:t>Frase final: “Antes de entrenar IA, entrenamos nuestra mirada clínica sobre los datos.”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647688"/>
            <a:ext cx="4846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Fundamentos de IA y Transformación Digital en Salud · Sesión 3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— Datos clínicos y preparación de datos</dc:title>
  <dc:subject>Datos clínicos y preparación de datos con Orange Data Mining</dc:subject>
  <dc:creator>OpenAI</dc:creator>
  <cp:lastModifiedBy>OpenAI</cp:lastModifiedBy>
  <cp:revision>1</cp:revision>
  <dcterms:created xsi:type="dcterms:W3CDTF">2026-09-27T21:49:36Z</dcterms:created>
  <dcterms:modified xsi:type="dcterms:W3CDTF">2026-09-27T21:49:36Z</dcterms:modified>
</cp:coreProperties>
</file>