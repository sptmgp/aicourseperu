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0D2DC"/>
                </a:solidFill>
              </a:defRPr>
            </a:pPr>
            <a:r>
              <a:t>SESIÓN 11 · 7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Validación interna de IA clínica</a:t>
            </a:r>
          </a:p>
          <a:p>
            <a:pPr>
              <a:defRPr sz="2100">
                <a:solidFill>
                  <a:srgbClr val="E1EBF5"/>
                </a:solidFill>
              </a:defRPr>
            </a:pPr>
            <a:r>
              <a:t>Caso: RL-DITR para titulación personalizada de insulina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886200"/>
            <a:ext cx="10607040" cy="914400"/>
          </a:xfrm>
          <a:prstGeom prst="roundRect">
            <a:avLst/>
          </a:prstGeom>
          <a:solidFill>
            <a:srgbClr val="213653"/>
          </a:solidFill>
          <a:ln>
            <a:solidFill>
              <a:srgbClr val="5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3977639"/>
            <a:ext cx="103144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B34"/>
                </a:solidFill>
              </a:defRPr>
            </a:pPr>
            <a:r>
              <a:t>Pregunta guía: ¿el modelo funciona de forma reproducible en el entorno donde fue desarrollado?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Objetivos de las 3 horas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Definir validación interna y diferenciarla de entrenamiento.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Leer MAE, PCC, AUROC, R² e intervalos de confianza.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Detectar señales de sobreajuste, leakage o cohorte específica.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Interpretar figuras de validación clínica.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Explicar por qué un buen resultado interno no demuestra generalización.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28800"/>
            <a:ext cx="3840480" cy="137160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8664" y="1920240"/>
            <a:ext cx="3547872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Producto: ficha de auditoría + lectura crítica de Fig. 2–4 + pregunta “¿qué evidencia falta?”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Artículo central: problema clínico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ajuste individual de insulina en T2D hospitalizado es dinámico y demandante.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RL-DITR es un sistema de reinforcement learning basado en un modelo del paciente.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Entrada: EHR longitudinal, glucosa, tratamientos y notas clínicas.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Salida: recomendaciones secuenciales de dosis.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estudio sigue el sistema desde desarrollo hasta despliegue.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828800"/>
            <a:ext cx="4023360" cy="100584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52944" y="1920240"/>
            <a:ext cx="37307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12.981 pacientes y 119.941 días de tratamiento en la fase de desarrollo.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¿Qué significa validación interna?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Concepto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Pregunta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Entrenamiento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¿Aprende del conjunto de desarrollo?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Validación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¿Cómo se ajusta/selecciona sin usar el test final?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Test interno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¿Funciona en datos no vistos del mismo contexto?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Generalización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¿Funciona en otro hospital/población/equipo?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Validación clínica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¿Produce uso seguro y útil en pacientes?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029200"/>
            <a:ext cx="10698480" cy="77724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5120640"/>
            <a:ext cx="10405872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Test interno ≠ prueba de mundo real. El artículo continúa con validación externa, despliegue prospectivo y factibilidad.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El recorrido de evidencia del artículo</a:t>
            </a:r>
          </a:p>
        </p:txBody>
      </p:sp>
      <p:pic>
        <p:nvPicPr>
          <p:cNvPr id="5" name="Picture 4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7132320" cy="69838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3258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1. Desarrollo.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2. Cohorte interna retrospectiva.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3. Cohorte externa retrospectiva.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4. Despliegue prospectivo con test–retest.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5. Prueba de factibilidad en 16 pacientes.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¿De dónde salen los datos?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53035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638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Elemento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Dato del artículo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Pacientes desarrollo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12.981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Días de tratamiento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119.941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Edad media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59,2 ± 14,5 años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Mujeres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42,6%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Contexto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Hospitalizados con T2D e insulina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3716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7 periodos temporales diarios.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Datos estructurados + notas clínicas.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ClinicalBERT para texto clínico.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LOINC/ICD-9 para normalización/codificación.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Arquitectura RL-DITR</a:t>
            </a:r>
          </a:p>
        </p:txBody>
      </p:sp>
      <p:pic>
        <p:nvPicPr>
          <p:cNvPr id="5" name="Picture 4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10923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 idea del “modelo del paciente”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modelo del paciente representa la dinámica de glucosa.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Genera estados ocultos y predicciones futuras.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política de tratamiento interactúa con ese modelo.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Combina reinforcement learning y supervised learning.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idea es planificar decisiones secuenciales con supervisión clínica.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874519"/>
            <a:ext cx="3657600" cy="141732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81544" y="1965960"/>
            <a:ext cx="3364992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No es “una respuesta única”: es una política condicionada por la evolución temporal del paciente.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Métrica 1: MAE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4572000" cy="640080"/>
          </a:xfrm>
          <a:prstGeom prst="roundRect">
            <a:avLst/>
          </a:prstGeom>
          <a:solidFill>
            <a:srgbClr val="E8F1F9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280160"/>
            <a:ext cx="4279392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4"/>
                </a:solidFill>
              </a:defRPr>
            </a:pPr>
            <a:r>
              <a:t>MAE = error absoluto medio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Indica cuántas unidades se aleja en promedio la dosis predicha de la referencia.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Mantiene las unidades clínicas.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Menor MAE = menor error promedio respecto al referente.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No demuestra por sí solo seguridad individual.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4663440" cy="100584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9984" y="1920240"/>
            <a:ext cx="4370831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Artículo: MAE 1,10 U interno; 1,20 U externo.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Métrica 2: correlación ≠ exactitud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PCC mide asociación lineal, no error absoluto.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Puede existir PCC alto con errores sistemáticos.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artículo combina PCC con MAE y otras métricas.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Predicción de glucosa: PCC interno 0,70; externo 0,71.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28800"/>
            <a:ext cx="3749039" cy="109728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8664" y="1920240"/>
            <a:ext cx="345643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Pregunta: ¿PCC 0,90 garantiza que cada dosis sea correcta? 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Figura 2: predicción de la trayectoria de glucosa</a:t>
            </a:r>
          </a:p>
        </p:txBody>
      </p:sp>
      <p:pic>
        <p:nvPicPr>
          <p:cNvPr id="5" name="Picture 4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7360920" cy="78358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23444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a–b: trayectoria observada vs predicha.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c–d: relación real vs predicción.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e–f: ROC para WTR.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Interno: MAE 2,13 mmol/L; PCC 0,70.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Externo: MAE 2,28 mmol/L; PCC 0,71.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Actividad guiada: leer la Figura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638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Elemento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Pregunta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Curvas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¿Sigue la tendencia?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Scatter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¿Hay dispersión alrededor de la diagonal?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ROC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¿Qué significa separar WTR/no-WTR?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Interno vs externo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¿Se mantiene el rendimiento?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IC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¿Qué aporta el intervalo?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029200"/>
            <a:ext cx="10698480" cy="82296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5120640"/>
            <a:ext cx="104058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Discusión: una buena trayectoria predicha no significa automáticamente una dosis segura para cada paciente.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WTR: convertir una predicción en una pregunta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WTR = glucosa dentro del rango objetivo 3,9–10,0 mmol/L.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AUROC interno: 0,830 preprandial; 0,808 postprandial; 0,848 promedio.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modelo mejora al disponer de más historia temporal.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Pregunta clínica: ¿cuánta historia necesita antes de recomendar?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828800"/>
            <a:ext cx="3749039" cy="128016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0104" y="1920240"/>
            <a:ext cx="345643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Enfermería: ¿qué pasa si faltan mediciones? Medicina: ¿qué pasa si cambia el contexto?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Figura 3: predicción de la dosis de insulina</a:t>
            </a:r>
          </a:p>
        </p:txBody>
      </p:sp>
      <p:pic>
        <p:nvPicPr>
          <p:cNvPr id="5" name="Picture 4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7315200" cy="7269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2344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Interno: MAE 1,10 U (IC 95% 1,07–1,12).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Externo: MAE 1,20 U (IC 95% 1,15–1,26).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Evaluado en distintos tipos de insulina.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e–f: diferencia de dosis vs WTR.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¿Qué significa “validación interna” en este artículo?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Cohorte interna: entorno de desarrollo.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40 pacientes y 226 puntos de datos de insulina.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15 médicos: 5 junior, 5 intermedios, 5 senior.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Panel experto como referencia.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Se evaluaron métricas cuantitativas y cualitativas.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28800"/>
            <a:ext cx="3749039" cy="128016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8664" y="1920240"/>
            <a:ext cx="345643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El estudio sigue adelante con una cohorte externa: la validación interna no es el punto final.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Figura 4: AI frente a médicos</a:t>
            </a:r>
          </a:p>
        </p:txBody>
      </p:sp>
      <p:pic>
        <p:nvPicPr>
          <p:cNvPr id="5" name="Picture 4" descr="fig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7360920" cy="7728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1887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MAE AI 1,18 U; junior 1,46; intermedio 1,27; senior 0,95.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Acuerdo clínico AI: 81,42%.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También se evaluaron efectividad, seguridad y aceptabilidad.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No demuestra sustitución del médico.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¿Por qué comparar contra diferentes niveles de experiencia?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5715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Grupo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Experiencia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Junior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1–3 años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Intermedio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4–7 años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Senior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8–20 años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89320" y="1325880"/>
            <a:ext cx="5212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¿La IA produce recomendaciones clínicamente plausibles?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¿Dónde sigue siendo relevante la experiencia?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¿Cuál es el referente de comparación?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¿Qué métrica se está comparando?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Actividad: ¿qué métrica te convencería?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201397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799"/>
                <a:gridCol w="3733799"/>
                <a:gridCol w="3733799"/>
              </a:tblGrid>
              <a:tr h="6781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Responde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 responde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¿Qué tan lejos?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¿Es segura cada dosis?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PCC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¿Tendencia similar?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¿Error pequeño?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AUROC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¿Separa estados?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¿Dosis adecuada?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Acuerdo clínico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¿Coincide con referencia?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¿Mejora resultados?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Aceptabilidad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¿Parece apropiada?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¿Reduce eventos?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440680"/>
            <a:ext cx="10515600" cy="548640"/>
          </a:xfrm>
          <a:prstGeom prst="roundRect">
            <a:avLst/>
          </a:prstGeom>
          <a:solidFill>
            <a:srgbClr val="F2EEF8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5532120"/>
            <a:ext cx="10222992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B34"/>
                </a:solidFill>
              </a:defRPr>
            </a:pPr>
            <a:r>
              <a:t>Desafío: elige tres métricas complementarias y justifica la elección.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 validación interna también necesita evaluación cualitativa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Expertos calificaron efectividad, seguridad y aceptabilidad.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Seguridad se relacionó con riesgo percibido de hipoglucemia.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evaluación cualitativa complementa MAE.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Una predicción numéricamente próxima puede ser clínicamente inaceptable.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828800"/>
            <a:ext cx="3657600" cy="146304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35824" y="1920240"/>
            <a:ext cx="3364992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Pregunta: ¿un error de +1 U y −1 U tienen necesariamente el mismo significado clínico?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Test–retest: ¿la evaluación se repite de forma consistente?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Test–retest permite preguntar si la evaluación es estable.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Reproducibilidad ≠ exactitud.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Un sistema puede ser consistentemente equivocado.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estabilidad debe acompañar a la precisión y seguridad.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828800"/>
            <a:ext cx="3840480" cy="128016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52944" y="1920240"/>
            <a:ext cx="354787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Mini-pregunta: si dos revisores califican distinto el mismo plan, ¿qué debemos investigar?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 validación interna a validación externa</a:t>
            </a:r>
          </a:p>
        </p:txBody>
      </p:sp>
      <p:pic>
        <p:nvPicPr>
          <p:cNvPr id="5" name="Picture 4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766560" cy="66257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3258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Interna: mismo contexto de desarrollo.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Externa: hospital fuera del desarrollo.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Prospectiva: sistema dentro del flujo clínico.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Factibilidad: resultados en pacientes.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Cada etapa responde una pregunta diferente.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¿Dónde podría aparecer el sobreajuste?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modelo puede aprender patrones específicos del hospital.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Protocolos, población, equipos y prácticas pueden ser compartidos entre entrenamiento y test interno.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Al cambiar el contexto, el rendimiento puede cambiar.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artículo reconoce la necesidad de estudiar generalización.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737360"/>
            <a:ext cx="3749039" cy="1005840"/>
          </a:xfrm>
          <a:prstGeom prst="roundRect">
            <a:avLst/>
          </a:prstGeom>
          <a:solidFill>
            <a:srgbClr val="F2EEF8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44383" y="1828800"/>
            <a:ext cx="3456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Pregunta: ¿qué cambia entre hospitales aunque el diagnóstico sea el mismo?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Calidad de datos: una parte de la validación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Se simuló ruido gaussiano para representar baja calidad.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Se simuló dropout para representar datos faltantes.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También se evaluó un pequeño conjunto ambulatorio retrospectivo (n=27).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Esto prueba robustez ante datos imperfectos, pero no reemplaza validación prospectiva.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28800"/>
            <a:ext cx="3794760" cy="123444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8664" y="1920240"/>
            <a:ext cx="350215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Actividad: ¿qué controles pondrías si faltara 30% de las mediciones?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Limitación importante: población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Principalmente pacientes hospitalizados con T2D.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Datos procedentes de China; 92% de la cohorte descrita como Han Chinese.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Los autores indican que la generalización a otras etnias requiere más estudio.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dieta hospitalaria era uniformemente suministrada; fuera del hospital cambian dieta y actividad física.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828800"/>
            <a:ext cx="3566160" cy="132588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64424" y="1920240"/>
            <a:ext cx="327355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Lección: una buena validación interna no elimina el problema de representatividad.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Caso práctico para enfermería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212080" cy="685800"/>
          </a:xfrm>
          <a:prstGeom prst="roundRect">
            <a:avLst/>
          </a:prstGeom>
          <a:solidFill>
            <a:srgbClr val="E8F1F9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234440"/>
            <a:ext cx="4919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Paciente hospitalizado: la IA recomienda una dosis.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Revisar glucosa reciente y tendencia.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Comprobar datos críticos faltantes.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Revisar alimentación, medicación y cambios clínicos.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Comparar con protocolo local.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Adoptar o rechazar y documentar.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663440" cy="118872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1920240"/>
            <a:ext cx="4370831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¿Qué parte corresponde al modelo y cuál permanece bajo responsabilidad clínica?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Caso práctico para fisioterapia y profesionales aliados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lógica de validación es transversal a otras disciplinas.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Ejemplos: riesgo de caída, imágenes, pronóstico funcional, rehabilitación.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Preguntar siempre: ¿qué población entrenó el modelo?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¿Qué variables cambian en mi servicio?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¿Qué resultado clínico importa además de la métrica?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920240"/>
            <a:ext cx="3657600" cy="114300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0104" y="2011680"/>
            <a:ext cx="336499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Transferencia: aprende el método de auditoría, no solo el caso de diabetes.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¿Qué ocurrió cuando el sistema pasó a prospectivo?</a:t>
            </a:r>
          </a:p>
        </p:txBody>
      </p:sp>
      <p:pic>
        <p:nvPicPr>
          <p:cNvPr id="5" name="Picture 4" descr="figur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7040880" cy="7297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280160"/>
            <a:ext cx="3520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20 pacientes prospectivos.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Evaluación por endocrinólogos al lado de la cama.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Test–retest.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Adopción inicial ≈70%; retest 77,5%.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Se reportó estabilidad de efectividad, seguridad y aceptabilidad.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Confianza y adopción: una variable clínica diferente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rendimiento técnico no garantiza uso clínico.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interacción humano–máquina se acompañó de aumento de adopción.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adopción aumentó entre la primera y segunda revisión.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Esto muestra una variable operacional, no una prueba definitiva de eficacia.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28800"/>
            <a:ext cx="3749039" cy="123444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8664" y="1920240"/>
            <a:ext cx="345643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Discusión: ¿confianza creciente = evidencia nueva o aprendizaje del flujo?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Prueba de factibilidad: ¿qué cambia en pacientes reales?</a:t>
            </a:r>
          </a:p>
        </p:txBody>
      </p:sp>
      <p:pic>
        <p:nvPicPr>
          <p:cNvPr id="5" name="Picture 4" descr="figur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7040880" cy="78834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123444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16 pacientes; 5 días.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90,2% de recomendaciones adoptadas.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Glucosa diaria media: 11,1 → 8,6 mmol/L.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TIR: 61,4% → 85,5%.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No hubo episodios de hipoglucemia grave ni hiperglucemia con cetosis.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Figura 6: cómo leer el resultado clínico</a:t>
            </a:r>
          </a:p>
        </p:txBody>
      </p:sp>
      <p:pic>
        <p:nvPicPr>
          <p:cNvPr id="5" name="Picture 4" descr="figur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7315200" cy="81905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600200"/>
            <a:ext cx="3474720" cy="164592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1583" y="1691640"/>
            <a:ext cx="3182112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Es una prueba de factibilidad de un solo brazo y 16 pacientes; no es evidencia definitiva de eficacia general.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36576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Comparar inicio vs final.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Observar TIR.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Revisar seguridad.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Preguntar qué no demuestra el diseño.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Mini-análisis estadístico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477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Inicio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Cambio descriptivo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Glucosa diaria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11,1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8,6 mmol/L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−2,5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TIR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61,4%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85,5%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+24,1 pp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&gt;13,9 mmol/L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10,6%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0,9%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−9,7 pp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&gt;10,0 mmol/L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37,5%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13,6%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−23,9 pp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CV glucémico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27,7%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22,6%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−5,1 pp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349240"/>
            <a:ext cx="10515600" cy="594360"/>
          </a:xfrm>
          <a:prstGeom prst="roundRect">
            <a:avLst/>
          </a:prstGeom>
          <a:solidFill>
            <a:srgbClr val="F2EEF8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5440679"/>
            <a:ext cx="102229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Pregunta: ¿estos cambios prueban causalidad? ¿Qué control falta?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¿Qué NO demuestra la prueba de 16 pacientes?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</a:defRPr>
            </a:pPr>
            <a:r>
              <a:t>No demuestra eficacia definitiva en una población grande.</a:t>
            </a:r>
          </a:p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</a:defRPr>
            </a:pPr>
            <a:r>
              <a:t>No establece generalización a otros hospitales o países.</a:t>
            </a:r>
          </a:p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</a:defRPr>
            </a:pPr>
            <a:r>
              <a:t>No sustituye un ensayo multicéntrico aleatorizado.</a:t>
            </a:r>
          </a:p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</a:defRPr>
            </a:pPr>
            <a:r>
              <a:t>No garantiza seguridad para todos los subgrupos.</a:t>
            </a:r>
          </a:p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</a:defRPr>
            </a:pPr>
            <a:r>
              <a:t>No demuestra desempeño en pacientes ambulatorios.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920240"/>
            <a:ext cx="3840480" cy="123444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8664" y="2011680"/>
            <a:ext cx="354787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Los autores solicitan estudios mayores y multicéntricos.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Auditoría: cinco preguntas antes de aceptar una validación interna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791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Pregunta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Qué buscar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¿Test separado del entrenamiento?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¿Leakage o información futura?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¿Métrica relevante al uso clínico?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¿Errores y subgrupos?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¿Estabilidad/reproducibilidad?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5074920"/>
            <a:ext cx="10332720" cy="77724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5166359"/>
            <a:ext cx="10040112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Producto: marcar Evidencia / Parcial / No reportada.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Actividad grupal: auditoría del artículo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Grupo A — Medicina: ¿qué evidencia clínica exigiría?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Grupo B — Enfermería: ¿qué debe mostrar la interfaz antes de administrar?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Grupo C — Fisioterapia/aliados: ¿qué variables de contexto pueden cambiar el rendimiento?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Grupo D — IA/datos: ¿qué métrica adicional reportarían?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Cada grupo: una fortaleza + una limitación documentada.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Ejercicio 1 — Detectar una validación débil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029200" cy="685800"/>
          </a:xfrm>
          <a:prstGeom prst="roundRect">
            <a:avLst/>
          </a:prstGeom>
          <a:solidFill>
            <a:srgbClr val="E8F1F9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325880"/>
            <a:ext cx="47365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B34"/>
                </a:solidFill>
              </a:defRPr>
            </a:pPr>
            <a:r>
              <a:t>Modelo A: AUC 0,98 en el hospital de desarrollo.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Una cohorte.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Sin test externo.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Sin análisis por subgrupos.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Sin prueba prospectiva.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Sin información clara de faltantes.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4572000" cy="91440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1463040"/>
            <a:ext cx="42793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¿Conclusión demasiado fuerte?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4572000" cy="100584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834640"/>
            <a:ext cx="427939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“Funcionará igual en otro hospital” no está demostrado.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Ejercicio 2 — Construir la validación de un modelo de fisioterapia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2701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Etapa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Ejemplo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Desarrollo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Pacientes hospital A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Test interno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No vistos, hospital 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Test externo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Hospital B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Prospectivo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Profesionales usan la recomendación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Resultado clínico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Función, dolor, adherencia o seguridad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Monitoreo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Errores, drift y cambios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5623560"/>
            <a:ext cx="10515600" cy="457200"/>
          </a:xfrm>
          <a:prstGeom prst="roundRect">
            <a:avLst/>
          </a:prstGeom>
          <a:solidFill>
            <a:srgbClr val="F2EEF8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5715000"/>
            <a:ext cx="102229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B34"/>
                </a:solidFill>
              </a:defRPr>
            </a:pPr>
            <a:r>
              <a:t>¿Qué añadirías para adultos mayores, comorbilidad o población rural?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 preguntas rápidas de comprensión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1. ¿Qué diferencia hay entre entrenamiento y test interno?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2. ¿Qué mide MAE?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3. ¿Qué mide PCC?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4. ¿Qué significa AUROC?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5. ¿Por qué comparar IA con médicos?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6. ¿Por qué usar test–retest?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7. ¿Qué problema resuelve una cohorte externa?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8. ¿Qué es distribution shift?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9. ¿Por qué 16 pacientes no bastan para generalizar?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10. ¿Qué papel conserva el profesional?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Respuestas esperadas — discusión, no memorización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1. Test interno: datos no usados para ajustar, mismo contexto.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2. MAE: error absoluto medio.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3. PCC: asociación lineal.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4. AUROC: discriminación.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5. Evalúa plausibilidad y comparación con práctica.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6. Evalúa estabilidad.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7. Explora generalización.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8. Cambio en distribución/contexto.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9. Tamaño y diseño limitan precisión/generalización.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10. Revisión, decisión y seguridad.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Conclusión: la validación es una escalera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057400" cy="640080"/>
          </a:xfrm>
          <a:prstGeom prst="roundRect">
            <a:avLst/>
          </a:prstGeom>
          <a:solidFill>
            <a:srgbClr val="F0F4F8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25880"/>
            <a:ext cx="1764792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B34"/>
                </a:solidFill>
              </a:defRPr>
            </a:pPr>
            <a:r>
              <a:t>DESARROLLO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234440"/>
            <a:ext cx="2057400" cy="640080"/>
          </a:xfrm>
          <a:prstGeom prst="roundRect">
            <a:avLst/>
          </a:prstGeom>
          <a:solidFill>
            <a:srgbClr val="F0F4F8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35224" y="1325880"/>
            <a:ext cx="1764792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B34"/>
                </a:solidFill>
              </a:defRPr>
            </a:pPr>
            <a:r>
              <a:t>TEST INTERNO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234440"/>
            <a:ext cx="2057400" cy="640080"/>
          </a:xfrm>
          <a:prstGeom prst="roundRect">
            <a:avLst/>
          </a:prstGeom>
          <a:solidFill>
            <a:srgbClr val="F0F4F8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1325880"/>
            <a:ext cx="1764792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B34"/>
                </a:solidFill>
              </a:defRPr>
            </a:pPr>
            <a:r>
              <a:t>EXTERNO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234440"/>
            <a:ext cx="2057400" cy="640080"/>
          </a:xfrm>
          <a:prstGeom prst="roundRect">
            <a:avLst/>
          </a:prstGeom>
          <a:solidFill>
            <a:srgbClr val="F0F4F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5783" y="1325880"/>
            <a:ext cx="1764792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B34"/>
                </a:solidFill>
              </a:defRPr>
            </a:pPr>
            <a:r>
              <a:t>PROSPECTIVO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234440"/>
            <a:ext cx="2057400" cy="640080"/>
          </a:xfrm>
          <a:prstGeom prst="roundRect">
            <a:avLst/>
          </a:prstGeom>
          <a:solidFill>
            <a:srgbClr val="F0F4F8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6064" y="1325880"/>
            <a:ext cx="1764792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B34"/>
                </a:solidFill>
              </a:defRPr>
            </a:pPr>
            <a:r>
              <a:t>RESULTADO CLÍNICO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artículo muestra una ruta paso a paso desde datos retrospectivos hasta uso clínico.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test interno es necesario, pero no suficiente.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Métricas técnicas deben conectarse con seguridad, utilidad y contexto.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Los autores reconocen la necesidad de estudios mayores y multicéntricos.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Esta mentalidad se transfiere a cualquier IA clínica.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PROYECTO DE 4 HORAS · MINI-AUDITORÍA DE IA CLÍNICA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PROYECTO DE 4 HORAS · MINI-AUDITORÍA DE IA CLÍNICA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2194560" cy="548640"/>
          </a:xfrm>
          <a:prstGeom prst="roundRect">
            <a:avLst/>
          </a:prstGeom>
          <a:solidFill>
            <a:srgbClr val="213653"/>
          </a:solidFill>
          <a:ln>
            <a:solidFill>
              <a:srgbClr val="5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828800"/>
            <a:ext cx="1901952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Producto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6400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Elegir un modelo clínico sencillo.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Definir población y contexto.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Separar entrenamiento / validación / test.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Reportar ≥3 métricas.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Comparar rendimiento interno con otra cohorte si existe.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Identificar 3 riesgos de generalización.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Crear plan de validación prospectiva + supervisión humana.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37360"/>
            <a:ext cx="3657600" cy="640080"/>
          </a:xfrm>
          <a:prstGeom prst="roundRect">
            <a:avLst/>
          </a:prstGeom>
          <a:solidFill>
            <a:srgbClr val="213653"/>
          </a:solidFill>
          <a:ln>
            <a:solidFill>
              <a:srgbClr val="5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81544" y="1828800"/>
            <a:ext cx="3364992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Entregable: 1 página + 3 diapositivas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926080"/>
            <a:ext cx="3840480" cy="1371600"/>
          </a:xfrm>
          <a:prstGeom prst="roundRect">
            <a:avLst/>
          </a:prstGeom>
          <a:solidFill>
            <a:srgbClr val="213653"/>
          </a:solidFill>
          <a:ln>
            <a:solidFill>
              <a:srgbClr val="5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3017520"/>
            <a:ext cx="3547872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Pregunta final: ¿qué evidencia me falta antes de usar este modelo con mis pacientes?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754880"/>
            <a:ext cx="3840480" cy="822960"/>
          </a:xfrm>
          <a:prstGeom prst="roundRect">
            <a:avLst/>
          </a:prstGeom>
          <a:solidFill>
            <a:srgbClr val="213653"/>
          </a:solidFill>
          <a:ln>
            <a:solidFill>
              <a:srgbClr val="5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0104" y="4846320"/>
            <a:ext cx="35478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B34"/>
                </a:solidFill>
              </a:defRPr>
            </a:pPr>
            <a:r>
              <a:t>Fuente: Wang et al., Nature Medicine 2023 · DOI 10.1038/s41591-023-02552-9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