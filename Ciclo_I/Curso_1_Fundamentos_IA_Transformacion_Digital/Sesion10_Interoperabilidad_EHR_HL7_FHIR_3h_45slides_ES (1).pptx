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risp_modern_hospital_clinical_workstation_sc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777240"/>
            <a:ext cx="5394960" cy="3977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640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</a:rPr>
              <a:t>Sesión 10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94360" y="123444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2355B"/>
                </a:solidFill>
              </a:rPr>
              <a:t>Interoperabilidad clínica: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2355B"/>
                </a:solidFill>
              </a:rPr>
              <a:t>EHR, HL7 y FHIR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21792" y="297180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3 horas · 45 diapositivas · demo JSON/FHIR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Producto: mini flujo Patient → Observation → algoritmo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94360" y="507492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5157216"/>
            <a:ext cx="499262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que un profesional clínico entienda cómo un dato viaja desde el EHR hasta una herramienta de IA segura y auditable.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Imagen generada para docencia · Referencias estándar: HL7 FHIR R4, SMART App Launch, CDS Hooks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 la sesión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De sistemas hospitalarios a recursos FHIR y algoritmos clínicos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6245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2646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" y="1325880"/>
            <a:ext cx="2642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Problema clínico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234440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36245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42646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55464" y="1325880"/>
            <a:ext cx="2642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EHR / HIS / LIS / RIS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1234440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F3E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36245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142646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04504" y="1325880"/>
            <a:ext cx="2642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HL7 v2, CDA y FHIR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2560320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268833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75234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06424" y="2651760"/>
            <a:ext cx="2642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Patient · Encounter · Observation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43400" y="2560320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0" y="268833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275234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55464" y="2651760"/>
            <a:ext cx="2642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APIs REST + JSON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92440" y="2560320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F3E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268833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275234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04504" y="2651760"/>
            <a:ext cx="2642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SMART on FHIR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4360" y="3886200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401421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07822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06424" y="3977640"/>
            <a:ext cx="2642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CDS Hooks / algoritmo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343400" y="3886200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34840" y="401421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407822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55464" y="3977640"/>
            <a:ext cx="2642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Seguridad y privacidad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092440" y="3886200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F3E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83880" y="401421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83880" y="407822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604504" y="3977640"/>
            <a:ext cx="2642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Demo + proyecto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Referencia: HL7 FHIR Overview · https://hl7.org/fhir/R4/overview.html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qué la interoperabilidad importa en salud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El problema no es “tener datos”; es que el dato correcto llegue al lugar correcto en el momento correcto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9844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Problema diario en el hospital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5528" y="1645920"/>
            <a:ext cx="493776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Signos vitales en monitor, laboratorio en LIS, notas en EHR, imágenes en PACS.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El profesional necesita una visión integrada del paciente.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La IA falla si recibe datos incompletos, tardíos o mal codificados.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Interoperabilidad = base técnica para seguridad, continuidad y decisión asistida.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118872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9844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Ejemplo clínico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10528" y="1645920"/>
            <a:ext cx="493776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Paciente con fiebre + SpO₂ baja + taquicardia.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Si Observation no llega al algoritmo, no hay alerta.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Si el código de SpO₂ es ambiguo, el algoritmo puede interpretar mal.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Si no hay contexto Encounter, se pierde la temporalidad.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Referencia: HL7 FHIR Overview explica necesidad de datos estructurados y estandarizados para CDS y procesamiento automático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Transformación digital ≠ solo digitalizar papel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La interoperabilidad convierte datos clínicos en información computable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59105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5506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89304" y="1554480"/>
            <a:ext cx="1499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Documento escaneado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“foto del papel”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999232" y="2029968"/>
            <a:ext cx="841248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931920" y="146304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159105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165506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43984" y="1554480"/>
            <a:ext cx="1499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Texto clínico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nota en EHR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2029968"/>
            <a:ext cx="82296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086600" y="146304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78040" y="159105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8040" y="165506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98664" y="1554480"/>
            <a:ext cx="1499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Dato estructurado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FHIR Observation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326880" y="2029968"/>
            <a:ext cx="73152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149840" y="146304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0" y="159105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0" y="165506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661904" y="1554480"/>
            <a:ext cx="813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Decisión asistida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alerta/score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68680" y="3657600"/>
            <a:ext cx="10607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376732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Mensaje para estudiantes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69848" y="4114800"/>
            <a:ext cx="102870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La IA clínica no empieza en el modelo; empieza en la representación correcta del dato.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FHIR permite que distintos sistemas “hablen” usando recursos compartidos.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La trazabilidad clínica depende de saber de dónde vino cada dato.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Referencia: HL7 FHIR Overview · recursos + JSON/XML + intercambio electrónico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EHR, HIS, LIS, RIS y PACS: ¿quién guarda qué?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Antes de usar FHIR, el estudiante debe entender el ecosistema hospitalario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148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34440"/>
            <a:ext cx="214884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4416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EHR / HCE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" y="1764792"/>
            <a:ext cx="181965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clínicas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problemas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medicación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órdenes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2926080" y="1234440"/>
            <a:ext cx="2148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1234440"/>
            <a:ext cx="214884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134416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LIS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090672" y="1764792"/>
            <a:ext cx="181965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laboratorio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hemograma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creatinina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cultivos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5303520" y="1234440"/>
            <a:ext cx="2148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1234440"/>
            <a:ext cx="2148840" cy="4114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134416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RIS / PACS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68112" y="1764792"/>
            <a:ext cx="181965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órdenes imagen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DICOM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informes radiología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7680960" y="1234440"/>
            <a:ext cx="2148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1234440"/>
            <a:ext cx="2148840" cy="4114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134416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Monitor / IoMT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845552" y="1764792"/>
            <a:ext cx="181965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SpO₂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HR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BP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temperatura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10058400" y="1234440"/>
            <a:ext cx="1645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0" y="1234440"/>
            <a:ext cx="1645920" cy="4114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95560" y="13441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Farmacia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222992" y="1764792"/>
            <a:ext cx="131673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medicación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dispensación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alergias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4069080" y="3703320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78808" y="3785616"/>
            <a:ext cx="362102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FHIR API / Integration engine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989320" y="4480560"/>
            <a:ext cx="0" cy="82296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108960" y="5321808"/>
            <a:ext cx="5760720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18688" y="5404104"/>
            <a:ext cx="554126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Aplicaciones clínicas · dashboards · algoritmos · investigación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Referencia: HL7 FHIR R4 modules: Administration, Clinical, Diagnostics, Medications, Workflow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914400"/>
            <a:ext cx="164592" cy="4937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240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55B"/>
                </a:solidFill>
              </a:rPr>
              <a:t>Bloque 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Estándares: de HL7 clásico a FHIR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913632"/>
            <a:ext cx="4389120" cy="0"/>
          </a:xfrm>
          <a:prstGeom prst="line">
            <a:avLst/>
          </a:prstGeom>
          <a:noFill/>
          <a:ln w="50800">
            <a:solidFill>
              <a:srgbClr val="1D4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Sesión 10 · Interoperabilidad clínica: EHR, HL7 y FHIR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Interoperabilidad: tres niveles que el clínico debe reconocer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No basta enviar un archivo; el receptor debe entender el significado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813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1. Técnica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86968" y="1828800"/>
            <a:ext cx="297180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Conexión de sistemas.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API, mensaje, endpoint, seguridad.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¿Puede llegar el dato?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34840" y="137160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4813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2. Semántica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36008" y="1828800"/>
            <a:ext cx="297180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Código y significado compartidos.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LOINC para laboratorio/observaciones; SNOMED CT para conceptos clínicos.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¿Entiende el receptor lo que significa?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83880" y="137160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4813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3. Workflow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85048" y="1828800"/>
            <a:ext cx="297180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Dato usado en el momento clínico correcto.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Alerta, orden, documentación, seguimiento.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¿Mejora una decisión real?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97280" y="521208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5294376"/>
            <a:ext cx="974750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crítica: ¿este dato es solo visible, o es realmente computable y accionable?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Referencia: HL7 FHIR Overview · interoperabilidad y datos estructurados/estandarizados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HL7: la familia de estándares de intercambio clínico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FHIR no reemplaza mágicamente todo; convive con mensajes y documentos existentes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5681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2082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89304" y="192024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HL7 v2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mensajes ADT/ORU/ORM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interfaces hospitalarias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72968" y="2395728"/>
            <a:ext cx="329184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66160" y="18288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3E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195681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02082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78224" y="192024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CDA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documentos clínicos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estructurados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61888" y="2395728"/>
            <a:ext cx="329184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55080" y="18288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95681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02082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67144" y="192024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FHIR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recursos + REST + JSON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aplicaciones modernas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50808" y="2395728"/>
            <a:ext cx="329184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44000" y="18288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195681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0" y="202082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56064" y="192024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SMART/CDS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apps y soporte a decisión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en el workflow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97280" y="3840480"/>
            <a:ext cx="9921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3950208"/>
            <a:ext cx="9646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Idea clave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98448" y="4297680"/>
            <a:ext cx="96012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HL7 v2 sigue muy presente para mensajería interna.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FHIR se usa ampliamente para APIs, apps, integración y representación modular.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Un proyecto real suele requerir mapeo entre estándares.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Referencia: HL7 FHIR Overview · relación con HL7 v2, HL7 v3 y CDA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es FHIR?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Fast Healthcare Interoperability Resources: recursos clínicos intercambiables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188720"/>
            <a:ext cx="10607040" cy="658368"/>
          </a:xfrm>
          <a:prstGeom prst="roundRect">
            <a:avLst>
              <a:gd name="adj" fmla="val 11111"/>
            </a:avLst>
          </a:prstGeom>
          <a:solidFill>
            <a:srgbClr val="E0F2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271016"/>
            <a:ext cx="1038758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FHIR = recursos modulares + reglas de representación + APIs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47548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042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Recursos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78408" y="2651760"/>
            <a:ext cx="44348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Patient: quién es el paciente.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Encounter: dónde/cuándo ocurrió la atención.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Observation: qué se midió u observó.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Condition: problema clínico.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MedicationRequest: orden de medicamento.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0" y="2194560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230428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Representación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44768" y="2651760"/>
            <a:ext cx="51206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JSON o XML.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Códigos terminológicos.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Referencias entre recursos.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Metadata y versionamiento.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CapabilityStatement para saber qué soporta un servidor.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Referencia: HL7 FHIR R4 Overview · “standard for exchanging healthcare information electronically”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FHIR piensa en “recursos”, no en tablas aisladas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El paciente se reconstruye conectando piezas clínicas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228600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898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Patient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96112" y="1810512"/>
            <a:ext cx="195681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id: 123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name: Ana Pérez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birthDate: 1958-03-02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937760" y="128016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1280160"/>
            <a:ext cx="2468880" cy="4114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389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Encounter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102352" y="1810512"/>
            <a:ext cx="213969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patient → Patient/123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class: inpatient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period: 2026-09-29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961120" y="128016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0" y="1280160"/>
            <a:ext cx="2468880" cy="4114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1389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Observation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25712" y="1810512"/>
            <a:ext cx="213969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subject → Patient/123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encounter → Encounter/e1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SpO₂: 89 %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3108960" y="1965960"/>
            <a:ext cx="16916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98080" y="1965960"/>
            <a:ext cx="1325880" cy="0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97280" y="388620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07008" y="3968496"/>
            <a:ext cx="974750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Relación clínica: “Ana Pérez tuvo una hospitalización y allí se midió SpO₂ = 89%”.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097280" y="4754880"/>
            <a:ext cx="9966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486460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Por qué esto importa para IA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98448" y="5212080"/>
            <a:ext cx="96469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</a:rPr>
              <a:t>• El algoritmo debe saber quién, cuándo, dónde y qué variable.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</a:rPr>
              <a:t>• Sin Encounter no hay contexto temporal.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0F172A"/>
                </a:solidFill>
              </a:rPr>
              <a:t>• Sin códigos, el mismo dato puede llamarse “satO2”, “SpO2” o “oxígeno”.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Referencia: HL7 FHIR R4 Resources · Patient, Encounter, Observation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FHIR RESTful API: la forma moderna de pedir datos clínicos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El algoritmo no lee la base de datos directamente: consulta recursos autorizados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5486400" cy="2926080"/>
          </a:xfrm>
          <a:prstGeom prst="roundRect">
            <a:avLst>
              <a:gd name="adj" fmla="val 1563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7160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Ejemplos REST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96112" y="1664208"/>
            <a:ext cx="5157216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GET https://ehr.example.org/fhir/Patient/123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GET https://ehr.example.org/fhir/Observation?patient=123&amp;code=59408-5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POST https://ehr.example.org/fhir/Observation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0" y="1280160"/>
            <a:ext cx="4754880" cy="2926080"/>
          </a:xfrm>
          <a:prstGeom prst="roundRect">
            <a:avLst>
              <a:gd name="adj" fmla="val 2500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13898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Interacciones comunes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84848" y="1737360"/>
            <a:ext cx="443484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read: leer un recurso por id.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search: buscar por filtros.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create: crear un recurso.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update/patch: modificar.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history: trazabilidad de cambios.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capabilities: qué soporta el servidor.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97280" y="4983480"/>
            <a:ext cx="9875520" cy="73152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5065776"/>
            <a:ext cx="965606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Producción: usar HTTPS, autenticación, autorización, auditoría y consentimiento.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Referencia: HL7 FHIR R4 RESTful API · https://hl7.org/fhir/R4/http.html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914400"/>
            <a:ext cx="164592" cy="49377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240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55B"/>
                </a:solidFill>
              </a:rPr>
              <a:t>Bloque II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Recursos FHIR esenciales para un algoritmo clínico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913632"/>
            <a:ext cx="4389120" cy="0"/>
          </a:xfrm>
          <a:prstGeom prst="line">
            <a:avLst/>
          </a:prstGeom>
          <a:noFill/>
          <a:ln w="50800">
            <a:solidFill>
              <a:srgbClr val="1580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Sesión 10 · Interoperabilidad clínica: EHR, HL7 y FHIR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Patient: el ancla de identidad clínica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No es solo nombre; es el recurso que vincula todo lo demás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5486400" cy="4480560"/>
          </a:xfrm>
          <a:prstGeom prst="roundRect">
            <a:avLst>
              <a:gd name="adj" fmla="val 1020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18872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FHIR Patient JSON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" y="1481328"/>
            <a:ext cx="5157216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"resourceType": "Patient",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"id": "pat-001",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"identifier": [{"system":"hospital-mrn", "value":"A12345"}],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"name": [{"family":"Pérez", "given":["Ana"]}],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"gender": "female",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"birthDate": "1958-03-02"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92240" y="1234440"/>
            <a:ext cx="47548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3441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Qué debe observar el estudiante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93408" y="1691640"/>
            <a:ext cx="443484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resourceType dice qué tipo de recurso 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id permite referenciarlo desde otros recursos.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identifier puede contener MRN u otro identificador institucional.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Nunca usar datos personales reales en prácticas docentes.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En proyectos reales: matching de identidad es un reto mayor.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Referencia: HL7 FHIR R4 Patient Resource · https://hl7.org/fhir/R4/patient.html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Encounter: contexto asistencial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El mismo paciente puede tener consulta, urgencia, hospitalización y rehabilitación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5669280" cy="4389120"/>
          </a:xfrm>
          <a:prstGeom prst="roundRect">
            <a:avLst>
              <a:gd name="adj" fmla="val 1042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18872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FHIR Encounter JSON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" y="1481328"/>
            <a:ext cx="5340096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"resourceType": "Encounter",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"id": "enc-001",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"status": "in-progress",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"class": {"code": "IMP", "display":"inpatient"},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"subject": {"reference":"Patient/pat-001"},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"period": {"start":"2026-09-29T08:00:00-05:00"}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629400" y="1280160"/>
            <a:ext cx="4480560" cy="3291840"/>
          </a:xfrm>
          <a:prstGeom prst="roundRect">
            <a:avLst>
              <a:gd name="adj" fmla="val 2222"/>
            </a:avLst>
          </a:prstGeom>
          <a:solidFill>
            <a:srgbClr val="F3E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13898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Uso clínico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30568" y="1737360"/>
            <a:ext cx="416052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Ubica la atención en tiempo y lugar.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Permite separar mediciones ambulatorias de hospitalarias.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Es crucial para algoritmos que dependen de eventos temporales.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Ayuda a trazabilidad y auditoría.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29400" y="4892040"/>
            <a:ext cx="44805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9128" y="4974336"/>
            <a:ext cx="426110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Pregunta: ¿la SpO₂ de ayer y la de hoy pertenecen al mismo Encounter?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Referencia: HL7 FHIR R4 Encounter Resource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Observation: el recurso más usado para datos clínicos medibles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Signos vitales, laboratorio, escalas y muchas variables de IA viven aquí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6583680" cy="4846320"/>
          </a:xfrm>
          <a:prstGeom prst="roundRect">
            <a:avLst>
              <a:gd name="adj" fmla="val 943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FHIR Observation JSON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8952" y="1572768"/>
            <a:ext cx="6254496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"resourceType":"Observation",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"status":"final",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"category":[{"coding":[{"code":"vital-signs"}]}],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"code":{"coding":[{"system":"http://loinc.org",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"code":"59408-5", "display":"Oxygen saturation"}]},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"subject":{"reference":"Patient/pat-001"},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"encounter":{"reference":"Encounter/enc-001"},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"effectiveDateTime":"2026-09-29T09:15:00-05:00",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"valueQuantity":{"value":89, "unit":"%"}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60920" y="132588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0" y="1435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Lectura clínica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62088" y="1783080"/>
            <a:ext cx="388620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code define qué variable 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valueQuantity contiene valor y unidad.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effectiveDateTime importa para tendencias.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subject y encounter conectan dato con paciente/contexto.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Este recurso alimenta dashboards y modelos predictivos.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Referencia: HL7 FHIR R4 Observation Resource + LOINC para códigos de observación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Condition, MedicationRequest y AllergyIntolerance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No todo son signos vitales: problemas, tratamientos y alergias también deben ser computables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2743200" cy="4114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813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Condition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96112" y="1901952"/>
            <a:ext cx="2414016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subject → Patient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code: diabetes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clinicalStatus: active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371600"/>
            <a:ext cx="2743200" cy="4114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4813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MedicationRequest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28032" y="1901952"/>
            <a:ext cx="2414016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subject → Patient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medication: metformin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status: active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595360" y="137160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95360" y="1371600"/>
            <a:ext cx="2743200" cy="4114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2520" y="14813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AllergyIntolerance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759952" y="1901952"/>
            <a:ext cx="2414016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patient → Patient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substance: penicillin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reaction: rash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1097280" y="4114800"/>
            <a:ext cx="9966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422452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Ejemplo de algoritmo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98448" y="4572000"/>
            <a:ext cx="96469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Riesgo = función de creatinina + edad + diabetes + medicación.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Si diabetes está solo en una nota libre y no en Condition, el algoritmo puede no verla.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Si alergia no está codificada, un CDS puede fallar al sugerir medicamento.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Referencia: HL7 FHIR R4 Clinical/Medications resources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Terminologías clínicas: la semántica del dato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FHIR dice la estructura; los códigos dicen el significado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356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LOINC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2688" y="1783080"/>
            <a:ext cx="44348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laboratorio y observaciones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ej. SpO₂, creatinina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1325880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4356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SNOMED 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10528" y="1783080"/>
            <a:ext cx="44348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conceptos clínicos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ej. neumonía, dolor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154680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644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ICD-10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3611880"/>
            <a:ext cx="44348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diagnósticos/codificación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facturación/epidemiología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3154680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F3E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2644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RxNorm / ATC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0528" y="3611880"/>
            <a:ext cx="44348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medicamentos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intercambio farmacológico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97280" y="53949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5477256"/>
            <a:ext cx="974750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docente: sin códigos, el dato puede ser legible para humanos pero ambiguo para máquinas.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Referencia: HL7 FHIR Terminology module + LOINC/SNOMED/ICD/RxNorm/ATC según país y licencia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Perfiles e Implementation Guides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FHIR básico es flexible; los perfiles reducen ambigüedad local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8249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4650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35024" y="164592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FHIR base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“permite muchas opciones”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840480" y="2057400"/>
            <a:ext cx="9144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892040" y="155448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83480" y="168249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74650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04104" y="164592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Perfil local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“reglas para nuestro caso”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09560" y="2057400"/>
            <a:ext cx="82296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869680" y="15544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0" y="168249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0" y="174650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381744" y="1645920"/>
            <a:ext cx="1956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Validación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“cumple o falla”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05840" y="3657600"/>
            <a:ext cx="99669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376732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Ejemplo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07008" y="4114800"/>
            <a:ext cx="96469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FHIR permite varias formas de representar una medición.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Un perfil puede exigir: LOINC específico, unidad UCUM, encounter obligatorio.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Esto evita que cada hospital codifique diferente.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El algoritmo debe declarar qué perfil espera.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Referencia: HL7 FHIR Profiles / StructureDefinition / Implementation Guides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914400"/>
            <a:ext cx="164592" cy="49377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240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55B"/>
                </a:solidFill>
              </a:rPr>
              <a:t>Bloque III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De FHIR a una IA clínica: arquitectura y seguridad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913632"/>
            <a:ext cx="4389120" cy="0"/>
          </a:xfrm>
          <a:prstGeom prst="line">
            <a:avLst/>
          </a:prstGeom>
          <a:noFill/>
          <a:ln w="50800">
            <a:solidFill>
              <a:srgbClr val="6D28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Sesión 10 · Interoperabilidad clínica: EHR, HL7 y FHIR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mínima: Patient → Observation → algoritmo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El producto de esta sesión será un mini flujo computable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210312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72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Patient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04672" y="1993392"/>
            <a:ext cx="177393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name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birthDate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2788920" y="2103120"/>
            <a:ext cx="86868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749040" y="1463040"/>
            <a:ext cx="2286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1463040"/>
            <a:ext cx="2286000" cy="4114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15727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Observation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913632" y="1993392"/>
            <a:ext cx="195681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SpO₂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HR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Temperature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SBP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6080760" y="2103120"/>
            <a:ext cx="96012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178040" y="155448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3E8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87768" y="1636776"/>
            <a:ext cx="1609344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Algoritmo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riesgo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098280" y="2103120"/>
            <a:ext cx="822960" cy="0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012680" y="155448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EDD5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22408" y="1636776"/>
            <a:ext cx="1563624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 / dashboard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 recomendación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965960" y="3886200"/>
            <a:ext cx="8138160" cy="1371600"/>
          </a:xfrm>
          <a:prstGeom prst="roundRect">
            <a:avLst>
              <a:gd name="adj" fmla="val 3333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397764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Pseudocódigo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30552" y="4270248"/>
            <a:ext cx="7808976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risk = f(age, SpO2, HR, Temp, SBP)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if risk &gt; threshold: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create alert card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else: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continue monitoring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Referencia: HL7 FHIR R4 Patient + Observation + CDS pattern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 on FHIR: apps clínicas conectadas al EHR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Permite que una app se abra dentro del flujo clínico con autorización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9961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6362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43584" y="1463040"/>
            <a:ext cx="1682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Usuario abre paciente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en el EHR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54680" y="1828800"/>
            <a:ext cx="64008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931920" y="13716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149961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156362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43984" y="1463040"/>
            <a:ext cx="1682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EHR lanza app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SMART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1828800"/>
            <a:ext cx="64008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132320" y="13716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3E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149961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156362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44384" y="1463040"/>
            <a:ext cx="1682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OAuth autoriza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scopes mínimos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555480" y="1828800"/>
            <a:ext cx="594360" cy="0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287000" y="137160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78440" y="149961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78440" y="156362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799064" y="1463040"/>
            <a:ext cx="950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App lee FHIR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y muestra apoyo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14400" y="3657600"/>
            <a:ext cx="10241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376732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Clínicamente significa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15568" y="4114800"/>
            <a:ext cx="992124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La app no necesita copiar toda la base hospitalaria.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Lee solo recursos autorizados: patient/Observation.read, patient/MedicationRequest.read, etc.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La autorización y los scopes reducen exposición de datos.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Ideal para calculadoras, dashboards, consentimientos, riesgo y educación.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Referencia: SMART App Launch Implementation Guide · OAuth2/OIDC + FHIR scopes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CDS Hooks: decisión clínica integrada al workflow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El EHR llama a un servicio de apoyo a decisión en un punto específico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36245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2646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89304" y="132588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Hook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patient-view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834640" y="1691640"/>
            <a:ext cx="82296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794760" y="12344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136245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142646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06824" y="1325880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Prefetch FHIR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Patient + Observations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1691640"/>
            <a:ext cx="82296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086600" y="123444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3E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78040" y="136245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8040" y="142646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98664" y="132588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CDS Service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calcula riesgo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44000" y="1691640"/>
            <a:ext cx="731520" cy="0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012680" y="123444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04120" y="136245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04120" y="142646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24744" y="1325880"/>
            <a:ext cx="1042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Cards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recomendación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011680" y="3246120"/>
            <a:ext cx="8138160" cy="1783080"/>
          </a:xfrm>
          <a:prstGeom prst="roundRect">
            <a:avLst>
              <a:gd name="adj" fmla="val 2564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48840" y="333756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Respuesta CDS Hooks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76272" y="3630168"/>
            <a:ext cx="7808976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"cards": [{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"summary": "SpO2 baja + fiebre: revisar riesgo respiratorio",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"indicator": "warning",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"detail": "Paciente con SpO2 89%, temperatura 38.8 C."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}]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Referencia: CDS Hooks 2.0/1.0 · RESTful APIs, JSON, hooks y cards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FHIR + LLM después de la Sesión 9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De texto clínico a dato interoperable: aquí se conectan las sesiones 9 y 10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4533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934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43584" y="150876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Nota clínica libre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880360" y="1874520"/>
            <a:ext cx="73152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749040" y="14173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3E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154533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160934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61104" y="150876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LLM / NLP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extracción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97880" y="1874520"/>
            <a:ext cx="731520" cy="0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766560" y="14173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154533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60934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278624" y="150876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JSON estructurado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15400" y="1874520"/>
            <a:ext cx="7315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84080" y="14173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0" y="154533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0" y="160934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296144" y="150876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FHIR Observation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14400" y="3474720"/>
            <a:ext cx="10241280" cy="1554480"/>
          </a:xfrm>
          <a:prstGeom prst="roundRect">
            <a:avLst>
              <a:gd name="adj" fmla="val 2941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3566160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Ejemplo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78992" y="3858768"/>
            <a:ext cx="9912096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Texto: "Paciente con fiebre 38.8 C y saturación 89%."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LLM extrae: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 "temperature": 38.8, "spo2": 89 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FHIR crea Observation para cada variable.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097280" y="5577840"/>
            <a:ext cx="9875520" cy="502920"/>
          </a:xfrm>
          <a:prstGeom prst="roundRect">
            <a:avLst>
              <a:gd name="adj" fmla="val 14545"/>
            </a:avLst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07008" y="5660136"/>
            <a:ext cx="965606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 seguridad: el LLM no debe inventar datos ausentes; debe marcar “no mencionado”.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Referencia: Sesión 9 + HL7 FHIR Observation; vincular extracción estructurada con recurso estándar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Seguridad: scopes, mínima necesidad y auditoría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Interoperabilidad sin gobernanza puede aumentar el riesgo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2984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Mínima necesidad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2688" y="1645920"/>
            <a:ext cx="315468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La app solo solicita recursos que necesita.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patient/Observation.read no equivale a acceso completo.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Evitar exportar todo el historial por comodidad.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18872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2984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Consentimiento y privacidad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90288" y="1645920"/>
            <a:ext cx="315468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Datos sensibles requieren autorización.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Desidentificación para docencia/investigación.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Separar sandbox educativo de datos reales.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18872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12984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Auditoría clínica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47888" y="1645920"/>
            <a:ext cx="315468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Quién accedió, cuándo, qué recurso, por qué.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Versionamiento y OperationOutcome.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Registro de recomendaciones aceptadas/rechazadas.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Referencia: HL7 FHIR RESTful API Security considerations + SMART scopes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 técnica vs validación clínica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Un JSON válido no garantiza una decisión correcta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408176"/>
            <a:ext cx="29809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técnica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480560" y="132588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0288" y="1408176"/>
            <a:ext cx="29809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semántica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183880" y="132588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FFEDD5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93608" y="1408176"/>
            <a:ext cx="29809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clínica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2194560"/>
            <a:ext cx="32004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042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¿Cumple el perfil?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" y="2651760"/>
            <a:ext cx="288036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resourceType correcto.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campos obligatorios presentes.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unidad válida.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referencias resolubles.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0" y="2194560"/>
            <a:ext cx="32004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3042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¿Significa lo correcto?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81728" y="2651760"/>
            <a:ext cx="288036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LOINC adecuado.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unidad no confundida.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temporalidad correcta.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normalizado entre sistemas.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83880" y="2194560"/>
            <a:ext cx="32004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3042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¿Mejora decisiones?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85048" y="2651760"/>
            <a:ext cx="288036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sensibilidad/especificidad.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alert fatigue.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impacto workflow.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supervisión humana.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77440" y="5486400"/>
            <a:ext cx="7498080" cy="457200"/>
          </a:xfrm>
          <a:prstGeom prst="roundRect">
            <a:avLst>
              <a:gd name="adj" fmla="val 16000"/>
            </a:avLst>
          </a:prstGeom>
          <a:solidFill>
            <a:srgbClr val="F3E8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87168" y="5568696"/>
            <a:ext cx="727862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seguro = los tres niveles deben pasar.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Referencia: HL7 FHIR validation + principios de validación clínica de IA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914400"/>
            <a:ext cx="164592" cy="4937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240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55B"/>
                </a:solidFill>
              </a:rPr>
              <a:t>Bloque IV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Demo guiada: JSON/FHIR para un algoritmo simple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913632"/>
            <a:ext cx="4389120" cy="0"/>
          </a:xfrm>
          <a:prstGeom prst="line">
            <a:avLst/>
          </a:prstGeom>
          <a:noFill/>
          <a:ln w="508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Sesión 10 · Interoperabilidad clínica: EHR, HL7 y FHIR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Demo: caso clínico simple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Una paciente llega con fiebre y baja saturación; vamos a convertir esto a recursos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10607040" cy="502920"/>
          </a:xfrm>
          <a:prstGeom prst="roundRect">
            <a:avLst>
              <a:gd name="adj" fmla="val 14545"/>
            </a:avLst>
          </a:prstGeom>
          <a:solidFill>
            <a:srgbClr val="E0F2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225296"/>
            <a:ext cx="1038758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narrativo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10607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911096"/>
            <a:ext cx="10387584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Paciente: Ana Pérez, 68 años. Consulta por fiebre, tos productiva y disnea. Signos vitales: temperatura 38.8 °C, frecuencia cardiaca 112 bpm, presión arterial 96/60 mmHg, SpO₂ 89%. Antecedente: diabetes tipo 2. Medicación: metformina.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402336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415137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21538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26464" y="411480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Identificar entidades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29000" y="4434840"/>
            <a:ext cx="73152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97680" y="402336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415137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421538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9744" y="411480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Crear Patient / Encounter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12280" y="4434840"/>
            <a:ext cx="7315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80960" y="402336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415137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421538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93024" y="4114800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Crear Observations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875520" y="4434840"/>
            <a:ext cx="50292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515600" y="4023360"/>
            <a:ext cx="1143000" cy="822960"/>
          </a:xfrm>
          <a:prstGeom prst="roundRect">
            <a:avLst>
              <a:gd name="adj" fmla="val 8889"/>
            </a:avLst>
          </a:prstGeom>
          <a:solidFill>
            <a:srgbClr val="F3E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07040" y="415137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07040" y="421538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027664" y="4114800"/>
            <a:ext cx="539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Calcular riesgo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Demo docente con datos ficticios: no usar PHI real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Paso 1: extraer datos desde texto clínico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El dato debe salir del lenguaje natural como valores verificables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5669280" cy="4846320"/>
          </a:xfrm>
          <a:prstGeom prst="roundRect">
            <a:avLst>
              <a:gd name="adj" fmla="val 943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3444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Texto → JSON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41832" y="1527048"/>
            <a:ext cx="5340096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 clínica: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"Paciente de 68 años con fiebre 38.8 C, SpO2 89%, FC 112, PA 96/60. Antecedente de diabetes tipo 2."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Extracción: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"age": 68,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"temperature_c": 38.8,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"spo2_percent": 89,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"heart_rate": 112,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"systolic_bp": 96,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"condition": "type 2 diabetes"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720840" y="1508760"/>
            <a:ext cx="4480560" cy="3383280"/>
          </a:xfrm>
          <a:prstGeom prst="roundRect">
            <a:avLst>
              <a:gd name="adj" fmla="val 2162"/>
            </a:avLst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6184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Discusión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22008" y="1965960"/>
            <a:ext cx="416052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¿El texto menciona respiratory rate? No: debe quedar ausente, no inventado.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¿La presión 96/60 requiere dos Observations o componente? Depende del perfil.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¿“diabetes tipo 2” va a Condition o solo a nota? Mejor Condition codificada.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Referencia: conectar NLP/LLM de Sesión 9 con FHIR estructurado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Paso 2: Patient + Encounter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Primero se crea el contexto del evento clínico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6583680" cy="4572000"/>
          </a:xfrm>
          <a:prstGeom prst="roundRect">
            <a:avLst>
              <a:gd name="adj" fmla="val 1000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234440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Contexto FHIR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96112" y="1527048"/>
            <a:ext cx="6254496" cy="4114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Patient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 "resourceType":"Patient", "id":"ana-001",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"name":[{"family":"Pérez","given":["Ana"]}],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"gender":"female", "birthDate":"1958-03-02" 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Encounter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 "resourceType":"Encounter", "id":"enc-urg-001",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"status":"in-progress",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"class":{"code":"EMER", "display":"emergency"},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"subject":{"reference":"Patient/ana-001"} }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589520" y="1828800"/>
            <a:ext cx="3749040" cy="2560320"/>
          </a:xfrm>
          <a:prstGeom prst="roundRect">
            <a:avLst>
              <a:gd name="adj" fmla="val 2857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26680" y="1938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Por qué importa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90688" y="2286000"/>
            <a:ext cx="342900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El algoritmo puede recibir Observations solo si sabe a quién pertenecen.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Encounter permite filtrar mediciones del episodio actual.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En investigación, evita mezclar eventos clínicos no relacionados.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Referencia: HL7 FHIR R4 Patient y Encounter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Paso 3: Observations para signos vitales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Cada medición se codifica con valor, unidad, tiempo y referencia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6217920" cy="4572000"/>
          </a:xfrm>
          <a:prstGeom prst="roundRect">
            <a:avLst>
              <a:gd name="adj" fmla="val 1000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1887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Observation SpO₂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" y="1481328"/>
            <a:ext cx="5888736" cy="4114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 "resourceType":"Observation",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"status":"final",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"category":[{"coding":[{"code":"vital-signs"}]}],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"code":{"text":"Oxygen saturation"},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"subject":{"reference":"Patient/ana-001"},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"encounter":{"reference":"Encounter/enc-urg-001"},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"effectiveDateTime":"2026-09-29T14:00:00-05:00",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"valueQuantity":{"value":89, "unit":"%"}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0" y="150876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1508760"/>
            <a:ext cx="3566160" cy="4114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52360" y="16184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Otras Observations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79792" y="2039112"/>
            <a:ext cx="3236976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Temp: 38.8 °C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HR: 112 bpm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SBP: 96 mmHg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DBP: 60 mmHg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7315200" y="36576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37673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Pregunta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16368" y="4114800"/>
            <a:ext cx="32461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¿Qué pasa si SpO₂ llega como texto “baja” en vez de valor 89?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¿Qué hace el algoritmo si falta hora de medición?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¿Cómo evitar unidades mezcladas?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Referencia: HL7 FHIR R4 Observation + Terminology/units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Paso 4: algoritmo simple de riesgo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FHIR entrega datos; el algoritmo calcula; el clínico decide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097280"/>
            <a:ext cx="5943600" cy="4572000"/>
          </a:xfrm>
          <a:prstGeom prst="roundRect">
            <a:avLst>
              <a:gd name="adj" fmla="val 1000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Notebook simplificado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41832" y="1481328"/>
            <a:ext cx="5614416" cy="4114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def risk_score(age, spo2, hr, temp, sbp):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score = 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if age &gt;= 65: score += 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if spo2 &lt; 92: score += 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if hr &gt; 110: score += 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if temp &gt;= 38.0: score += 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if sbp &lt; 100: score += 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return score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score = risk_score(68, 89, 112, 38.8, 96)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score = 8 → revisar urgente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086600" y="1417320"/>
            <a:ext cx="4389120" cy="3566160"/>
          </a:xfrm>
          <a:prstGeom prst="roundRect">
            <a:avLst>
              <a:gd name="adj" fmla="val 2051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0" y="15270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Advertencia académica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87768" y="1874520"/>
            <a:ext cx="4069080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Este no es un modelo clínico validado.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Es una demostración de interoperabilidad.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En producción se requiere validación local, evaluación de sesgo y supervisión humana.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El algoritmo debe registrar versión, fecha y datos usados.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Demo educativa · no utilizar como dispositivo médico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Paso 5: devolver resultado como apoyo clínico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El output debe ser claro, trazable y accionable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5486400" cy="3474720"/>
          </a:xfrm>
          <a:prstGeom prst="roundRect">
            <a:avLst>
              <a:gd name="adj" fmla="val 1316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2588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CDS card simplificada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41832" y="1618488"/>
            <a:ext cx="5157216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"summary": "Riesgo respiratorio alto: revisar paciente",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"indicator": "critical",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"detail": "Score 8 por SpO2 89%, SBP 96, fiebre y taquicardia.",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"source": {"label":"Demo Session 10"}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629400" y="1234440"/>
            <a:ext cx="4663440" cy="3474720"/>
          </a:xfrm>
          <a:prstGeom prst="roundRect">
            <a:avLst>
              <a:gd name="adj" fmla="val 2105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13441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Buen output clínico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30568" y="1691640"/>
            <a:ext cx="434340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Dice por qué alerta.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No oculta variables usadas.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No da una orden automática irreversible.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Permite aceptar, rechazar o documentar revisión.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Debe integrarse al workflow, no generar ruido.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97280" y="5303520"/>
            <a:ext cx="98755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5385816"/>
            <a:ext cx="965606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Frase clave: la IA no “decide”; presenta evidencia computable para revisión profesional.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Referencia: CDS Hooks cards + Human-in-the-loop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914400"/>
            <a:ext cx="164592" cy="49377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240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55B"/>
                </a:solidFill>
              </a:rPr>
              <a:t>Bloque V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Casos clínicos y proyectos adaptables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913632"/>
            <a:ext cx="4389120" cy="0"/>
          </a:xfrm>
          <a:prstGeom prst="line">
            <a:avLst/>
          </a:prstGeom>
          <a:noFill/>
          <a:ln w="50800">
            <a:solidFill>
              <a:srgbClr val="C241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Sesión 10 · Interoperabilidad clínica: EHR, HL7 y FHIR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1: alerta temprana respiratoria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Profesionales: enfermería, medicina, terapia respiratoria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4297680"/>
          </a:xfrm>
          <a:prstGeom prst="roundRect">
            <a:avLst>
              <a:gd name="adj" fmla="val 2000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2984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Datos FHIR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2688" y="1645920"/>
            <a:ext cx="333756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Patient: edad/sexo.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Encounter: urgencia/hospitalización.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Observations: SpO₂, FR, temperatura, HR, BP.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Condition: EPOC, neumonía, diabetes.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MedicationRequest: oxígeno, antibióticos.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26280" y="1188720"/>
            <a:ext cx="3291840" cy="4297680"/>
          </a:xfrm>
          <a:prstGeom prst="roundRect">
            <a:avLst>
              <a:gd name="adj" fmla="val 2222"/>
            </a:avLst>
          </a:prstGeom>
          <a:solidFill>
            <a:srgbClr val="F3E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298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Algoritmo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27448" y="1645920"/>
            <a:ext cx="297180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Regla o modelo predictivo.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Score por tendencia y umbrales.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Alerta solo si hay datos recientes.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Salida como card o dashboard.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118872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2984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Validación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56448" y="1645920"/>
            <a:ext cx="315468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¿Detecta antes sin exceso de alertas?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¿Sensibilidad y especificidad por sala?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¿Cuántas alertas por turno?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¿Qué pasa en pacientes con EPOC?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Caso docente: Patient → Observation → algoritmo de riesgo respiratorio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2: enfermería y priorización de turno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FHIR permite organizar trabajo, no solo diagnóstico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329184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3560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Inputs FHIR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41832" y="1856232"/>
            <a:ext cx="296265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Observations: vitales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Condition: problemas activos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MedicationRequest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CarePlan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ServiceRequest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617720" y="132588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325880"/>
            <a:ext cx="3291840" cy="4114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43560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Output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82312" y="1856232"/>
            <a:ext cx="296265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riesgo de revisión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prioridad por turno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tareas pendientes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justificación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458200" y="132588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58200" y="1325880"/>
            <a:ext cx="3291840" cy="4114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0" y="143560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Supervisión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22792" y="1856232"/>
            <a:ext cx="296265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enfermera valida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documenta acción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audita falso positivo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0F172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ajusta workflow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1005840" y="3977640"/>
            <a:ext cx="9875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08736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Pregunta para estudiantes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07008" y="4434840"/>
            <a:ext cx="95554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¿Qué variables necesitan para priorizar pacientes?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¿Cuáles existen como datos estructurados?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¿Cuáles están solo en nota libre?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¿Qué alerta sería útil y cuál sería ruido?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Aplicación: interoperabilidad para operaciones clínicas y seguridad del paciente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3: rehabilitación y movilidad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Conecta Sesión 9: extracción de movilidad desde texto + Sesión 10: datos estructurados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9105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5506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2144" y="155448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Nota de fisioterapia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“camina con andador”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46120" y="1965960"/>
            <a:ext cx="6400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023360" y="146304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3E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159105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165506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35424" y="155448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NLP extrae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movilidad + dispositivo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29400" y="1965960"/>
            <a:ext cx="640080" cy="0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06640" y="146304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0" y="159105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165506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18704" y="155448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FHIR Observation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functional status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012680" y="1965960"/>
            <a:ext cx="5486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698480" y="1463040"/>
            <a:ext cx="914400" cy="10058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89920" y="1591056"/>
            <a:ext cx="329184" cy="329184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0" y="165506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10544" y="1554480"/>
            <a:ext cx="310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Plan de cuidados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</a:rPr>
              <a:t>seguimiento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920240" y="3703320"/>
            <a:ext cx="4023360" cy="11430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57400" y="37947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JSON extraído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84832" y="4087368"/>
            <a:ext cx="369417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 "mobility": "assisted ambulation",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"device": "rolling walker",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"impairment": true }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00800" y="3703320"/>
            <a:ext cx="4023360" cy="11430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37947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FHIR simplificado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65392" y="4087368"/>
            <a:ext cx="369417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 "resourceType":"Observation",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"code":{"text":"Mobility functional status"},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"valueString":"assisted ambulation with walker" }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Caso docente inspirado en extracción de movilidad con LLM y estandarización FHIR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4: investigación clínica y cohortes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FHIR también ayuda a construir datasets reproducibles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5120640" cy="2926080"/>
          </a:xfrm>
          <a:prstGeom prst="roundRect">
            <a:avLst>
              <a:gd name="adj" fmla="val 2500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441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Pregunta de investigación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78408" y="1691640"/>
            <a:ext cx="480060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¿Cuántos pacientes mayores de 65 años tuvieron SpO₂ &lt; 92% en urgencia?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¿Cuántos recibieron antibiótico en 6 horas?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¿Cuál fue la evolución de temperatura y presión?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234440"/>
            <a:ext cx="5120640" cy="2926080"/>
          </a:xfrm>
          <a:prstGeom prst="roundRect">
            <a:avLst>
              <a:gd name="adj" fmla="val 1563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2588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Búsquedas FHIR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28232" y="1618488"/>
            <a:ext cx="4791456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GET /Observation?code=59408-5&amp;date=ge2026-01-01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GET /Encounter?class=EMER&amp;date=ge2026-01-01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GET /MedicationRequest?patient=123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97280" y="4937760"/>
            <a:ext cx="9966960" cy="658368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5020056"/>
            <a:ext cx="974750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Cohorte reproducible = criterios + códigos + rangos de fecha + versión de extracción.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Referencia: HL7 FHIR RESTful search; uso de criterios computables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frecuentes en proyectos FHIR + IA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Estos fallos aparecen más que los problemas matemáticos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984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Errores técnicos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86968" y="1645920"/>
            <a:ext cx="315468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Endpoints sin autenticación robusta.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No validar recursos antes del algoritmo.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Unidades mezcladas: mg/dL vs mmol/L.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No manejar datos ausentes.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18872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2984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Errores semánticos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44568" y="1645920"/>
            <a:ext cx="315468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Código incorrecto.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Dato de otra visita.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Texto libre interpretado como verdad.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Duplicados de paciente.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01000" y="118872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F3E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2984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Errores clínicos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02168" y="1645920"/>
            <a:ext cx="315468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Alerta sin acción clara.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Threshold no validado localmente.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No medir alert fatigue.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No documentar supervisión humana.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Checklist de implementación: técnico + semántico + clínico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914400"/>
            <a:ext cx="164592" cy="4937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240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55B"/>
                </a:solidFill>
              </a:rPr>
              <a:t>Bloque VI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Actividad práctica, evaluación y cierre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913632"/>
            <a:ext cx="4389120" cy="0"/>
          </a:xfrm>
          <a:prstGeom prst="line">
            <a:avLst/>
          </a:prstGeom>
          <a:noFill/>
          <a:ln w="508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Sesión 10 · Interoperabilidad clínica: EHR, HL7 y FHIR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Actividad práctica de 50 minutos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Mini flujo Patient → Observation → algoritmo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4389120"/>
          </a:xfrm>
          <a:prstGeom prst="roundRect">
            <a:avLst>
              <a:gd name="adj" fmla="val 2000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2070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Equipo de estudiantes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2688" y="1554480"/>
            <a:ext cx="333756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1 clínico líder del caso.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1 responsable de datos.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1 responsable de FHIR/JSON.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1 responsable de validación y seguridad.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1 presentador del workflow.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26280" y="1097280"/>
            <a:ext cx="3474720" cy="4389120"/>
          </a:xfrm>
          <a:prstGeom prst="roundRect">
            <a:avLst>
              <a:gd name="adj" fmla="val 2105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2070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Tareas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27448" y="1554480"/>
            <a:ext cx="315468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Crear Patient ficticio.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Crear Encounter.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Crear 3 Observations.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Calcular un score simple.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Devolver una recomendación tipo card.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Explicar límites y supervisión.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097280"/>
            <a:ext cx="3383280" cy="4389120"/>
          </a:xfrm>
          <a:prstGeom prst="roundRect">
            <a:avLst>
              <a:gd name="adj" fmla="val 2162"/>
            </a:avLst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12070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Entregable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39328" y="1554480"/>
            <a:ext cx="306324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1 slide de arquitectura.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1 JSON Patient.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1 JSON Observation.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1 score o decisión.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1 riesgo de seguridad.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1 plan de mitigación.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Actividad con datos sintéticos solamente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Notebook / herramienta sugerida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No se necesita servidor hospitalario real para aprender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6400800" cy="4709160"/>
          </a:xfrm>
          <a:prstGeom prst="roundRect">
            <a:avLst>
              <a:gd name="adj" fmla="val 971"/>
            </a:avLst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188720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Python / Colab básico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" y="1481328"/>
            <a:ext cx="6071616" cy="4251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1. Crear diccionario Patient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patient = {"resourceType":"Patient", "id":"demo-1"}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2. Crear Observation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spo2 = {"resourceType":"Observation", "valueQuantity":{"value":89,"unit":"%"}}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3. Validar campos mínimos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assert patient["resourceType"] == "Patient"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assert spo2["valueQuantity"]["value"] &lt; 92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4. Score simple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risk = 3 if spo2["valueQuantity"]["value"] &lt; 92 else 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06640" y="128016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43800" y="1389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También se puede usar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07808" y="1737360"/>
            <a:ext cx="3611880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Postman o Insomnia para probar API.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HAPI FHIR server público/sandbox.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Simplifier.net / validator.fhir.org para validar.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FHIR Shorthand/SUSHI para perfiles avanzados.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JSON editor si el curso no quiere código.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Herramientas educativas: Colab, HAPI FHIR, Postman, validator.fhir.org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rápidas para discusión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Usar como quiz de 10–15 minutos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557784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0700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10 preguntas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86968" y="1554480"/>
            <a:ext cx="525780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1. ¿Qué recurso representa una medición de SpO₂?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2. ¿Por qué Encounter importa para IA?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3. ¿Qué problema resuelve un código LOINC?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4. ¿Qué significa patient/Observation.read?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5. ¿Qué diferencia hay entre JSON válido y dato clínicamente válido?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6. ¿Dónde entra SMART on FHIR?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7. ¿Qué devuelve CDS Hooks?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8. ¿Por qué un LLM no debe inventar datos ausentes?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9. ¿Qué es mínima necesidad?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10. ¿Qué métrica mediría para alert fatigue?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629400" y="1097280"/>
            <a:ext cx="4800600" cy="4754880"/>
          </a:xfrm>
          <a:prstGeom prst="roundRect">
            <a:avLst>
              <a:gd name="adj" fmla="val 1538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120700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Respuesta esperada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30568" y="1554480"/>
            <a:ext cx="448056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Observación: Observation.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Contexto temporal/asistencial.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Semántica compartida.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Scope limitado.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Estructura vs significado/uso.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App autorizada en EHR.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Cards/recomendaciones.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Riesgo de alucinación.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Acceso mínimo necesario.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• Alertas por usuario/turno + aceptación/rechazo.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Evaluación formativa de Sesión 10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Rúbrica del producto Session 10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Cómo evaluar el mini flujo Patient → Observation → algoritmo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2011680" cy="530352"/>
          </a:xfrm>
          <a:prstGeom prst="roundRect">
            <a:avLst>
              <a:gd name="adj" fmla="val 13793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316736"/>
            <a:ext cx="179222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FHIR correcto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834640" y="1234440"/>
            <a:ext cx="6309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44368" y="1316736"/>
            <a:ext cx="608990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Patient, Encounter y Observation válidos y referenciados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326880" y="1234440"/>
            <a:ext cx="1737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36608" y="1316736"/>
            <a:ext cx="151790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057400"/>
            <a:ext cx="2011680" cy="530352"/>
          </a:xfrm>
          <a:prstGeom prst="roundRect">
            <a:avLst>
              <a:gd name="adj" fmla="val 13793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139696"/>
            <a:ext cx="179222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Semántica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834640" y="2057400"/>
            <a:ext cx="6309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368" y="2139696"/>
            <a:ext cx="608990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código/unidad/tiempo entendibles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326880" y="2057400"/>
            <a:ext cx="1737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36608" y="2139696"/>
            <a:ext cx="151790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2880360"/>
            <a:ext cx="2011680" cy="530352"/>
          </a:xfrm>
          <a:prstGeom prst="roundRect">
            <a:avLst>
              <a:gd name="adj" fmla="val 13793"/>
            </a:avLst>
          </a:prstGeom>
          <a:solidFill>
            <a:srgbClr val="F3E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2962656"/>
            <a:ext cx="179222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834640" y="2880360"/>
            <a:ext cx="6309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44368" y="2962656"/>
            <a:ext cx="608990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simple transparente y trazable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326880" y="2880360"/>
            <a:ext cx="1737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36608" y="2962656"/>
            <a:ext cx="151790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3703320"/>
            <a:ext cx="2011680" cy="530352"/>
          </a:xfrm>
          <a:prstGeom prst="roundRect">
            <a:avLst>
              <a:gd name="adj" fmla="val 13793"/>
            </a:avLst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3785616"/>
            <a:ext cx="179222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834640" y="3703320"/>
            <a:ext cx="6309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44368" y="3785616"/>
            <a:ext cx="608990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privacidad, mínima necesidad y datos sintéticos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326880" y="3703320"/>
            <a:ext cx="1737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36608" y="3785616"/>
            <a:ext cx="151790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" y="4526280"/>
            <a:ext cx="2011680" cy="530352"/>
          </a:xfrm>
          <a:prstGeom prst="roundRect">
            <a:avLst>
              <a:gd name="adj" fmla="val 13793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4608576"/>
            <a:ext cx="179222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Comunicación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834640" y="4526280"/>
            <a:ext cx="6309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44368" y="4608576"/>
            <a:ext cx="608990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explicación clara para clínicos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326880" y="4526280"/>
            <a:ext cx="1737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36608" y="4608576"/>
            <a:ext cx="151790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097280" y="5623560"/>
            <a:ext cx="9875520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07008" y="5705856"/>
            <a:ext cx="965606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clave: no se premia solo “que corra”; se premia que sea clínicamente interpretable y seguro.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Rúbrica docente propuesta para 3 horas</a:t>
            </a:r>
            <a:endParaRPr lang="en-US" sz="7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Futuro próximo: FHIR + IA + automatización clínica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Lo que deben vigilar después de esta sesión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18872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9844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Tendencias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78408" y="1645920"/>
            <a:ext cx="480060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FHIR R5 y nuevas guías de implementación.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Bulk FHIR para población e investigación.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SMART apps dentro de EHRs.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CDS Hooks para recomendaciones en workflow.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FHIR + LLM para estructurar notas.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FHIR + wearables / IoMT para monitoreo continuo.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1188720"/>
            <a:ext cx="4937760" cy="4297680"/>
          </a:xfrm>
          <a:prstGeom prst="roundRect">
            <a:avLst>
              <a:gd name="adj" fmla="val 1702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984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Riesgos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10528" y="1645920"/>
            <a:ext cx="461772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Automatización sin validación local.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Privacidad y consentimiento insuficientes.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Errores de mapeo semántico.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Sesgos por datos incompletos.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Dependencia de proveedores.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• Alert fatigue y rechazo clínico.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Referencias: FHIR R4/R5, SMART App Launch, CDS Hooks, Bulk FHIR</a:t>
            </a:r>
            <a:endParaRPr lang="en-US" sz="7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Cierre: lo que debe recordar el estudiante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12" y="71323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Interoperabilidad es la infraestructura invisible de la IA clínica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10607040" cy="685800"/>
          </a:xfrm>
          <a:prstGeom prst="roundRect">
            <a:avLst>
              <a:gd name="adj" fmla="val 10667"/>
            </a:avLst>
          </a:prstGeom>
          <a:solidFill>
            <a:srgbClr val="E0F2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316736"/>
            <a:ext cx="1038758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→ Encounter → Observation → Algorithm → Clinical Action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05840" y="2377440"/>
            <a:ext cx="10149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48716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Cinco ideas finales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7008" y="2834640"/>
            <a:ext cx="982980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• FHIR convierte datos clínicos en recursos computables.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• El código semántico es tan importante como el valor numérico.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• SMART y CDS Hooks conectan apps/algoritmos con el workflow clínico.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• La seguridad exige scopes, consentimiento, auditoría y mínima necesidad.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• El éxito no es una API funcionando: es una decisión clínica mejor, segura y verificable.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534924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5431536"/>
            <a:ext cx="974750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final de la sesión: mini flujo FHIR con JSON + score + justificación clínica.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6446520"/>
            <a:ext cx="11292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Sesión 10 completa · preparación para Sesión 11: ética, privacidad, sesgo y validación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SIT Health / Curso IA en Salud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10 · Interoperabilidad clínica: EHR, HL7 y FHIR</dc:title>
  <dc:subject>Sesión 10 Interoperabilidad Clínica: EHR, HL7 y FHIR</dc:subject>
  <dc:creator>OpenAI</dc:creator>
  <cp:lastModifiedBy>OpenAI</cp:lastModifiedBy>
  <cp:revision>1</cp:revision>
  <dcterms:created xsi:type="dcterms:W3CDTF">2026-09-29T19:28:04Z</dcterms:created>
  <dcterms:modified xsi:type="dcterms:W3CDTF">2026-09-29T19:28:04Z</dcterms:modified>
</cp:coreProperties>
</file>