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LABORATORIO CLÍNICO DE TRANSFORMACIÓN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Actividad práctica para médicos, enfermería y otros profesionales sanitarios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0E233D"/>
                </a:solidFill>
                <a:latin typeface="Aptos"/>
              </a:rPr>
              <a:t>No diseñen una app. Rediseñen un problema real de atención.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20574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286207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3200400"/>
            <a:ext cx="1764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¿Qué falla hoy?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2743200"/>
            <a:ext cx="20574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286207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3200400"/>
            <a:ext cx="1764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¿Qué necesitamos saber?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2743200"/>
            <a:ext cx="20574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286207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200400"/>
            <a:ext cx="1764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¿Quién revisa?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6" y="2743200"/>
            <a:ext cx="20574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86207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ACCIÓN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200400"/>
            <a:ext cx="1764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¿Qué hacemos?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0928" y="2743200"/>
            <a:ext cx="20574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286207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MÉTRICA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3200400"/>
            <a:ext cx="1764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¿Funcionó?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56048"/>
            <a:ext cx="10881360" cy="749808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Meta: terminar con un piloto pequeño, seguro, medible y aplicable.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RETO 1 — ENFERMERÍA: 30 ALTAS, ¿A QUIÉN LLAMO PRIMERO?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Insuficiencia cardiaca: seguimiento digital durante los primeros 7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8328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4475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SITUACIÓN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783080"/>
            <a:ext cx="309067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30 pacientes dados de alta. El equipo no puede llamar a todos varias veces al día.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25880"/>
            <a:ext cx="338328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44475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DATOS POSIBLES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09067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Peso • PA • SpO₂ • disnea • edema • adherencia • síntomas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325880"/>
            <a:ext cx="338328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144475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DECISIÓN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09067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¿Qué combinación activa llamada, revisión médica o urgencias?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979C"/>
                </a:solidFill>
                <a:latin typeface="Aptos"/>
              </a:rPr>
              <a:t>Paciente → medición → filtro → bandeja de enfermería → llamada → escalamiento → documentación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475488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69087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MÉTRICAS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5029200"/>
            <a:ext cx="446227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tiempo de respuesta • alertas útiles • reconsulta • carga de enfermería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572000"/>
            <a:ext cx="475488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469087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RIESGOS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5029200"/>
            <a:ext cx="446227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fatiga de alertas • dato erróneo • responsabilidad poco clara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RETO 2 — MÉDICOS: 80 DIABÉTICOS, SOLO 15 CUPOS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Priorizar atención sin convertir la IA en el decisor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E233D"/>
                </a:solidFill>
                <a:latin typeface="Aptos"/>
              </a:rPr>
              <a:t>Todos tienen datos. No todos necesitan consulta hoy.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383280" cy="15087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6771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SEÑALES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06040"/>
            <a:ext cx="3090672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CGM • hipoglucemia • hiperglucemia persistente • síntomas • adherencia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148840"/>
            <a:ext cx="3383280" cy="15087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26771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PRIORIZACIÓN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06040"/>
            <a:ext cx="3090672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reglas/analítica ordenan quién necesita revisión primero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148840"/>
            <a:ext cx="3383280" cy="15087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6771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CLÍNICO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3090672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revisa contexto EHR y decide intervención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BF4141"/>
                </a:solidFill>
                <a:latin typeface="Aptos"/>
              </a:rPr>
              <a:t>Pregunta crítica: ¿qué falso negativo sería inaceptable?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83480"/>
            <a:ext cx="10241280" cy="7772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102352"/>
            <a:ext cx="9948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71509E"/>
                </a:solidFill>
                <a:latin typeface="Aptos"/>
              </a:rPr>
              <a:t>ENTREGABLE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5440680"/>
            <a:ext cx="994867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3 criterios de prioridad + 1 criterio de urgencia + 2 métricas de seguridad.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RETO 3 — FISIOTERAPIA: REHABILITACIÓN A 4 HORAS DEL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Diseñar una vía híbrida: presencial cuando aporta valor, remoto cuando es suficiente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8328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9047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PACIENTE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828800"/>
            <a:ext cx="309067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posoperatorio de rodilla; vive lejos; viajar es costoso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71600"/>
            <a:ext cx="338328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49047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pasos • dolor • ROM • ejercicios • marcha • adherencia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371600"/>
            <a:ext cx="338328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149047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CONTACTO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828800"/>
            <a:ext cx="309067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cuestionario + videorrevisión + cita presencial si hay bandera roja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233D"/>
                </a:solidFill>
                <a:latin typeface="Aptos"/>
              </a:rPr>
              <a:t>¿Qué debe obligatoriamente evaluarse presencialmente?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338328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27939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SEMANA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617720"/>
            <a:ext cx="30906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baseline + educación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4160520"/>
            <a:ext cx="338328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427939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SEMANA 2–4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617720"/>
            <a:ext cx="30906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seguimiento remoto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4160520"/>
            <a:ext cx="338328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27939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ESCALAMIENTO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617720"/>
            <a:ext cx="30906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dolor/función fuera de trayectoria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RETO 4 — POSPARTO: ¿PODEMOS DETECTAR DETERIORO EN CASA?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Actividad para obstetricia, enfermería y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4475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MONITORIZAR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783080"/>
            <a:ext cx="3136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PA • síntomas • cefalea • disnea • sangrado reportado • bienestar general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44475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EDUCAR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783080"/>
            <a:ext cx="3136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qué medir • cuándo medir • qué síntomas requieren atención inmediata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4290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44475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ESCALAR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783080"/>
            <a:ext cx="3136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reglas explícitas para llamada, evaluación urgente o emergencia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E233D"/>
                </a:solidFill>
                <a:latin typeface="Aptos"/>
              </a:rPr>
              <a:t>No diseñen solo el sensor. Diseñen la RESPONSABILIDAD.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475488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37083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PREGUNTA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4709160"/>
            <a:ext cx="44622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¿Quién ve una alerta a las 02:00 y cuánto tiempo tiene para responder?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251960"/>
            <a:ext cx="475488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437083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MÉTRICA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709160"/>
            <a:ext cx="44622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eventos detectados • tiempo de escalamiento • adherencia • carga del equipo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RETO 5 — “MATE LA MALA IDEA DIGITAL”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Una tecnología impresionante puede crear un sistema clínico peor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F4141"/>
                </a:solidFill>
                <a:latin typeface="Aptos"/>
              </a:rPr>
              <a:t>“Todos usarán 5 sensores. La IA vigilará todo 24/7 y enviará alertas automáticamente.”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3429000" cy="11887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5420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ALARMAS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880360"/>
            <a:ext cx="3136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¿100 alertas/día?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23160"/>
            <a:ext cx="3429000" cy="11887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5420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CALIDAD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880360"/>
            <a:ext cx="3136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artefactos / batería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423160"/>
            <a:ext cx="3429000" cy="11887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25420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RESPONSABLE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880360"/>
            <a:ext cx="3136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¿quién responde?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86200"/>
            <a:ext cx="3429000" cy="11887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00507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71509E"/>
                </a:solidFill>
                <a:latin typeface="Aptos"/>
              </a:rPr>
              <a:t>PRIVACIDAD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343400"/>
            <a:ext cx="3136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¿quién accede?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886200"/>
            <a:ext cx="3429000" cy="11887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400507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EQUIDAD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343400"/>
            <a:ext cx="3136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¿quién queda fuera?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886200"/>
            <a:ext cx="3429000" cy="11887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00507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343400"/>
            <a:ext cx="3136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¿dónde se documenta?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E233D"/>
                </a:solidFill>
                <a:latin typeface="Aptos"/>
              </a:rPr>
              <a:t>Objetivo: eliminar funciones que no cambian una decisión clínica.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SIMULACIÓN — USTED ES LA ENFERMERA DIGITAL DEL TURNO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Priorice pacientes antes de revelar su razonamiento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1208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4475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P03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783080"/>
            <a:ext cx="4919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SpO₂ 97→96→97%; sin síntomas</a:t>
            </a:r>
            <a:br/>
            <a:r>
              <a:t>→ BAJA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1208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4475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P07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1783080"/>
            <a:ext cx="4919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peso +2.0 kg/3 días + disnea</a:t>
            </a:r>
            <a:br/>
            <a:r>
              <a:t>→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43200"/>
            <a:ext cx="521208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86207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P11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200400"/>
            <a:ext cx="4919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SpO₂ 82% por 5 s mientras mueve sensor</a:t>
            </a:r>
            <a:br/>
            <a:r>
              <a:t>→ REVISAR CALIDAD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43200"/>
            <a:ext cx="521208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86207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P14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3200400"/>
            <a:ext cx="4919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PA elevada repetida + cefalea nueva</a:t>
            </a:r>
            <a:br/>
            <a:r>
              <a:t>→ ALTA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60520"/>
            <a:ext cx="521208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27939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P18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617720"/>
            <a:ext cx="4919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sin datos 36 h; dispositivo desconectado</a:t>
            </a:r>
            <a:br/>
            <a:r>
              <a:t>→ CONTACTAR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60520"/>
            <a:ext cx="521208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27939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P20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4617720"/>
            <a:ext cx="4919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valores estables; buena adherencia</a:t>
            </a:r>
            <a:br/>
            <a:r>
              <a:t>→ BAJA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>
                <a:solidFill>
                  <a:srgbClr val="0E233D"/>
                </a:solidFill>
                <a:latin typeface="Aptos"/>
              </a:rPr>
              <a:t>Priorizar ≠ diagnosticar. ¿Qué dato adicional pediría antes de actuar?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DIGITAL MORNING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¿10.000 mediciones o saber qué 3 pacientes cambiaron durante la noche?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233D"/>
                </a:solidFill>
                <a:latin typeface="Aptos"/>
              </a:rPr>
              <a:t>Analítica/IA puede convertir volumen en atención priorizada.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233172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63347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10.000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971800"/>
            <a:ext cx="203911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lecturas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233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514600"/>
            <a:ext cx="233172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63347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971800"/>
            <a:ext cx="203911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fuera de rango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233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14600"/>
            <a:ext cx="233172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63347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71509E"/>
                </a:solidFill>
                <a:latin typeface="Aptos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971800"/>
            <a:ext cx="203911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patrones persistentes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233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514600"/>
            <a:ext cx="233172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3" y="2633472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3" y="2971800"/>
            <a:ext cx="203911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revisión inmediata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572000"/>
            <a:ext cx="10241280" cy="9601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690872"/>
            <a:ext cx="9948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PREGUNTA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99486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52F39"/>
                </a:solidFill>
                <a:latin typeface="Aptos"/>
              </a:rPr>
              <a:t>¿Qué información debe acompañar una alerta para que el profesional pueda actuar con seguridad?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PRESUPUESTO FICTICIO: $10.000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No pueden comprar todo. Prioricen valor clínico.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56032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49047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Dispositivos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28800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$3.000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56032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49047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Integración EHR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828800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$2.500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256032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49047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828800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$2.000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256032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149047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Formación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1828800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$1.500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88920"/>
            <a:ext cx="256032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2907791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71509E"/>
                </a:solidFill>
                <a:latin typeface="Aptos"/>
              </a:rPr>
              <a:t>Teleconsulta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246120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$1.500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788920"/>
            <a:ext cx="256032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2907791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Analítica/IA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246120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$3.000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88920"/>
            <a:ext cx="256032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2907791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E233D"/>
                </a:solidFill>
                <a:latin typeface="Aptos"/>
              </a:rPr>
              <a:t>Soporte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246120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$1.000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E233D"/>
                </a:solidFill>
                <a:latin typeface="Aptos"/>
              </a:rPr>
              <a:t>REGLA: máximo $10.000. Justifiquen cada compra por una decisión clínica que mejora.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257800"/>
            <a:ext cx="10241280" cy="6858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5376672"/>
            <a:ext cx="9948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BONUS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5715000"/>
            <a:ext cx="9948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52F39"/>
                </a:solidFill>
                <a:latin typeface="Aptos"/>
              </a:rPr>
              <a:t>¿Qué eliminarían primero si el presupuesto baja 30%?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MINI PITCH DE INNOVACIÓN — 3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Una diapositiva. Un problema. Una solución implementable.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3" y="167335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3" y="2011680"/>
            <a:ext cx="17647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PROBLEMA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155448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9776" y="167335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2011680"/>
            <a:ext cx="17647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INTERVENCIÓN DIGITAL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55448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167335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011680"/>
            <a:ext cx="17647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QUIÉN MONITORIZA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776" y="155448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67335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011680"/>
            <a:ext cx="17647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CUÁNDO ACTÚA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155448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1673352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2011680"/>
            <a:ext cx="17647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52F39"/>
                </a:solidFill>
                <a:latin typeface="Aptos"/>
              </a:rPr>
              <a:t>MÉTRICA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33D"/>
                </a:solidFill>
                <a:latin typeface="Aptos"/>
              </a:rPr>
              <a:t>Además deben declarar: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160520"/>
            <a:ext cx="47548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27939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1 RIESGO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617720"/>
            <a:ext cx="44622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alerta perdida • privacidad • carga laboral • desigualdad digital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160520"/>
            <a:ext cx="47548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4279392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1 PRUEBA PILOTO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4617720"/>
            <a:ext cx="44622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ej.: 20 pacientes × 4 semanas con criterios de éxito predefinidos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1509E"/>
                </a:solidFill>
                <a:latin typeface="Aptos"/>
              </a:rPr>
              <a:t>No gana la idea más futurista. Gana la que puede probarse de forma segura.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RÚBRICA RÁPIDA PARA EVALUAR LOS PROYECTOS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Puntuación sugerida: 20 puntos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9509760" cy="713232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444752"/>
            <a:ext cx="9217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BF4141"/>
                </a:solidFill>
                <a:latin typeface="Aptos"/>
              </a:rPr>
              <a:t>Problema clínico claro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1508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233D"/>
                </a:solidFill>
                <a:latin typeface="Aptos"/>
              </a:rPr>
              <a:t>0–4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9509760" cy="713232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359152"/>
            <a:ext cx="9217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Workflow realista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233D"/>
                </a:solidFill>
                <a:latin typeface="Aptos"/>
              </a:rPr>
              <a:t>0–4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9509760" cy="713232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73552"/>
            <a:ext cx="9217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Seguridad y privacidad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3337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233D"/>
                </a:solidFill>
                <a:latin typeface="Aptos"/>
              </a:rPr>
              <a:t>0–4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69080"/>
            <a:ext cx="9509760" cy="713232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187952"/>
            <a:ext cx="9217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B8830"/>
                </a:solidFill>
                <a:latin typeface="Aptos"/>
              </a:rPr>
              <a:t>Métricas medibles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233D"/>
                </a:solidFill>
                <a:latin typeface="Aptos"/>
              </a:rPr>
              <a:t>0–4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9509760" cy="713232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5102352"/>
            <a:ext cx="9217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Innovación implementable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5166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E233D"/>
                </a:solidFill>
                <a:latin typeface="Aptos"/>
              </a:rPr>
              <a:t>0–4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>
                <a:solidFill>
                  <a:srgbClr val="0E233D"/>
                </a:solidFill>
                <a:latin typeface="Aptos"/>
              </a:rPr>
              <a:t>Pregunta final: “¿Qué cambia mañana en la atención si implementamos su idea?”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E233D"/>
                </a:solidFill>
                <a:latin typeface="Aptos"/>
              </a:rPr>
              <a:t>CIERRE — LA TECNOLOGÍA NO ES 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60AA"/>
                </a:solidFill>
                <a:latin typeface="Aptos"/>
              </a:rPr>
              <a:t>El proyecto es cambiar de forma segura cómo cuidamos al paciente.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4979C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E233D"/>
                </a:solidFill>
                <a:latin typeface="Aptos"/>
              </a:rPr>
              <a:t>Transformación digital útil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4979C"/>
                </a:solidFill>
                <a:latin typeface="Aptos"/>
              </a:rPr>
              <a:t>PROBLEMA REAL + DATOS ÚTILES + WORKFLOW + RESPONSABILIDAD + MÉTRICA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301752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822191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360AA"/>
                </a:solidFill>
                <a:latin typeface="Aptos"/>
              </a:rPr>
              <a:t>MÉDICO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160520"/>
            <a:ext cx="27249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mejor decisión y priorización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703320"/>
            <a:ext cx="301752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3822191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4979C"/>
                </a:solidFill>
                <a:latin typeface="Aptos"/>
              </a:rPr>
              <a:t>ENFERMERÍA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4160520"/>
            <a:ext cx="27249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seguimiento y escalamiento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703320"/>
            <a:ext cx="301752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3822191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69265"/>
                </a:solidFill>
                <a:latin typeface="Aptos"/>
              </a:rPr>
              <a:t>PACIENTE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4160520"/>
            <a:ext cx="27249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2F39"/>
                </a:solidFill>
                <a:latin typeface="Aptos"/>
              </a:rPr>
              <a:t>acceso y continuidad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4141"/>
                </a:solidFill>
                <a:latin typeface="Aptos"/>
              </a:rPr>
              <a:t>DESAFÍO: elijan una idea que puedan pilotar en su práctica profesional.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Actividad educativa: cualquier implementación real requiere protocolos, privacidad, gobernanza y supervisión clínica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