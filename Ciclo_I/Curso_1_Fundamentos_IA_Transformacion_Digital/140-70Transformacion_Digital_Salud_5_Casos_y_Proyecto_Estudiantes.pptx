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TRANSFORMACIÓN DIGITAL EN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5 historias reales + desafío de innovación para estudiantes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0F2742"/>
                </a:solidFill>
                <a:latin typeface="Aptos"/>
              </a:rPr>
              <a:t>¿Cómo pasar de “usar tecnología” a rediseñar la atención?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74320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871216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18688"/>
            <a:ext cx="17282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Virtual 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74320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871216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3218688"/>
            <a:ext cx="17282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Cambridge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74320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871216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8B3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3218688"/>
            <a:ext cx="17282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Mayo RPM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4320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2871216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3218688"/>
            <a:ext cx="17282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Kaiser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2743200"/>
            <a:ext cx="2057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1" y="2871216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94A98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1" y="3218688"/>
            <a:ext cx="172821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Smart Knee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Al final: cada grupo propone una transformación digital aplicable a su clínica o práctica profesional.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10881360" cy="868680"/>
          </a:xfrm>
          <a:prstGeom prst="roundRect">
            <a:avLst/>
          </a:prstGeom>
          <a:solidFill>
            <a:srgbClr val="0F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Casos y capturas aportados por el usuario; cifras presentadas como aparecen en las fuentes mostradas.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CASO 1 — NHS: VIRTUAL 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Hospital at Home: trasladar parte de la capacidad hospitalaria al domicilio.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2</a:t>
            </a:r>
          </a:p>
        </p:txBody>
      </p:sp>
      <p:pic>
        <p:nvPicPr>
          <p:cNvPr id="6" name="Picture 5" descr="image(20260927-0233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27593"/>
            <a:ext cx="5577840" cy="24485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417320"/>
            <a:ext cx="516636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54533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4242"/>
                </a:solidFill>
                <a:latin typeface="Aptos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892808"/>
            <a:ext cx="4837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Pacientes que necesitan seguimiento hospitalario, pero no siempre una cama física.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834640"/>
            <a:ext cx="516636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96265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TRANSFORMACIÓN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310128"/>
            <a:ext cx="48371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Atención en casa + equipo clínico remoto + plataforma digital + dispositivos conectados.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434840"/>
            <a:ext cx="516636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4562855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LECCIÓN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4910327"/>
            <a:ext cx="48371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Transformación digital ≠ videollamada. Es rediseñar dónde y cómo se presta el cuidado.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Captura: NHS England — Virtual wards / hospital at home, aportada por el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CASO 2 — CAMBRIDGE UNIVERSITY HOSPITALS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Virtual ward con apps, plataformas y dispositivos médicos portátiles.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3</a:t>
            </a:r>
          </a:p>
        </p:txBody>
      </p:sp>
      <p:pic>
        <p:nvPicPr>
          <p:cNvPr id="6" name="Picture 5" descr="image(20260927-02352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10" y="1325880"/>
            <a:ext cx="4499698" cy="2103120"/>
          </a:xfrm>
          <a:prstGeom prst="rect">
            <a:avLst/>
          </a:prstGeom>
        </p:spPr>
      </p:pic>
      <p:pic>
        <p:nvPicPr>
          <p:cNvPr id="7" name="Picture 6" descr="image(20260927-02355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535" y="3611880"/>
            <a:ext cx="2936049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17320"/>
            <a:ext cx="493776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545336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TECNOLOGÍA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892808"/>
            <a:ext cx="4608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Smartphone apps + plataformas + lectores de temperatura + oxímetros de pulso.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834640"/>
            <a:ext cx="493776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2962656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RESULTADO 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310128"/>
            <a:ext cx="4608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La historia publicada describe un virtual ward reconocido por mejorar atención fuera del hospital.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251960"/>
            <a:ext cx="493776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379976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8B30"/>
                </a:solidFill>
                <a:latin typeface="Aptos"/>
              </a:rPr>
              <a:t>PREGUNTA PARA CLASE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727448"/>
            <a:ext cx="46085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¿Qué pacientes de su servicio podrían recibir seguimiento seguro en casa sin perder continuidad?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Capturas: Cambridge University Hospitals / HSJ Digital Awards 2024, aportadas por el usuario.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CASO 3 — MAYO CLINIC: RPM A GRAN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Monitorización remota durante COVID-19: del domicilio al equipo virtual.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4</a:t>
            </a:r>
          </a:p>
        </p:txBody>
      </p:sp>
      <p:pic>
        <p:nvPicPr>
          <p:cNvPr id="6" name="Picture 5" descr="image(20260927-0240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180" y="1280160"/>
            <a:ext cx="4090479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417320"/>
            <a:ext cx="49377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545336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8B30"/>
                </a:solidFill>
                <a:latin typeface="Aptos"/>
              </a:rPr>
              <a:t>ESCALA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1892808"/>
            <a:ext cx="4608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La fuente mostrada reporta &gt;7.000 pacientes en 41 estados.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743200"/>
            <a:ext cx="493776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871216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QUÉ SE EVALUÓ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218688"/>
            <a:ext cx="46085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Factibilidad • seguridad • participación • alertas/escalamientos • uso de recursos • resultados clínicos.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343400"/>
            <a:ext cx="49377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4471416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LECCIÓN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4818888"/>
            <a:ext cx="46085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RPM necesita un workflow: medir → filtrar → alertar → escalar → actuar.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Captura: Mayo Clinic News Network; el texto visible indica &gt;7.000 pacientes / 41 estados.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CASO 4 — KAISER PERMANENTE: REHABILITACIÓN CARDIACA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El equipo de cuidado puede acompañar al paciente fuera del centro.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5</a:t>
            </a:r>
          </a:p>
        </p:txBody>
      </p:sp>
      <p:pic>
        <p:nvPicPr>
          <p:cNvPr id="6" name="Picture 5" descr="image(20260927-02415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75246"/>
            <a:ext cx="6446520" cy="28275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17320"/>
            <a:ext cx="4343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96912" y="1545336"/>
            <a:ext cx="4014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6912" y="1892808"/>
            <a:ext cx="4014215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Wearable transmite frecuencia cardiaca y actividad a un nurse case manager.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971800"/>
            <a:ext cx="4343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3099816"/>
            <a:ext cx="4014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CAMBIO PROFESIONAL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3447288"/>
            <a:ext cx="4014215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La enfermería pasa de recibir datos episódicos a supervisar tendencias y coordinar seguimiento.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526280"/>
            <a:ext cx="434340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654296"/>
            <a:ext cx="4014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5001768"/>
            <a:ext cx="4014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Rehabilitación híbrida: presencial cuando aporta valor + seguimiento remoto continuo.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Captura: Kaiser Permanente — Virtual Cardiac Rehabilitation Program, aportada por el usuario.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CASO 5 — SMART KNEE: EL IMPLANTE TAMBIÉN GENERA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Monitorización objetiva de recuperación ortopédica.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6</a:t>
            </a:r>
          </a:p>
        </p:txBody>
      </p:sp>
      <p:pic>
        <p:nvPicPr>
          <p:cNvPr id="6" name="Picture 5" descr="image(20260927-0242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61" y="1234440"/>
            <a:ext cx="1681437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325880"/>
            <a:ext cx="56235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33872" y="1453895"/>
            <a:ext cx="5294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94A98"/>
                </a:solidFill>
                <a:latin typeface="Aptos"/>
              </a:rPr>
              <a:t>QUÉ 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1801368"/>
            <a:ext cx="52943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Rango de movimiento • pasos • zancada • otros datos asociados a la marcha.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880360"/>
            <a:ext cx="56235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3008376"/>
            <a:ext cx="5294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QUÉ CAMBIA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3355848"/>
            <a:ext cx="52943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El seguimiento deja de depender únicamente de “¿cómo se siente?” y añade métricas objetivas de recuperación.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434840"/>
            <a:ext cx="56235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3872" y="4562855"/>
            <a:ext cx="5294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VALOR PARA ZONAS RURALES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4910327"/>
            <a:ext cx="52943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Puede reducir algunos desplazamientos de seguimiento cuando los datos muestran recuperación adecuada.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Captura: Mayo Clinic Health System — smart knee; tecnología licenciada por Zimmer Biomet/Canary Medical según el texto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¿QUÉ TIENEN EN COMÚN LOS 5 CASOS?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No comienzan por la tecnología. Comienzan por un problema de atención.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1554480"/>
            <a:ext cx="20574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682495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4242"/>
                </a:solidFill>
                <a:latin typeface="Aptos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2029967"/>
            <a:ext cx="1728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camas • distancia • seguimiento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74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5184" y="1554480"/>
            <a:ext cx="20574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682495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2029967"/>
            <a:ext cx="1728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wearable • sensor • EHR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74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1554480"/>
            <a:ext cx="20574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682495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029967"/>
            <a:ext cx="1728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quién revisa y cuándo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74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1554480"/>
            <a:ext cx="20574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682495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8B30"/>
                </a:solidFill>
                <a:latin typeface="Aptos"/>
              </a:rPr>
              <a:t>ACCIÓN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029967"/>
            <a:ext cx="1728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llamar • escalar • intervenir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74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554480"/>
            <a:ext cx="205740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7232" y="1682495"/>
            <a:ext cx="1728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029967"/>
            <a:ext cx="1728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acceso • continuidad • eficiencia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20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742"/>
                </a:solidFill>
                <a:latin typeface="Aptos"/>
              </a:rPr>
              <a:t>La transformación ocurre cuando cambia el MODELO DE ATENCIÓN.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89120"/>
            <a:ext cx="333756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517136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4242"/>
                </a:solidFill>
                <a:latin typeface="Aptos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864608"/>
            <a:ext cx="3008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“Compramos una app.”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389120"/>
            <a:ext cx="333756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4517136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SÍ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4864608"/>
            <a:ext cx="3008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“Rediseñamos el proceso.”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389120"/>
            <a:ext cx="333756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4517136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MEDIMOS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4864608"/>
            <a:ext cx="3008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A"/>
                </a:solidFill>
                <a:latin typeface="Aptos"/>
              </a:rPr>
              <a:t>seguridad + tiempo + resultados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Síntesis docente de los cinco casos.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AHORA USTEDES: ¿CUÁL ES SU PLAN?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Actividad de innovación aplicable a clínica, enfermería y otras profesiones de salud.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F2742"/>
                </a:solidFill>
                <a:latin typeface="Aptos"/>
              </a:rPr>
              <a:t>En grupos, elijan UN problema real de su práctica y diseñen una solución digital implementable.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34290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93976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ENFERMERÍA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41448"/>
            <a:ext cx="3099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0" b="0">
                <a:solidFill>
                  <a:srgbClr val="26303A"/>
                </a:solidFill>
                <a:latin typeface="Aptos"/>
              </a:rPr>
              <a:t>Alta digital: seguimiento 7 días de herida, dolor, temperatura y signos de alarma.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290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93976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MEDICINA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441448"/>
            <a:ext cx="3099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0" b="0">
                <a:solidFill>
                  <a:srgbClr val="26303A"/>
                </a:solidFill>
                <a:latin typeface="Aptos"/>
              </a:rPr>
              <a:t>Virtual follow-up para pacientes crónicos estables con criterios claros de escalamiento.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965960"/>
            <a:ext cx="34290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093976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FISIOTERAPIA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441448"/>
            <a:ext cx="3099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0" b="0">
                <a:solidFill>
                  <a:srgbClr val="26303A"/>
                </a:solidFill>
                <a:latin typeface="Aptos"/>
              </a:rPr>
              <a:t>Rehabilitación híbrida con pasos, movilidad y ejercicios reportados desde casa.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34290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85615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8B30"/>
                </a:solidFill>
                <a:latin typeface="Aptos"/>
              </a:rPr>
              <a:t>OBSTETRICIA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133087"/>
            <a:ext cx="3099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0" b="0">
                <a:solidFill>
                  <a:srgbClr val="26303A"/>
                </a:solidFill>
                <a:latin typeface="Aptos"/>
              </a:rPr>
              <a:t>Seguimiento remoto posparto: PA, síntomas, sangrado reportado y alertas de riesgo.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57600"/>
            <a:ext cx="34290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85615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94A98"/>
                </a:solidFill>
                <a:latin typeface="Aptos"/>
              </a:rPr>
              <a:t>NUTRICIÓN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133087"/>
            <a:ext cx="3099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0" b="0">
                <a:solidFill>
                  <a:srgbClr val="26303A"/>
                </a:solidFill>
                <a:latin typeface="Aptos"/>
              </a:rPr>
              <a:t>Programa remoto para diabetes/obesidad usando peso, actividad, CGM cuando corresponda y coaching.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657600"/>
            <a:ext cx="34290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785615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4242"/>
                </a:solidFill>
                <a:latin typeface="Aptos"/>
              </a:rPr>
              <a:t>FARMACIA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4133087"/>
            <a:ext cx="3099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0" b="0">
                <a:solidFill>
                  <a:srgbClr val="26303A"/>
                </a:solidFill>
                <a:latin typeface="Aptos"/>
              </a:rPr>
              <a:t>Conciliación digital de medicamentos tras el alta + recordatorios + detección de discrepancias.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14242"/>
                </a:solidFill>
                <a:latin typeface="Aptos"/>
              </a:rPr>
              <a:t>Regla: la propuesta debe resolver un problema clínico concreto, no simplemente “usar IA”.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Actividad propuesta para estudiantes y profesionales sanitarios.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PLANTILLA DE PROYECTO — 10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Cada grupo debe responder estas 6 preguntas.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92808"/>
            <a:ext cx="48371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¿Qué problema clínico u operacional existe?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6636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4533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92808"/>
            <a:ext cx="48371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¿Quién sufre el problema: paciente, enfermera, médico, terapeuta, administrador?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40"/>
            <a:ext cx="516636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6265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8B30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0128"/>
            <a:ext cx="48371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¿Qué dato necesitamos y cómo se obtiene?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16636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96265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310128"/>
            <a:ext cx="48371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¿Quién revisa el dato y qué dispara una acción?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51960"/>
            <a:ext cx="516636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37997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94A98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727448"/>
            <a:ext cx="48371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¿Cómo protegemos privacidad, seguridad y consentimiento?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51960"/>
            <a:ext cx="516636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379976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4242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727448"/>
            <a:ext cx="48371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¿Cómo sabremos si funcionó? Defina 2–3 métricas.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2"/>
                </a:solidFill>
                <a:latin typeface="Aptos"/>
              </a:rPr>
              <a:t>Entregable: 1 diapositiva con PROBLEMA → SOLUCIÓN → WORKFLOW → MÉTRICA.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Actividad de diseño: mantener alcance pequeño, seguro y medible.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2742"/>
                </a:solidFill>
                <a:latin typeface="Aptos"/>
              </a:rPr>
              <a:t>6 IDEAS INNOVADORAS PERO IMPLEMENTABLES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6CB1"/>
                </a:solidFill>
                <a:latin typeface="Aptos"/>
              </a:rPr>
              <a:t>Pensadas para comenzar con un piloto pequeño en una clínica.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01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999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1207008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53895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6CB1"/>
                </a:solidFill>
                <a:latin typeface="Aptos"/>
              </a:rPr>
              <a:t>1. Virtual Ward 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01368"/>
            <a:ext cx="4928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6303A"/>
                </a:solidFill>
                <a:latin typeface="Aptos"/>
              </a:rPr>
              <a:t>10–20 pacientes posalta; PA/SpO₂/temperatura + llamada de enfermería según reglas.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1207008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53895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999E"/>
                </a:solidFill>
                <a:latin typeface="Aptos"/>
              </a:rPr>
              <a:t>2. Nurse Early-Warning Inbox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4928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6303A"/>
                </a:solidFill>
                <a:latin typeface="Aptos"/>
              </a:rPr>
              <a:t>Unificar alertas de varios dispositivos y priorizar por tendencia, no por lectura aislada.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07208"/>
            <a:ext cx="5257800" cy="1207008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935224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8B30"/>
                </a:solidFill>
                <a:latin typeface="Aptos"/>
              </a:rPr>
              <a:t>3. Digital Wound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6"/>
            <a:ext cx="4928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6303A"/>
                </a:solidFill>
                <a:latin typeface="Aptos"/>
              </a:rPr>
              <a:t>Foto estandarizada + síntomas + escala de dolor + revisión de enfermería.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07208"/>
            <a:ext cx="5257800" cy="1207008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935224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9367"/>
                </a:solidFill>
                <a:latin typeface="Aptos"/>
              </a:rPr>
              <a:t>4. Rehab-at-Home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282696"/>
            <a:ext cx="4928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6303A"/>
                </a:solidFill>
                <a:latin typeface="Aptos"/>
              </a:rPr>
              <a:t>Ejercicio guiado + pasos/movilidad + revisión semanal por fisioterapia.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88536"/>
            <a:ext cx="5257800" cy="1207008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416552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94A98"/>
                </a:solidFill>
                <a:latin typeface="Aptos"/>
              </a:rPr>
              <a:t>5. Medication Safety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64024"/>
            <a:ext cx="4928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6303A"/>
                </a:solidFill>
                <a:latin typeface="Aptos"/>
              </a:rPr>
              <a:t>Alta → conciliación → recordatorio → reporte de efectos adversos → farmacéutico.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88536"/>
            <a:ext cx="5257800" cy="1207008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416552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14242"/>
                </a:solidFill>
                <a:latin typeface="Aptos"/>
              </a:rPr>
              <a:t>6. Maternal Remote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764024"/>
            <a:ext cx="49286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6303A"/>
                </a:solidFill>
                <a:latin typeface="Aptos"/>
              </a:rPr>
              <a:t>Posparto: PA + síntomas + educación + reglas de escalamiento al equipo obstétrico.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742"/>
                </a:solidFill>
                <a:latin typeface="Aptos"/>
              </a:rPr>
              <a:t>Innovación útil = problema real + workflow simple + seguridad + resultado medible.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9737D"/>
                </a:solidFill>
                <a:latin typeface="Aptos"/>
              </a:rPr>
              <a:t>Ideas educativas; cualquier implementación clínica real requiere validación, gobernanza y protocolos locales.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