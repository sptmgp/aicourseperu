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1792"/>
            <a:ext cx="3200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300" b="1">
                <a:solidFill>
                  <a:srgbClr val="008993"/>
                </a:solidFill>
                <a:latin typeface="Aptos"/>
              </a:defRPr>
            </a:pPr>
            <a:r>
              <a:t>SESIÓN 11 · TEMA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669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648"/>
                </a:solidFill>
                <a:latin typeface="Aptos"/>
              </a:defRPr>
            </a:pPr>
            <a:r>
              <a:t>Bias en LLM clínicos:</a:t>
            </a:r>
            <a:br/>
            <a:r>
              <a:t>¿funciona igual en todos los subgrupos?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743200"/>
            <a:ext cx="5532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800" b="1">
                <a:solidFill>
                  <a:srgbClr val="0F2648"/>
                </a:solidFill>
                <a:latin typeface="Aptos"/>
              </a:defRPr>
            </a:pPr>
            <a:r>
              <a:t>Mini-investigación + 15 preguntas clínicas con respuestas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3977639"/>
            <a:ext cx="55321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Artículo base: Omar et al.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Evidencia: diseño, viñetas, figura de salud mental, Tabla 1 y Tabla 2.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Resultado docente: detectar sesgo sociodemográfico en recomendaciones clínicas.</a:t>
            </a:r>
          </a:p>
        </p:txBody>
      </p:sp>
      <p:pic>
        <p:nvPicPr>
          <p:cNvPr id="6" name="Picture 5" descr="fig3_mh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31520"/>
            <a:ext cx="5303520" cy="5120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5806440"/>
            <a:ext cx="5532120" cy="411480"/>
          </a:xfrm>
          <a:prstGeom prst="roundRect">
            <a:avLst/>
          </a:prstGeom>
          <a:solidFill>
            <a:srgbClr val="FFF2F5"/>
          </a:solidFill>
          <a:ln w="12700">
            <a:solidFill>
              <a:srgbClr val="E6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850" b="0">
                <a:solidFill>
                  <a:srgbClr val="B93434"/>
                </a:solidFill>
                <a:latin typeface="Aptos"/>
              </a:defRPr>
            </a:pPr>
            <a:r>
              <a:t>Nota: el PDF adjunto indica preprint medRxiv no certificado por revisión por pares; usar para discusión educativa, no para guiar práctica clínica.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Artículo base y pregunta de investigación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¿Cambian las recomendaciones de LLM cuando solo cambia el identificador sociodemográfico?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035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F2648"/>
                </a:solidFill>
                <a:latin typeface="Aptos"/>
              </a:defRPr>
            </a:pPr>
            <a:r>
              <a:t>Diseño en una línea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500 viñetas de urgencias generadas y validadas.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23 grupos sociodemográficos + control sin identificador.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9 LLM evaluados.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4 decisiones: triage, pruebas, tratamiento y evaluación de salud mental.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432,000 respuestas totales.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34340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F2648"/>
                </a:solidFill>
                <a:latin typeface="Aptos"/>
              </a:defRPr>
            </a:pPr>
            <a:r>
              <a:t>Hipótesis crítica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Si el caso clínico es idéntico, la recomendación debería ser igual salvo que el dato sociodemográfico sea clínicamente relevante.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Diferencias persistentes sugieren potencial bias.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El resultado más marcado apareció en recomendaciones de evaluación de salud mental.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Evidencia visual 1: diseño del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La figura muestra cómo se generaron, validaron e iteraron las viñetas</a:t>
            </a:r>
          </a:p>
        </p:txBody>
      </p:sp>
      <p:pic>
        <p:nvPicPr>
          <p:cNvPr id="4" name="Picture 3" descr="fig1_study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5577840" cy="4892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46520" y="1143000"/>
            <a:ext cx="4983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F2648"/>
                </a:solidFill>
                <a:latin typeface="Aptos"/>
              </a:defRPr>
            </a:pPr>
            <a:r>
              <a:t>Cómo leer la figura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Claude Sonnet 3.5 generó 500 viñetas; médicos validaron 200.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Cada viñeta se preguntó con 24 versiones: 23 grupos + control.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Los modelos respondieron Q1–Q4.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Después se compararon las recomendaciones contra el control.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Este diseño intenta aislar el efecto del identificador sociodemográfico.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Evidencia visual 2: misma clínica, distinto identificador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La viñeta cambia “{patient}” por grupos como gay/lesbian, non-binary, Black, unhoused</a:t>
            </a:r>
          </a:p>
        </p:txBody>
      </p:sp>
      <p:pic>
        <p:nvPicPr>
          <p:cNvPr id="4" name="Picture 3" descr="fig2_vign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493776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80760" y="1143000"/>
            <a:ext cx="5394960" cy="448056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F2648"/>
                </a:solidFill>
                <a:latin typeface="Aptos"/>
              </a:defRPr>
            </a:pPr>
            <a:r>
              <a:t>Punto docente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El caso clínico conserva edad, síntomas, examen y signos vitales.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Solo cambia el identificador social.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Esto permite preguntar: ¿la IA responde al cuadro clínico o al estereotipo?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Para estudiantes: esta es la lógica de un experimento de auditoría de bias.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Evidencia visual 3: salud mental fue el sesgo más fuerte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Figura 3: porcentaje de recomendación de evaluación mental por grupo</a:t>
            </a:r>
          </a:p>
        </p:txBody>
      </p:sp>
      <p:pic>
        <p:nvPicPr>
          <p:cNvPr id="4" name="Picture 3" descr="fig3_mh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5394960" cy="5120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55080" y="114300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F2648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La barra de control sirve como línea base.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Unhoused y grupos LGBTQIA+ aparecen con recomendaciones más altas.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El artículo reporta que Q4 fue la pregunta con diferencias más frecuentes.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Mensaje clínico: una queja física no debería volverse psiquiátrica solo por identidad social.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Evidencia visual 4: Tabla 1 de bias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No todos los modelos tienen el mismo patrón, pero todos muestran algún sesgo</a:t>
            </a:r>
          </a:p>
        </p:txBody>
      </p:sp>
      <p:pic>
        <p:nvPicPr>
          <p:cNvPr id="4" name="Picture 3" descr="table1_bias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5715000" cy="5074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37960" y="1143000"/>
            <a:ext cx="4800600" cy="44348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F2648"/>
                </a:solidFill>
                <a:latin typeface="Aptos"/>
              </a:defRPr>
            </a:pPr>
            <a:r>
              <a:t>Qué copiar en la explicación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La tabla ordena modelos por bias score en cada pregunta.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La columna de salud mental tiene valores mucho mayores.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Qwen-2-72B aparece con 25.0% en salud mental.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GPT-4o aparece con 22.2% en salud mental.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Conclusión educativa: modelo grande o propietario no elimina automáticamente bias.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Evidencia visual 5: invasividad promedio por grupo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Figura 4: promedio de Q1–Q3 comparado con control</a:t>
            </a:r>
          </a:p>
        </p:txBody>
      </p:sp>
      <p:pic>
        <p:nvPicPr>
          <p:cNvPr id="4" name="Picture 3" descr="fig4_invasiv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5303520" cy="4892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63640" y="114300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F2648"/>
                </a:solidFill>
                <a:latin typeface="Aptos"/>
              </a:defRPr>
            </a:pPr>
            <a:r>
              <a:t>Mensaje de seguridad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El score combina triage, pruebas y tratamiento.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Algunos grupos reciben recomendaciones más intervencionistas.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Esto puede significar sobre-triage, más pruebas o admisiones innecesarias.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También puede consumir recursos y reforzar desconfianza en el sistema.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Evidencia visual 6: casos con cambio a evaluación 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Tabla 2: ejemplos donde la etiqueta social cambió la recomendación</a:t>
            </a:r>
          </a:p>
        </p:txBody>
      </p:sp>
      <p:pic>
        <p:nvPicPr>
          <p:cNvPr id="4" name="Picture 3" descr="table2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5943600" cy="4251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66560" y="1143000"/>
            <a:ext cx="4572000" cy="438912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F2648"/>
                </a:solidFill>
                <a:latin typeface="Aptos"/>
              </a:defRPr>
            </a:pPr>
            <a:r>
              <a:t>Cómo discutirla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Ejemplos incluyen dolor lumbar, fiebre/tos, diarrea/vómitos y dolor torácico.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Los médicos expertos no identificaron indicación clínica de evaluación mental en esos casos.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Esto es ideal para discusión: ¿por qué el modelo desplazó el foco clínico?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Riesgo: psicologizar síntomas físicos de grupos marginalizados.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Mini-investigación para estudiantes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Auditoría rápida de bias: del paper al aula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F2648"/>
                </a:solidFill>
                <a:latin typeface="Aptos"/>
              </a:defRPr>
            </a:pPr>
            <a:r>
              <a:t>Protocolo mínimo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Seleccione 5 viñetas clínicas simples.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Cree una versión control sin identificador.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Cree 4 versiones con identificadores sociales.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Pregunte al modelo las mismas 4 decisiones.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Compare si cambia triage, pruebas, tratamiento o salud mental.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F2648"/>
                </a:solidFill>
                <a:latin typeface="Aptos"/>
              </a:defRPr>
            </a:pPr>
            <a:r>
              <a:t>Reglas éticas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No usar datos reales identificables.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No usar el resultado para práctica clínica.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Registrar modelo, fecha, prompt y salida.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Analizar si el cambio tiene justificación clínica.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Proponer mitigación: auditoría, HITL y límites.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Pregunta 1 ·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Mini-investigación: ¿funciona igual en todos los subgrupos?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450" b="1">
                <a:solidFill>
                  <a:srgbClr val="0F2648"/>
                </a:solidFill>
                <a:latin typeface="Aptos"/>
              </a:defRPr>
            </a:pPr>
            <a:r>
              <a:t>En el estudio, ¿cuál fue la pregunta científica principal?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20" b="0">
                <a:solidFill>
                  <a:srgbClr val="222D3C"/>
                </a:solidFill>
                <a:latin typeface="Aptos"/>
              </a:defRPr>
            </a:pPr>
            <a:r>
              <a:t>A. Si los LLM pueden diagnosticar mejor que médicos</a:t>
            </a:r>
            <a:br/>
            <a:r>
              <a:t>B. Si cambiar solo el identificador sociodemográfico cambia recomendaciones clínicas</a:t>
            </a:r>
            <a:br/>
            <a:r>
              <a:t>C. Si los pacientes prefieren IA</a:t>
            </a:r>
            <a:br/>
            <a:r>
              <a:t>D. Si los LLM reducen costos hospitalarios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diseño mantuvo el mismo escenario clínico y modificó identificadores sociodemográficos para aislar el efecto de esos atributos.</a:t>
            </a:r>
          </a:p>
        </p:txBody>
      </p:sp>
      <p:pic>
        <p:nvPicPr>
          <p:cNvPr id="7" name="Picture 6" descr="fig2_vign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9728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080" b="0">
                <a:solidFill>
                  <a:srgbClr val="495668"/>
                </a:solidFill>
                <a:latin typeface="Aptos"/>
              </a:defRPr>
            </a:pPr>
            <a:r>
              <a:t>Evidencia visual: Figura 2 · Viñeta iterada por subgrupo (pág. 8). Úsela para discutir cómo una misma viñeta cambia solo por el identificador sociodemográfico.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Pregunta 2 ·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Mini-investigación: ¿funciona igual en todos los subgrupos?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450" b="1">
                <a:solidFill>
                  <a:srgbClr val="0F2648"/>
                </a:solidFill>
                <a:latin typeface="Aptos"/>
              </a:defRPr>
            </a:pPr>
            <a:r>
              <a:t>¿Cuál variable debería guiar principalmente la decisión de triage?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20" b="0">
                <a:solidFill>
                  <a:srgbClr val="222D3C"/>
                </a:solidFill>
                <a:latin typeface="Aptos"/>
              </a:defRPr>
            </a:pPr>
            <a:r>
              <a:t>A. Identidad sexual del paciente</a:t>
            </a:r>
            <a:br/>
            <a:r>
              <a:t>B. Estado de vivienda</a:t>
            </a:r>
            <a:br/>
            <a:r>
              <a:t>C. Signos, síntomas, historia y examen físico</a:t>
            </a:r>
            <a:br/>
            <a:r>
              <a:t>D. Ingreso económico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C</a:t>
            </a:r>
            <a:br/>
            <a:br/>
            <a:r>
              <a:t>El triage debe responder a necesidad clínica. Si cambia solo por grupo social, hay señal de bias.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00600"/>
            <a:ext cx="10835640" cy="91440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130" b="0">
                <a:solidFill>
                  <a:srgbClr val="495668"/>
                </a:solidFill>
                <a:latin typeface="Aptos"/>
              </a:defRPr>
            </a:pPr>
            <a:r>
              <a:t>Discusión docente: esta pregunta evalúa si el estudiante distingue una diferencia clínicamente justificada de una diferencia inducida por grupo sociodemográfico.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Pregunta 3 ·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Mini-investigación: ¿funciona igual en todos los subgrupos?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450" b="1">
                <a:solidFill>
                  <a:srgbClr val="0F2648"/>
                </a:solidFill>
                <a:latin typeface="Aptos"/>
              </a:defRPr>
            </a:pPr>
            <a:r>
              <a:t>¿Qué resultado fue el más pronunciado según el artículo?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20" b="0">
                <a:solidFill>
                  <a:srgbClr val="222D3C"/>
                </a:solidFill>
                <a:latin typeface="Aptos"/>
              </a:defRPr>
            </a:pPr>
            <a:r>
              <a:t>A. Prescripción de antibióticos</a:t>
            </a:r>
            <a:br/>
            <a:r>
              <a:t>B. Evaluación de salud mental</a:t>
            </a:r>
            <a:br/>
            <a:r>
              <a:t>C. Uso de ventilación mecánica</a:t>
            </a:r>
            <a:br/>
            <a:r>
              <a:t>D. Diagnóstico dermatológico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La pregunta Q4 sobre evaluación de salud mental mostró las diferencias más sustanciales y frecuentes entre grupos.</a:t>
            </a:r>
          </a:p>
        </p:txBody>
      </p:sp>
      <p:pic>
        <p:nvPicPr>
          <p:cNvPr id="7" name="Picture 6" descr="fig3_mh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9728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080" b="0">
                <a:solidFill>
                  <a:srgbClr val="495668"/>
                </a:solidFill>
                <a:latin typeface="Aptos"/>
              </a:defRPr>
            </a:pPr>
            <a:r>
              <a:t>Evidencia visual: Figura 3 · Recomendación de evaluación mental por grupo (pág. 13). Úsela para discutir cómo una misma viñeta cambia solo por el identificador sociodemográfico.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Pregunta 4 ·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Mini-investigación: ¿funciona igual en todos los subgrupos?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450" b="1">
                <a:solidFill>
                  <a:srgbClr val="0F2648"/>
                </a:solidFill>
                <a:latin typeface="Aptos"/>
              </a:defRPr>
            </a:pPr>
            <a:r>
              <a:t>Una paciente con dolor abdominal idéntico recibe recomendación de salud mental solo cuando se marca como transgender. ¿Qué sospecha principal aparece?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20" b="0">
                <a:solidFill>
                  <a:srgbClr val="222D3C"/>
                </a:solidFill>
                <a:latin typeface="Aptos"/>
              </a:defRPr>
            </a:pPr>
            <a:r>
              <a:t>A. Mejor personalización clínica</a:t>
            </a:r>
            <a:br/>
            <a:r>
              <a:t>B. Sesgo sociodemográfico</a:t>
            </a:r>
            <a:br/>
            <a:r>
              <a:t>C. Mayor exactitud diagnóstica</a:t>
            </a:r>
            <a:br/>
            <a:r>
              <a:t>D. Menor riesgo clínico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Si la clínica es idéntica y solo cambia identidad de género, la diferencia puede reflejar asociación estereotipada.</a:t>
            </a:r>
          </a:p>
        </p:txBody>
      </p:sp>
      <p:pic>
        <p:nvPicPr>
          <p:cNvPr id="7" name="Picture 6" descr="table2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9728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080" b="0">
                <a:solidFill>
                  <a:srgbClr val="495668"/>
                </a:solidFill>
                <a:latin typeface="Aptos"/>
              </a:defRPr>
            </a:pPr>
            <a:r>
              <a:t>Evidencia visual: Tabla 2 · Casos con cambio a evaluación mental (pág. 18). Úsela para discutir cómo una misma viñeta cambia solo por el identificador sociodemográfico.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Pregunta 5 ·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Mini-investigación: ¿funciona igual en todos los subgrupos?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450" b="1">
                <a:solidFill>
                  <a:srgbClr val="0F2648"/>
                </a:solidFill>
                <a:latin typeface="Aptos"/>
              </a:defRPr>
            </a:pPr>
            <a:r>
              <a:t>¿Por qué el grupo control es esencial en este estudio?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20" b="0">
                <a:solidFill>
                  <a:srgbClr val="222D3C"/>
                </a:solidFill>
                <a:latin typeface="Aptos"/>
              </a:defRPr>
            </a:pPr>
            <a:r>
              <a:t>A. Porque reemplaza al médico</a:t>
            </a:r>
            <a:br/>
            <a:r>
              <a:t>B. Porque sirve como línea base sin identificador sociodemográfico</a:t>
            </a:r>
            <a:br/>
            <a:r>
              <a:t>C. Porque elimina todos los sesgos</a:t>
            </a:r>
            <a:br/>
            <a:r>
              <a:t>D. Porque aumenta el número de modelos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control permite medir cuánto cambia cada grupo respecto al mismo caso sin identificador social.</a:t>
            </a:r>
          </a:p>
        </p:txBody>
      </p:sp>
      <p:pic>
        <p:nvPicPr>
          <p:cNvPr id="7" name="Picture 6" descr="fig3_mh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9728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080" b="0">
                <a:solidFill>
                  <a:srgbClr val="495668"/>
                </a:solidFill>
                <a:latin typeface="Aptos"/>
              </a:defRPr>
            </a:pPr>
            <a:r>
              <a:t>Evidencia visual: Figura 3 · Recomendación de evaluación mental por grupo (pág. 13). Úsela para discutir cómo una misma viñeta cambia solo por el identificador sociodemográfico.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Pregunta 6 ·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Mini-investigación: ¿funciona igual en todos los subgrupos?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450" b="1">
                <a:solidFill>
                  <a:srgbClr val="0F2648"/>
                </a:solidFill>
                <a:latin typeface="Aptos"/>
              </a:defRPr>
            </a:pPr>
            <a:r>
              <a:t>Según la Tabla 1, ¿qué columna mostró bias scores mucho más altos?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20" b="0">
                <a:solidFill>
                  <a:srgbClr val="222D3C"/>
                </a:solidFill>
                <a:latin typeface="Aptos"/>
              </a:defRPr>
            </a:pPr>
            <a:r>
              <a:t>A. Triage urgency</a:t>
            </a:r>
            <a:br/>
            <a:r>
              <a:t>B. Further testing</a:t>
            </a:r>
            <a:br/>
            <a:r>
              <a:t>C. Treatment approach</a:t>
            </a:r>
            <a:br/>
            <a:r>
              <a:t>D. Mental health 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D</a:t>
            </a:r>
            <a:br/>
            <a:br/>
            <a:r>
              <a:t>La columna de salud mental llegó a valores como 25.0% y 22.2%, mayores que las otras preguntas.</a:t>
            </a:r>
          </a:p>
        </p:txBody>
      </p:sp>
      <p:pic>
        <p:nvPicPr>
          <p:cNvPr id="7" name="Picture 6" descr="table1_bias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9728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080" b="0">
                <a:solidFill>
                  <a:srgbClr val="495668"/>
                </a:solidFill>
                <a:latin typeface="Aptos"/>
              </a:defRPr>
            </a:pPr>
            <a:r>
              <a:t>Evidencia visual: Tabla 1 · Bias score por modelo/pregunta (pág. 15). Úsela para discutir cómo una misma viñeta cambia solo por el identificador sociodemográfico.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Pregunta 7 ·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Mini-investigación: ¿funciona igual en todos los subgrupos?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450" b="1">
                <a:solidFill>
                  <a:srgbClr val="0F2648"/>
                </a:solidFill>
                <a:latin typeface="Aptos"/>
              </a:defRPr>
            </a:pPr>
            <a:r>
              <a:t>¿Qué significa que high-income patients reciban más pruebas avanzadas que low-income patients en casos equivalentes?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20" b="0">
                <a:solidFill>
                  <a:srgbClr val="222D3C"/>
                </a:solidFill>
                <a:latin typeface="Aptos"/>
              </a:defRPr>
            </a:pPr>
            <a:r>
              <a:t>A. Puede reflejar inequidad en recomendaciones diagnósticas</a:t>
            </a:r>
            <a:br/>
            <a:r>
              <a:t>B. Siempre es clínicamente correcto</a:t>
            </a:r>
            <a:br/>
            <a:r>
              <a:t>C. No tiene relación con bias</a:t>
            </a:r>
            <a:br/>
            <a:r>
              <a:t>D. Indica que el modelo sabe el seguro del paciente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artículo interpreta este patrón como espejo de disparidades reales y posible sesgo en el nivel de workup diagnóstico.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00600"/>
            <a:ext cx="10835640" cy="91440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130" b="0">
                <a:solidFill>
                  <a:srgbClr val="495668"/>
                </a:solidFill>
                <a:latin typeface="Aptos"/>
              </a:defRPr>
            </a:pPr>
            <a:r>
              <a:t>Discusión docente: esta pregunta evalúa si el estudiante distingue una diferencia clínicamente justificada de una diferencia inducida por grupo sociodemográfico.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Pregunta 8 ·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Mini-investigación: ¿funciona igual en todos los subgrupos?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450" b="1">
                <a:solidFill>
                  <a:srgbClr val="0F2648"/>
                </a:solidFill>
                <a:latin typeface="Aptos"/>
              </a:defRPr>
            </a:pPr>
            <a:r>
              <a:t>¿Cuál es el riesgo de recomendar evaluación mental de forma excesiva en grupos LGBTQIA+ o unhoused?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20" b="0">
                <a:solidFill>
                  <a:srgbClr val="222D3C"/>
                </a:solidFill>
                <a:latin typeface="Aptos"/>
              </a:defRPr>
            </a:pPr>
            <a:r>
              <a:t>A. Aumentar confianza automáticamente</a:t>
            </a:r>
            <a:br/>
            <a:r>
              <a:t>B. Desviar atención de necesidades médicas físicas</a:t>
            </a:r>
            <a:br/>
            <a:r>
              <a:t>C. Eliminar estigma</a:t>
            </a:r>
            <a:br/>
            <a:r>
              <a:t>D. Garantizar diagnóstico correcto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paper advierte que puede producir estigmatización, psicologización de síntomas físicos y desvío de recursos.</a:t>
            </a:r>
          </a:p>
        </p:txBody>
      </p:sp>
      <p:pic>
        <p:nvPicPr>
          <p:cNvPr id="7" name="Picture 6" descr="table2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9728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080" b="0">
                <a:solidFill>
                  <a:srgbClr val="495668"/>
                </a:solidFill>
                <a:latin typeface="Aptos"/>
              </a:defRPr>
            </a:pPr>
            <a:r>
              <a:t>Evidencia visual: Tabla 2 · Casos con cambio a evaluación mental (pág. 18). Úsela para discutir cómo una misma viñeta cambia solo por el identificador sociodemográfico.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Pregunta 9 ·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Mini-investigación: ¿funciona igual en todos los subgrupos?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450" b="1">
                <a:solidFill>
                  <a:srgbClr val="0F2648"/>
                </a:solidFill>
                <a:latin typeface="Aptos"/>
              </a:defRPr>
            </a:pPr>
            <a:r>
              <a:t>¿Qué es bias implícito en este contexto?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20" b="0">
                <a:solidFill>
                  <a:srgbClr val="222D3C"/>
                </a:solidFill>
                <a:latin typeface="Aptos"/>
              </a:defRPr>
            </a:pPr>
            <a:r>
              <a:t>A. El modelo dice abiertamente que trató distinto por la identidad</a:t>
            </a:r>
            <a:br/>
            <a:r>
              <a:t>B. La recomendación cambia por la identidad sin reconocerlo explícitamente</a:t>
            </a:r>
            <a:br/>
            <a:r>
              <a:t>C. El modelo deja de responder</a:t>
            </a:r>
            <a:br/>
            <a:r>
              <a:t>D. El médico corrige la salida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bias implícito ocurre cuando la salida cambia sutilmente por la característica sociodemográfica sin justificación declarada.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00600"/>
            <a:ext cx="10835640" cy="91440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130" b="0">
                <a:solidFill>
                  <a:srgbClr val="495668"/>
                </a:solidFill>
                <a:latin typeface="Aptos"/>
              </a:defRPr>
            </a:pPr>
            <a:r>
              <a:t>Discusión docente: esta pregunta evalúa si el estudiante distingue una diferencia clínicamente justificada de una diferencia inducida por grupo sociodemográfico.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Pregunta 10 ·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Mini-investigación: ¿funciona igual en todos los subgrupos?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450" b="1">
                <a:solidFill>
                  <a:srgbClr val="0F2648"/>
                </a:solidFill>
                <a:latin typeface="Aptos"/>
              </a:defRPr>
            </a:pPr>
            <a:r>
              <a:t>¿Qué indica la Figura 4 de invasiveness score?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20" b="0">
                <a:solidFill>
                  <a:srgbClr val="222D3C"/>
                </a:solidFill>
                <a:latin typeface="Aptos"/>
              </a:defRPr>
            </a:pPr>
            <a:r>
              <a:t>A. Promedio de intensidad intervencionista en triage, pruebas y tratamiento</a:t>
            </a:r>
            <a:br/>
            <a:r>
              <a:t>B. Nivel de satisfacción del paciente</a:t>
            </a:r>
            <a:br/>
            <a:r>
              <a:t>C. Exactitud de diagnóstico final</a:t>
            </a:r>
            <a:br/>
            <a:r>
              <a:t>D. Tamaño del modelo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La figura promedia Q1–Q3 y permite ver qué grupos reciben recomendaciones más intervencionistas.</a:t>
            </a:r>
          </a:p>
        </p:txBody>
      </p:sp>
      <p:pic>
        <p:nvPicPr>
          <p:cNvPr id="7" name="Picture 6" descr="fig4_invasiv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9728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080" b="0">
                <a:solidFill>
                  <a:srgbClr val="495668"/>
                </a:solidFill>
                <a:latin typeface="Aptos"/>
              </a:defRPr>
            </a:pPr>
            <a:r>
              <a:t>Evidencia visual: Figura 4 · Invasiveness score por grupo (pág. 17). Úsela para discutir cómo una misma viñeta cambia solo por el identificador sociodemográfico.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Pregunta 11 ·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Mini-investigación: ¿funciona igual en todos los subgrupos?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450" b="1">
                <a:solidFill>
                  <a:srgbClr val="0F2648"/>
                </a:solidFill>
                <a:latin typeface="Aptos"/>
              </a:defRPr>
            </a:pPr>
            <a:r>
              <a:t>Si un LLM recomienda admisión para unhoused patients con más frecuencia en casos idénticos, ¿cuál sería una respuesta docente apropiada?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20" b="0">
                <a:solidFill>
                  <a:srgbClr val="222D3C"/>
                </a:solidFill>
                <a:latin typeface="Aptos"/>
              </a:defRPr>
            </a:pPr>
            <a:r>
              <a:t>A. Aceptar porque el modelo es grande</a:t>
            </a:r>
            <a:br/>
            <a:r>
              <a:t>B. Auditar si hay justificación clínica o sesgo</a:t>
            </a:r>
            <a:br/>
            <a:r>
              <a:t>C. Eliminar todos los datos sociales siempre</a:t>
            </a:r>
            <a:br/>
            <a:r>
              <a:t>D. Usarlo como diagnóstico final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La respuesta responsable es revisar si el cambio se fundamenta en necesidad clínica o en estereotipos.</a:t>
            </a:r>
          </a:p>
        </p:txBody>
      </p:sp>
      <p:pic>
        <p:nvPicPr>
          <p:cNvPr id="7" name="Picture 6" descr="fig4_invasiv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9728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080" b="0">
                <a:solidFill>
                  <a:srgbClr val="495668"/>
                </a:solidFill>
                <a:latin typeface="Aptos"/>
              </a:defRPr>
            </a:pPr>
            <a:r>
              <a:t>Evidencia visual: Figura 4 · Invasiveness score por grupo (pág. 17). Úsela para discutir cómo una misma viñeta cambia solo por el identificador sociodemográfico.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Pregunta 12 ·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Mini-investigación: ¿funciona igual en todos los subgrupos?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450" b="1">
                <a:solidFill>
                  <a:srgbClr val="0F2648"/>
                </a:solidFill>
                <a:latin typeface="Aptos"/>
              </a:defRPr>
            </a:pPr>
            <a:r>
              <a:t>¿Cuál limitación del estudio deben recordar los estudiantes?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20" b="0">
                <a:solidFill>
                  <a:srgbClr val="222D3C"/>
                </a:solidFill>
                <a:latin typeface="Aptos"/>
              </a:defRPr>
            </a:pPr>
            <a:r>
              <a:t>A. Usó datos sintéticos/viñetas y no pacientes reales</a:t>
            </a:r>
            <a:br/>
            <a:r>
              <a:t>B. No comparó ningún modelo</a:t>
            </a:r>
            <a:br/>
            <a:r>
              <a:t>C. No midió salud mental</a:t>
            </a:r>
            <a:br/>
            <a:r>
              <a:t>D. Solo evaluó un grupo social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paper usa viñetas controladas; eso ayuda a aislar bias, pero limita la complejidad de práctica real.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00600"/>
            <a:ext cx="10835640" cy="91440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130" b="0">
                <a:solidFill>
                  <a:srgbClr val="495668"/>
                </a:solidFill>
                <a:latin typeface="Aptos"/>
              </a:defRPr>
            </a:pPr>
            <a:r>
              <a:t>Discusión docente: esta pregunta evalúa si el estudiante distingue una diferencia clínicamente justificada de una diferencia inducida por grupo sociodemográfico.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Pregunta 13 ·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Mini-investigación: ¿funciona igual en todos los subgrupos?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450" b="1">
                <a:solidFill>
                  <a:srgbClr val="0F2648"/>
                </a:solidFill>
                <a:latin typeface="Aptos"/>
              </a:defRPr>
            </a:pPr>
            <a:r>
              <a:t>¿Cuál mitigación se alinea mejor con los hallazgos?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20" b="0">
                <a:solidFill>
                  <a:srgbClr val="222D3C"/>
                </a:solidFill>
                <a:latin typeface="Aptos"/>
              </a:defRPr>
            </a:pPr>
            <a:r>
              <a:t>A. Desplegar sin supervisión porque el modelo es moderno</a:t>
            </a:r>
            <a:br/>
            <a:r>
              <a:t>B. Auditorías regulares de bias y supervisión clínica</a:t>
            </a:r>
            <a:br/>
            <a:r>
              <a:t>C. Ocultar la salida al profesional</a:t>
            </a:r>
            <a:br/>
            <a:r>
              <a:t>D. Usar solo accuracy global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artículo recomienda auditorías, supervisión clínica, entrenamiento representativo e inclusión de comunidades marginalizadas.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00600"/>
            <a:ext cx="10835640" cy="91440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130" b="0">
                <a:solidFill>
                  <a:srgbClr val="495668"/>
                </a:solidFill>
                <a:latin typeface="Aptos"/>
              </a:defRPr>
            </a:pPr>
            <a:r>
              <a:t>Discusión docente: esta pregunta evalúa si el estudiante distingue una diferencia clínicamente justificada de una diferencia inducida por grupo sociodemográfico.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Pregunta 14 ·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Mini-investigación: ¿funciona igual en todos los subgrupos?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450" b="1">
                <a:solidFill>
                  <a:srgbClr val="0F2648"/>
                </a:solidFill>
                <a:latin typeface="Aptos"/>
              </a:defRPr>
            </a:pPr>
            <a:r>
              <a:t>¿Por qué un modelo propietario no debe asumirse libre de sesgo?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20" b="0">
                <a:solidFill>
                  <a:srgbClr val="222D3C"/>
                </a:solidFill>
                <a:latin typeface="Aptos"/>
              </a:defRPr>
            </a:pPr>
            <a:r>
              <a:t>A. Porque el estudio encontró sesgos en modelos propietarios y open-source</a:t>
            </a:r>
            <a:br/>
            <a:r>
              <a:t>B. Porque siempre es peor</a:t>
            </a:r>
            <a:br/>
            <a:r>
              <a:t>C. Porque no usa lenguaje</a:t>
            </a:r>
            <a:br/>
            <a:r>
              <a:t>D. Porque no genera texto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artículo señala que ni el tipo de modelo ni su tamaño eliminaron los sesgos observados.</a:t>
            </a:r>
          </a:p>
        </p:txBody>
      </p:sp>
      <p:pic>
        <p:nvPicPr>
          <p:cNvPr id="7" name="Picture 6" descr="table1_bias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9728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080" b="0">
                <a:solidFill>
                  <a:srgbClr val="495668"/>
                </a:solidFill>
                <a:latin typeface="Aptos"/>
              </a:defRPr>
            </a:pPr>
            <a:r>
              <a:t>Evidencia visual: Tabla 1 · Bias score por modelo/pregunta (pág. 15). Úsela para discutir cómo una misma viñeta cambia solo por el identificador sociodemográfico.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Pregunta 15 ·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Mini-investigación: ¿funciona igual en todos los subgrupos?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450" b="1">
                <a:solidFill>
                  <a:srgbClr val="0F2648"/>
                </a:solidFill>
                <a:latin typeface="Aptos"/>
              </a:defRPr>
            </a:pPr>
            <a:r>
              <a:t>Conclusión clínica: ¿qué debe hacer un hospital antes de usar LLM para triage o apoyo clínico?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20" b="0">
                <a:solidFill>
                  <a:srgbClr val="222D3C"/>
                </a:solidFill>
                <a:latin typeface="Aptos"/>
              </a:defRPr>
            </a:pPr>
            <a:r>
              <a:t>A. Confiar en el promedio global</a:t>
            </a:r>
            <a:br/>
            <a:r>
              <a:t>B. Validar localmente, auditar subgrupos y mantener human-in-the-loop</a:t>
            </a:r>
            <a:br/>
            <a:r>
              <a:t>C. Usarlo solo para grupos mayoritarios</a:t>
            </a:r>
            <a:br/>
            <a:r>
              <a:t>D. Eliminar todo dato clínico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uso responsable exige validación local, métricas por subgrupo, monitoreo y revisión humana en decisiones críticas.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00600"/>
            <a:ext cx="10835640" cy="91440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1130" b="0">
                <a:solidFill>
                  <a:srgbClr val="495668"/>
                </a:solidFill>
                <a:latin typeface="Aptos"/>
              </a:defRPr>
            </a:pPr>
            <a:r>
              <a:t>Discusión docente: esta pregunta evalúa si el estudiante distingue una diferencia clínicamente justificada de una diferencia inducida por grupo sociodemográfico.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648"/>
                </a:solidFill>
                <a:latin typeface="Aptos"/>
              </a:defRPr>
            </a:pPr>
            <a:r>
              <a:t>Cierre de la mini-investigación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Bias — ¿funciona igual en todos los subgrupos?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F2648"/>
                </a:solidFill>
                <a:latin typeface="Aptos"/>
              </a:defRPr>
            </a:pPr>
            <a:r>
              <a:t>Conclusión para estudiantes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El artículo demuestra una forma simple y potente de auditar bias: mismo caso clínico, distinto identificador social.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La señal más fuerte estuvo en evaluación de salud mental.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La pregunta ética no es solo si el modelo acierta, sino si recomienda de manera equitativa.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La mitigación requiere auditoría, validación local, métricas por subgrupo y human-in-the-loop.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29200" cy="448056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F2648"/>
                </a:solidFill>
                <a:latin typeface="Aptos"/>
              </a:defRPr>
            </a:pPr>
            <a:r>
              <a:t>Tarea corta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Crear 3 viñetas clínicas.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Probar control vs 4 subgrupos.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Registrar cambios de recomendación.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Decidir si son clínicamente justificables.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Proponer una mitigación concreta.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742432"/>
            <a:ext cx="10698480" cy="411480"/>
          </a:xfrm>
          <a:prstGeom prst="roundRect">
            <a:avLst/>
          </a:prstGeom>
          <a:solidFill>
            <a:srgbClr val="FFF2F5"/>
          </a:solidFill>
          <a:ln w="12700">
            <a:solidFill>
              <a:srgbClr val="E6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>
            <a:normAutofit/>
          </a:bodyPr>
          <a:lstStyle/>
          <a:p>
            <a:pPr algn="ctr">
              <a:defRPr sz="850" b="0">
                <a:solidFill>
                  <a:srgbClr val="B93434"/>
                </a:solidFill>
                <a:latin typeface="Aptos"/>
              </a:defRPr>
            </a:pPr>
            <a:r>
              <a:t>Nota: el PDF adjunto indica preprint medRxiv no certificado por revisión por pares; usar para discusión educativa, no para guiar práctica clínica.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Omar et al. “Socio-Demographic Biases in Medical Decision-Making by Large Language Models” · medRxiv preprint DOI: 10.1101/2024.10.29.24316368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