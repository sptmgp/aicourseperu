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F55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SVM</c:v>
                  </c:pt>
                  <c:pt idx="1">
                    <c:v>Random Forest</c:v>
                  </c:pt>
                  <c:pt idx="2">
                    <c:v>kNN</c:v>
                  </c:pt>
                  <c:pt idx="3">
                    <c:v>Naive Bayes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91.5</c:v>
                </c:pt>
                <c:pt idx="1">
                  <c:v>90</c:v>
                </c:pt>
                <c:pt idx="2">
                  <c:v>89</c:v>
                </c:pt>
                <c:pt idx="3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realistic_cinematic_high_tech_medical_ai_rese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Sesión 4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94360" y="9144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Clasificación 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predicción clínica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57150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Supervised Learning · Logistic Regression · Decision Tree · Random Forest · kNN · Orange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1/40</a:t>
            </a:r>
            <a:endParaRPr lang="en-US" sz="630" dirty="0"/>
          </a:p>
        </p:txBody>
      </p:sp>
      <p:sp>
        <p:nvSpPr>
          <p:cNvPr id="7" name="Text 4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Fuentes: Deo 2015; Ono &amp; Goto 2022; Ansari et al. 2025; Wittlinger et al. 2025</a:t>
            </a:r>
            <a:endParaRPr lang="en-US" sz="5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el estudiante debe dominar al final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Objetivo práctico: construir y comparar modelos de riesgo clínico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pic>
        <p:nvPicPr>
          <p:cNvPr id="5" name="Image 0" descr="/mnt/data/wide_cinematic_futuristic_infographic_illustrati.png">    </p:cNvPr>
          <p:cNvPicPr>
            <a:picLocks noChangeAspect="1"/>
          </p:cNvPicPr>
          <p:nvPr/>
        </p:nvPicPr>
        <p:blipFill>
          <a:blip r:embed="rId1"/>
          <a:srcRect l="16500" r="16500" t="0" b="0"/>
          <a:stretch/>
        </p:blipFill>
        <p:spPr>
          <a:xfrm>
            <a:off x="6903720" y="1207008"/>
            <a:ext cx="45720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325880"/>
            <a:ext cx="557784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Diferenciar features, target, metadata y datos de entrenamiento/prueba.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un modelo supervisado en Orange sin código.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Logistic Regression, Decision Tree, Random Forest y kNN.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 una predicción como apoyo clínico, no como diagnóstico automático.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Prepararse para métricas clínicas profundas en la Sesión 5.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Pregunta guía: ¿podemos usar pacientes previos para estimar el riesgo de un paciente nuevo?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2/40</a:t>
            </a:r>
            <a:endParaRPr lang="en-US" sz="630" dirty="0"/>
          </a:p>
        </p:txBody>
      </p:sp>
      <p:sp>
        <p:nvSpPr>
          <p:cNvPr id="10" name="Text 7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Basado en el enfoque de aprendizaje supervisado descrito por Deo y Ono &amp; Goto.</a:t>
            </a:r>
            <a:endParaRPr lang="en-US" sz="5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cuatro fuentes de esta clase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De teoría a evidencia clínica y práctica en Orange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pic>
        <p:nvPicPr>
          <p:cNvPr id="5" name="Image 0" descr="/mnt/data/session4_assets/deo_cover.png">    </p:cNvPr>
          <p:cNvPicPr>
            <a:picLocks noChangeAspect="1"/>
          </p:cNvPicPr>
          <p:nvPr/>
        </p:nvPicPr>
        <p:blipFill>
          <a:blip r:embed="rId1"/>
          <a:srcRect l="2782" r="2782" t="0" b="0"/>
          <a:stretch/>
        </p:blipFill>
        <p:spPr>
          <a:xfrm>
            <a:off x="640080" y="1280160"/>
            <a:ext cx="2468880" cy="3383280"/>
          </a:xfrm>
          <a:prstGeom prst="rect">
            <a:avLst/>
          </a:prstGeom>
        </p:spPr>
      </p:pic>
      <p:pic>
        <p:nvPicPr>
          <p:cNvPr id="6" name="Image 1" descr="/mnt/data/session4_assets/ace_cover.png">    </p:cNvPr>
          <p:cNvPicPr>
            <a:picLocks noChangeAspect="1"/>
          </p:cNvPicPr>
          <p:nvPr/>
        </p:nvPicPr>
        <p:blipFill>
          <a:blip r:embed="rId2"/>
          <a:srcRect l="0" r="0" t="1541" b="1541"/>
          <a:stretch/>
        </p:blipFill>
        <p:spPr>
          <a:xfrm>
            <a:off x="3383280" y="1280160"/>
            <a:ext cx="2468880" cy="3383280"/>
          </a:xfrm>
          <a:prstGeom prst="rect">
            <a:avLst/>
          </a:prstGeom>
        </p:spPr>
      </p:pic>
      <p:pic>
        <p:nvPicPr>
          <p:cNvPr id="7" name="Image 2" descr="/mnt/data/session4_assets/fmed_cover.png">    </p:cNvPr>
          <p:cNvPicPr>
            <a:picLocks noChangeAspect="1"/>
          </p:cNvPicPr>
          <p:nvPr/>
        </p:nvPicPr>
        <p:blipFill>
          <a:blip r:embed="rId3"/>
          <a:srcRect l="0" r="0" t="1569" b="1569"/>
          <a:stretch/>
        </p:blipFill>
        <p:spPr>
          <a:xfrm>
            <a:off x="6126480" y="1280160"/>
            <a:ext cx="2468880" cy="3383280"/>
          </a:xfrm>
          <a:prstGeom prst="rect">
            <a:avLst/>
          </a:prstGeom>
        </p:spPr>
      </p:pic>
      <p:pic>
        <p:nvPicPr>
          <p:cNvPr id="8" name="Image 3" descr="/mnt/data/session4_assets/npj_cover.png">    </p:cNvPr>
          <p:cNvPicPr>
            <a:picLocks noChangeAspect="1"/>
          </p:cNvPicPr>
          <p:nvPr/>
        </p:nvPicPr>
        <p:blipFill>
          <a:blip r:embed="rId4"/>
          <a:srcRect l="1535" r="1535" t="0" b="0"/>
          <a:stretch/>
        </p:blipFill>
        <p:spPr>
          <a:xfrm>
            <a:off x="8869680" y="1280160"/>
            <a:ext cx="2468880" cy="33832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0080" y="4800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ML en medicina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(Circulation)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3383280" y="4800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Supervised ML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(clinical epidemiology)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6126480" y="4800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Diabetes prediction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(Frontiers Med)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8869680" y="4800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Adverse events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7365D"/>
                </a:solidFill>
              </a:rPr>
              <a:t>(npj Digital Medicine)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3/40</a:t>
            </a:r>
            <a:endParaRPr lang="en-US" sz="630" dirty="0"/>
          </a:p>
        </p:txBody>
      </p:sp>
      <p:sp>
        <p:nvSpPr>
          <p:cNvPr id="14" name="Text 8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Artículos usados como referencias científicas para la sesión.</a:t>
            </a:r>
            <a:endParaRPr lang="en-US" sz="5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 3 horas de la Sesión 4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Progresión: concepto → modelo → comparación → interpretación clínica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0789920" cy="475488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533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1. PPT teórico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0" y="13533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40 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0" y="1353312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supervised learning, features/target, train/test, 4 classifiers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107899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9339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2. Demo Orange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0" y="19933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25 min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993392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construir un modelo completo en vivo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10789920" cy="475488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3347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3. Práctica guiada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0" y="263347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35 min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633472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estudiantes reproducen el workflow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85800" y="3154680"/>
            <a:ext cx="107899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273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4. Comparación de modelos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32735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35 min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3273552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Logistic vs Tree vs Random Forest vs kNN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85800" y="3794760"/>
            <a:ext cx="10789920" cy="475488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9136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5. Caso clínico / grupos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0" y="391363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25 min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3913632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interpretar riesgo y errores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85800" y="4434840"/>
            <a:ext cx="107899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5537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65D"/>
                </a:solidFill>
              </a:rPr>
              <a:t>6. Quiz + cierre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0" y="45537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20 min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4553712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</a:rPr>
              <a:t>evaluación práctica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Hoy: construir modelos. Próxima sesión: medir si son clínicamente buenos.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4/40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Diseño pedagógico de la sesión.</a:t>
            </a:r>
            <a:endParaRPr lang="en-US" sz="5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40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Bloque 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2971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¿Qué significa clasificar y predecir en clínica?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789920" y="61722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5/40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clínica que abre la sesión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No empezamos con algoritmos; empezamos con una decisión profesional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481328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Pacientes previos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3464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71800" y="1371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1481328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Variables + resultado conocido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8348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1371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1481328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Modelo entrenado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3232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1371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4344" y="1481328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Paciente nuevo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28116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18320" y="1371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73184" y="1481328"/>
            <a:ext cx="1901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Riesgo / clase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" y="27432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5240">
            <a:solidFill>
              <a:srgbClr val="009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2880360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Ejemplo de atención primaria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218688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“¿Qué pacientes tienen alto riesgo de diabetes o evento cardiovascular antes de que aparezcan complicaciones?”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217920" y="27432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5240">
            <a:solidFill>
              <a:srgbClr val="5B2C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2880360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83"/>
                </a:solidFill>
              </a:rPr>
              <a:t>Ejemplo hospitalario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82512" y="3218688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“¿Qué pacientes podrían reingresar o presentar un evento adverso que no quedó bien documentado?”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La salida del modelo debe activar revisión clínica, no reemplazar al profesional.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6/40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Deo describe la predicción de riesgo como una aplicación central del aprendizaje supervisado.</a:t>
            </a:r>
            <a:endParaRPr lang="en-US" sz="5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Supervised learning en una frase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Aprende con ejemplos donde ya conocemos la respuesta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0"/>
            <a:ext cx="512064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etiquetados: cada paciente tiene variables + outcome conocido.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aprende relaciones entre variables y resultado.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Luego aplica lo aprendido a un paciente nuevo.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medicina se usa mucho para diagnóstico y pronóstico.</a:t>
            </a:r>
            <a:endParaRPr lang="en-US" sz="1500" dirty="0"/>
          </a:p>
        </p:txBody>
      </p:sp>
      <p:pic>
        <p:nvPicPr>
          <p:cNvPr id="6" name="Image 0" descr="/mnt/data/session4_assets/ace_pubmed_trend.png">    </p:cNvPr>
          <p:cNvPicPr>
            <a:picLocks noChangeAspect="1"/>
          </p:cNvPicPr>
          <p:nvPr/>
        </p:nvPicPr>
        <p:blipFill>
          <a:blip r:embed="rId1"/>
          <a:srcRect l="0" r="0" t="23412" b="23412"/>
          <a:stretch/>
        </p:blipFill>
        <p:spPr>
          <a:xfrm>
            <a:off x="6400800" y="1143000"/>
            <a:ext cx="43891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4754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La literatura sobre “machine learning” en PubMed creció de forma marcada, según la figura del artículo de Ono &amp; Goto.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7/40</a:t>
            </a:r>
            <a:endParaRPr lang="en-US" sz="630" dirty="0"/>
          </a:p>
        </p:txBody>
      </p:sp>
      <p:sp>
        <p:nvSpPr>
          <p:cNvPr id="9" name="Text 6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Ono &amp; Goto 2022: supervised learning es común para predicción y diagnóstico.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Features, target y metadata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La primera decisión técnica es también una decisión clínica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37160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597"/>
                </a:solidFill>
              </a:rPr>
              <a:t>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" y="1709928"/>
            <a:ext cx="3145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Edad, BMI, glucosa, presión arterial, tabaquismo, ingresos previos, laboratorio.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5240">
            <a:solidFill>
              <a:srgbClr val="3B7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37160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A57"/>
                </a:solidFill>
              </a:rPr>
              <a:t>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53712" y="1709928"/>
            <a:ext cx="3145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Diabetes: sí/no · reingreso: sí/no · evento adverso: sí/no · riesgo alto/bajo.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8001000" y="12344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37160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Metadata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65592" y="1709928"/>
            <a:ext cx="3145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Patient_ID, fecha, hospital, número de historia: útiles para auditoría, pero no siempre como predictores.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Regla docente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Si una columna identifica al paciente pero no aporta biología ni proceso clínico causal, debe tratarse con cuidado.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8/40</a:t>
            </a:r>
            <a:endParaRPr lang="en-US" sz="630" dirty="0"/>
          </a:p>
        </p:txBody>
      </p:sp>
      <p:sp>
        <p:nvSpPr>
          <p:cNvPr id="17" name="Text 15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Deo 2015 enfatiza features/predictores para predicción de enfermedad; Ansari et al. 2025 usan variables de diabetes.</a:t>
            </a:r>
            <a:endParaRPr lang="en-US" sz="5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Train/test split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Train = learn · Test = prove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527048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Dataset completo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52928" y="15819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97A7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90088" y="141732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1527048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80% train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28616" y="15819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97A7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65776" y="141732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527048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Modelo aprende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04304" y="15819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97A7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41464" y="141732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328" y="1527048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20% test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079992" y="158191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97A7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17152" y="1417320"/>
            <a:ext cx="1938528" cy="777240"/>
          </a:xfrm>
          <a:prstGeom prst="roundRect">
            <a:avLst>
              <a:gd name="adj" fmla="val 9412"/>
            </a:avLst>
          </a:prstGeom>
          <a:solidFill>
            <a:srgbClr val="E2F0D9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72016" y="1527048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Prueba honesta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2743200"/>
            <a:ext cx="53035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no debe ser evaluado solo con los datos que usó para aprender.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ajusta parámetros; test mide si generaliza.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medicina, generalizar importa porque el próximo paciente nunca es idéntico al anterior.</a:t>
            </a:r>
            <a:endParaRPr lang="en-US" sz="1500" dirty="0"/>
          </a:p>
        </p:txBody>
      </p:sp>
      <p:pic>
        <p:nvPicPr>
          <p:cNvPr id="20" name="Image 0" descr="/mnt/data/session4_assets/deo_train_test.png">    </p:cNvPr>
          <p:cNvPicPr>
            <a:picLocks noChangeAspect="1"/>
          </p:cNvPicPr>
          <p:nvPr/>
        </p:nvPicPr>
        <p:blipFill>
          <a:blip r:embed="rId1"/>
          <a:srcRect l="0" r="0" t="6762" b="6762"/>
          <a:stretch/>
        </p:blipFill>
        <p:spPr>
          <a:xfrm>
            <a:off x="6858000" y="2286000"/>
            <a:ext cx="3931920" cy="21031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Si el modelo “aprende de memoria”, ¿servirá mañana con pacientes nuevos?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9/40</a:t>
            </a:r>
            <a:endParaRPr lang="en-US" sz="630" dirty="0"/>
          </a:p>
        </p:txBody>
      </p:sp>
      <p:sp>
        <p:nvSpPr>
          <p:cNvPr id="24" name="Text 21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Deo 2015 describe separar entrenamiento y prueba para evaluar desempeño.</a:t>
            </a:r>
            <a:endParaRPr lang="en-US" sz="5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peligro invisible: data leakage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Cuando el modelo ve información que no tendría al momento de decidir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5240">
            <a:solidFill>
              <a:srgbClr val="3B7A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6304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A57"/>
                </a:solidFill>
              </a:rPr>
              <a:t>Ejemplo correcto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801368"/>
            <a:ext cx="47914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Predicción de reingreso al alta: usar edad, diagnóstico, signos vitales, laboratorio previo al alta.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46304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Leakage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82512" y="1801368"/>
            <a:ext cx="47914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Usar una variable que aparece después del reingreso: eso “regala” la respuesta al modelo.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Preguntas de seguridad para el estudiante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611880"/>
            <a:ext cx="47548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¿Esta variable existe antes de la decisión clínica?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dato es consecuencia del outcome?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modelo funcionaría si lo uso en tiempo real?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Un modelo con leakage parece brillante en clase, pero falla en el hospital.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10/40</a:t>
            </a:r>
            <a:endParaRPr lang="en-US" sz="630" dirty="0"/>
          </a:p>
        </p:txBody>
      </p:sp>
      <p:sp>
        <p:nvSpPr>
          <p:cNvPr id="16" name="Text 14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Concepto didáctico aplicado a predicción clínica.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Overfitting: cuando el modelo aprende ruido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Performance perfecta en entrenamiento ≠ utilidad clínica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pic>
        <p:nvPicPr>
          <p:cNvPr id="5" name="Image 0" descr="/mnt/data/session4_assets/ace_tree_forest.png">    </p:cNvPr>
          <p:cNvPicPr>
            <a:picLocks noChangeAspect="1"/>
          </p:cNvPicPr>
          <p:nvPr/>
        </p:nvPicPr>
        <p:blipFill>
          <a:blip r:embed="rId1"/>
          <a:srcRect l="7917" r="7917" t="0" b="0"/>
          <a:stretch/>
        </p:blipFill>
        <p:spPr>
          <a:xfrm>
            <a:off x="6583680" y="1143000"/>
            <a:ext cx="45720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417320"/>
            <a:ext cx="512064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árbol puede crecer demasiado y capturar ruido específico del dataset.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combina muchos árboles para reducir esa inestabilidad.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no es “memorizar pacientes”, sino aprender patrones que viajan a pacientes nuevos.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11/40</a:t>
            </a:r>
            <a:endParaRPr lang="en-US" sz="630" dirty="0"/>
          </a:p>
        </p:txBody>
      </p:sp>
      <p:sp>
        <p:nvSpPr>
          <p:cNvPr id="8" name="Text 5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Ono &amp; Goto 2022 describen overfitting en árboles y Random Forest como ensamble para mejorar generalización.</a:t>
            </a:r>
            <a:endParaRPr lang="en-US" sz="5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completo antes de escoger algoritmo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La predicción clínica empieza con un problema bien formulado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1714500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81328"/>
            <a:ext cx="16047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Pregunta clínica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5458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91740" y="1371600"/>
            <a:ext cx="1714500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6604" y="1481328"/>
            <a:ext cx="16047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Features / target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371600"/>
            <a:ext cx="1714500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8264" y="1481328"/>
            <a:ext cx="16047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Train/test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5790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5060" y="1371600"/>
            <a:ext cx="1714500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9924" y="1481328"/>
            <a:ext cx="16047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Modelo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0956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1714500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1584" y="1481328"/>
            <a:ext cx="16047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Evaluación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76122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98380" y="1371600"/>
            <a:ext cx="1714500" cy="731520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53244" y="1481328"/>
            <a:ext cx="16047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Interpretación clínica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2880360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No hacer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" y="3218688"/>
            <a:ext cx="4425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Abrir Orange → conectar algoritmos → elegir el más alto sin pensar.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400800" y="274320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5240">
            <a:solidFill>
              <a:srgbClr val="3B7A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2880360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A57"/>
                </a:solidFill>
              </a:rPr>
              <a:t>Sí hacer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65392" y="3218688"/>
            <a:ext cx="4425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Definir qué decisión ayuda, qué error es peligroso y cómo se usará el resultado.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La pregunta clínica manda; el algoritmo obedece.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12/40</a:t>
            </a:r>
            <a:endParaRPr lang="en-US" sz="630" dirty="0"/>
          </a:p>
        </p:txBody>
      </p:sp>
      <p:sp>
        <p:nvSpPr>
          <p:cNvPr id="31" name="Text 29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Pedagogía de modelado clínico.</a:t>
            </a:r>
            <a:endParaRPr lang="en-US" sz="5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97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40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Bloque 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2971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Cuatro clasificadores que los estudiantes van a comparar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789920" y="61722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13/40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Logistic Regression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Modelo interpretable para estimar probabilidad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344168"/>
            <a:ext cx="1353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57400" y="13990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2344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1344168"/>
            <a:ext cx="1353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BMI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0" y="13990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12344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9624" y="1344168"/>
            <a:ext cx="1353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Glucose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57800" y="13990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94960" y="12344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1344168"/>
            <a:ext cx="1353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BP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0" y="13990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95160" y="12344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0024" y="1344168"/>
            <a:ext cx="1353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Smoking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58200" y="13990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95360" y="12344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50224" y="1344168"/>
            <a:ext cx="1353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Weighted sum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0" y="13990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195560" y="12344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50424" y="1344168"/>
            <a:ext cx="1353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Risk = 0.82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8680" y="2468880"/>
            <a:ext cx="521208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Muy usado en medicina por su interpretabilidad.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puede expresarse como probabilidad de riesgo.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como modelo de referencia antes de usar modelos más complejos.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Limitación: relaciones complejas no lineales pueden requerir otros modelos.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265176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2788920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Ejemplo oral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65392" y="3127248"/>
            <a:ext cx="4608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“Este paciente tiene una probabilidad estimada alta; ahora el clínico revisa contexto, confirmación y plan.”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14/40</a:t>
            </a:r>
            <a:endParaRPr lang="en-US" sz="630" dirty="0"/>
          </a:p>
        </p:txBody>
      </p:sp>
      <p:sp>
        <p:nvSpPr>
          <p:cNvPr id="30" name="Text 28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Deo 2015 usa logistic regression como clase clásica de función lineal para predicción.</a:t>
            </a:r>
            <a:endParaRPr lang="en-US" sz="5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 en la práctica clínica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Ideal para empezar por claridad, no por moda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5240">
            <a:solidFill>
              <a:srgbClr val="3B7A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6304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A57"/>
                </a:solidFill>
              </a:rPr>
              <a:t>Cuando conviene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801368"/>
            <a:ext cx="4791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Screening, risk score, explicación a equipo clínico, comparación con modelos complejos.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46304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Cuidado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73952" y="1801368"/>
            <a:ext cx="4791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Si las relaciones son muy no lineales o hay interacciones fuertes, puede quedarse corto.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Mini-ejemplo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3657600"/>
            <a:ext cx="1865376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767328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Glucose alta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71216" y="3822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97A7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08376" y="3657600"/>
            <a:ext cx="1865376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3767328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BMI alto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73752" y="3822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97A7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10912" y="3657600"/>
            <a:ext cx="1865376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767328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Edad alta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76288" y="3822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97A7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13448" y="3657600"/>
            <a:ext cx="1865376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3767328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Modelo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78824" y="3822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97A7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15984" y="3657600"/>
            <a:ext cx="1865376" cy="731520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70848" y="3767328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Riesgo alto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Pregunta al grupo: ¿por qué un modelo interpretable puede ser preferible aunque no sea el más “fancy”?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15/40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Conexión pedagógica con decisiones de implementación clínica.</a:t>
            </a:r>
            <a:endParaRPr lang="en-US" sz="5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Decision Tree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Un árbol convierte variables en reglas visuales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pic>
        <p:nvPicPr>
          <p:cNvPr id="5" name="Image 0" descr="/mnt/data/session4_assets/ace_tree_forest.png">    </p:cNvPr>
          <p:cNvPicPr>
            <a:picLocks noChangeAspect="1"/>
          </p:cNvPicPr>
          <p:nvPr/>
        </p:nvPicPr>
        <p:blipFill>
          <a:blip r:embed="rId1"/>
          <a:srcRect l="9368" r="9368" t="0" b="0"/>
          <a:stretch/>
        </p:blipFill>
        <p:spPr>
          <a:xfrm>
            <a:off x="6492240" y="1143000"/>
            <a:ext cx="457200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3258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Ejemplo clínico simplificado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7240" y="1783080"/>
            <a:ext cx="120015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2104" y="1892808"/>
            <a:ext cx="10904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Glucose &gt; 180?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977390" y="194767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C83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114550" y="1783080"/>
            <a:ext cx="120015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69414" y="1892808"/>
            <a:ext cx="10904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BMI &gt; 30?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14700" y="194767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C83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51860" y="1783080"/>
            <a:ext cx="120015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06724" y="1892808"/>
            <a:ext cx="10904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Previous admission?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652010" y="194767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C83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89170" y="1783080"/>
            <a:ext cx="1200150" cy="640080"/>
          </a:xfrm>
          <a:prstGeom prst="roundRect">
            <a:avLst>
              <a:gd name="adj" fmla="val 11429"/>
            </a:avLst>
          </a:prstGeom>
          <a:solidFill>
            <a:srgbClr val="E2F0D9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4034" y="1892808"/>
            <a:ext cx="10904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HIGH RISK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68680" y="2971800"/>
            <a:ext cx="512064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Muy intuitivo para explicar a médicos y enfermería.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mostrar rutas de decisión: “si… entonces…”.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Riesgo: puede sobreajustarse si el árbol crece demasiado.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16/40</a:t>
            </a:r>
            <a:endParaRPr lang="en-US" sz="630" dirty="0"/>
          </a:p>
        </p:txBody>
      </p:sp>
      <p:sp>
        <p:nvSpPr>
          <p:cNvPr id="20" name="Text 17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Ono &amp; Goto 2022 explican decision tree, nodos, entropy/information gain y riesgo de overfitting.</a:t>
            </a:r>
            <a:endParaRPr lang="en-US" sz="5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Tree: fortaleza y peligro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La explicación fácil puede volverse falsa seguridad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8016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5240">
            <a:solidFill>
              <a:srgbClr val="3B7A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1732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A57"/>
                </a:solidFill>
              </a:rPr>
              <a:t>Fortaleza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755648"/>
            <a:ext cx="4791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Comunicación: el equipo entiende por qué una rama lleva a riesgo alto.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41732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Peligro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73952" y="1755648"/>
            <a:ext cx="4791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Un árbol aislado puede aprender detalles raros del dataset y fallar en otro hospital.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Ejercicio rápido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2C83"/>
                </a:solidFill>
              </a:rPr>
              <a:t>Muestre una rama del árbol y pregunte: ¿esta regla tiene sentido clínico o parece artefacto de datos?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17/40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Discusión basada en limitaciones de árboles descritas por Ono &amp; Goto.</a:t>
            </a:r>
            <a:endParaRPr lang="en-US" sz="5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Random Forest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Muchos árboles votando para reducir inestabilidad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pic>
        <p:nvPicPr>
          <p:cNvPr id="5" name="Image 0" descr="/mnt/data/session4_assets/ace_tree_forest.png">    </p:cNvPr>
          <p:cNvPicPr>
            <a:picLocks noChangeAspect="1"/>
          </p:cNvPicPr>
          <p:nvPr/>
        </p:nvPicPr>
        <p:blipFill>
          <a:blip r:embed="rId1"/>
          <a:srcRect l="9368" r="9368" t="0" b="0"/>
          <a:stretch/>
        </p:blipFill>
        <p:spPr>
          <a:xfrm>
            <a:off x="6492240" y="1143000"/>
            <a:ext cx="457200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463040"/>
            <a:ext cx="78486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" y="1572768"/>
            <a:ext cx="675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Tree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562100" y="16276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7A57"/>
                </a:solidFill>
              </a:rPr>
              <a:t>→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699260" y="1463040"/>
            <a:ext cx="78486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54124" y="1572768"/>
            <a:ext cx="675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Tree 2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484120" y="16276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7A57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621280" y="1463040"/>
            <a:ext cx="78486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76144" y="1572768"/>
            <a:ext cx="675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Tree 3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406140" y="16276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7A57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43300" y="1463040"/>
            <a:ext cx="78486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98164" y="1572768"/>
            <a:ext cx="675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…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28160" y="16276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7A57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65320" y="1463040"/>
            <a:ext cx="78486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0184" y="1572768"/>
            <a:ext cx="675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Tree 200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250180" y="16276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7A57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387340" y="1463040"/>
            <a:ext cx="784860" cy="640080"/>
          </a:xfrm>
          <a:prstGeom prst="roundRect">
            <a:avLst>
              <a:gd name="adj" fmla="val 11429"/>
            </a:avLst>
          </a:prstGeom>
          <a:solidFill>
            <a:srgbClr val="E2F0D9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42204" y="1572768"/>
            <a:ext cx="6751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Voto combinado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68680" y="2514600"/>
            <a:ext cx="512064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Ensemble: combina muchos modelos.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el riesgo de que un solo árbol aprenda ruido.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 candidato para datasets clínicos tabulares con relaciones no lineales.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ser menos interpretable que un solo árbol.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18/40</a:t>
            </a:r>
            <a:endParaRPr lang="en-US" sz="630" dirty="0"/>
          </a:p>
        </p:txBody>
      </p:sp>
      <p:sp>
        <p:nvSpPr>
          <p:cNvPr id="25" name="Text 22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Ono &amp; Goto 2022: Random Forest crea múltiples árboles con datos y variables aleatorias.</a:t>
            </a:r>
            <a:endParaRPr lang="en-US" sz="5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en evidencia real: endoscopia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Detectar eventos adversos ya ocurridos usando metadata clínica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pic>
        <p:nvPicPr>
          <p:cNvPr id="5" name="Image 0" descr="/mnt/data/session4_assets/npj_auc_bars.png">    </p:cNvPr>
          <p:cNvPicPr>
            <a:picLocks noChangeAspect="1"/>
          </p:cNvPicPr>
          <p:nvPr/>
        </p:nvPicPr>
        <p:blipFill>
          <a:blip r:embed="rId1"/>
          <a:srcRect l="603" r="603" t="0" b="0"/>
          <a:stretch/>
        </p:blipFill>
        <p:spPr>
          <a:xfrm>
            <a:off x="6492240" y="1234440"/>
            <a:ext cx="475488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371600"/>
            <a:ext cx="530352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 con 2.490 casos hospitalarios de endoscopia.</a:t>
            </a:r>
            <a:endParaRPr lang="en-US" sz="1350" dirty="0"/>
          </a:p>
          <a:p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para detectar perforación, sangrado y reingreso.</a:t>
            </a:r>
            <a:endParaRPr lang="en-US" sz="1350" dirty="0"/>
          </a:p>
          <a:p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AUC-ROC: 0.90 perforación, 0.84 sangrado, 0.96 reingreso.</a:t>
            </a:r>
            <a:endParaRPr lang="en-US" sz="1350" dirty="0"/>
          </a:p>
          <a:p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AUC-PR priorizado por desbalance de clases.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Este es un ejemplo de ML para calidad y seguridad, no solo diagnóstico.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19/40</a:t>
            </a:r>
            <a:endParaRPr lang="en-US" sz="630" dirty="0"/>
          </a:p>
        </p:txBody>
      </p:sp>
      <p:sp>
        <p:nvSpPr>
          <p:cNvPr id="10" name="Text 7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Wittlinger et al. 2025, npj Digital Medicine.</a:t>
            </a:r>
            <a:endParaRPr lang="en-US" sz="5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aprendemos del paper de endoscopia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La metadata puede dejar “huellas” de eventos clínicos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pic>
        <p:nvPicPr>
          <p:cNvPr id="5" name="Image 0" descr="/mnt/data/session4_assets/npj_shap_importance.png">    </p:cNvPr>
          <p:cNvPicPr>
            <a:picLocks noChangeAspect="1"/>
          </p:cNvPicPr>
          <p:nvPr/>
        </p:nvPicPr>
        <p:blipFill>
          <a:blip r:embed="rId1"/>
          <a:srcRect l="0" r="0" t="11599" b="11599"/>
          <a:stretch/>
        </p:blipFill>
        <p:spPr>
          <a:xfrm>
            <a:off x="6583680" y="1097280"/>
            <a:ext cx="44805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234440"/>
            <a:ext cx="539496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Usaron metadata estructurada: ICD, timing de procedimientos, materiales, estancia hospitalaria.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buscaba eventos que ya habían ocurrido, no predicción preventiva.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 mostró variables importantes: comorbilidad, clips, códigos de sangrado/perforación.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Lección: un solo código no basta; combinar variables mejora robustez.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20/40</a:t>
            </a:r>
            <a:endParaRPr lang="en-US" sz="630" dirty="0"/>
          </a:p>
        </p:txBody>
      </p:sp>
      <p:sp>
        <p:nvSpPr>
          <p:cNvPr id="8" name="Text 5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Wittlinger et al. 2025 muestran que reducir features perjudicó el desempeño en varios eventos.</a:t>
            </a:r>
            <a:endParaRPr lang="en-US" sz="5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k-Nearest Neighbors (kNN)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Predice mirando pacientes parecidos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254889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481328"/>
            <a:ext cx="24391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Paciente nuevo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7185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C83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09010" y="1371600"/>
            <a:ext cx="254889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3874" y="1481328"/>
            <a:ext cx="24391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Busca k pacientes más similares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5790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C83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5060" y="1371600"/>
            <a:ext cx="254889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9924" y="1481328"/>
            <a:ext cx="24391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Voto de vecinos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74395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C83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81110" y="1371600"/>
            <a:ext cx="2548890" cy="685800"/>
          </a:xfrm>
          <a:prstGeom prst="roundRect">
            <a:avLst>
              <a:gd name="adj" fmla="val 10667"/>
            </a:avLst>
          </a:prstGeom>
          <a:solidFill>
            <a:srgbClr val="E2F0D9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35974" y="1481328"/>
            <a:ext cx="24391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Clase / riesgo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2468880"/>
            <a:ext cx="548640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Analogía clínica: “¿a qué pacientes se parece este?”</a:t>
            </a:r>
            <a:endParaRPr lang="en-US" sz="1350" dirty="0"/>
          </a:p>
          <a:p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construye una regla global como logistic o árbol.</a:t>
            </a:r>
            <a:endParaRPr lang="en-US" sz="1350" dirty="0"/>
          </a:p>
          <a:p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Sensible a escala: si glucosa tiene escala grande, puede dominar la distancia.</a:t>
            </a:r>
            <a:endParaRPr lang="en-US" sz="1350" dirty="0"/>
          </a:p>
          <a:p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ser intuitivo, pero lento o inestable si los datos no están bien preparados.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297180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2592" y="3108960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Regla para Orange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22592" y="3447288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Si usa kNN, recuerde normalizar o revisar escalas.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21/40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Deo 2015 describe kNN como predicción basada en casos similares.</a:t>
            </a:r>
            <a:endParaRPr lang="en-US" sz="5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mismo paciente: cuatro modelos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La comparación es parte del aprendizaje profesional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6304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597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80136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0.76 riesgo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3B7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46304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A57"/>
                </a:solidFill>
              </a:rPr>
              <a:t>Decision Tree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65392" y="180136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HIGH RISK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822960" y="288036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5B2C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01752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83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335584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0.84 riesgo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400800" y="288036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301752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kNN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65392" y="335584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HIGH RISK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Pregunta central: si los modelos discrepan, ¿cuál usamos y por qué?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22/40</a:t>
            </a:r>
            <a:endParaRPr lang="en-US" sz="630" dirty="0"/>
          </a:p>
        </p:txBody>
      </p:sp>
      <p:sp>
        <p:nvSpPr>
          <p:cNvPr id="20" name="Text 18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Conecta con evaluación clínica y métricas de la Sesión 5.</a:t>
            </a:r>
            <a:endParaRPr lang="en-US" sz="5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B2C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40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Bloque 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2971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Evidencia con diabetes y riesgo cardiovascular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789920" y="61722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23/40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Diabetes: por qué este dataset importa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Un problema clínico común, costoso y prevenible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pic>
        <p:nvPicPr>
          <p:cNvPr id="5" name="Image 0" descr="/mnt/data/session4_assets/fmed_abstract_results.png">    </p:cNvPr>
          <p:cNvPicPr>
            <a:picLocks noChangeAspect="1"/>
          </p:cNvPicPr>
          <p:nvPr/>
        </p:nvPicPr>
        <p:blipFill>
          <a:blip r:embed="rId1"/>
          <a:srcRect l="3506" r="3506" t="0" b="0"/>
          <a:stretch/>
        </p:blipFill>
        <p:spPr>
          <a:xfrm>
            <a:off x="6583680" y="1097280"/>
            <a:ext cx="438912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234440"/>
            <a:ext cx="539496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Diabetes no tratada se asocia con complicaciones graves.</a:t>
            </a:r>
            <a:endParaRPr lang="en-US" sz="1350" dirty="0"/>
          </a:p>
          <a:p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paper compara SVM, Random Forest, kNN y Naïve Bayes en el Pima Indian Diabetes Dataset.</a:t>
            </a:r>
            <a:endParaRPr lang="en-US" sz="1350" dirty="0"/>
          </a:p>
          <a:p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10-fold cross-validation y métricas de clasificación.</a:t>
            </a:r>
            <a:endParaRPr lang="en-US" sz="1350" dirty="0"/>
          </a:p>
          <a:p>
            <a:r>
              <a:rPr lang="en-US" sz="13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reportado: SVM 91.5%, RF 90%, kNN 89%, NB 83%.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24/40</a:t>
            </a:r>
            <a:endParaRPr lang="en-US" sz="630" dirty="0"/>
          </a:p>
        </p:txBody>
      </p:sp>
      <p:sp>
        <p:nvSpPr>
          <p:cNvPr id="8" name="Text 5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Ansari et al. 2025, Frontiers in Medicine.</a:t>
            </a:r>
            <a:endParaRPr lang="en-US" sz="5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de clasificadores: diabetes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Un buen ejercicio para que los estudiantes vean que el algoritmo sí importa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77240" y="128016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040880" y="1463040"/>
            <a:ext cx="411480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comparación evita “casarse” con un único algoritmo.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Cross-validation mejora la confiabilidad del resultado.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rendimiento debe interpretarse junto con necesidad clínica, costo del error y explicabilidad.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¿El modelo más exacto siempre es el mejor para un hospital real?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25/40</a:t>
            </a:r>
            <a:endParaRPr lang="en-US" sz="630" dirty="0"/>
          </a:p>
        </p:txBody>
      </p:sp>
      <p:sp>
        <p:nvSpPr>
          <p:cNvPr id="10" name="Text 7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Ansari et al. reportan accuracies de SVM/RF/kNN/NB y enfatizan cross-validation.</a:t>
            </a:r>
            <a:endParaRPr lang="en-US" sz="5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selection: menos variables, mejor decisión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No todas las columnas aportan valor clínico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530352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reducir ruido y dimensionalidad.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interpretar qué factores mueven el riesgo.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usar variables irrelevantes o no disponibles en práctica.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eliminar variables sin criterio clínico puede destruir señal útil.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554480"/>
            <a:ext cx="466344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691640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Ejemplo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56832" y="2029968"/>
            <a:ext cx="43342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Si glucosa, BMI y antecedentes familiares concentran gran parte de la señal, el modelo puede ser más práctico que uno con 80 variables difíciles de obtener.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Un modelo clínico no solo debe ser exacto; también debe ser usable.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26/40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Ansari et al. 2025 destacan feature selection como parte de su framework.</a:t>
            </a:r>
            <a:endParaRPr lang="en-US" sz="57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 cardiovascular: una tradición de predicción clínica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ML no nació desconectado de la medicina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pic>
        <p:nvPicPr>
          <p:cNvPr id="5" name="Image 0" descr="/mnt/data/session4_assets/deo_cover.png">    </p:cNvPr>
          <p:cNvPicPr>
            <a:picLocks noChangeAspect="1"/>
          </p:cNvPicPr>
          <p:nvPr/>
        </p:nvPicPr>
        <p:blipFill>
          <a:blip r:embed="rId1"/>
          <a:srcRect l="0" r="0" t="9646" b="9646"/>
          <a:stretch/>
        </p:blipFill>
        <p:spPr>
          <a:xfrm>
            <a:off x="6675120" y="1143000"/>
            <a:ext cx="411480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325880"/>
            <a:ext cx="539496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Deo señala el Framingham Risk Score como un ejemplo clásico de predicción de riesgo.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predicción de riesgo guía decisiones como prevención cardiovascular o terapias específicas.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novedad de ML es manejar más variables, interacciones y funciones más flexibles.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27/40</a:t>
            </a:r>
            <a:endParaRPr lang="en-US" sz="630" dirty="0"/>
          </a:p>
        </p:txBody>
      </p:sp>
      <p:sp>
        <p:nvSpPr>
          <p:cNvPr id="8" name="Text 5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Deo 2015, Circulation: supervised learning se usa para clasificación y predicción de riesgo.</a:t>
            </a:r>
            <a:endParaRPr lang="en-US" sz="57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Lección crítica: muchos papers, poco impacto clínico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La validación y la implementación importan tanto como el algoritmo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3444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71600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Lo que dice la literatura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709928"/>
            <a:ext cx="49743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Hay miles de papers de ML en datos médicos, pero pocos han cambiado de manera significativa la atención clínica.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37160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597"/>
                </a:solidFill>
              </a:rPr>
              <a:t>Por qué importa en clase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73952" y="1709928"/>
            <a:ext cx="47000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No enseñamos “hacer modelos bonitos”; enseñamos cómo pensar antes de usar un modelo con pacientes.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1828800" y="3383280"/>
            <a:ext cx="77724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representativos</a:t>
            </a:r>
            <a:endParaRPr lang="en-US" sz="1500" dirty="0"/>
          </a:p>
          <a:p>
            <a:r>
              <a:rPr lang="en-US" sz="1500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externa</a:t>
            </a:r>
            <a:endParaRPr lang="en-US" sz="1500" dirty="0"/>
          </a:p>
          <a:p>
            <a:r>
              <a:rPr lang="en-US" sz="1500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clínico</a:t>
            </a:r>
            <a:endParaRPr lang="en-US" sz="1500" dirty="0"/>
          </a:p>
          <a:p>
            <a:r>
              <a:rPr lang="en-US" sz="1500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del error</a:t>
            </a:r>
            <a:endParaRPr lang="en-US" sz="1500" dirty="0"/>
          </a:p>
          <a:p>
            <a:r>
              <a:rPr lang="en-US" sz="1500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 humana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28/40</a:t>
            </a:r>
            <a:endParaRPr lang="en-US" sz="630" dirty="0"/>
          </a:p>
        </p:txBody>
      </p:sp>
      <p:sp>
        <p:nvSpPr>
          <p:cNvPr id="13" name="Text 11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Deo 2015 advierte que muchos trabajos de ML médico no han tenido impacto clínico real.</a:t>
            </a:r>
            <a:endParaRPr lang="en-US" sz="57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B7A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40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Bloque 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2971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Orange: de dataset a comparación de modelos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789920" y="61722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29/40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de Orange para la demo de 25 minutos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El profesor lo construye en vivo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113792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1481328"/>
            <a:ext cx="1028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File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4940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86560" y="1371600"/>
            <a:ext cx="113792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41424" y="1481328"/>
            <a:ext cx="1028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Select Columns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2448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61640" y="1371600"/>
            <a:ext cx="113792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6504" y="1481328"/>
            <a:ext cx="1028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Impute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9956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36720" y="1371600"/>
            <a:ext cx="113792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1584" y="1481328"/>
            <a:ext cx="1028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Logistic Regression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7464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11800" y="1371600"/>
            <a:ext cx="113792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66664" y="1481328"/>
            <a:ext cx="1028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Decision Tree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4972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86880" y="1371600"/>
            <a:ext cx="113792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1744" y="1481328"/>
            <a:ext cx="1028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Random Forest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2480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61960" y="1371600"/>
            <a:ext cx="113792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6824" y="1481328"/>
            <a:ext cx="1028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kNN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9988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337040" y="1371600"/>
            <a:ext cx="113792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1904" y="1481328"/>
            <a:ext cx="1028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Test &amp; Score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47496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612120" y="1371600"/>
            <a:ext cx="1137920" cy="685800"/>
          </a:xfrm>
          <a:prstGeom prst="roundRect">
            <a:avLst>
              <a:gd name="adj" fmla="val 10667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66984" y="1481328"/>
            <a:ext cx="1028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Predictions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" y="2514600"/>
            <a:ext cx="521208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Cargar dataset diabetes/cardiovascular.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target y features.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Tratar missing values.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 4 learners.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resultados en Test &amp; Score.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Inspeccionar predicciones individuales.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274320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2880360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Mensaje del docente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65392" y="3218688"/>
            <a:ext cx="4517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Esto no es programación. Es razonamiento clínico convertido en workflow reproducible.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30/40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Plan de demostración en Orange Data Mining.</a:t>
            </a:r>
            <a:endParaRPr lang="en-US" sz="57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cargar y entender el dataset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File → mirar filas, columnas y tipos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3444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524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71600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Preguntas del profesor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709928"/>
            <a:ext cx="48828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¿Qué representa una fila? ¿Paciente, visita o medición? ¿Cuál es el outcome? ¿Qué variable no debería usarse?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37160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Errores frecuentes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73952" y="1709928"/>
            <a:ext cx="47914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Dejar Patient_ID como feature; elegir un target equivocado; entrenar con variables no disponibles en el momento clínico.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Antes de entrenar, el estudiante debe poder explicar el dataset en palabras clínicas.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31/40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Conecta con la preparación de datos de la Sesión 3.</a:t>
            </a:r>
            <a:endParaRPr lang="en-US" sz="57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Select Columns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Features, target y meta definen el experimento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171450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81328"/>
            <a:ext cx="16047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Features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0886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C83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46020" y="1371600"/>
            <a:ext cx="171450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0884" y="1481328"/>
            <a:ext cx="16047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Age · BMI · Glucose · BP · Smoking · Admissions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6052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C83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171450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2544" y="1481328"/>
            <a:ext cx="16047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Target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1218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C83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49340" y="1371600"/>
            <a:ext cx="171450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4204" y="1481328"/>
            <a:ext cx="16047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Diabetes / CVD risk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6384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C83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01000" y="1371600"/>
            <a:ext cx="171450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55864" y="1481328"/>
            <a:ext cx="16047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Meta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715500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C83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52660" y="1371600"/>
            <a:ext cx="1714500" cy="640080"/>
          </a:xfrm>
          <a:prstGeom prst="roundRect">
            <a:avLst>
              <a:gd name="adj" fmla="val 11429"/>
            </a:avLst>
          </a:prstGeom>
          <a:solidFill>
            <a:srgbClr val="E2F0D9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7524" y="1481328"/>
            <a:ext cx="16047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Patient_ID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2514600"/>
            <a:ext cx="548640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del modelo empieza aquí.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target debe ser el desenlace que realmente queremos predecir.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use variables que revelan el futuro.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docente debe pedir justificación clínica de cada feature.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32/40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Diseño de experimento supervisado en Orange.</a:t>
            </a:r>
            <a:endParaRPr lang="en-US" sz="57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3: conectar los learners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Cuatro maneras distintas de aprender patrones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490472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Logistic Regression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0" y="1417320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2464" y="1490472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Decision Tree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664" y="1490472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44000" y="1417320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98864" y="1490472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kNN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Cada learner recibe los mismos datos, pero aprende una lógica distinta.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333756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524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474720"/>
            <a:ext cx="10003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</a:rPr>
              <a:t>Actividad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3813048"/>
            <a:ext cx="10003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Pida a cada estudiante que prediga antes de ejecutar: ¿cuál modelo cree que funcionará mejor y por qué?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33/40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Comparación pedagógica de clasificadores.</a:t>
            </a:r>
            <a:endParaRPr lang="en-US" sz="57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4: Test &amp; Score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La tabla donde los modelos compiten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1828800" cy="228600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423160" y="1280160"/>
            <a:ext cx="1828800" cy="228600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Accuracy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343400" y="1280160"/>
            <a:ext cx="1828800" cy="228600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Sensitivity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63640" y="1280160"/>
            <a:ext cx="1828800" cy="228600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Specificity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183880" y="1280160"/>
            <a:ext cx="1828800" cy="228600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Interpretability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104120" y="1280160"/>
            <a:ext cx="1828800" cy="228600"/>
          </a:xfrm>
          <a:prstGeom prst="rect">
            <a:avLst/>
          </a:prstGeom>
          <a:solidFill>
            <a:srgbClr val="17365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Speed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7365D"/>
                </a:solidFill>
              </a:rPr>
              <a:t>Logistic Regression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423160" y="1572768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572768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572768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572768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04120" y="1572768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157984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7365D"/>
                </a:solidFill>
              </a:rPr>
              <a:t>Decision Tree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2423160" y="2103120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2103120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103120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3880" y="2103120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04120" y="2103120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88336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7365D"/>
                </a:solidFill>
              </a:rPr>
              <a:t>Random Forest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423160" y="2633472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2633472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2633472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2633472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04120" y="2633472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218688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7365D"/>
                </a:solidFill>
              </a:rPr>
              <a:t>kNN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2423160" y="3163824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43400" y="3163824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163824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83880" y="3163824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04120" y="3163824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Tarea: llenar esta tabla con los resultados de Orange y defender un modelo.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34/40</a:t>
            </a:r>
            <a:endParaRPr lang="en-US" sz="630" dirty="0"/>
          </a:p>
        </p:txBody>
      </p:sp>
      <p:sp>
        <p:nvSpPr>
          <p:cNvPr id="38" name="Text 36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Tabla para comparación de modelos durante la práctica.</a:t>
            </a:r>
            <a:endParaRPr lang="en-US" sz="57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5: Predictions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Del promedio del modelo al paciente individual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3444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5240">
            <a:solidFill>
              <a:srgbClr val="3B7A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71600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A57"/>
                </a:solidFill>
              </a:rPr>
              <a:t>Lo que ve el estudiante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709928"/>
            <a:ext cx="4974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Para cada paciente: clase real, clase predicha y probabilidad.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37160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Lo que debe pensar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73952" y="1709928"/>
            <a:ext cx="4700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¿Por qué falló aquí? ¿Qué variable lo confundió? ¿El error es clínicamente peligroso?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Ejemplo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749040"/>
            <a:ext cx="1956816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85876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Paciente 047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71216" y="39136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0000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08376" y="3749040"/>
            <a:ext cx="1956816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385876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Real: alto riesgo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5192" y="39136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0000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02352" y="3749040"/>
            <a:ext cx="1956816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7216" y="385876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Predicción: bajo riesgo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59168" y="39136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0000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96328" y="3749040"/>
            <a:ext cx="1956816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51192" y="385876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Falso negativo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53144" y="39136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0000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90304" y="3749040"/>
            <a:ext cx="1956816" cy="685800"/>
          </a:xfrm>
          <a:prstGeom prst="roundRect">
            <a:avLst>
              <a:gd name="adj" fmla="val 10667"/>
            </a:avLst>
          </a:prstGeom>
          <a:solidFill>
            <a:srgbClr val="E2F0D9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5168" y="385876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Revisar impacto clínico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35/40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Predictions ayuda a revisar casos individuales.</a:t>
            </a:r>
            <a:endParaRPr lang="en-US" sz="57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40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Bloque 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2971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Interpretación clínica, errores y cierre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789920" y="61722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36/40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de grupo: clínica primaria y diabetes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Los estudiantes deben decidir qué harían con una predicción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548640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Escenario: clínica primaria quiere identificar pacientes de alto riesgo antes de complicaciones.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Variables: age, BMI, glucose, BP, family history, physical activity, smoking.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diabetes sí/no o alto riesgo sí/no.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priorizar seguimiento, educación y pruebas confirmatorias.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82880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5240">
            <a:solidFill>
              <a:srgbClr val="5B2C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965960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83"/>
                </a:solidFill>
              </a:rPr>
              <a:t>Pregunta final del caso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56832" y="2304288"/>
            <a:ext cx="4242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Si el modelo dice HIGH RISK, ¿qué debe pasar después?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1828800" y="4663440"/>
            <a:ext cx="2045970" cy="594360"/>
          </a:xfrm>
          <a:prstGeom prst="roundRect">
            <a:avLst>
              <a:gd name="adj" fmla="val 12308"/>
            </a:avLst>
          </a:prstGeom>
          <a:solidFill>
            <a:srgbClr val="EAF2F8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3664" y="4773168"/>
            <a:ext cx="193624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AI prediction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74770" y="48280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7A57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11930" y="4663440"/>
            <a:ext cx="2045970" cy="594360"/>
          </a:xfrm>
          <a:prstGeom prst="roundRect">
            <a:avLst>
              <a:gd name="adj" fmla="val 12308"/>
            </a:avLst>
          </a:prstGeom>
          <a:solidFill>
            <a:srgbClr val="EAF2F8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6794" y="4773168"/>
            <a:ext cx="193624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Clinical review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57900" y="48280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7A57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5060" y="4663440"/>
            <a:ext cx="2045970" cy="594360"/>
          </a:xfrm>
          <a:prstGeom prst="roundRect">
            <a:avLst>
              <a:gd name="adj" fmla="val 12308"/>
            </a:avLst>
          </a:prstGeom>
          <a:solidFill>
            <a:srgbClr val="EAF2F8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9924" y="4773168"/>
            <a:ext cx="193624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Confirmatory assessment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41030" y="482803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7A57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78190" y="4663440"/>
            <a:ext cx="2045970" cy="594360"/>
          </a:xfrm>
          <a:prstGeom prst="roundRect">
            <a:avLst>
              <a:gd name="adj" fmla="val 12308"/>
            </a:avLst>
          </a:prstGeom>
          <a:solidFill>
            <a:srgbClr val="E2F0D9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3054" y="4773168"/>
            <a:ext cx="193624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Decision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37/40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Caso pedagógico para discusión de grupo.</a:t>
            </a:r>
            <a:endParaRPr lang="en-US" sz="57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clínicos: no todos cuestan lo mismo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Falso negativo vs falso positivo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80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1732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Falso negativo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755648"/>
            <a:ext cx="47914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Paciente realmente alto riesgo → modelo dice bajo riesgo. Puede retrasar intervención.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41732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Falso positivo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73952" y="1755648"/>
            <a:ext cx="47914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Paciente bajo riesgo → modelo dice alto riesgo. Puede aumentar pruebas, ansiedad y costo.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Discusión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Para screening, ¿qué error suele preocupar más? ¿Y para asignar tratamiento costoso o invasivo?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38/40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Prepara la Sesión 5 sobre sensibilidad, especificidad y ROC/AUC.</a:t>
            </a:r>
            <a:endParaRPr lang="en-US" sz="57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cierre — 10 preguntas prácticas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No memorizar: justificar decisiones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521208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5331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1. ¿Qué es target?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6400800" y="1234440"/>
            <a:ext cx="52120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35331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2. ¿Por qué separar train/test?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521208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3055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3. ¿Qué modelo da rutas visuales?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6400800" y="2011680"/>
            <a:ext cx="52120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13055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4. ¿Por qué RF puede superar un árbol?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521208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90779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5. ¿Qué compara kNN?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400800" y="2788920"/>
            <a:ext cx="52120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90779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6. ¿Patient_ID es feature?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731520" y="3566160"/>
            <a:ext cx="521208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8503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7. ¿Accuracy basta?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400800" y="3566160"/>
            <a:ext cx="52120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68503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8. ¿Qué es overfitting?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731520" y="4343400"/>
            <a:ext cx="521208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46227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9. ¿Qué es leakage?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6400800" y="4343400"/>
            <a:ext cx="52120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46227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65D"/>
                </a:solidFill>
              </a:rPr>
              <a:t>10. ¿Por qué revisión humana?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39/40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Quiz para cierre de sesión.</a:t>
            </a:r>
            <a:endParaRPr lang="en-US" sz="57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datos limpios a predicción clínica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Cierre y transición a la Sesión 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1115568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81328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Sesión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Clean data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61488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98648" y="13716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1481328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Sesión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Train classifiers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28616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65776" y="13716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481328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Compare models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95744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32904" y="13716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7768" y="1481328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D"/>
                </a:solidFill>
              </a:rPr>
              <a:t>Predict risk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262872" y="15361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5597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00032" y="13716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54896" y="1481328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Sesión 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B7A57"/>
                </a:solidFill>
              </a:rPr>
              <a:t>Evaluate clinical performance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Frase final para estudiantes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429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2C83"/>
                </a:solidFill>
              </a:rPr>
              <a:t>Un modelo clínico útil no es el que “gana” en una tabla: es el que ayuda a una decisión real, reduce errores y puede ser validado con pacientes nuevos.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31520" y="55778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696712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Próxima clase: sensibilidad, especificidad, matriz de confusión, ROC/AUC.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8A8A8A"/>
                </a:solidFill>
              </a:rPr>
              <a:t>Sesión 4 · Clasificación y predicción clínica · 40/40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4023360" y="65288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8A8A8A"/>
                </a:solidFill>
              </a:rPr>
              <a:t>Fin de la introducción teórica de 40 minutos.</a:t>
            </a:r>
            <a:endParaRPr lang="en-US" sz="5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SIT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4 — Clasificación y predicción clínica</dc:title>
  <dc:subject>Session 4 Clinical Classification and Prediction</dc:subject>
  <dc:creator>OpenAI</dc:creator>
  <cp:lastModifiedBy>OpenAI</cp:lastModifiedBy>
  <cp:revision>1</cp:revision>
  <dcterms:created xsi:type="dcterms:W3CDTF">2026-09-28T00:58:20Z</dcterms:created>
  <dcterms:modified xsi:type="dcterms:W3CDTF">2026-09-28T00:58:20Z</dcterms:modified>
</cp:coreProperties>
</file>