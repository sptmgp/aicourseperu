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C59"/>
                </a:solidFill>
              </a:rPr>
              <a:t>1 · Seis publicaciones que justifican IA + imágenes médicas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630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4A5568"/>
                </a:solidFill>
              </a:rPr>
              <a:t>Mapa docente para conectar práctica clínica con píxeles, CNN/ViT, embeddings, transfer learning, explicabilidad y validación.</a:t>
            </a:r>
            <a:endParaRPr lang="en-US" sz="970" dirty="0"/>
          </a:p>
        </p:txBody>
      </p:sp>
      <p:sp>
        <p:nvSpPr>
          <p:cNvPr id="4" name="Shape 2"/>
          <p:cNvSpPr/>
          <p:nvPr/>
        </p:nvSpPr>
        <p:spPr>
          <a:xfrm>
            <a:off x="512064" y="960120"/>
            <a:ext cx="1417320" cy="274320"/>
          </a:xfrm>
          <a:prstGeom prst="roundRect">
            <a:avLst>
              <a:gd name="adj" fmla="val 23333"/>
            </a:avLst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7784" y="102870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Mapa de evidencia</a:t>
            </a:r>
            <a:endParaRPr lang="en-US" sz="840" dirty="0"/>
          </a:p>
        </p:txBody>
      </p:sp>
      <p:pic>
        <p:nvPicPr>
          <p:cNvPr id="6" name="Image 0" descr="/mnt/data/session8_sixpubs_assets/10_six_publications_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39944"/>
            <a:ext cx="6446520" cy="36261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69480" y="1298448"/>
            <a:ext cx="4370832" cy="443484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34072" y="1408176"/>
            <a:ext cx="4041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75DA0"/>
                </a:solidFill>
              </a:rPr>
              <a:t>Texto exacto para explicar al estudiante</a:t>
            </a:r>
            <a:endParaRPr lang="en-US" sz="1340" dirty="0"/>
          </a:p>
        </p:txBody>
      </p:sp>
      <p:sp>
        <p:nvSpPr>
          <p:cNvPr id="9" name="Text 6"/>
          <p:cNvSpPr/>
          <p:nvPr/>
        </p:nvSpPr>
        <p:spPr>
          <a:xfrm>
            <a:off x="7470648" y="1847088"/>
            <a:ext cx="4023360" cy="3776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• La IA de imágenes no es “solo reconocer fotos”: convierte píxeles en señales clínicas medibles.
</a:t>
            </a:r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• Los mejores artículos demuestran impacto en workflow, detección, reducción de carga y validación prospectiva.
</a:t>
            </a:r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• La sesión 8 debe enseñar técnica + seguridad: imagen digital → modelo → mapa explicativo → evaluación clínica.
</a:t>
            </a:r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• Mensaje final: AUC alto no basta; hay que validar en pacientes, hospitales, modalidades y decisiones reales.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411480" y="6382512"/>
            <a:ext cx="11338560" cy="0"/>
          </a:xfrm>
          <a:prstGeom prst="line">
            <a:avLst/>
          </a:prstGeom>
          <a:noFill/>
          <a:ln w="8890">
            <a:solidFill>
              <a:srgbClr val="D1D5D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446520"/>
            <a:ext cx="1120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Seis publicaciones: AITIC, PRAIM, EyeFM, EAGLE, Virchow, CRISP · https://doi.org/10.1038/s41591-026-04277-x · https://doi.org/10.1038/s41591-024-03141-0 · https://doi.org/10.1038/s41591-026-04703-0</a:t>
            </a:r>
            <a:endParaRPr lang="en-US" sz="7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C59"/>
                </a:solidFill>
              </a:rPr>
              <a:t>2 · Mamografía: perfil del estudio y población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630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4A5568"/>
                </a:solidFill>
              </a:rPr>
              <a:t>El flujo de inclusión/exclusión enseña validación clínica: población real, PACS, calidad técnica y cohorte final.</a:t>
            </a:r>
            <a:endParaRPr lang="en-US" sz="970" dirty="0"/>
          </a:p>
        </p:txBody>
      </p:sp>
      <p:sp>
        <p:nvSpPr>
          <p:cNvPr id="4" name="Shape 2"/>
          <p:cNvSpPr/>
          <p:nvPr/>
        </p:nvSpPr>
        <p:spPr>
          <a:xfrm>
            <a:off x="512064" y="960120"/>
            <a:ext cx="1417320" cy="274320"/>
          </a:xfrm>
          <a:prstGeom prst="roundRect">
            <a:avLst>
              <a:gd name="adj" fmla="val 23333"/>
            </a:avLst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7784" y="102870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Figura / tabla</a:t>
            </a:r>
            <a:endParaRPr lang="en-US" sz="840" dirty="0"/>
          </a:p>
        </p:txBody>
      </p:sp>
      <p:pic>
        <p:nvPicPr>
          <p:cNvPr id="6" name="Image 0" descr="/mnt/data/session8_sixpubs_assets/01_aitic_fig1_study_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53283"/>
            <a:ext cx="6446520" cy="399949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69480" y="1298448"/>
            <a:ext cx="4370832" cy="443484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34072" y="1408176"/>
            <a:ext cx="4041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75DA0"/>
                </a:solidFill>
              </a:rPr>
              <a:t>Cómo satisface el tema de Sesión 8</a:t>
            </a:r>
            <a:endParaRPr lang="en-US" sz="1340" dirty="0"/>
          </a:p>
        </p:txBody>
      </p:sp>
      <p:sp>
        <p:nvSpPr>
          <p:cNvPr id="9" name="Text 6"/>
          <p:cNvSpPr/>
          <p:nvPr/>
        </p:nvSpPr>
        <p:spPr>
          <a:xfrm>
            <a:off x="7470648" y="1847088"/>
            <a:ext cx="4023360" cy="3776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• Imagen digital: mamografía/DBT entra desde el sistema clínico/PACS.
</a:t>
            </a:r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• Validación clínica: 31,301 mujeres; no es un experimento pequeño de laboratorio.
</a:t>
            </a:r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• La figura permite discutir sesgo de selección: estudios excluidos por fallas PACS, implantes o calidad técnica.
</a:t>
            </a:r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• Texto para decir: “Antes de preguntar si la CNN funciona, miramos en qué pacientes y qué imágenes fue probada.”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411480" y="6382512"/>
            <a:ext cx="11338560" cy="0"/>
          </a:xfrm>
          <a:prstGeom prst="line">
            <a:avLst/>
          </a:prstGeom>
          <a:noFill/>
          <a:ln w="8890">
            <a:solidFill>
              <a:srgbClr val="D1D5D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446520"/>
            <a:ext cx="1120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AI-based triage and decision support in mammography and digital tomosynthesis for breast cancer screening · Nature Medicine 2026 · https://doi.org/10.1038/s41591-026-04277-x</a:t>
            </a:r>
            <a:endParaRPr lang="en-US" sz="7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C59"/>
                </a:solidFill>
              </a:rPr>
              <a:t>3 · Mamografía: tabla de éxito clínico + workflow de IA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630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4A5568"/>
                </a:solidFill>
              </a:rPr>
              <a:t>La IA se usa como triaje: score bajo evita lectura humana; score alto recibe doble lectura con apoyo de IA.</a:t>
            </a:r>
            <a:endParaRPr lang="en-US" sz="970" dirty="0"/>
          </a:p>
        </p:txBody>
      </p:sp>
      <p:sp>
        <p:nvSpPr>
          <p:cNvPr id="4" name="Shape 2"/>
          <p:cNvSpPr/>
          <p:nvPr/>
        </p:nvSpPr>
        <p:spPr>
          <a:xfrm>
            <a:off x="512064" y="960120"/>
            <a:ext cx="1417320" cy="274320"/>
          </a:xfrm>
          <a:prstGeom prst="roundRect">
            <a:avLst>
              <a:gd name="adj" fmla="val 23333"/>
            </a:avLst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7784" y="102870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Figura / tabla</a:t>
            </a:r>
            <a:endParaRPr lang="en-US" sz="840" dirty="0"/>
          </a:p>
        </p:txBody>
      </p:sp>
      <p:pic>
        <p:nvPicPr>
          <p:cNvPr id="6" name="Image 0" descr="/mnt/data/session8_sixpubs_assets/02_aitic_table2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7122" y="1298448"/>
            <a:ext cx="4866132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69480" y="1298448"/>
            <a:ext cx="4370832" cy="443484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34072" y="1408176"/>
            <a:ext cx="4041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75DA0"/>
                </a:solidFill>
              </a:rPr>
              <a:t>Texto exacto para explicar</a:t>
            </a:r>
            <a:endParaRPr lang="en-US" sz="1340" dirty="0"/>
          </a:p>
        </p:txBody>
      </p:sp>
      <p:sp>
        <p:nvSpPr>
          <p:cNvPr id="9" name="Text 6"/>
          <p:cNvSpPr/>
          <p:nvPr/>
        </p:nvSpPr>
        <p:spPr>
          <a:xfrm>
            <a:off x="7470648" y="1847088"/>
            <a:ext cx="4023360" cy="3776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• La estrategia IA redujo la carga de lectura radiológica en 63.6%.
</a:t>
            </a:r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• La detección de cáncer aumentó de 6.3 a 7.3 por 1,000 mujeres.
</a:t>
            </a:r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• El recall también aumentó: punto clave para discutir falsos positivos y carga clínica.
</a:t>
            </a:r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• Sesión 8: CNN/score → threshold → decisión clínica → métrica de seguridad.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411480" y="6382512"/>
            <a:ext cx="11338560" cy="0"/>
          </a:xfrm>
          <a:prstGeom prst="line">
            <a:avLst/>
          </a:prstGeom>
          <a:noFill/>
          <a:ln w="8890">
            <a:solidFill>
              <a:srgbClr val="D1D5D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446520"/>
            <a:ext cx="1120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AI-based triage and decision support in mammography and digital tomosynthesis for breast cancer screening · Nature Medicine 2026 · https://doi.org/10.1038/s41591-026-04277-x</a:t>
            </a:r>
            <a:endParaRPr lang="en-US" sz="7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C59"/>
                </a:solidFill>
              </a:rPr>
              <a:t>4 · Mamografía: DM vs DBT demuestra que la modalidad importa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630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4A5568"/>
                </a:solidFill>
              </a:rPr>
              <a:t>La misma idea de IA puede comportarse diferente según mamografía digital 2D o tomosíntesis.</a:t>
            </a:r>
            <a:endParaRPr lang="en-US" sz="970" dirty="0"/>
          </a:p>
        </p:txBody>
      </p:sp>
      <p:sp>
        <p:nvSpPr>
          <p:cNvPr id="4" name="Shape 2"/>
          <p:cNvSpPr/>
          <p:nvPr/>
        </p:nvSpPr>
        <p:spPr>
          <a:xfrm>
            <a:off x="512064" y="960120"/>
            <a:ext cx="1417320" cy="274320"/>
          </a:xfrm>
          <a:prstGeom prst="roundRect">
            <a:avLst>
              <a:gd name="adj" fmla="val 23333"/>
            </a:avLst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7784" y="102870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Figura / tabla</a:t>
            </a:r>
            <a:endParaRPr lang="en-US" sz="840" dirty="0"/>
          </a:p>
        </p:txBody>
      </p:sp>
      <p:pic>
        <p:nvPicPr>
          <p:cNvPr id="6" name="Image 0" descr="/mnt/data/session8_sixpubs_assets/03_aitic_table3_moda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91267"/>
            <a:ext cx="6446520" cy="372352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69480" y="1298448"/>
            <a:ext cx="4370832" cy="443484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34072" y="1408176"/>
            <a:ext cx="4041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75DA0"/>
                </a:solidFill>
              </a:rPr>
              <a:t>Cómo conectarlo con CNN y validación</a:t>
            </a:r>
            <a:endParaRPr lang="en-US" sz="1340" dirty="0"/>
          </a:p>
        </p:txBody>
      </p:sp>
      <p:sp>
        <p:nvSpPr>
          <p:cNvPr id="9" name="Text 6"/>
          <p:cNvSpPr/>
          <p:nvPr/>
        </p:nvSpPr>
        <p:spPr>
          <a:xfrm>
            <a:off x="7470648" y="1847088"/>
            <a:ext cx="4023360" cy="3776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• DM y DBT tienen estructuras visuales distintas: cambian los píxeles, la profundidad y los patrones.
</a:t>
            </a:r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• Transfer learning ayuda, pero no elimina la necesidad de validar por modalidad.
</a:t>
            </a:r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• El estudiante debe aprender que “modelo aprobado” no significa “modelo universal”.
</a:t>
            </a:r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• Pregunta de clase: ¿usarías el mismo threshold para DM y DBT? ¿por qué?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411480" y="6382512"/>
            <a:ext cx="11338560" cy="0"/>
          </a:xfrm>
          <a:prstGeom prst="line">
            <a:avLst/>
          </a:prstGeom>
          <a:noFill/>
          <a:ln w="8890">
            <a:solidFill>
              <a:srgbClr val="D1D5D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446520"/>
            <a:ext cx="1120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AI-based triage and decision support in mammography and digital tomosynthesis for breast cancer screening · Nature Medicine 2026 · https://doi.org/10.1038/s41591-026-04277-x</a:t>
            </a:r>
            <a:endParaRPr lang="en-US" sz="7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C59"/>
                </a:solidFill>
              </a:rPr>
              <a:t>5 · Patología digital: de whole-slide image a foundation model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630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4A5568"/>
                </a:solidFill>
              </a:rPr>
              <a:t>Virchow muestra la ruta completa: WSI → tiles 224×224 → embeddings → agregador → tareas clínicas.</a:t>
            </a:r>
            <a:endParaRPr lang="en-US" sz="970" dirty="0"/>
          </a:p>
        </p:txBody>
      </p:sp>
      <p:sp>
        <p:nvSpPr>
          <p:cNvPr id="4" name="Shape 2"/>
          <p:cNvSpPr/>
          <p:nvPr/>
        </p:nvSpPr>
        <p:spPr>
          <a:xfrm>
            <a:off x="512064" y="960120"/>
            <a:ext cx="1417320" cy="274320"/>
          </a:xfrm>
          <a:prstGeom prst="roundRect">
            <a:avLst>
              <a:gd name="adj" fmla="val 23333"/>
            </a:avLst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7784" y="102870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Figura / tabla</a:t>
            </a:r>
            <a:endParaRPr lang="en-US" sz="840" dirty="0"/>
          </a:p>
        </p:txBody>
      </p:sp>
      <p:pic>
        <p:nvPicPr>
          <p:cNvPr id="6" name="Image 0" descr="/mnt/data/session8_sixpubs_assets/04_virchow_fig1_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4556" y="1298448"/>
            <a:ext cx="4291264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69480" y="1298448"/>
            <a:ext cx="4370832" cy="443484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34072" y="1408176"/>
            <a:ext cx="4041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008080"/>
                </a:solidFill>
              </a:rPr>
              <a:t>Explicación para estudiantes clínicos</a:t>
            </a:r>
            <a:endParaRPr lang="en-US" sz="1340" dirty="0"/>
          </a:p>
        </p:txBody>
      </p:sp>
      <p:sp>
        <p:nvSpPr>
          <p:cNvPr id="9" name="Text 6"/>
          <p:cNvSpPr/>
          <p:nvPr/>
        </p:nvSpPr>
        <p:spPr>
          <a:xfrm>
            <a:off x="7470648" y="1847088"/>
            <a:ext cx="4023360" cy="3776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• Una imagen histológica completa es demasiado grande; se divide en tiles de píxeles.
</a:t>
            </a:r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• El modelo aprende embeddings: representaciones profundas equivalentes a feature maps avanzados.
</a:t>
            </a:r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• Transfer learning: el mismo embedding sirve para cáncer, biomarcadores y clasificación de células.
</a:t>
            </a:r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• Texto para decir: “La red no memoriza una lámina; aprende patrones reutilizables de tejido.”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411480" y="6382512"/>
            <a:ext cx="11338560" cy="0"/>
          </a:xfrm>
          <a:prstGeom prst="line">
            <a:avLst/>
          </a:prstGeom>
          <a:noFill/>
          <a:ln w="8890">
            <a:solidFill>
              <a:srgbClr val="D1D5D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446520"/>
            <a:ext cx="1120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foundation model for clinical-grade computational pathology and rare cancers detection · Nature Medicine 2024 · https://doi.org/10.1038/s41591-024-03141-0</a:t>
            </a:r>
            <a:endParaRPr lang="en-US" sz="7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C59"/>
                </a:solidFill>
              </a:rPr>
              <a:t>6 · Virchow: detección pan-cáncer y cánceres raros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630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4A5568"/>
                </a:solidFill>
              </a:rPr>
              <a:t>La figura resume AUC, sensibilidad/especificidad, datos externos y escalamiento del modelo.</a:t>
            </a:r>
            <a:endParaRPr lang="en-US" sz="970" dirty="0"/>
          </a:p>
        </p:txBody>
      </p:sp>
      <p:sp>
        <p:nvSpPr>
          <p:cNvPr id="4" name="Shape 2"/>
          <p:cNvSpPr/>
          <p:nvPr/>
        </p:nvSpPr>
        <p:spPr>
          <a:xfrm>
            <a:off x="512064" y="960120"/>
            <a:ext cx="1417320" cy="274320"/>
          </a:xfrm>
          <a:prstGeom prst="roundRect">
            <a:avLst>
              <a:gd name="adj" fmla="val 23333"/>
            </a:avLst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7784" y="102870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Figura / tabla</a:t>
            </a:r>
            <a:endParaRPr lang="en-US" sz="840" dirty="0"/>
          </a:p>
        </p:txBody>
      </p:sp>
      <p:pic>
        <p:nvPicPr>
          <p:cNvPr id="6" name="Image 0" descr="/mnt/data/session8_sixpubs_assets/05_virchow_fig2_au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7127" y="1298448"/>
            <a:ext cx="4406122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69480" y="1298448"/>
            <a:ext cx="4370832" cy="443484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34072" y="1408176"/>
            <a:ext cx="4041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008080"/>
                </a:solidFill>
              </a:rPr>
              <a:t>Por qué es éxito clínico</a:t>
            </a:r>
            <a:endParaRPr lang="en-US" sz="1340" dirty="0"/>
          </a:p>
        </p:txBody>
      </p:sp>
      <p:sp>
        <p:nvSpPr>
          <p:cNvPr id="9" name="Text 6"/>
          <p:cNvSpPr/>
          <p:nvPr/>
        </p:nvSpPr>
        <p:spPr>
          <a:xfrm>
            <a:off x="7470648" y="1847088"/>
            <a:ext cx="4023360" cy="3776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• Demuestra que un foundation model puede funcionar en múltiples tipos tumorales, incluso raros.
</a:t>
            </a:r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• La validación externa y los tejidos no observados son esenciales para confianza clínica.
</a:t>
            </a:r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• Sesión 8: no se trata solo de “accuracy”; se evalúa AUC, especificidad a sensibilidad fija y generalización.
</a:t>
            </a:r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• Texto para decir: “La IA útil debe reconocer patrones fuera del hospital donde aprendió.”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411480" y="6382512"/>
            <a:ext cx="11338560" cy="0"/>
          </a:xfrm>
          <a:prstGeom prst="line">
            <a:avLst/>
          </a:prstGeom>
          <a:noFill/>
          <a:ln w="8890">
            <a:solidFill>
              <a:srgbClr val="D1D5D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446520"/>
            <a:ext cx="1120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foundation model for clinical-grade computational pathology and rare cancers detection · Nature Medicine 2024 · https://doi.org/10.1038/s41591-024-03141-0</a:t>
            </a:r>
            <a:endParaRPr lang="en-US" sz="7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C59"/>
                </a:solidFill>
              </a:rPr>
              <a:t>7 · Biomarcadores desde H&amp;E: imagen como señal molecular indirecta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630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4A5568"/>
                </a:solidFill>
              </a:rPr>
              <a:t>Virchow muestra cómo embeddings de H&amp;E pueden ayudar a predecir biomarcadores tradicionalmente medidos por IHC/secuenciación.</a:t>
            </a:r>
            <a:endParaRPr lang="en-US" sz="970" dirty="0"/>
          </a:p>
        </p:txBody>
      </p:sp>
      <p:sp>
        <p:nvSpPr>
          <p:cNvPr id="4" name="Shape 2"/>
          <p:cNvSpPr/>
          <p:nvPr/>
        </p:nvSpPr>
        <p:spPr>
          <a:xfrm>
            <a:off x="512064" y="960120"/>
            <a:ext cx="1417320" cy="274320"/>
          </a:xfrm>
          <a:prstGeom prst="roundRect">
            <a:avLst>
              <a:gd name="adj" fmla="val 23333"/>
            </a:avLst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7784" y="102870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Figura / tabla</a:t>
            </a:r>
            <a:endParaRPr lang="en-US" sz="840" dirty="0"/>
          </a:p>
        </p:txBody>
      </p:sp>
      <p:pic>
        <p:nvPicPr>
          <p:cNvPr id="6" name="Image 0" descr="/mnt/data/session8_sixpubs_assets/06_virchow_fig4_biomark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09" y="1298448"/>
            <a:ext cx="6150358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69480" y="1298448"/>
            <a:ext cx="4370832" cy="443484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34072" y="1408176"/>
            <a:ext cx="4041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008080"/>
                </a:solidFill>
              </a:rPr>
              <a:t>Cómo enseñarlo</a:t>
            </a:r>
            <a:endParaRPr lang="en-US" sz="1340" dirty="0"/>
          </a:p>
        </p:txBody>
      </p:sp>
      <p:sp>
        <p:nvSpPr>
          <p:cNvPr id="9" name="Text 6"/>
          <p:cNvSpPr/>
          <p:nvPr/>
        </p:nvSpPr>
        <p:spPr>
          <a:xfrm>
            <a:off x="7470648" y="1847088"/>
            <a:ext cx="4023360" cy="3776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• El tejido H&amp;E contiene patrones microscópicos relacionados con biología tumoral.
</a:t>
            </a:r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• La IA puede priorizar casos para pruebas adicionales, no sustituir automáticamente la confirmación molecular.
</a:t>
            </a:r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• Esto enseña transfer learning: un modelo preentrenado se adapta a una nueva tarea clínica.
</a:t>
            </a:r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• Actividad: pedir a estudiantes identificar qué biomarcadores parecen más predecibles y cuáles requieren cautela.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411480" y="6382512"/>
            <a:ext cx="11338560" cy="0"/>
          </a:xfrm>
          <a:prstGeom prst="line">
            <a:avLst/>
          </a:prstGeom>
          <a:noFill/>
          <a:ln w="8890">
            <a:solidFill>
              <a:srgbClr val="D1D5D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446520"/>
            <a:ext cx="1120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foundation model for clinical-grade computational pathology and rare cancers detection · Nature Medicine 2024 · https://doi.org/10.1038/s41591-024-03141-0</a:t>
            </a:r>
            <a:endParaRPr lang="en-US" sz="7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C59"/>
                </a:solidFill>
              </a:rPr>
              <a:t>8 · CRISP: foundation model para patología intraoperatoria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630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4A5568"/>
                </a:solidFill>
              </a:rPr>
              <a:t>El modelo está diseñado para frozen sections, no para FFPE convencional: eso enseña domain-specific AI.</a:t>
            </a:r>
            <a:endParaRPr lang="en-US" sz="970" dirty="0"/>
          </a:p>
        </p:txBody>
      </p:sp>
      <p:sp>
        <p:nvSpPr>
          <p:cNvPr id="4" name="Shape 2"/>
          <p:cNvSpPr/>
          <p:nvPr/>
        </p:nvSpPr>
        <p:spPr>
          <a:xfrm>
            <a:off x="512064" y="960120"/>
            <a:ext cx="1417320" cy="274320"/>
          </a:xfrm>
          <a:prstGeom prst="roundRect">
            <a:avLst>
              <a:gd name="adj" fmla="val 23333"/>
            </a:avLst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7784" y="102870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Figura / tabla</a:t>
            </a:r>
            <a:endParaRPr lang="en-US" sz="840" dirty="0"/>
          </a:p>
        </p:txBody>
      </p:sp>
      <p:pic>
        <p:nvPicPr>
          <p:cNvPr id="6" name="Image 0" descr="/mnt/data/session8_sixpubs_assets/07_crisp_fig1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2958" y="1298448"/>
            <a:ext cx="4374459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69480" y="1298448"/>
            <a:ext cx="4370832" cy="443484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34072" y="1408176"/>
            <a:ext cx="4041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C95F18"/>
                </a:solidFill>
              </a:rPr>
              <a:t>Relación con Sesión 8</a:t>
            </a:r>
            <a:endParaRPr lang="en-US" sz="1340" dirty="0"/>
          </a:p>
        </p:txBody>
      </p:sp>
      <p:sp>
        <p:nvSpPr>
          <p:cNvPr id="9" name="Text 6"/>
          <p:cNvSpPr/>
          <p:nvPr/>
        </p:nvSpPr>
        <p:spPr>
          <a:xfrm>
            <a:off x="7470648" y="1847088"/>
            <a:ext cx="4023360" cy="3776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• Imágenes digitales: frozen sections escaneadas durante cirugía.
</a:t>
            </a:r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• Píxeles/patches: el slide se segmenta, se tessela y se procesa como múltiples regiones.
</a:t>
            </a:r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• ViT/foundation model: aprende de 50 millones de patches y luego se adapta a decisiones quirúrgicas.
</a:t>
            </a:r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• Texto para decir: “La IA aquí no es post-proceso; entra en el flujo intraoperatorio.”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411480" y="6382512"/>
            <a:ext cx="11338560" cy="0"/>
          </a:xfrm>
          <a:prstGeom prst="line">
            <a:avLst/>
          </a:prstGeom>
          <a:noFill/>
          <a:ln w="8890">
            <a:solidFill>
              <a:srgbClr val="D1D5D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446520"/>
            <a:ext cx="1120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clinically-oriented foundation model for intraoperative pathology · Nature Medicine 2026 · https://doi.org/10.1038/s41591-026-04703-0</a:t>
            </a:r>
            <a:endParaRPr lang="en-US" sz="7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C59"/>
                </a:solidFill>
              </a:rPr>
              <a:t>9 · CRISP: evaluación en tareas de decisión intraoperatoria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630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4A5568"/>
                </a:solidFill>
              </a:rPr>
              <a:t>Múltiples gráficos comparan CRISP contra otros modelos y tareas clínicas de cirugía/patología.</a:t>
            </a:r>
            <a:endParaRPr lang="en-US" sz="970" dirty="0"/>
          </a:p>
        </p:txBody>
      </p:sp>
      <p:sp>
        <p:nvSpPr>
          <p:cNvPr id="4" name="Shape 2"/>
          <p:cNvSpPr/>
          <p:nvPr/>
        </p:nvSpPr>
        <p:spPr>
          <a:xfrm>
            <a:off x="512064" y="960120"/>
            <a:ext cx="1417320" cy="274320"/>
          </a:xfrm>
          <a:prstGeom prst="roundRect">
            <a:avLst>
              <a:gd name="adj" fmla="val 23333"/>
            </a:avLst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7784" y="102870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Figura / tabla</a:t>
            </a:r>
            <a:endParaRPr lang="en-US" sz="840" dirty="0"/>
          </a:p>
        </p:txBody>
      </p:sp>
      <p:pic>
        <p:nvPicPr>
          <p:cNvPr id="6" name="Image 0" descr="/mnt/data/session8_sixpubs_assets/08_crisp_fig2_ev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9289" y="1298448"/>
            <a:ext cx="4241797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69480" y="1298448"/>
            <a:ext cx="4370832" cy="443484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34072" y="1408176"/>
            <a:ext cx="4041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C95F18"/>
                </a:solidFill>
              </a:rPr>
              <a:t>Mensaje docente</a:t>
            </a:r>
            <a:endParaRPr lang="en-US" sz="1340" dirty="0"/>
          </a:p>
        </p:txBody>
      </p:sp>
      <p:sp>
        <p:nvSpPr>
          <p:cNvPr id="9" name="Text 6"/>
          <p:cNvSpPr/>
          <p:nvPr/>
        </p:nvSpPr>
        <p:spPr>
          <a:xfrm>
            <a:off x="7470648" y="1847088"/>
            <a:ext cx="4023360" cy="3776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• La IA de imágenes puede apoyar decisiones con consecuencias inmediatas: margen, malignidad, subtipo o necesidad de pruebas.
</a:t>
            </a:r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• La validación se hace por tarea clínica, no solo por “clasificación general”.
</a:t>
            </a:r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• Grad-CAM/explicabilidad: aunque el artículo usa visualización y scores, el principio docente es auditar dónde y cuándo falla.
</a:t>
            </a:r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• Pregunta de clase: ¿qué métrica pedirías antes de usarlo en quirófano?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411480" y="6382512"/>
            <a:ext cx="11338560" cy="0"/>
          </a:xfrm>
          <a:prstGeom prst="line">
            <a:avLst/>
          </a:prstGeom>
          <a:noFill/>
          <a:ln w="8890">
            <a:solidFill>
              <a:srgbClr val="D1D5D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446520"/>
            <a:ext cx="1120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clinically-oriented foundation model for intraoperative pathology · Nature Medicine 2026 · https://doi.org/10.1038/s41591-026-04703-0</a:t>
            </a:r>
            <a:endParaRPr lang="en-US" sz="7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C59"/>
                </a:solidFill>
              </a:rPr>
              <a:t>10 · CRISP: pan-cáncer, robustness y cierre para el proyecto estudiantil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630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4A5568"/>
                </a:solidFill>
              </a:rPr>
              <a:t>La figura muestra validación externa, tejidos no observados, cánceres raros y distribución de rendimiento.</a:t>
            </a:r>
            <a:endParaRPr lang="en-US" sz="970" dirty="0"/>
          </a:p>
        </p:txBody>
      </p:sp>
      <p:sp>
        <p:nvSpPr>
          <p:cNvPr id="4" name="Shape 2"/>
          <p:cNvSpPr/>
          <p:nvPr/>
        </p:nvSpPr>
        <p:spPr>
          <a:xfrm>
            <a:off x="512064" y="960120"/>
            <a:ext cx="1417320" cy="274320"/>
          </a:xfrm>
          <a:prstGeom prst="roundRect">
            <a:avLst>
              <a:gd name="adj" fmla="val 23333"/>
            </a:avLst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7784" y="102870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Figura / tabla</a:t>
            </a:r>
            <a:endParaRPr lang="en-US" sz="840" dirty="0"/>
          </a:p>
        </p:txBody>
      </p:sp>
      <p:pic>
        <p:nvPicPr>
          <p:cNvPr id="6" name="Image 0" descr="/mnt/data/session8_sixpubs_assets/09_crisp_pancanc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7774" y="1298448"/>
            <a:ext cx="4084828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69480" y="1298448"/>
            <a:ext cx="4370832" cy="443484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34072" y="1408176"/>
            <a:ext cx="4041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C95F18"/>
                </a:solidFill>
              </a:rPr>
              <a:t>Proyecto práctico MONAI/PyTorch</a:t>
            </a:r>
            <a:endParaRPr lang="en-US" sz="1340" dirty="0"/>
          </a:p>
        </p:txBody>
      </p:sp>
      <p:sp>
        <p:nvSpPr>
          <p:cNvPr id="9" name="Text 6"/>
          <p:cNvSpPr/>
          <p:nvPr/>
        </p:nvSpPr>
        <p:spPr>
          <a:xfrm>
            <a:off x="7470648" y="1847088"/>
            <a:ext cx="4023360" cy="3776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• Producto mínimo: clasificador de imagen médica + matriz de confusión + mapa explicativo tipo Grad-CAM.
</a:t>
            </a:r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• Los estudiantes deben reportar sensibilidad, especificidad, falsos positivos, falsos negativos y limitaciones.
</a:t>
            </a:r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• Cierre: “Un notebook no es dispositivo médico; es una simulación para aprender validación clínica.”
</a:t>
            </a:r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• La sesión queda completa: píxeles → patches → modelo → mapa → validación → decisión.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411480" y="6382512"/>
            <a:ext cx="11338560" cy="0"/>
          </a:xfrm>
          <a:prstGeom prst="line">
            <a:avLst/>
          </a:prstGeom>
          <a:noFill/>
          <a:ln w="8890">
            <a:solidFill>
              <a:srgbClr val="D1D5D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446520"/>
            <a:ext cx="1120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clinically-oriented foundation model for intraoperative pathology · Nature Medicine 2026 · https://doi.org/10.1038/s41591-026-04703-0</a:t>
            </a:r>
            <a:endParaRPr lang="en-US" sz="7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Sesion 8 - 10 diapositivas evidencia IA imagenes medicas</dc:title>
  <dc:subject>Sesion 8 - IA para imagenes medicas</dc:subject>
  <dc:creator>OpenAI</dc:creator>
  <cp:lastModifiedBy>OpenAI</cp:lastModifiedBy>
  <cp:revision>1</cp:revision>
  <dcterms:created xsi:type="dcterms:W3CDTF">2026-09-29T17:11:57Z</dcterms:created>
  <dcterms:modified xsi:type="dcterms:W3CDTF">2026-09-29T17:11:57Z</dcterms:modified>
</cp:coreProperties>
</file>