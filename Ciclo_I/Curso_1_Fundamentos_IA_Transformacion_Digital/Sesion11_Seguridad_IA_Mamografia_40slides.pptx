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1792"/>
            <a:ext cx="3291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00" b="1">
                <a:solidFill>
                  <a:srgbClr val="008993"/>
                </a:solidFill>
                <a:latin typeface="Aptos"/>
              </a:defRPr>
            </a:pPr>
            <a:r>
              <a:t>SESIÓN 11 · TEMA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5715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E2749"/>
                </a:solidFill>
                <a:latin typeface="Aptos"/>
              </a:defRPr>
            </a:pPr>
            <a:r>
              <a:t>Seguridad clínica</a:t>
            </a:r>
            <a:br/>
            <a:r>
              <a:t>¿qué ocurre cuando la IA se equivoca?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852928"/>
            <a:ext cx="5532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730" b="1">
                <a:solidFill>
                  <a:srgbClr val="0E2749"/>
                </a:solidFill>
                <a:latin typeface="Aptos"/>
              </a:defRPr>
            </a:pPr>
            <a:r>
              <a:t>Artículo + figuras + tablas + plots + discusión clínica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977639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spcAft>
                <a:spcPts val="200"/>
              </a:spcAft>
              <a:defRPr sz="1180">
                <a:solidFill>
                  <a:srgbClr val="212B3A"/>
                </a:solidFill>
                <a:latin typeface="Aptos"/>
              </a:defRPr>
            </a:pPr>
            <a:r>
              <a:t>• Artículo base: Elías-Cabot et al., Nature Medicine 2026.</a:t>
            </a:r>
          </a:p>
          <a:p>
            <a:pPr>
              <a:spcAft>
                <a:spcPts val="200"/>
              </a:spcAft>
              <a:defRPr sz="1180">
                <a:solidFill>
                  <a:srgbClr val="212B3A"/>
                </a:solidFill>
                <a:latin typeface="Aptos"/>
              </a:defRPr>
            </a:pPr>
            <a:r>
              <a:t>• Ensayo prospectivo pareado de no inferioridad.</a:t>
            </a:r>
          </a:p>
          <a:p>
            <a:pPr>
              <a:spcAft>
                <a:spcPts val="200"/>
              </a:spcAft>
              <a:defRPr sz="1180">
                <a:solidFill>
                  <a:srgbClr val="212B3A"/>
                </a:solidFill>
                <a:latin typeface="Aptos"/>
              </a:defRPr>
            </a:pPr>
            <a:r>
              <a:t>• Producto: análisis de error clínico + plan de contingencia.</a:t>
            </a:r>
          </a:p>
        </p:txBody>
      </p:sp>
      <p:pic>
        <p:nvPicPr>
          <p:cNvPr id="6" name="Picture 5" descr="title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777240"/>
            <a:ext cx="521208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5623560"/>
            <a:ext cx="5532120" cy="502920"/>
          </a:xfrm>
          <a:prstGeom prst="roundRect">
            <a:avLst/>
          </a:prstGeom>
          <a:solidFill>
            <a:srgbClr val="FFF2F5"/>
          </a:solidFill>
          <a:ln w="12700">
            <a:solidFill>
              <a:srgbClr val="E6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40" b="1">
                <a:solidFill>
                  <a:srgbClr val="B93434"/>
                </a:solidFill>
                <a:latin typeface="Aptos"/>
              </a:defRPr>
            </a:pPr>
            <a:r>
              <a:t>Pregunta guía: si la IA etiqueta “normal” un cáncer, ¿qué barreras de seguridad deben existir?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Resumen del artículo y pregunta de 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AITIC prueba si IA puede excluir estudios de bajo riesgo de lectura humana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Diseño en una línea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31,301 mujeres incluidas en el análisis.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Dos estrategias en paralelo: doble lectura estándar y estrategia AI parcial autónoma.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AI 1–7: bajo riesgo, clasificado normal sin lectura humana.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AI 8–10: doble lectura humana con apoyo de 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Por qué es ideal para seguridad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Resultado positivo: −63.6% workload y +15.2% CDR.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Riesgo: recall subió 14.8% y hubo cánceres AI-low-risk.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No adverse events reportados, pero la seguridad clínica requiere vigilancia continua.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Tema 6 enseña beneficio poblacional vs riesgo individual.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Figura 1: perfil del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De 33,171 invitadas a 31,301 mujeres incluidas</a:t>
            </a:r>
          </a:p>
        </p:txBody>
      </p:sp>
      <p:pic>
        <p:nvPicPr>
          <p:cNvPr id="4" name="Picture 3" descr="fig1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31,856 firmaron consentimiento informado.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555 excluidas por razones técnicas o clínicas.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 perfil revela puntos de fallo operacional: procesamiento AI, calidad técnica, implantes, PACS.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Para seguridad, un fallo de flujo puede ser tan importante como un fallo algorítmico.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Figura 2: diseño pareado del ensayo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Cada examen se evalúa en estrategia estándar y estrategia AI</a:t>
            </a:r>
          </a:p>
        </p:txBody>
      </p:sp>
      <p:pic>
        <p:nvPicPr>
          <p:cNvPr id="4" name="Picture 3" descr="fig2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estrategia estándar usa doble lectura humana sin IA.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estrategia AI clasifica 1–7 como normal y 8–10 como doble lectura con soporte AI.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Este diseño permite comparar CDR, RR, workload, PPV y FPR en la misma población.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 punto crítico de seguridad está en los casos 1–7 sin lectura humana.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Tabla 1: población y características basales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Qué población entra al análisis y qué riesgo de generalización queda</a:t>
            </a:r>
          </a:p>
        </p:txBody>
      </p:sp>
      <p:pic>
        <p:nvPicPr>
          <p:cNvPr id="4" name="Picture 3" descr="table1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Edad mediana: 59 años.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DM: 17,333; DBT: 13,968.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Densidad BI-RADS C/D: 27.6% / 5.3%.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 estudio no es “todos los pacientes”; la población y el flujo condicionan la seguridad del despliegue.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Plot: reducción de carga de trabajo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La IA reduce lectura humana al 36.4% de los estudios</a:t>
            </a:r>
          </a:p>
        </p:txBody>
      </p:sp>
      <p:pic>
        <p:nvPicPr>
          <p:cNvPr id="4" name="Picture 3" descr="workload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9496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55080" y="1143000"/>
            <a:ext cx="5166360" cy="38862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Discusión de seguridad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 resultado operacional principal es enorme: 63.6% menos lectura radiológica.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En seguridad, reducción de carga significa tiempo liberado, pero también más dependencia de triage automático.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pregunta clave: ¿qué QA reemplaza la lectura humana en los estudios 1–7?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440680"/>
            <a:ext cx="10515600" cy="5029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80" b="1">
                <a:solidFill>
                  <a:srgbClr val="0E2749"/>
                </a:solidFill>
                <a:latin typeface="Aptos"/>
              </a:defRPr>
            </a:pPr>
            <a:r>
              <a:t>Pregunta para estudiantes: ¿este beneficio poblacional compensa el riesgo individual, y bajo qué controles?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Tabla 2: resultados principales y secundarios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Workload, CDR, recall, PPV y FPR en total</a:t>
            </a:r>
          </a:p>
        </p:txBody>
      </p:sp>
      <p:pic>
        <p:nvPicPr>
          <p:cNvPr id="4" name="Picture 3" descr="table2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CDR sube de 6.3 a 7.3 por 1,000.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Recall sube de 4.8% a 5.5%; no se demuestra no inferioridad para RR.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FPR sube de 4.2% a 4.8%.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seguridad no es solo detectar más: también es controlar recalls y falsos positivos.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Plot: CDR y recall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Beneficio y trade-off en el mismo gráfico</a:t>
            </a:r>
          </a:p>
        </p:txBody>
      </p:sp>
      <p:pic>
        <p:nvPicPr>
          <p:cNvPr id="4" name="Picture 3" descr="cdr_rr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9496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55080" y="1143000"/>
            <a:ext cx="5166360" cy="38862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Discusión de seguridad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Mayor detección puede salvar diagnósticos tempranos.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Mayor recall puede generar ansiedad, biopsias o pruebas adicionales.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En Session 11, esta es la tensión central: beneficio poblacional vs daño por error o sobre-alerta.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440680"/>
            <a:ext cx="10515600" cy="5029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80" b="1">
                <a:solidFill>
                  <a:srgbClr val="0E2749"/>
                </a:solidFill>
                <a:latin typeface="Aptos"/>
              </a:defRPr>
            </a:pPr>
            <a:r>
              <a:t>Pregunta para estudiantes: ¿este beneficio poblacional compensa el riesgo individual, y bajo qué controles?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Plot: FPR y PPV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PPV casi igual; FPR aumenta con IA</a:t>
            </a:r>
          </a:p>
        </p:txBody>
      </p:sp>
      <p:pic>
        <p:nvPicPr>
          <p:cNvPr id="4" name="Picture 3" descr="fpr_ppv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9496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55080" y="1143000"/>
            <a:ext cx="5166360" cy="38862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Discusión de seguridad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PPV de recall se mantiene muy similar.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FPR aumenta 0.6 puntos porcentuales.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Una estrategia segura debe medir no solo cáncer detectado, sino carga de falsos positivos.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440680"/>
            <a:ext cx="10515600" cy="5029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80" b="1">
                <a:solidFill>
                  <a:srgbClr val="0E2749"/>
                </a:solidFill>
                <a:latin typeface="Aptos"/>
              </a:defRPr>
            </a:pPr>
            <a:r>
              <a:t>Pregunta para estudiantes: ¿este beneficio poblacional compensa el riesgo individual, y bajo qué controles?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La pregunta crítica: ¿qué ocurre cuando la IA se equivoca?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Del resultado promedio al caso individual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1280160" cy="731520"/>
          </a:xfrm>
          <a:prstGeom prst="roundRect">
            <a:avLst/>
          </a:prstGeom>
          <a:solidFill>
            <a:srgbClr val="B93434"/>
          </a:solidFill>
          <a:ln w="12700">
            <a:solidFill>
              <a:srgbClr val="B9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289304"/>
            <a:ext cx="2926080" cy="6217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1">
                <a:solidFill>
                  <a:srgbClr val="0E2749"/>
                </a:solidFill>
                <a:latin typeface="Aptos"/>
              </a:defRPr>
            </a:pPr>
            <a:r>
              <a:t>cánceres con score AI 1–7 etiquetados low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1280160" cy="731520"/>
          </a:xfrm>
          <a:prstGeom prst="roundRect">
            <a:avLst/>
          </a:prstGeom>
          <a:solidFill>
            <a:srgbClr val="D5762A"/>
          </a:solidFill>
          <a:ln w="12700">
            <a:solidFill>
              <a:srgbClr val="D57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295144"/>
            <a:ext cx="2926080" cy="6217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1">
                <a:solidFill>
                  <a:srgbClr val="0E2749"/>
                </a:solidFill>
                <a:latin typeface="Aptos"/>
              </a:defRPr>
            </a:pPr>
            <a:r>
              <a:t>cánceres con score 8–10 no detectados por los lectores de la estrategia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46120"/>
            <a:ext cx="1280160" cy="731520"/>
          </a:xfrm>
          <a:prstGeom prst="roundRect">
            <a:avLst/>
          </a:prstGeom>
          <a:solidFill>
            <a:srgbClr val="198060"/>
          </a:solidFill>
          <a:ln w="12700">
            <a:solidFill>
              <a:srgbClr val="19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300984"/>
            <a:ext cx="2926080" cy="62179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1">
                <a:solidFill>
                  <a:srgbClr val="0E2749"/>
                </a:solidFill>
                <a:latin typeface="Aptos"/>
              </a:defRPr>
            </a:pPr>
            <a:r>
              <a:t>cánceres detectados solo por la estrategia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143000"/>
            <a:ext cx="5349240" cy="41148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Discusión clínica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seguridad no se puede resumir en un solo número.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Un falso negativo individual puede retrasar diagnóstico.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Pero la estrategia AI también detectó más cánceres que la estándar.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Por eso el análisis debe comparar error humano, error AI y sistema híbrido.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57800"/>
            <a:ext cx="10332720" cy="64008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Mensaje: la IA no elimina error; redistribuye dónde ocurre el error y qué controles necesitamos.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Plot: cánceres detectados por una sola estrategia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AI-only vs standard-only</a:t>
            </a:r>
          </a:p>
        </p:txBody>
      </p:sp>
      <p:pic>
        <p:nvPicPr>
          <p:cNvPr id="4" name="Picture 3" descr="cancers_un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9496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55080" y="1143000"/>
            <a:ext cx="5166360" cy="38862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Discusión de seguridad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24 cánceres fueron detectados solo por la estrategia estándar.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54 cánceres fueron detectados solo por la estrategia AI.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comparación muestra que “IA se equivoca” y “humano se equivoca” deben estudiarse juntos.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440680"/>
            <a:ext cx="10515600" cy="5029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80" b="1">
                <a:solidFill>
                  <a:srgbClr val="0E2749"/>
                </a:solidFill>
                <a:latin typeface="Aptos"/>
              </a:defRPr>
            </a:pPr>
            <a:r>
              <a:t>Pregunta para estudiantes: ¿este beneficio poblacional compensa el riesgo individual, y bajo qué controles?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Plot: desglose de cánceres que la estrategia AI no detectó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Cánceres detectados solo por estándar</a:t>
            </a:r>
          </a:p>
        </p:txBody>
      </p:sp>
      <p:pic>
        <p:nvPicPr>
          <p:cNvPr id="4" name="Picture 3" descr="missed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9496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55080" y="1143000"/>
            <a:ext cx="5166360" cy="38862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Discusión de seguridad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11 eran low-risk AI score 1–7: hubieran sido automáticamente normales.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13 tenían score 8–10 pero no fueron recuperados por lectura humana en estrategia AI.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 plan de seguridad debe cubrir tanto triage autónomo como interacción humano–IA.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440680"/>
            <a:ext cx="10515600" cy="5029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80" b="1">
                <a:solidFill>
                  <a:srgbClr val="0E2749"/>
                </a:solidFill>
                <a:latin typeface="Aptos"/>
              </a:defRPr>
            </a:pPr>
            <a:r>
              <a:t>Pregunta para estudiantes: ¿este beneficio poblacional compensa el riesgo individual, y bajo qué controles?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Tabla 3: DM vs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El impacto de seguridad cambia por modalidad</a:t>
            </a:r>
          </a:p>
        </p:txBody>
      </p:sp>
      <p:pic>
        <p:nvPicPr>
          <p:cNvPr id="4" name="Picture 3" descr="table3_mod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DM: CDR sube 33.7%, pero RR sube 28.2%.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DBT: CDR y RR se mantienen similares.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Workload baja en ambas: −62.1% DM y −65.5% DBT.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Una política única puede no ser segura para todas las modalidades.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Plot: cancer detection rate por modalidad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AI mejora especialmente DM</a:t>
            </a:r>
          </a:p>
        </p:txBody>
      </p:sp>
      <p:pic>
        <p:nvPicPr>
          <p:cNvPr id="4" name="Picture 3" descr="modality_c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9496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55080" y="1143000"/>
            <a:ext cx="5166360" cy="38862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Discusión de seguridad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DM tiene aumento claro de CDR con AI.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DBT ya tenía CDR alto; AI mantiene resultados similares.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validación debe hacerse por modalidad, no solo en población total.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440680"/>
            <a:ext cx="10515600" cy="5029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80" b="1">
                <a:solidFill>
                  <a:srgbClr val="0E2749"/>
                </a:solidFill>
                <a:latin typeface="Aptos"/>
              </a:defRPr>
            </a:pPr>
            <a:r>
              <a:t>Pregunta para estudiantes: ¿este beneficio poblacional compensa el riesgo individual, y bajo qué controles?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Plot: recall rate por modalidad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El aumento de recall se concentra en DM</a:t>
            </a:r>
          </a:p>
        </p:txBody>
      </p:sp>
      <p:pic>
        <p:nvPicPr>
          <p:cNvPr id="4" name="Picture 3" descr="modality_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9496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55080" y="1143000"/>
            <a:ext cx="5166360" cy="38862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Discusión de seguridad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DM aumenta RR de 4.9% a 6.2%.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DBT mantiene RR similar o ligeramente menor.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seguridad operacional debe preparar capacidad para recalls adicionales en DM.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440680"/>
            <a:ext cx="10515600" cy="5029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80" b="1">
                <a:solidFill>
                  <a:srgbClr val="0E2749"/>
                </a:solidFill>
                <a:latin typeface="Aptos"/>
              </a:defRPr>
            </a:pPr>
            <a:r>
              <a:t>Pregunta para estudiantes: ¿este beneficio poblacional compensa el riesgo individual, y bajo qué controles?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Tabla 4: características histológicas detectadas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AI detecta más cánceres y características tempranas</a:t>
            </a:r>
          </a:p>
        </p:txBody>
      </p:sp>
      <p:pic>
        <p:nvPicPr>
          <p:cNvPr id="4" name="Picture 3" descr="table4_histology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AI detecta 30 cánceres adicionales en total.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Aumentan carcinomas invasivos y carcinoma in situ.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Aumenta detección de T1 y N0.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Interpretación: el beneficio podría ser diagnóstico más temprano, pero debe balancearse contra recalls.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Tabla 4 continuada: DM y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El beneficio histológico se concentra más en DM</a:t>
            </a:r>
          </a:p>
        </p:txBody>
      </p:sp>
      <p:pic>
        <p:nvPicPr>
          <p:cNvPr id="4" name="Picture 3" descr="table4_histology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DM muestra mayor incremento en total de cánceres detectados.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DBT muestra diferencias más pequeñas.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Los intervalos de confianza en subgrupos requieren cautela.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Tema de seguridad: no sobre-generalizar resultados secundarios.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Plot: características adicionales detectadas por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Más invasivo, in situ, T1 y N0</a:t>
            </a:r>
          </a:p>
        </p:txBody>
      </p:sp>
      <p:pic>
        <p:nvPicPr>
          <p:cNvPr id="4" name="Picture 3" descr="histology_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9496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55080" y="1143000"/>
            <a:ext cx="5166360" cy="388620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Discusión de seguridad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Los datos sugieren detección adicional de tumores potencialmente más tempranos.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T1 y N0 son clínicamente relevantes para pronóstico y tratamiento.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Sin embargo, el artículo no mide mortalidad ni outcome largo plazo.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440680"/>
            <a:ext cx="10515600" cy="5029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80" b="1">
                <a:solidFill>
                  <a:srgbClr val="0E2749"/>
                </a:solidFill>
                <a:latin typeface="Aptos"/>
              </a:defRPr>
            </a:pPr>
            <a:r>
              <a:t>Pregunta para estudiantes: ¿este beneficio poblacional compensa el riesgo individual, y bajo qué controles?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Extended Data Fig. 1: no inferioridad en CDR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Cancer detection rate: AI no inferior y superior en población total</a:t>
            </a:r>
          </a:p>
        </p:txBody>
      </p:sp>
      <p:pic>
        <p:nvPicPr>
          <p:cNvPr id="4" name="Picture 3" descr="edfig1_c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línea roja marca el umbral de no inferioridad.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Whole population y DM favorecen AI.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DBT muestra menor diferencia y más incertidumbre.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Útil para enseñar cómo se valida seguridad estadística.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Extended Data Fig. 2: recall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Recall no logra no inferioridad en población total</a:t>
            </a:r>
          </a:p>
        </p:txBody>
      </p:sp>
      <p:pic>
        <p:nvPicPr>
          <p:cNvPr id="4" name="Picture 3" descr="edfig2_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 recall aumenta en AI, especialmente DM.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Este es el principal trade-off de seguridad.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Más recalls pueden ser aceptables si la detección adicional es clínicamente valiosa.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Pero requiere comunicación y capacidad del sistema.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Extended Data Table 1: scores AI de cánceres detectados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Cómo se distribuyeron los cánceres por score AI</a:t>
            </a:r>
          </a:p>
        </p:txBody>
      </p:sp>
      <p:pic>
        <p:nvPicPr>
          <p:cNvPr id="4" name="Picture 3" descr="edtable1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Los scores permiten auditar dónde falla el umbral.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Un score bajo en cáncer detectado por estándar es el caso de seguridad más preocupante.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Un score alto no garantiza detección humana si el workflow falla.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tabla ayuda a definir umbrales y triggers de revisión.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Extended Data Table 2: cánceres detectados/no detectados en todos los estudios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Matriz para auditar discordancias</a:t>
            </a:r>
          </a:p>
        </p:txBody>
      </p:sp>
      <p:pic>
        <p:nvPicPr>
          <p:cNvPr id="4" name="Picture 3" descr="edtable2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seguridad debe estudiar concordancias y discordancias entre estrategias.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Casos detectados por ambos son robustos.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Casos detectados por una estrategia revelan fallos complementarios.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Esta matriz alimenta el registro de riesgos.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Extended Data Table 3: discordancias en 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Digital mammography necesita atención especial</a:t>
            </a:r>
          </a:p>
        </p:txBody>
      </p:sp>
      <p:pic>
        <p:nvPicPr>
          <p:cNvPr id="4" name="Picture 3" descr="edtable3_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DM muestra mayor ganancia de CDR y mayor recall.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Los errores deben separarse por modalidad.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Una auditoría local debe analizar DM y DBT por separado.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 umbral puede requerir adaptación según modalidad.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Extended Data Table 4: discordancias en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Tomosynthesis: carga baja, detección similar</a:t>
            </a:r>
          </a:p>
        </p:txBody>
      </p:sp>
      <p:pic>
        <p:nvPicPr>
          <p:cNvPr id="4" name="Picture 3" descr="edtable4_d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DBT logra gran reducción de carga.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CDR y RR se mantienen muy cercanos.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Pero 9 de 11 cánceres low-risk AI fueron DBT según el texto del artículo.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Esto obliga a vigilancia fina de DBT low-risk.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Extended Data Table 5: cánceres low-risk no detectados por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El núcleo del tema de seguridad</a:t>
            </a:r>
          </a:p>
        </p:txBody>
      </p:sp>
      <p:pic>
        <p:nvPicPr>
          <p:cNvPr id="4" name="Picture 3" descr="edtable5_low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Lista características de cánceres con score 1–7 no detectados por AI strategy.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Muestra tipo histológico, presentación radiológica, grado, visualización y modalidad.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Esta es la tabla para discutir “¿qué caso individual pudo ser dañado?”.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Debe convertirse en plan de contingencia.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Texto clave: barrera ética de lectura solo por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El artículo reconoce el problema de confiar la mayoría de casos a IA</a:t>
            </a:r>
          </a:p>
        </p:txBody>
      </p:sp>
      <p:pic>
        <p:nvPicPr>
          <p:cNvPr id="4" name="Picture 3" descr="discussion_safety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Los autores señalan el desafío ético de que la mayoría de mamografías sean leídas solo por IA.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Reconocen 11 cánceres missed by AI low-risk.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También comparan con 54 cánceres missed by radiologists without AI support.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Proponen QC automático, vigilancia postmarket y evaluación continua antes de implementar.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Métodos de seguridad: privacidad, integridad y error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Seguridad no física + ética institucional</a:t>
            </a:r>
          </a:p>
        </p:txBody>
      </p:sp>
      <p:pic>
        <p:nvPicPr>
          <p:cNvPr id="4" name="Picture 3" descr="methods_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62636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143000"/>
            <a:ext cx="4434840" cy="45262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Interpretación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 protocolo fue aprobado por comité ético y considerado de riesgo mínimo.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monitorización incluyó riesgos no físicos: integridad de datos, privacidad y error diagnóstico.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Las imágenes fueron anonimizadas antes del análisis.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Esto conecta seguridad clínica con privacidad y gobernanza.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Mapa de riesgos para la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Qué debemos vigilar si se adopta screening parcialmente autónomo</a:t>
            </a:r>
          </a:p>
        </p:txBody>
      </p:sp>
      <p:pic>
        <p:nvPicPr>
          <p:cNvPr id="4" name="Picture 3" descr="ris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577840" cy="4023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46520" y="1143000"/>
            <a:ext cx="48920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Riesgos principales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False negative: cáncer clasificado como normal.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False positive: recall innecesario y ansiedad.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Automation bias: lectores confían demasiado en score AI.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Performance drift: cambio de población, equipos o software.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Data integrity/privacy: fallos técnicos o de transferencia.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Flujo de seguridad para casos low-risk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Si no hay lectura humana, debe haber barreras equivalentes</a:t>
            </a:r>
          </a:p>
        </p:txBody>
      </p:sp>
      <p:pic>
        <p:nvPicPr>
          <p:cNvPr id="4" name="Picture 3" descr="safety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2708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" y="41148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Controles antes/después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Image quality control automático.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Revisión humana aleatoria de una muestra low-risk.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Auditoría mensual de distribución de scores.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Registro de interval cancers y callbacks.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4114800"/>
            <a:ext cx="4892040" cy="141732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Triggers de escalamiento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Escalar densidad extrema o mala calidad.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Escalar cambios sospechosos aunque score sea bajo.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Escalar casos con discordancia técnica.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Reentrenar/recalibrar solo con gobernanza.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Automation bias y error humano–IA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La estrategia no es “IA sola” ni “humano solo”, sino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Riesgo de interacción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Si AI score es 8–10, radiologists leen con apoyo AI.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Un score alto puede dirigir atención, pero también sesgar interpretación.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Un score bajo puede crear falsa tranquilidad si se automatiza como normal.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 sistema debe entrenar a lectores para usar AI como evidencia, no autoridad final.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Mitigación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Diseñar interfaz con incertidumbre visible.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Forzar revisión de signos críticos aunque AI score bajo en auditoría.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Registrar cuándo AI cambió decisión humana.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Revisar todos los cánceres de intervalo y misses.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Limitaciones que afectan seguridad externa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No todo resultado puede trasladarse directamente a otro hospital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Limitaciones del artículo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Estudio single-site.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Flujo de doble lectura sin arbitraje.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Cuatro dispositivos, todos de un solo vendor.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Un solo sistema AI comercial.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Muestra calculada para DM+DBT juntas, no separadas.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No se conoce tasa de cáncer de intervalo por estrategia.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Respuesta institucional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Validar localmente antes de implementar.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Probar con equipos propios y población local.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Monitorizar DBT y DM por separado.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No asumir equivalencia con otros vendors.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Crear dashboard de performance postmarket.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Registro de riesgos para el producto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Plantilla para que los estudiantes auditen la estrategia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2834640" cy="658368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Riesgo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7560" y="1143000"/>
            <a:ext cx="4206240" cy="658368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Evidencia del artículo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143000"/>
            <a:ext cx="4206240" cy="658368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Mitigación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01368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Falso negativo AI low-risk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0136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11 cánceres score 1–7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80136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Muestreo humano + interval cancer audit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59736"/>
            <a:ext cx="28346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Recall aumentado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459736"/>
            <a:ext cx="4206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RR +14.8%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459736"/>
            <a:ext cx="4206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Capacidad diagnóstica + comunicación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1810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FPR aumentado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11810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4.8% vs 4.2%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311810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Revisión de umbral y consenso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28346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Generalización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3776472"/>
            <a:ext cx="4206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single-site/one vendor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3776472"/>
            <a:ext cx="4206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Validación externa local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3484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Drift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44348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post-deployment changes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44348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Dashboard + vigilancia postmarket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93208"/>
            <a:ext cx="28346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Data privacy/integrity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5093208"/>
            <a:ext cx="4206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riesgos no físicos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5093208"/>
            <a:ext cx="4206240" cy="658368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anonimización + auditoría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Plan de contingencia: cuando la IA falla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El sistema debe saber qué hacer antes de desplegar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Flujo de respuesta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Detección: auditoría descubre cáncer low-risk, intervalo o reclamo.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Contención: revisar lote, equipo, modalidad y score threshold.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Análisis: comparar con lectura humana, calidad de imagen y presentación radiológica.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Acción: ajustar workflow, no solo algoritmo.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Comunicación: reporte a comité clínico, pacientes si aplica, vendor/regulador si corresponde.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Decisiones antes del go-live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Quién decide pausar.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Quién revisa casos low-risk.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Qué umbral dispara revisión.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Qué reporte mensual exige dirección médica.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Qué métricas se informan al comité de calidad.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Mini-investigación para estudiantes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Analizar el error clínico en AI screening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Pasos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Elegir un escenario: AI score 1–7 con cáncer detectado por estándar.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Clasificar tipo de error: bajo score, calidad de imagen, presentación sutil, DBT/DM.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Determinar daño posible: retraso, ansiedad, procedimiento adicional, carga radiológica.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Diseñar barrera: QC, muestreo, segundo lector, threshold o postmarket surveillance.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051560"/>
            <a:ext cx="5166360" cy="461772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Entregable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Diapositiva 1: caso y evidencia.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Diapositiva 2: mapa de riesgo.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Diapositiva 3: plan de mitigación.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Diapositiva 4: cómo medir si la mitigación funciona.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Conclusión: deploy sí/no/bajo condiciones.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Discusión 1: ¿qué significa “safe” en este ensayo?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No adverse events no significa ausencia de riesgo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Punto docente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 artículo reporta no adverse events.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Pero la propia metodología monitoriza riesgos no físicos.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En screening, el daño puede aparecer tarde: ansiedad, biopsia, retraso diagnóstico o intervalo cancer.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seguridad debe incluir seguimiento longitudinal.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Preguntas a la clase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¿Qué evento adverso contaría en IA screening?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¿Cómo detectar interval cancers si el diseño es pareado?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¿Quién responde por un falso negativo low-risk?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¿Qué métrica faltaría para despliegue real?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Discusión 2: comunicación con pacientes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Seguridad también es confianza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Mensaje de consentimiento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Las participantes fueron informadas y firmaron consentimiento.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En implementación rutinaria, las pacientes deben saber si parte del screening no recibe lectura humana.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Comunicar beneficio: más detección y menos carga.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Comunicar riesgo: posibles falsos negativos/positivos y mecanismos de revisión.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Texto ejemplo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“Un sistema de IA analizará su mamografía.”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“Algunos estudios de muy bajo riesgo pueden no requerir lectura humana.”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“El programa monitoriza errores y calidad continuamente.”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“Puede solicitar información sobre el proceso.”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Checklist antes de adoptar una estrategia similar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Del artículo a un hospital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Checklist técnico-clínico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Validación local con DM y DBT separados.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QA automático de calidad de imagen.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Auditoría de todos los cánceres con AI score low.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Plan para recalls adicionales.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Muestreo humano de low-risk normal.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Vigilancia de drift y actualización de software.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Checklist ético-operativo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Consentimiento/aviso al paciente.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Comité de gobernanza de IA.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Contrato con vendor y trazabilidad de versiones.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Definir liability y escalamiento.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Dashboard mensual a calidad/seguridad.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Revisión de equidad por edad/densidad/modalidad.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Cómo conectar con Session 11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Seguridad integra todos los temas anteriores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Vínculo con temas 1–5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Bias: ¿funciona igual por edad, densidad, modalidad?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Fairness: ¿algún grupo tiene más falsos negativos o recalls?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Privacidad: imágenes anonimizadas y data integrity.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Consentimiento: paciente sabe que IA participa.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Explicabilidad: score AI debe ser revisable y auditable.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Vínculo con temas 7–12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Validación interna/externa: no basta single-site.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Human-in-the-loop: cuándo revisar low-risk.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Regulación: postmarket surveillance.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Auditoría: registro de riesgos.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Mitigación: plan de contingencia.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Mensaje final para estudiantes clínicos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La IA segura no es perfecta; es vigilada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Conclusiones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El estudio demuestra que la IA puede reducir carga y aumentar detección.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También muestra trade-offs reales: recall/FPR y cánceres low-risk missed.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La seguridad clínica se diseña con vigilancia, revisión humana y auditoría.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No se despliega “porque funciona”; se despliega con controles explícitos.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430" b="1">
                <a:solidFill>
                  <a:srgbClr val="0E2749"/>
                </a:solidFill>
                <a:latin typeface="Aptos"/>
              </a:defRPr>
            </a:pPr>
            <a:r>
              <a:t>Seis preguntas de seguridad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¿Qué error puede causar daño?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¿Cómo lo detecto temprano?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¿Qué barrera lo reduce?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¿Quién es responsable?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¿Cómo se informa al paciente?</a:t>
            </a:r>
          </a:p>
          <a:p>
            <a:pPr>
              <a:spcAft>
                <a:spcPts val="200"/>
              </a:spcAft>
              <a:defRPr sz="1170">
                <a:solidFill>
                  <a:srgbClr val="212B3A"/>
                </a:solidFill>
                <a:latin typeface="Aptos"/>
              </a:defRPr>
            </a:pPr>
            <a:r>
              <a:t>• ¿Cuándo se pausa el sistema?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2749"/>
                </a:solidFill>
                <a:latin typeface="Aptos"/>
              </a:defRPr>
            </a:pPr>
            <a:r>
              <a:t>Cierre · Tema 6 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95668"/>
                </a:solidFill>
                <a:latin typeface="Aptos"/>
              </a:defRPr>
            </a:pPr>
            <a:r>
              <a:t>Producto final: análisis de error clínico + plan de contingencia</a:t>
            </a:r>
          </a:p>
        </p:txBody>
      </p:sp>
      <p:pic>
        <p:nvPicPr>
          <p:cNvPr id="4" name="Picture 3" descr="safety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789920" cy="2377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3977639"/>
            <a:ext cx="103327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600" b="1">
                <a:solidFill>
                  <a:srgbClr val="0E2749"/>
                </a:solidFill>
                <a:latin typeface="Aptos"/>
              </a:defRPr>
            </a:pPr>
            <a:r>
              <a:t>Frase final: “Un sistema de IA clínica es seguro cuando sus errores esperables tienen barreras, responsables, métricas y respuesta documentada.”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846320"/>
            <a:ext cx="9875520" cy="9601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spcAft>
                <a:spcPts val="200"/>
              </a:spcAft>
              <a:defRPr sz="1300">
                <a:solidFill>
                  <a:srgbClr val="212B3A"/>
                </a:solidFill>
                <a:latin typeface="Aptos"/>
              </a:defRPr>
            </a:pPr>
            <a:r>
              <a:t>• Entregar: 1 caso de error + 1 matriz de riesgo + 1 plan de mitigación + 1 métrica de seguimiento.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10">
                <a:solidFill>
                  <a:srgbClr val="697382"/>
                </a:solidFill>
                <a:latin typeface="Aptos"/>
              </a:defRPr>
            </a:pPr>
            <a:r>
              <a:t>Elías-Cabot et al. · “AI-based triage and decision support in mammography and digital tomosynthesis for breast cancer screening” · Nature Medicine 2026 · DOI: 10.1038/s41591-026-04277-x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