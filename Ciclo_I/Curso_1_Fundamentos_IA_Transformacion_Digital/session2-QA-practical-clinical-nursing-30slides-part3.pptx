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265D8"/>
          </a:solidFill>
          <a:ln w="12700">
            <a:solidFill>
              <a:srgbClr val="1265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pic>
        <p:nvPicPr>
          <p:cNvPr id="5" name="Image 0" descr="/mnt/data/a_realistic_cinematic_high_tech_medical_ai_resea.png">    </p:cNvPr>
          <p:cNvPicPr>
            <a:picLocks noChangeAspect="1"/>
          </p:cNvPicPr>
          <p:nvPr/>
        </p:nvPicPr>
        <p:blipFill>
          <a:blip r:embed="rId1"/>
          <a:srcRect l="18091" r="18091" t="0" b="0"/>
          <a:stretch/>
        </p:blipFill>
        <p:spPr>
          <a:xfrm>
            <a:off x="6035040" y="502920"/>
            <a:ext cx="5806440" cy="5120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6629400" cy="6629400"/>
          </a:xfrm>
          <a:prstGeom prst="rect">
            <a:avLst/>
          </a:prstGeom>
          <a:solidFill>
            <a:srgbClr val="F7FAFC">
              <a:alpha val="95000"/>
            </a:srgbClr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6400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65D8"/>
                </a:solidFill>
              </a:rPr>
              <a:t>Sesión 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1024128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8233F"/>
                </a:solidFill>
              </a:rPr>
              <a:t>Preguntas clínicas reales: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08233F"/>
                </a:solidFill>
              </a:rPr>
              <a:t>IA, ML, DL y GenAI en salud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685800" y="22402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30 slides · 20 minutos · enfoque clínico, enfermería y software no-code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13232" y="2971800"/>
            <a:ext cx="996696" cy="566928"/>
          </a:xfrm>
          <a:prstGeom prst="roundRect">
            <a:avLst>
              <a:gd name="adj" fmla="val 9677"/>
            </a:avLst>
          </a:prstGeom>
          <a:solidFill>
            <a:srgbClr val="D9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3072384"/>
            <a:ext cx="92354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AI routes</a:t>
            </a:r>
            <a:endParaRPr lang="en-US" sz="820" dirty="0"/>
          </a:p>
        </p:txBody>
      </p:sp>
      <p:sp>
        <p:nvSpPr>
          <p:cNvPr id="12" name="Text 9"/>
          <p:cNvSpPr/>
          <p:nvPr/>
        </p:nvSpPr>
        <p:spPr>
          <a:xfrm>
            <a:off x="1691640" y="312724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801368" y="2971800"/>
            <a:ext cx="996696" cy="566928"/>
          </a:xfrm>
          <a:prstGeom prst="roundRect">
            <a:avLst>
              <a:gd name="adj" fmla="val 9677"/>
            </a:avLst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837944" y="3072384"/>
            <a:ext cx="92354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ML predicts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2779776" y="312724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889504" y="2971800"/>
            <a:ext cx="996696" cy="566928"/>
          </a:xfrm>
          <a:prstGeom prst="roundRect">
            <a:avLst>
              <a:gd name="adj" fmla="val 9677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26080" y="3072384"/>
            <a:ext cx="92354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DL sees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3867912" y="312724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977640" y="2971800"/>
            <a:ext cx="996696" cy="566928"/>
          </a:xfrm>
          <a:prstGeom prst="roundRect">
            <a:avLst>
              <a:gd name="adj" fmla="val 9677"/>
            </a:avLst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014216" y="3072384"/>
            <a:ext cx="92354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GenAI writes</a:t>
            </a: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4956048" y="312724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065776" y="2971800"/>
            <a:ext cx="996696" cy="566928"/>
          </a:xfrm>
          <a:prstGeom prst="roundRect">
            <a:avLst>
              <a:gd name="adj" fmla="val 9677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02352" y="3072384"/>
            <a:ext cx="92354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Orange practices</a:t>
            </a:r>
            <a:endParaRPr lang="en-US" sz="820" dirty="0"/>
          </a:p>
        </p:txBody>
      </p:sp>
      <p:sp>
        <p:nvSpPr>
          <p:cNvPr id="24" name="Shape 21"/>
          <p:cNvSpPr/>
          <p:nvPr/>
        </p:nvSpPr>
        <p:spPr>
          <a:xfrm>
            <a:off x="713232" y="3767328"/>
            <a:ext cx="3246120" cy="320040"/>
          </a:xfrm>
          <a:prstGeom prst="roundRect">
            <a:avLst>
              <a:gd name="adj" fmla="val 22857"/>
            </a:avLst>
          </a:prstGeom>
          <a:solidFill>
            <a:srgbClr val="5B3FD9"/>
          </a:solidFill>
          <a:ln w="12700">
            <a:solidFill>
              <a:srgbClr val="5B3FD9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86384" y="3835908"/>
            <a:ext cx="309981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Para médicos, enfermería y estudiantes de salud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20040" y="6656832"/>
            <a:ext cx="9784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Curso: Fundamentos de IA y Transformación Digital en Salud · Sesión 2</a:t>
            </a:r>
            <a:endParaRPr lang="en-US" sz="660" dirty="0"/>
          </a:p>
        </p:txBody>
      </p:sp>
      <p:sp>
        <p:nvSpPr>
          <p:cNvPr id="27" name="Text 24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5B3FD9"/>
          </a:solidFill>
          <a:ln w="12700">
            <a:solidFill>
              <a:srgbClr val="5B3F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usar este bloque de preguntas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Cada pregunta nace de un problema clínico o de enfermería que ocurre todos los días.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5B3FD9"/>
          </a:solidFill>
          <a:ln w="12700">
            <a:solidFill>
              <a:srgbClr val="5B3F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81328"/>
            <a:ext cx="5394960" cy="2788920"/>
          </a:xfrm>
          <a:prstGeom prst="roundRect">
            <a:avLst>
              <a:gd name="adj" fmla="val 2623"/>
            </a:avLst>
          </a:prstGeom>
          <a:solidFill>
            <a:srgbClr val="FFF7ED"/>
          </a:solidFill>
          <a:ln w="12700">
            <a:solidFill>
              <a:srgbClr val="FED7AA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682496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3FD9"/>
                </a:solidFill>
              </a:rPr>
              <a:t>PREGUNTA CLÍNICA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493776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¿Por qué esta tecnología parece inevitable para hospitales y clínicas?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309360" y="1481328"/>
            <a:ext cx="5212080" cy="2788920"/>
          </a:xfrm>
          <a:prstGeom prst="roundRect">
            <a:avLst>
              <a:gd name="adj" fmla="val 2623"/>
            </a:avLst>
          </a:prstGeom>
          <a:solidFill>
            <a:srgbClr val="F0FDF4"/>
          </a:solidFill>
          <a:ln w="12700">
            <a:solidFill>
              <a:srgbClr val="BBF7D0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1682496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6A6"/>
                </a:solidFill>
              </a:rPr>
              <a:t>RESPUESTA OPERATIVA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537960" y="1984248"/>
            <a:ext cx="4754880" cy="2103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Porque ataca cuatro dolores diarios: exceso de documentación, demoras de priorización, datos dispersos y riesgo de error humano. La IA no reemplaza el juicio clínico; lo libera de tareas repetitivas y lo enfoca en decisiones.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4892040"/>
            <a:ext cx="1956816" cy="566928"/>
          </a:xfrm>
          <a:prstGeom prst="roundRect">
            <a:avLst>
              <a:gd name="adj" fmla="val 9677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4992624"/>
            <a:ext cx="188366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Tiempo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2852928" y="504748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62656" y="4892040"/>
            <a:ext cx="1956816" cy="566928"/>
          </a:xfrm>
          <a:prstGeom prst="roundRect">
            <a:avLst>
              <a:gd name="adj" fmla="val 9677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99232" y="4992624"/>
            <a:ext cx="188366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Costo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4901184" y="504748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10912" y="4892040"/>
            <a:ext cx="1956816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7488" y="4992624"/>
            <a:ext cx="188366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Precisión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6949440" y="504748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059168" y="4892040"/>
            <a:ext cx="1956816" cy="566928"/>
          </a:xfrm>
          <a:prstGeom prst="roundRect">
            <a:avLst>
              <a:gd name="adj" fmla="val 9677"/>
            </a:avLst>
          </a:prstGeom>
          <a:solidFill>
            <a:srgbClr val="FCE7F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95744" y="4992624"/>
            <a:ext cx="188366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Menos estrés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8997696" y="504748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107424" y="4892040"/>
            <a:ext cx="1956816" cy="566928"/>
          </a:xfrm>
          <a:prstGeom prst="roundRect">
            <a:avLst>
              <a:gd name="adj" fmla="val 9677"/>
            </a:avLst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0" y="4992624"/>
            <a:ext cx="188366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Seguridad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320040" y="6656832"/>
            <a:ext cx="9784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Marco docente del curso · conectar problema cotidiano → software → beneficio clínico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rápido: IA, ML, DL y GenAI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La diferencia no es solo técnica; cambia el tipo de problema que podemos resolver.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50876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EFF6FF"/>
          </a:solidFill>
          <a:ln w="12700">
            <a:solidFill>
              <a:srgbClr val="D9E3F0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783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65D8"/>
                </a:solidFill>
              </a:rPr>
              <a:t>IA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2423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Organiza / decide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1546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Mensaje → prioridad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150876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F0FDF4"/>
          </a:solidFill>
          <a:ln w="12700">
            <a:solidFill>
              <a:srgbClr val="D9E3F0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0" y="1783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A34A"/>
                </a:solidFill>
              </a:rPr>
              <a:t>ML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703320" y="2423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Predice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03320" y="31546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EHR → riesgo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150876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FFF7ED"/>
          </a:solidFill>
          <a:ln w="12700">
            <a:solidFill>
              <a:srgbClr val="D9E3F0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1783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7316"/>
                </a:solidFill>
              </a:rPr>
              <a:t>DL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583680" y="2423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Reconoce patrones complejos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31546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Rx → neumotórax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35440" y="150876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F5F3FF"/>
          </a:solidFill>
          <a:ln w="12700">
            <a:solidFill>
              <a:srgbClr val="D9E3F0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418320" y="1783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3FD9"/>
                </a:solidFill>
              </a:rPr>
              <a:t>GenAI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464040" y="2423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Genera contenido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64040" y="31546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Conversación → nota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20240" y="5486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233F"/>
                </a:solidFill>
              </a:rPr>
              <a:t>Frase docente: “AI routes · ML predicts · DL sees · GenAI writes.”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20040" y="6656832"/>
            <a:ext cx="9784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Clasificación pedagógica para la Sesión 2; no pretende sustituir definiciones formales completas</a:t>
            </a:r>
            <a:endParaRPr lang="en-US" sz="660" dirty="0"/>
          </a:p>
        </p:txBody>
      </p:sp>
      <p:sp>
        <p:nvSpPr>
          <p:cNvPr id="26" name="Text 24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265D8"/>
          </a:solidFill>
          <a:ln w="12700">
            <a:solidFill>
              <a:srgbClr val="1265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Q1 · Bandeja de mensajes del paciente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Problema diario: muchos mensajes, pocos profesionales, riesgo de urgencias escondidas.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1265D8"/>
          </a:solidFill>
          <a:ln w="12700">
            <a:solidFill>
              <a:srgbClr val="1265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81328"/>
            <a:ext cx="5394960" cy="3154680"/>
          </a:xfrm>
          <a:prstGeom prst="roundRect">
            <a:avLst>
              <a:gd name="adj" fmla="val 2319"/>
            </a:avLst>
          </a:prstGeom>
          <a:solidFill>
            <a:srgbClr val="FFF7ED"/>
          </a:solidFill>
          <a:ln w="12700">
            <a:solidFill>
              <a:srgbClr val="FED7AA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682496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65D8"/>
                </a:solidFill>
              </a:rPr>
              <a:t>PREGUNTA CLÍNICA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4937760" cy="2423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“En mi consulta llegan 150 mensajes diarios. ¿Cómo evito que un dolor torácico quede enterrado entre renovaciones de recetas?”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309360" y="1481328"/>
            <a:ext cx="5257800" cy="3154680"/>
          </a:xfrm>
          <a:prstGeom prst="roundRect">
            <a:avLst>
              <a:gd name="adj" fmla="val 2319"/>
            </a:avLst>
          </a:prstGeom>
          <a:solidFill>
            <a:srgbClr val="F0FDF4"/>
          </a:solidFill>
          <a:ln w="12700">
            <a:solidFill>
              <a:srgbClr val="BBF7D0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1682496"/>
            <a:ext cx="4800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RESPUESTA OPERATIVA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537960" y="1984248"/>
            <a:ext cx="4800600" cy="2468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Use IA/NLP para clasificar mensajes: administrativo, medicación, rutina clínica o alta prioridad. El objetivo no es diagnosticar, sino enrutar primero lo que puede dañar al paciente si espera.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5166360"/>
            <a:ext cx="2354580" cy="566928"/>
          </a:xfrm>
          <a:prstGeom prst="roundRect">
            <a:avLst>
              <a:gd name="adj" fmla="val 9677"/>
            </a:avLst>
          </a:prstGeom>
          <a:solidFill>
            <a:srgbClr val="D9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5296" y="5266944"/>
            <a:ext cx="228142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Portal paciente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3525012" y="532180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34740" y="5166360"/>
            <a:ext cx="2354580" cy="566928"/>
          </a:xfrm>
          <a:prstGeom prst="roundRect">
            <a:avLst>
              <a:gd name="adj" fmla="val 9677"/>
            </a:avLst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71316" y="5266944"/>
            <a:ext cx="228142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NLP / IA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5971032" y="532180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80760" y="5166360"/>
            <a:ext cx="2354580" cy="566928"/>
          </a:xfrm>
          <a:prstGeom prst="roundRect">
            <a:avLst>
              <a:gd name="adj" fmla="val 9677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17336" y="5266944"/>
            <a:ext cx="228142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HIGH ACUITY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8417052" y="532180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526780" y="5166360"/>
            <a:ext cx="2354580" cy="566928"/>
          </a:xfrm>
          <a:prstGeom prst="roundRect">
            <a:avLst>
              <a:gd name="adj" fmla="val 9677"/>
            </a:avLst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63356" y="5266944"/>
            <a:ext cx="228142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Clínico primero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320040" y="6656832"/>
            <a:ext cx="9784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externa: herramienta inteligente de mensajería clínica; concepto alineado con NLP/triage</a:t>
            </a:r>
            <a:endParaRPr lang="en-US" sz="660" dirty="0"/>
          </a:p>
        </p:txBody>
      </p:sp>
      <p:sp>
        <p:nvSpPr>
          <p:cNvPr id="26" name="Text 24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265D8"/>
          </a:solidFill>
          <a:ln w="12700">
            <a:solidFill>
              <a:srgbClr val="1265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A1 · Cómo lo enseño con software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Construir un clasificador no-code con mensajes clínicos ficticios.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1265D8"/>
          </a:solidFill>
          <a:ln w="12700">
            <a:solidFill>
              <a:srgbClr val="1265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17320"/>
            <a:ext cx="3657600" cy="4434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3F1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691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233F"/>
                </a:solidFill>
              </a:rPr>
              <a:t>Dataset mínimo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2148840"/>
            <a:ext cx="310896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Mensaje del paciente
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Categoría real
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Prioridad clínica
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Servicio destino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26280" y="1417320"/>
            <a:ext cx="3154680" cy="4434840"/>
          </a:xfrm>
          <a:prstGeom prst="roundRect">
            <a:avLst>
              <a:gd name="adj" fmla="val 2319"/>
            </a:avLst>
          </a:prstGeom>
          <a:solidFill>
            <a:srgbClr val="EFF6FF"/>
          </a:solidFill>
          <a:ln w="12700">
            <a:solidFill>
              <a:srgbClr val="D7E3F1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6916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233F"/>
                </a:solidFill>
              </a:rPr>
              <a:t>Orange workflow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73168" y="2148840"/>
            <a:ext cx="260604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File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Preprocess Text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Bag of Words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Logistic Regression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Confusion Matrix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55280" y="141732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0FDF4"/>
          </a:solidFill>
          <a:ln w="12700">
            <a:solidFill>
              <a:srgbClr val="D7E3F1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83880" y="16916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233F"/>
                </a:solidFill>
              </a:rPr>
              <a:t>Resultado clínico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02168" y="2148840"/>
            <a:ext cx="297180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Menos retraso en mensajes críticos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Menos estrés de bandeja saturada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Trazabilidad: quién revisó y cuándo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Médico/enfermería valida antes de actuar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585216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D9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5952744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CSV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2907792" y="600760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17520" y="585216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54096" y="5952744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Text Mining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5010912" y="600760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120640" y="585216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57216" y="5952744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Classifier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7114032" y="600760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23760" y="585216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0336" y="5952744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Priority queue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9217152" y="600760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326880" y="585216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63456" y="5952744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Review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320040" y="6656832"/>
            <a:ext cx="9784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Práctica sugerida: Orange Text Mining; usar datos sintéticos, no datos reales de pacientes</a:t>
            </a:r>
            <a:endParaRPr lang="en-US" sz="660" dirty="0"/>
          </a:p>
        </p:txBody>
      </p:sp>
      <p:sp>
        <p:nvSpPr>
          <p:cNvPr id="32" name="Text 30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Q2 · Reingreso a 30 días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Problema diario: camas limitadas y pacientes que regresan peor.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17320"/>
            <a:ext cx="5303520" cy="3108960"/>
          </a:xfrm>
          <a:prstGeom prst="roundRect">
            <a:avLst>
              <a:gd name="adj" fmla="val 2353"/>
            </a:avLst>
          </a:prstGeom>
          <a:solidFill>
            <a:srgbClr val="FFF7ED"/>
          </a:solidFill>
          <a:ln w="12700">
            <a:solidFill>
              <a:srgbClr val="FED7AA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618488"/>
            <a:ext cx="484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PREGUNTA CLÍNICA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1947672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“¿Cómo sé qué paciente dado de alta hoy tiene más probabilidad de volver en 30 días?”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349240" cy="3108960"/>
          </a:xfrm>
          <a:prstGeom prst="roundRect">
            <a:avLst>
              <a:gd name="adj" fmla="val 2353"/>
            </a:avLst>
          </a:prstGeom>
          <a:solidFill>
            <a:srgbClr val="F0FDF4"/>
          </a:solidFill>
          <a:ln w="12700">
            <a:solidFill>
              <a:srgbClr val="BBF7D0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1618488"/>
            <a:ext cx="4892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6A6"/>
                </a:solidFill>
              </a:rPr>
              <a:t>RESPUESTA OPERATIVA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92240" y="1920240"/>
            <a:ext cx="4892040" cy="2423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Machine Learning aprende patrones históricos: edad, comorbilidades, ingresos previos, medicación, laboratorios, severidad y apoyo social. La salida útil es una probabilidad accionable, no una sentencia.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05840" y="5212080"/>
            <a:ext cx="1938528" cy="566928"/>
          </a:xfrm>
          <a:prstGeom prst="roundRect">
            <a:avLst>
              <a:gd name="adj" fmla="val 9677"/>
            </a:avLst>
          </a:prstGeom>
          <a:solidFill>
            <a:srgbClr val="D9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5312664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EHR histórico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2926080" y="536752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35808" y="5212080"/>
            <a:ext cx="1938528" cy="566928"/>
          </a:xfrm>
          <a:prstGeom prst="roundRect">
            <a:avLst>
              <a:gd name="adj" fmla="val 9677"/>
            </a:avLst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72384" y="5312664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Features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4956048" y="536752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65776" y="5212080"/>
            <a:ext cx="1938528" cy="566928"/>
          </a:xfrm>
          <a:prstGeom prst="roundRect">
            <a:avLst>
              <a:gd name="adj" fmla="val 9677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02352" y="5312664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ML model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6986016" y="536752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095744" y="5212080"/>
            <a:ext cx="1938528" cy="566928"/>
          </a:xfrm>
          <a:prstGeom prst="roundRect">
            <a:avLst>
              <a:gd name="adj" fmla="val 9677"/>
            </a:avLst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5312664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Risk 0.78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9015984" y="536752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125712" y="5212080"/>
            <a:ext cx="1938528" cy="566928"/>
          </a:xfrm>
          <a:prstGeom prst="roundRect">
            <a:avLst>
              <a:gd name="adj" fmla="val 9677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62288" y="5312664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Seguimiento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320040" y="6656832"/>
            <a:ext cx="9784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externa: modelos de readmisión; relación con EHR y factores clínicos/sociales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A2 · Software para readmisión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No-code primero, Python después: la lógica es la misma.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8" name="Image 0" descr="/mnt/data/image(20260927-203954).png">    </p:cNvPr>
          <p:cNvPicPr>
            <a:picLocks noChangeAspect="1"/>
          </p:cNvPicPr>
          <p:nvPr/>
        </p:nvPicPr>
        <p:blipFill>
          <a:blip r:embed="rId1"/>
          <a:srcRect l="0" r="0" t="30722" b="30722"/>
          <a:stretch/>
        </p:blipFill>
        <p:spPr>
          <a:xfrm>
            <a:off x="6583680" y="1325880"/>
            <a:ext cx="4937760" cy="42519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" y="1325880"/>
            <a:ext cx="557784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7E3F1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16276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233F"/>
                </a:solidFill>
              </a:rPr>
              <a:t>Actividad práctica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8680" y="2103120"/>
            <a:ext cx="507492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Orange: File → Select Columns → Impute → Random Forest → Test &amp; Score.
</a:t>
            </a:r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Estudiantes comparan sensibilidad, especificidad y AUC.
</a:t>
            </a:r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Discusión: ¿qué paciente recibe llamada de enfermería mañana?
</a:t>
            </a:r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Cuidado: un score alto requiere evaluación humana, no automatizar abandono ni exclusión.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68680" y="4846320"/>
            <a:ext cx="4114800" cy="320040"/>
          </a:xfrm>
          <a:prstGeom prst="roundRect">
            <a:avLst>
              <a:gd name="adj" fmla="val 2285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41832" y="4914900"/>
            <a:ext cx="396849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Producto: lista de pacientes priorizados para seguimiento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20040" y="6656832"/>
            <a:ext cx="9784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inspirado en Orange Data Mining; práctica educativa con dataset sintético o abierto</a:t>
            </a:r>
            <a:endParaRPr lang="en-US" sz="660" dirty="0"/>
          </a:p>
        </p:txBody>
      </p:sp>
      <p:sp>
        <p:nvSpPr>
          <p:cNvPr id="15" name="Text 12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Q3 · Lista de radiografías atrasadas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Problema diario: miles de estudios, un hallazgo crítico puede esperar demasiado.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17320"/>
            <a:ext cx="5440680" cy="3108960"/>
          </a:xfrm>
          <a:prstGeom prst="roundRect">
            <a:avLst>
              <a:gd name="adj" fmla="val 2353"/>
            </a:avLst>
          </a:prstGeom>
          <a:solidFill>
            <a:srgbClr val="FFF7ED"/>
          </a:solidFill>
          <a:ln w="12700">
            <a:solidFill>
              <a:srgbClr val="FED7AA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618488"/>
            <a:ext cx="4983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</a:rPr>
              <a:t>PREGUNTA CLÍNICA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1947672"/>
            <a:ext cx="498348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“Si tengo 5,000 radiografías esperando, ¿cómo hago que un neumotórax llegue primero al radiólogo?”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257800" cy="3108960"/>
          </a:xfrm>
          <a:prstGeom prst="roundRect">
            <a:avLst>
              <a:gd name="adj" fmla="val 2353"/>
            </a:avLst>
          </a:prstGeom>
          <a:solidFill>
            <a:srgbClr val="F0FDF4"/>
          </a:solidFill>
          <a:ln w="12700">
            <a:solidFill>
              <a:srgbClr val="BBF7D0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1618488"/>
            <a:ext cx="4800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RESPUESTA OPERATIVA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537960" y="1920240"/>
            <a:ext cx="4800600" cy="2423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Deep Learning permite priorizar imágenes por probabilidad de hallazgo crítico. La meta segura es triage inteligente + revisión humana, no radiología autónoma sin control.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60120" y="5212080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" y="5312664"/>
            <a:ext cx="18928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Chest X-ray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2907792" y="536752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17520" y="5212080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54096" y="5312664"/>
            <a:ext cx="18928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CNN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4965192" y="536752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74920" y="5212080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11496" y="5312664"/>
            <a:ext cx="18928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Critical?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7022592" y="536752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32320" y="5212080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FFEDD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68896" y="5312664"/>
            <a:ext cx="18928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Queue ↑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9079992" y="536752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189720" y="5212080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26296" y="5312664"/>
            <a:ext cx="18928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Radiologist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320040" y="6656832"/>
            <a:ext cx="9784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Annarumma et al., Radiology 2019; Karan &amp; Elbek 2025 discuten IA torácica y falsos positivos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A3 · Evidencia + demostración segura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La frase clave: “priorizar para revisión humana”.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98448"/>
            <a:ext cx="5029200" cy="4480560"/>
          </a:xfrm>
          <a:prstGeom prst="roundRect">
            <a:avLst>
              <a:gd name="adj" fmla="val 1633"/>
            </a:avLst>
          </a:prstGeom>
          <a:solidFill>
            <a:srgbClr val="FFF7ED"/>
          </a:solidFill>
          <a:ln w="12700">
            <a:solidFill>
              <a:srgbClr val="FED7AA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160020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233F"/>
                </a:solidFill>
              </a:rPr>
              <a:t>Evidencia de radiología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057400"/>
            <a:ext cx="438912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Sistema entrenado con 470,388 radiografías.
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Retraso medio en críticos: 11.2 → 2.7 días.
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Urgentes: 7.6 → 4.1 días.
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Aplicación: “leer primero lo peligroso”.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89320" y="1298448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E3F1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pic>
        <p:nvPicPr>
          <p:cNvPr id="12" name="Image 0" descr="/mnt/data/turk_crops/p3_chest_examples.png">    </p:cNvPr>
          <p:cNvPicPr>
            <a:picLocks noChangeAspect="1"/>
          </p:cNvPicPr>
          <p:nvPr/>
        </p:nvPicPr>
        <p:blipFill>
          <a:blip r:embed="rId1"/>
          <a:srcRect l="0" r="0" t="11844" b="11844"/>
          <a:stretch/>
        </p:blipFill>
        <p:spPr>
          <a:xfrm>
            <a:off x="6236208" y="1627632"/>
            <a:ext cx="5074920" cy="32918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236208" y="507492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El artículo de referencia también muestra ejemplos en enfermedades torácicas.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20040" y="6656832"/>
            <a:ext cx="9784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Annarumma et al., Radiology 2019; Karan &amp; Elbek, Thorac Res Pract 2025</a:t>
            </a:r>
            <a:endParaRPr lang="en-US" sz="660" dirty="0"/>
          </a:p>
        </p:txBody>
      </p:sp>
      <p:sp>
        <p:nvSpPr>
          <p:cNvPr id="15" name="Text 12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Q4 · ¿DL aumenta precisión o solo velocidad?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Pregunta clínica crítica para médicos y enfermería.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17320"/>
            <a:ext cx="5440680" cy="3063240"/>
          </a:xfrm>
          <a:prstGeom prst="roundRect">
            <a:avLst>
              <a:gd name="adj" fmla="val 2388"/>
            </a:avLst>
          </a:prstGeom>
          <a:solidFill>
            <a:srgbClr val="FFF7ED"/>
          </a:solidFill>
          <a:ln w="12700">
            <a:solidFill>
              <a:srgbClr val="FED7AA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618488"/>
            <a:ext cx="4983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3636"/>
                </a:solidFill>
              </a:rPr>
              <a:t>PREGUNTA CLÍNICA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1947672"/>
            <a:ext cx="4983480" cy="2331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“Si el algoritmo marca neumotórax, ¿lo acepto directamente?”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257800" cy="3063240"/>
          </a:xfrm>
          <a:prstGeom prst="roundRect">
            <a:avLst>
              <a:gd name="adj" fmla="val 2388"/>
            </a:avLst>
          </a:prstGeom>
          <a:solidFill>
            <a:srgbClr val="F0FDF4"/>
          </a:solidFill>
          <a:ln w="12700">
            <a:solidFill>
              <a:srgbClr val="BBF7D0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1618488"/>
            <a:ext cx="4800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RESPUESTA OPERATIVA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537960" y="1920240"/>
            <a:ext cx="48006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No. Se usa como segunda mirada o priorizador. Puede aumentar sensibilidad, pero también puede generar falsos positivos. El valor real es alertar antes y reducir omisiones; la decisión final sigue siendo humana.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280160" y="5166360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16736" y="5266944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AI flag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3547872" y="532180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0" y="5166360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94176" y="5266944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Nurse/radiographer alert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5925312" y="532180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35040" y="5166360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71616" y="5266944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Radiologist review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8302752" y="532180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412480" y="5166360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49056" y="5266944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Clinical action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320040" y="6656832"/>
            <a:ext cx="9784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Karan &amp; Elbek 2025: IA torácica puede ayudar, pero se mencionan falsos positivos y necesidad de interpretación clínica</a:t>
            </a:r>
            <a:endParaRPr lang="en-US" sz="660" dirty="0"/>
          </a:p>
        </p:txBody>
      </p:sp>
      <p:sp>
        <p:nvSpPr>
          <p:cNvPr id="26" name="Text 24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5B3FD9"/>
          </a:solidFill>
          <a:ln w="12700">
            <a:solidFill>
              <a:srgbClr val="5B3F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Q5 · Documentación clínica y burnout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Problema diario: notas largas, doble registro, trabajo después del turno.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5B3FD9"/>
          </a:solidFill>
          <a:ln w="12700">
            <a:solidFill>
              <a:srgbClr val="5B3F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17320"/>
            <a:ext cx="5349240" cy="3108960"/>
          </a:xfrm>
          <a:prstGeom prst="roundRect">
            <a:avLst>
              <a:gd name="adj" fmla="val 2353"/>
            </a:avLst>
          </a:prstGeom>
          <a:solidFill>
            <a:srgbClr val="FFF7ED"/>
          </a:solidFill>
          <a:ln w="12700">
            <a:solidFill>
              <a:srgbClr val="FED7AA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618488"/>
            <a:ext cx="4892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3FD9"/>
                </a:solidFill>
              </a:rPr>
              <a:t>PREGUNTA CLÍNICA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1947672"/>
            <a:ext cx="489204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“¿Por qué termino mi jornada y todavía tengo que escribir notas clínicas?”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349240" cy="3108960"/>
          </a:xfrm>
          <a:prstGeom prst="roundRect">
            <a:avLst>
              <a:gd name="adj" fmla="val 2353"/>
            </a:avLst>
          </a:prstGeom>
          <a:solidFill>
            <a:srgbClr val="F0FDF4"/>
          </a:solidFill>
          <a:ln w="12700">
            <a:solidFill>
              <a:srgbClr val="BBF7D0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1618488"/>
            <a:ext cx="4892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RESPUESTA OPERATIVA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92240" y="1920240"/>
            <a:ext cx="4892040" cy="2423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GenAI puede crear un borrador SOAP a partir de la conversación médico-paciente. Pero siempre debe ser revisado, editado y aprobado por el profesional.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05840" y="5212080"/>
            <a:ext cx="1956816" cy="566928"/>
          </a:xfrm>
          <a:prstGeom prst="roundRect">
            <a:avLst>
              <a:gd name="adj" fmla="val 9677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5312664"/>
            <a:ext cx="188366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Conversación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2944368" y="536752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54096" y="5212080"/>
            <a:ext cx="1956816" cy="566928"/>
          </a:xfrm>
          <a:prstGeom prst="roundRect">
            <a:avLst>
              <a:gd name="adj" fmla="val 9677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90672" y="5312664"/>
            <a:ext cx="188366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Audio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4992624" y="536752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102352" y="5212080"/>
            <a:ext cx="1956816" cy="566928"/>
          </a:xfrm>
          <a:prstGeom prst="roundRect">
            <a:avLst>
              <a:gd name="adj" fmla="val 9677"/>
            </a:avLst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38928" y="5312664"/>
            <a:ext cx="188366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LLM draft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7040880" y="536752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50608" y="5212080"/>
            <a:ext cx="1956816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87184" y="5312664"/>
            <a:ext cx="188366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Revisión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9089136" y="536752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198864" y="5212080"/>
            <a:ext cx="1956816" cy="566928"/>
          </a:xfrm>
          <a:prstGeom prst="roundRect">
            <a:avLst>
              <a:gd name="adj" fmla="val 9677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0" y="5312664"/>
            <a:ext cx="188366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EHR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320040" y="6656832"/>
            <a:ext cx="9784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externa: ambient scribe asociado a reducción de tiempo de notas y trabajo fuera de horario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5B3FD9"/>
          </a:solidFill>
          <a:ln w="12700">
            <a:solidFill>
              <a:srgbClr val="5B3F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A5 · Ambient clinical documentation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La pregunta pedagógica: ¿dónde entra el juicio clínico?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5B3FD9"/>
          </a:solidFill>
          <a:ln w="12700">
            <a:solidFill>
              <a:srgbClr val="5B3FD9"/>
            </a:solidFill>
            <a:prstDash val="solid"/>
          </a:ln>
        </p:spPr>
      </p:sp>
      <p:pic>
        <p:nvPicPr>
          <p:cNvPr id="8" name="Image 0" descr="/mnt/data/a_wide_clean_modern_digital_illustration_of_a_he.png">    </p:cNvPr>
          <p:cNvPicPr>
            <a:picLocks noChangeAspect="1"/>
          </p:cNvPicPr>
          <p:nvPr/>
        </p:nvPicPr>
        <p:blipFill>
          <a:blip r:embed="rId1"/>
          <a:srcRect l="17799" r="17799" t="0" b="0"/>
          <a:stretch/>
        </p:blipFill>
        <p:spPr>
          <a:xfrm>
            <a:off x="6492240" y="1234440"/>
            <a:ext cx="5074920" cy="4434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" y="1234440"/>
            <a:ext cx="5532120" cy="4434840"/>
          </a:xfrm>
          <a:prstGeom prst="roundRect">
            <a:avLst>
              <a:gd name="adj" fmla="val 1649"/>
            </a:avLst>
          </a:prstGeom>
          <a:solidFill>
            <a:srgbClr val="F5F3FF"/>
          </a:solidFill>
          <a:ln w="12700">
            <a:solidFill>
              <a:srgbClr val="DDD6FE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1554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233F"/>
                </a:solidFill>
              </a:rPr>
              <a:t>Regla de seguridad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8680" y="2011680"/>
            <a:ext cx="498348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AI creates DRAFT, not final record.
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Clinician verifies diagnoses, medications and plan.
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Consent and transparency are mandatory.
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Student practice: transform a simulated conversation into SOAP note and audit errors.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68680" y="5074920"/>
            <a:ext cx="1143000" cy="566928"/>
          </a:xfrm>
          <a:prstGeom prst="roundRect">
            <a:avLst>
              <a:gd name="adj" fmla="val 9677"/>
            </a:avLst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5256" y="5175504"/>
            <a:ext cx="10698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AI draft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1993392" y="523036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103120" y="5074920"/>
            <a:ext cx="114300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139696" y="5175504"/>
            <a:ext cx="10698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Clinical edit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3227832" y="523036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337560" y="5074920"/>
            <a:ext cx="1143000" cy="566928"/>
          </a:xfrm>
          <a:prstGeom prst="roundRect">
            <a:avLst>
              <a:gd name="adj" fmla="val 9677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74136" y="5175504"/>
            <a:ext cx="10698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Approve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4462272" y="523036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0" y="5074920"/>
            <a:ext cx="1143000" cy="566928"/>
          </a:xfrm>
          <a:prstGeom prst="roundRect">
            <a:avLst>
              <a:gd name="adj" fmla="val 9677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08576" y="5175504"/>
            <a:ext cx="10698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EHR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320040" y="6656832"/>
            <a:ext cx="9784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Ambient scribe literature; responsible use requires review, consent and EHR governance</a:t>
            </a:r>
            <a:endParaRPr lang="en-US" sz="660" dirty="0"/>
          </a:p>
        </p:txBody>
      </p:sp>
      <p:sp>
        <p:nvSpPr>
          <p:cNvPr id="24" name="Text 21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Q6 · Pase de turno de enfermería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Problema diario: información incompleta entre turnos.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1732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7ED"/>
          </a:solidFill>
          <a:ln w="12700">
            <a:solidFill>
              <a:srgbClr val="FED7AA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61848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6A6"/>
                </a:solidFill>
              </a:rPr>
              <a:t>PREGUNTA CLÍNICA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1947672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“¿Cómo evito que en el cambio de turno se pierdan alergias, riesgos de caída o resultados pendientes?”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257800" cy="3108960"/>
          </a:xfrm>
          <a:prstGeom prst="roundRect">
            <a:avLst>
              <a:gd name="adj" fmla="val 2353"/>
            </a:avLst>
          </a:prstGeom>
          <a:solidFill>
            <a:srgbClr val="F0FDF4"/>
          </a:solidFill>
          <a:ln w="12700">
            <a:solidFill>
              <a:srgbClr val="BBF7D0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1618488"/>
            <a:ext cx="4800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RESPUESTA OPERATIVA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537960" y="1920240"/>
            <a:ext cx="4800600" cy="2423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Use GenAI como generador de resumen estructurado: SBAR, pendientes, alertas y riesgos. Enfermería valida y firma el resumen; el sistema no reemplaza la comunicación humana.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5212080"/>
            <a:ext cx="1984248" cy="566928"/>
          </a:xfrm>
          <a:prstGeom prst="roundRect">
            <a:avLst>
              <a:gd name="adj" fmla="val 9677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5312664"/>
            <a:ext cx="19110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Notas + vitals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2880360" y="536752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90088" y="5212080"/>
            <a:ext cx="1984248" cy="566928"/>
          </a:xfrm>
          <a:prstGeom prst="roundRect">
            <a:avLst>
              <a:gd name="adj" fmla="val 9677"/>
            </a:avLst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26664" y="5312664"/>
            <a:ext cx="19110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LLM summary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4956048" y="536752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65776" y="5212080"/>
            <a:ext cx="1984248" cy="566928"/>
          </a:xfrm>
          <a:prstGeom prst="roundRect">
            <a:avLst>
              <a:gd name="adj" fmla="val 9677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02352" y="5312664"/>
            <a:ext cx="19110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SBAR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7031736" y="536752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41464" y="5212080"/>
            <a:ext cx="1984248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5312664"/>
            <a:ext cx="19110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Nurse review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9107424" y="536752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217152" y="5212080"/>
            <a:ext cx="1984248" cy="566928"/>
          </a:xfrm>
          <a:prstGeom prst="roundRect">
            <a:avLst>
              <a:gd name="adj" fmla="val 9677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53728" y="5312664"/>
            <a:ext cx="19110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Handover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320040" y="6656832"/>
            <a:ext cx="9784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Aplicación educativa: LLM con datos ficticios; revisar errores y omisiones antes de aprobar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A6 · Prompt clínico usable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Una plantilla que médicos y enfermería pueden adaptar.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234440"/>
            <a:ext cx="10972800" cy="4526280"/>
          </a:xfrm>
          <a:prstGeom prst="roundRect">
            <a:avLst>
              <a:gd name="adj" fmla="val 1616"/>
            </a:avLst>
          </a:prstGeom>
          <a:solidFill>
            <a:srgbClr val="0B1220"/>
          </a:solidFill>
          <a:ln w="12700">
            <a:solidFill>
              <a:srgbClr val="0B1220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36192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Prompt seguro para resumen de pase de turno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2057400"/>
            <a:ext cx="10149840" cy="2011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</a:rPr>
              <a:t>“Resume esta nota clínica ficticia en formato SBAR. Devuelve: Situación, Antecedentes, Evaluación, Recomendación, alergias, riesgos de caída, medicamentos críticos, exámenes pendientes y dudas para confirmar. No inventes datos. Si falta información, escribe: NO DOCUMENTADO.”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60120" y="4800600"/>
            <a:ext cx="10149840" cy="475488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937760"/>
            <a:ext cx="9875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BBF24"/>
                </a:solidFill>
              </a:rPr>
              <a:t>Práctica: comparar resumen humano vs. IA y marcar omisiones peligrosas.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0040" y="6656832"/>
            <a:ext cx="9784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responsable: no usar datos reales sin autorización; revisión humana obligatoria</a:t>
            </a:r>
            <a:endParaRPr lang="en-US" sz="660" dirty="0"/>
          </a:p>
        </p:txBody>
      </p:sp>
      <p:sp>
        <p:nvSpPr>
          <p:cNvPr id="14" name="Text 12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D73636"/>
          </a:solidFill>
          <a:ln w="12700">
            <a:solidFill>
              <a:srgbClr val="D736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Q7 · Medicación y errores evitables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Problema diario: receta, alergias y dosis en sistemas distintos.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D73636"/>
          </a:solidFill>
          <a:ln w="12700">
            <a:solidFill>
              <a:srgbClr val="D736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1732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FFF7ED"/>
          </a:solidFill>
          <a:ln w="12700">
            <a:solidFill>
              <a:srgbClr val="FED7AA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61848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3636"/>
                </a:solidFill>
              </a:rPr>
              <a:t>PREGUNTA CLÍNICA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1947672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“El paciente dice que toma algo, farmacia tiene otra lista, y la nota previa otra. ¿Cómo reduce IA este caos?”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F0FDF4"/>
          </a:solidFill>
          <a:ln w="12700">
            <a:solidFill>
              <a:srgbClr val="BBF7D0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1618488"/>
            <a:ext cx="4800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RESPUESTA OPERATIVA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537960" y="1920240"/>
            <a:ext cx="4800600" cy="2514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NLP extrae medicamentos de notas, reglas verifican alergias/interacciones y el EHR muestra discrepancias. El objetivo es reconciliación asistida, no prescripción automática.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05840" y="5303520"/>
            <a:ext cx="1938528" cy="566928"/>
          </a:xfrm>
          <a:prstGeom prst="roundRect">
            <a:avLst>
              <a:gd name="adj" fmla="val 9677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5404104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Notas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2926080" y="545896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35808" y="5303520"/>
            <a:ext cx="1938528" cy="566928"/>
          </a:xfrm>
          <a:prstGeom prst="roundRect">
            <a:avLst>
              <a:gd name="adj" fmla="val 9677"/>
            </a:avLst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72384" y="5404104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NLP meds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4956048" y="545896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65776" y="5303520"/>
            <a:ext cx="1938528" cy="566928"/>
          </a:xfrm>
          <a:prstGeom prst="roundRect">
            <a:avLst>
              <a:gd name="adj" fmla="val 9677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02352" y="5404104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Allergy rules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6986016" y="545896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095744" y="5303520"/>
            <a:ext cx="1938528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5404104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Discrepancy list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9015984" y="545896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125712" y="5303520"/>
            <a:ext cx="1938528" cy="566928"/>
          </a:xfrm>
          <a:prstGeom prst="roundRect">
            <a:avLst>
              <a:gd name="adj" fmla="val 9677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62288" y="5404104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Clinician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320040" y="6656832"/>
            <a:ext cx="9784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 NLP, EHR y clinical decision support; el humano valida cada cambio de medicación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D73636"/>
          </a:solidFill>
          <a:ln w="12700">
            <a:solidFill>
              <a:srgbClr val="D736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A7 · Mini-programa práctico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Diseñar una tabla de reconciliación de medicación.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D73636"/>
          </a:solidFill>
          <a:ln w="12700">
            <a:solidFill>
              <a:srgbClr val="D736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25880"/>
            <a:ext cx="110185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E3F1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160020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233F"/>
                </a:solidFill>
              </a:rPr>
              <a:t>Estructura mínima del ejercicio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2148840"/>
            <a:ext cx="1188720" cy="438912"/>
          </a:xfrm>
          <a:prstGeom prst="roundRect">
            <a:avLst>
              <a:gd name="adj" fmla="val 625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" y="2267712"/>
            <a:ext cx="1115568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233F"/>
                </a:solidFill>
              </a:rPr>
              <a:t>Fuente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40280" y="2148840"/>
            <a:ext cx="1463040" cy="438912"/>
          </a:xfrm>
          <a:prstGeom prst="roundRect">
            <a:avLst>
              <a:gd name="adj" fmla="val 625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76856" y="2267712"/>
            <a:ext cx="1389888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233F"/>
                </a:solidFill>
              </a:rPr>
              <a:t>Medicamento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977640" y="2148840"/>
            <a:ext cx="1005840" cy="438912"/>
          </a:xfrm>
          <a:prstGeom prst="roundRect">
            <a:avLst>
              <a:gd name="adj" fmla="val 625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14216" y="2267712"/>
            <a:ext cx="932688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233F"/>
                </a:solidFill>
              </a:rPr>
              <a:t>Dosis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66360" y="2148840"/>
            <a:ext cx="1234440" cy="438912"/>
          </a:xfrm>
          <a:prstGeom prst="roundRect">
            <a:avLst>
              <a:gd name="adj" fmla="val 625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02936" y="2267712"/>
            <a:ext cx="1161288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233F"/>
                </a:solidFill>
              </a:rPr>
              <a:t>Frecuencia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583680" y="2148840"/>
            <a:ext cx="1600200" cy="438912"/>
          </a:xfrm>
          <a:prstGeom prst="roundRect">
            <a:avLst>
              <a:gd name="adj" fmla="val 625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0256" y="2267712"/>
            <a:ext cx="1527048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233F"/>
                </a:solidFill>
              </a:rPr>
              <a:t>Problema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412480" y="2148840"/>
            <a:ext cx="2377440" cy="438912"/>
          </a:xfrm>
          <a:prstGeom prst="roundRect">
            <a:avLst>
              <a:gd name="adj" fmla="val 625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49056" y="2267712"/>
            <a:ext cx="2304288" cy="1097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233F"/>
                </a:solidFill>
              </a:rPr>
              <a:t>Acción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68680" y="2788920"/>
            <a:ext cx="1188720" cy="38404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40280" y="2788920"/>
            <a:ext cx="1463040" cy="38404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77640" y="2788920"/>
            <a:ext cx="1005840" cy="38404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66360" y="2788920"/>
            <a:ext cx="1234440" cy="38404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2788920"/>
            <a:ext cx="1600200" cy="38404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12480" y="2788920"/>
            <a:ext cx="2377440" cy="38404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56" y="2889504"/>
            <a:ext cx="111556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Paciente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68680" y="3337560"/>
            <a:ext cx="1188720" cy="384048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40280" y="3337560"/>
            <a:ext cx="1463040" cy="384048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77640" y="3337560"/>
            <a:ext cx="1005840" cy="384048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66360" y="3337560"/>
            <a:ext cx="1234440" cy="384048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0" y="3337560"/>
            <a:ext cx="1600200" cy="384048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12480" y="3337560"/>
            <a:ext cx="2377440" cy="384048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5256" y="3438144"/>
            <a:ext cx="111556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EHR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68680" y="3886200"/>
            <a:ext cx="1188720" cy="38404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40280" y="3886200"/>
            <a:ext cx="1463040" cy="38404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77640" y="3886200"/>
            <a:ext cx="1005840" cy="38404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66360" y="3886200"/>
            <a:ext cx="1234440" cy="38404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83680" y="3886200"/>
            <a:ext cx="1600200" cy="38404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12480" y="3886200"/>
            <a:ext cx="2377440" cy="38404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5256" y="3986784"/>
            <a:ext cx="111556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Farmacia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68680" y="5074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3636"/>
                </a:solidFill>
              </a:rPr>
              <a:t>Actividad: alimentar la tabla con datos ficticios, usar reglas simples y discutir qué requiere llamada de enfermería o médico.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20040" y="6656832"/>
            <a:ext cx="9784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Herramientas: Excel/Sheets, Orange para texto, o script simple en Colab; siempre con datos sintéticos</a:t>
            </a:r>
            <a:endParaRPr lang="en-US" sz="660" dirty="0"/>
          </a:p>
        </p:txBody>
      </p:sp>
      <p:sp>
        <p:nvSpPr>
          <p:cNvPr id="45" name="Text 43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265D8"/>
          </a:solidFill>
          <a:ln w="12700">
            <a:solidFill>
              <a:srgbClr val="1265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Q8 · Enfermedades crónicas y seguimiento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Problema diario: se ve tarde al paciente que ya estaba deteriorándose.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1265D8"/>
          </a:solidFill>
          <a:ln w="12700">
            <a:solidFill>
              <a:srgbClr val="1265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1732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7ED"/>
          </a:solidFill>
          <a:ln w="12700">
            <a:solidFill>
              <a:srgbClr val="FED7AA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61848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65D8"/>
                </a:solidFill>
              </a:rPr>
              <a:t>PREGUNTA CLÍNICA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1947672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“¿Cómo sabe enfermería qué diabético, hipertenso, asmático o COPD necesita llamada hoy?”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257800" cy="3108960"/>
          </a:xfrm>
          <a:prstGeom prst="roundRect">
            <a:avLst>
              <a:gd name="adj" fmla="val 2353"/>
            </a:avLst>
          </a:prstGeom>
          <a:solidFill>
            <a:srgbClr val="F0FDF4"/>
          </a:solidFill>
          <a:ln w="12700">
            <a:solidFill>
              <a:srgbClr val="BBF7D0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1618488"/>
            <a:ext cx="4800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RESPUESTA OPERATIVA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537960" y="1920240"/>
            <a:ext cx="4800600" cy="2423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ML combina historial, signos vitales, adherencia y datos de sensores para priorizar seguimiento. La salida debe convertirse en acción: llamada, cita, educación o ajuste supervisado.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60120" y="5230368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" y="5330952"/>
            <a:ext cx="18928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Vitals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2907792" y="5385816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17520" y="5230368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54096" y="5330952"/>
            <a:ext cx="18928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EHR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4965192" y="5385816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74920" y="5230368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11496" y="5330952"/>
            <a:ext cx="18928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Wearable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7022592" y="5385816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32320" y="5230368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68896" y="5330952"/>
            <a:ext cx="18928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ML risk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9079992" y="5385816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189720" y="5230368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26296" y="5330952"/>
            <a:ext cx="18928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Nurse action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320040" y="6656832"/>
            <a:ext cx="9784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Karan &amp; Elbek 2025: sensores, apps y wearables pueden alimentar registros electrónicos y seguimiento clínico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265D8"/>
          </a:solidFill>
          <a:ln w="12700">
            <a:solidFill>
              <a:srgbClr val="1265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A8 · Ejemplos respiratorios del artículo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Aplicaciones que atraen mucho a médicos y enfermería.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1265D8"/>
          </a:solidFill>
          <a:ln w="12700">
            <a:solidFill>
              <a:srgbClr val="1265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34440"/>
            <a:ext cx="5029200" cy="4526280"/>
          </a:xfrm>
          <a:prstGeom prst="roundRect">
            <a:avLst>
              <a:gd name="adj" fmla="val 1616"/>
            </a:avLst>
          </a:prstGeom>
          <a:solidFill>
            <a:srgbClr val="EFF6FF"/>
          </a:solidFill>
          <a:ln w="12700">
            <a:solidFill>
              <a:srgbClr val="D7E3F1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1600200"/>
            <a:ext cx="452628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Lung cancer: IA para nódulos, subtipos e imágenes.
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ILD: precisión reportada 78–91% en análisis de CT.
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Spirometry: estudio citado con 100% reconocimiento de patrones por IA vs 74.4% clínicos.
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Asthma: sensores ambientales y fisiológicos con alerta móvil.</a:t>
            </a:r>
            <a:endParaRPr lang="en-US" sz="1400" dirty="0"/>
          </a:p>
        </p:txBody>
      </p:sp>
      <p:pic>
        <p:nvPicPr>
          <p:cNvPr id="10" name="Image 0" descr="/mnt/data/turk_crops/p3_chest_examples.png">    </p:cNvPr>
          <p:cNvPicPr>
            <a:picLocks noChangeAspect="1"/>
          </p:cNvPicPr>
          <p:nvPr/>
        </p:nvPicPr>
        <p:blipFill>
          <a:blip r:embed="rId1"/>
          <a:srcRect l="0" r="0" t="1471" b="1471"/>
          <a:stretch/>
        </p:blipFill>
        <p:spPr>
          <a:xfrm>
            <a:off x="6035040" y="1234440"/>
            <a:ext cx="5486400" cy="45262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656832"/>
            <a:ext cx="9784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principal: Karan &amp; Elbek, Artificial Intelligence in Medicine, Thorac Res Pract 2025</a:t>
            </a:r>
            <a:endParaRPr lang="en-US" sz="660" dirty="0"/>
          </a:p>
        </p:txBody>
      </p:sp>
      <p:sp>
        <p:nvSpPr>
          <p:cNvPr id="12" name="Text 9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Q9 · TB y clínicas con pocos especialistas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Problema diario: zonas periféricas necesitan lectura rápida de Rx.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1732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7ED"/>
          </a:solidFill>
          <a:ln w="12700">
            <a:solidFill>
              <a:srgbClr val="FED7AA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61848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PREGUNTA CLÍNICA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1947672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“Si no hay radiólogo en la institución, ¿la IA puede ayudar a tamizar tuberculosis?”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257800" cy="3108960"/>
          </a:xfrm>
          <a:prstGeom prst="roundRect">
            <a:avLst>
              <a:gd name="adj" fmla="val 2353"/>
            </a:avLst>
          </a:prstGeom>
          <a:solidFill>
            <a:srgbClr val="F0FDF4"/>
          </a:solidFill>
          <a:ln w="12700">
            <a:solidFill>
              <a:srgbClr val="BBF7D0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1618488"/>
            <a:ext cx="4800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6A6"/>
                </a:solidFill>
              </a:rPr>
              <a:t>RESPUESTA OPERATIVA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537960" y="1920240"/>
            <a:ext cx="4800600" cy="2423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Puede apoyar el screening de radiografías para anormalidades y decidir qué estudios requieren evaluación prioritaria. No reemplaza confirmación clínica, bacteriológica ni protocolos nacionales.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60120" y="5230368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" y="5330952"/>
            <a:ext cx="18928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Rx tórax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2907792" y="5385816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17520" y="5230368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54096" y="5330952"/>
            <a:ext cx="18928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CAD/AI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4965192" y="5385816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74920" y="5230368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11496" y="5330952"/>
            <a:ext cx="18928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Abnormality score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7022592" y="5385816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32320" y="5230368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68896" y="5330952"/>
            <a:ext cx="18928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Priorizar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9079992" y="5385816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189720" y="5230368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26296" y="5330952"/>
            <a:ext cx="18928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Confirmar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320040" y="6656832"/>
            <a:ext cx="9784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Karan &amp; Elbek 2025 mencionan CAD4TB y screening de radiografías en entornos periféricos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A9 · Demo sin riesgo para estudiantes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Usar Teachable Machine para comprender, no para diagnosticar.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80160"/>
            <a:ext cx="5532120" cy="4480560"/>
          </a:xfrm>
          <a:prstGeom prst="roundRect">
            <a:avLst>
              <a:gd name="adj" fmla="val 1633"/>
            </a:avLst>
          </a:prstGeom>
          <a:solidFill>
            <a:srgbClr val="F0FDF4"/>
          </a:solidFill>
          <a:ln w="12700">
            <a:solidFill>
              <a:srgbClr val="D7E3F1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157276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233F"/>
                </a:solidFill>
              </a:rPr>
              <a:t>Práctica segura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1993392"/>
            <a:ext cx="493776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Dataset de demostración: imágenes no clínicas o públicas autorizadas.
</a:t>
            </a:r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Entrenar 2 clases: normal / alerta visual ficticia.
</a:t>
            </a:r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Mostrar error: clase mal iluminada, sesgo de fondo, sobreajuste.
</a:t>
            </a:r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• Conectar con medicina: nunca usar un modelo de aula para decisión real.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46520" y="128016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E3F1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720840" y="2057400"/>
            <a:ext cx="850392" cy="566928"/>
          </a:xfrm>
          <a:prstGeom prst="roundRect">
            <a:avLst>
              <a:gd name="adj" fmla="val 9677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57416" y="2157984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Images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7552944" y="221284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662672" y="2057400"/>
            <a:ext cx="850392" cy="566928"/>
          </a:xfrm>
          <a:prstGeom prst="roundRect">
            <a:avLst>
              <a:gd name="adj" fmla="val 9677"/>
            </a:avLst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99248" y="2157984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Train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8494776" y="221284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604504" y="2057400"/>
            <a:ext cx="850392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41080" y="2157984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Test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9436608" y="221284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546336" y="2057400"/>
            <a:ext cx="850392" cy="566928"/>
          </a:xfrm>
          <a:prstGeom prst="roundRect">
            <a:avLst>
              <a:gd name="adj" fmla="val 9677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82912" y="2157984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Confusion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10378440" y="2212848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488168" y="2057400"/>
            <a:ext cx="850392" cy="566928"/>
          </a:xfrm>
          <a:prstGeom prst="roundRect">
            <a:avLst>
              <a:gd name="adj" fmla="val 9677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24744" y="2157984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Reflection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6720840" y="315468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233F"/>
                </a:solidFill>
              </a:rPr>
              <a:t>Competencia: comprender por qué validación externa y revisión humana importan antes de usar IA en pacientes.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20040" y="6656832"/>
            <a:ext cx="9784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Software: Google Teachable Machine; objetivo didáctico, no uso clínico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5B3FD9"/>
          </a:solidFill>
          <a:ln w="12700">
            <a:solidFill>
              <a:srgbClr val="5B3F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Q10 · Buscar información en miles de notas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Problema diario: “sé que está en la historia, pero no lo encuentro”.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5B3FD9"/>
          </a:solidFill>
          <a:ln w="12700">
            <a:solidFill>
              <a:srgbClr val="5B3F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17320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FFF7ED"/>
          </a:solidFill>
          <a:ln w="12700">
            <a:solidFill>
              <a:srgbClr val="FED7AA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61848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3FD9"/>
                </a:solidFill>
              </a:rPr>
              <a:t>PREGUNTA CLÍNICA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1947672"/>
            <a:ext cx="4937760" cy="2331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“¿Cómo encuentro todos los pacientes con síntomas similares si las notas están escritas distinto?”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257800" cy="3063240"/>
          </a:xfrm>
          <a:prstGeom prst="roundRect">
            <a:avLst>
              <a:gd name="adj" fmla="val 2388"/>
            </a:avLst>
          </a:prstGeom>
          <a:solidFill>
            <a:srgbClr val="F0FDF4"/>
          </a:solidFill>
          <a:ln w="12700">
            <a:solidFill>
              <a:srgbClr val="BBF7D0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1618488"/>
            <a:ext cx="4800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RESPUESTA OPERATIVA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537960" y="1920240"/>
            <a:ext cx="48006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Use embeddings y búsqueda semántica: no busca la misma palabra, busca significado similar. Es útil para auditoría, investigación, cohortes clínicas y continuidad asistencial.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60120" y="5193792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" y="5294376"/>
            <a:ext cx="18928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Clinical notes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2907792" y="5349240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17520" y="5193792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54096" y="5294376"/>
            <a:ext cx="18928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Embedding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4965192" y="5349240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74920" y="5193792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F5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11496" y="5294376"/>
            <a:ext cx="18928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Semantic search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7022592" y="5349240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32320" y="5193792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68896" y="5294376"/>
            <a:ext cx="18928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Similar cases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9079992" y="5349240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189720" y="5193792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26296" y="5294376"/>
            <a:ext cx="18928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Review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320040" y="6656832"/>
            <a:ext cx="9784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Práctica no-code: Orange Semantic Search / Document Map con corpus ficticio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5B3FD9"/>
          </a:solidFill>
          <a:ln w="12700">
            <a:solidFill>
              <a:srgbClr val="5B3F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A10 · Orange: búsqueda semántica clínica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Aquí los estudiantes ven IA funcionando sin programar.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5B3FD9"/>
          </a:solidFill>
          <a:ln w="12700">
            <a:solidFill>
              <a:srgbClr val="5B3FD9"/>
            </a:solidFill>
            <a:prstDash val="solid"/>
          </a:ln>
        </p:spPr>
      </p:sp>
      <p:pic>
        <p:nvPicPr>
          <p:cNvPr id="8" name="Image 0" descr="/mnt/data/image(20260927-204008).png">    </p:cNvPr>
          <p:cNvPicPr>
            <a:picLocks noChangeAspect="1"/>
          </p:cNvPicPr>
          <p:nvPr/>
        </p:nvPicPr>
        <p:blipFill>
          <a:blip r:embed="rId1"/>
          <a:srcRect l="0" r="0" t="35664" b="35664"/>
          <a:stretch/>
        </p:blipFill>
        <p:spPr>
          <a:xfrm>
            <a:off x="6217920" y="1143000"/>
            <a:ext cx="5349240" cy="47091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" y="1143000"/>
            <a:ext cx="5303520" cy="4709160"/>
          </a:xfrm>
          <a:prstGeom prst="roundRect">
            <a:avLst>
              <a:gd name="adj" fmla="val 1553"/>
            </a:avLst>
          </a:prstGeom>
          <a:solidFill>
            <a:srgbClr val="F5F3FF"/>
          </a:solidFill>
          <a:ln w="12700">
            <a:solidFill>
              <a:srgbClr val="D7E3F1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1554480"/>
            <a:ext cx="475488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Import Documents → corpus de notas ficticias.
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Preprocess Text → limpieza y tokenización.
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Document Embedding → significado en vectores.
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Semantic Viewer → preguntas por significado.
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Ejemplo: “dolor torácico con ansiedad” ≠ solo buscar esas palabras.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68680" y="5074920"/>
            <a:ext cx="3749040" cy="320040"/>
          </a:xfrm>
          <a:prstGeom prst="roundRect">
            <a:avLst>
              <a:gd name="adj" fmla="val 22857"/>
            </a:avLst>
          </a:prstGeom>
          <a:solidFill>
            <a:srgbClr val="5B3FD9"/>
          </a:solidFill>
          <a:ln w="12700">
            <a:solidFill>
              <a:srgbClr val="5B3FD9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41832" y="5143500"/>
            <a:ext cx="360273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Producto: mapa de documentos clínicos similares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20040" y="6656832"/>
            <a:ext cx="9784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basado en ejemplos de Orange Data Mining; usar documentos sintéticos o anonimizados autorizados</a:t>
            </a:r>
            <a:endParaRPr lang="en-US" sz="660" dirty="0"/>
          </a:p>
        </p:txBody>
      </p:sp>
      <p:sp>
        <p:nvSpPr>
          <p:cNvPr id="14" name="Text 11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Q11 · Palabras clave y auditoría clínica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Problema diario: reportes y notas sin estructura útil.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1732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7ED"/>
          </a:solidFill>
          <a:ln w="12700">
            <a:solidFill>
              <a:srgbClr val="FED7AA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61848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6A6"/>
                </a:solidFill>
              </a:rPr>
              <a:t>PREGUNTA CLÍNICA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1947672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“¿Cómo identifico automáticamente temas frecuentes: dolor, fiebre, tos, adherencia, reacción adversa?”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257800" cy="3108960"/>
          </a:xfrm>
          <a:prstGeom prst="roundRect">
            <a:avLst>
              <a:gd name="adj" fmla="val 2353"/>
            </a:avLst>
          </a:prstGeom>
          <a:solidFill>
            <a:srgbClr val="F0FDF4"/>
          </a:solidFill>
          <a:ln w="12700">
            <a:solidFill>
              <a:srgbClr val="BBF7D0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1618488"/>
            <a:ext cx="4800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RESPUESTA OPERATIVA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537960" y="1920240"/>
            <a:ext cx="4800600" cy="2423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Orange puede extraer palabras clave, agrupar documentos y construir mapas semánticos. Sirve para auditoría, educación, investigación operativa y mejora de calidad.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5230368"/>
            <a:ext cx="1975104" cy="566928"/>
          </a:xfrm>
          <a:prstGeom prst="roundRect">
            <a:avLst>
              <a:gd name="adj" fmla="val 9677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5330952"/>
            <a:ext cx="190195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Corpus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2871216" y="5385816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80944" y="5230368"/>
            <a:ext cx="1975104" cy="566928"/>
          </a:xfrm>
          <a:prstGeom prst="roundRect">
            <a:avLst>
              <a:gd name="adj" fmla="val 9677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5330952"/>
            <a:ext cx="190195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Keywords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4937760" y="5385816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47488" y="5230368"/>
            <a:ext cx="1975104" cy="566928"/>
          </a:xfrm>
          <a:prstGeom prst="roundRect">
            <a:avLst>
              <a:gd name="adj" fmla="val 9677"/>
            </a:avLst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84064" y="5330952"/>
            <a:ext cx="190195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Clusters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7004304" y="5385816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14032" y="5230368"/>
            <a:ext cx="1975104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5330952"/>
            <a:ext cx="190195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Heatmap/map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9070848" y="5385816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180576" y="5230368"/>
            <a:ext cx="1975104" cy="566928"/>
          </a:xfrm>
          <a:prstGeom prst="roundRect">
            <a:avLst>
              <a:gd name="adj" fmla="val 9677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17152" y="5330952"/>
            <a:ext cx="190195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Quality action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320040" y="6656832"/>
            <a:ext cx="9784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Aplicación: text mining para documentación clínica ficticia; no usar datos reales sin gobernanza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A11 · Orange: del texto a la decisión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El flujo visible hace que la IA deje de ser abstracta.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pic>
        <p:nvPicPr>
          <p:cNvPr id="8" name="Image 0" descr="/mnt/data/image(20260927-204024).png">    </p:cNvPr>
          <p:cNvPicPr>
            <a:picLocks noChangeAspect="1"/>
          </p:cNvPicPr>
          <p:nvPr/>
        </p:nvPicPr>
        <p:blipFill>
          <a:blip r:embed="rId1"/>
          <a:srcRect l="0" r="0" t="27828" b="27828"/>
          <a:stretch/>
        </p:blipFill>
        <p:spPr>
          <a:xfrm>
            <a:off x="594360" y="1143000"/>
            <a:ext cx="5623560" cy="47091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92240" y="1143000"/>
            <a:ext cx="5074920" cy="4709160"/>
          </a:xfrm>
          <a:prstGeom prst="roundRect">
            <a:avLst>
              <a:gd name="adj" fmla="val 1553"/>
            </a:avLst>
          </a:prstGeom>
          <a:solidFill>
            <a:srgbClr val="F0FDFA"/>
          </a:solidFill>
          <a:ln w="12700">
            <a:solidFill>
              <a:srgbClr val="D7E3F1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66560" y="1463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233F"/>
                </a:solidFill>
              </a:rPr>
              <a:t>Tarea de aula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766560" y="1920240"/>
            <a:ext cx="448056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Cargar 30 notas clínicas ficticias.
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Extraer keywords automáticamente.
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Crear mapa semántico.
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Identificar 3 clusters clínicos.
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Proponer una acción: educación, alerta, protocolo o seguimiento.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20040" y="6656832"/>
            <a:ext cx="9784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 examples: keyword extraction, semantic document maps, ontology generation</a:t>
            </a:r>
            <a:endParaRPr lang="en-US" sz="660" dirty="0"/>
          </a:p>
        </p:txBody>
      </p:sp>
      <p:sp>
        <p:nvSpPr>
          <p:cNvPr id="13" name="Text 10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D73636"/>
          </a:solidFill>
          <a:ln w="12700">
            <a:solidFill>
              <a:srgbClr val="D736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Q12 · Bias, privacidad y consentimiento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Problema diario: una herramienta útil puede dañar si no se gobierna.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D73636"/>
          </a:solidFill>
          <a:ln w="12700">
            <a:solidFill>
              <a:srgbClr val="D736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1732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7ED"/>
          </a:solidFill>
          <a:ln w="12700">
            <a:solidFill>
              <a:srgbClr val="FED7AA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61848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3636"/>
                </a:solidFill>
              </a:rPr>
              <a:t>PREGUNTA CLÍNICA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1947672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“Si GenAI escribe notas o clasifica pacientes, ¿qué puede salir mal?”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257800" cy="3108960"/>
          </a:xfrm>
          <a:prstGeom prst="roundRect">
            <a:avLst>
              <a:gd name="adj" fmla="val 2353"/>
            </a:avLst>
          </a:prstGeom>
          <a:solidFill>
            <a:srgbClr val="F0FDF4"/>
          </a:solidFill>
          <a:ln w="12700">
            <a:solidFill>
              <a:srgbClr val="BBF7D0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1618488"/>
            <a:ext cx="4800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RESPUESTA OPERATIVA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537960" y="1920240"/>
            <a:ext cx="4800600" cy="2423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Puede inventar datos, reproducir sesgos, exponer información sensible, o crear falsa confianza. Por eso se necesita consentimiento, trazabilidad, revisión humana y medición continua.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51560" y="5230368"/>
            <a:ext cx="1929384" cy="566928"/>
          </a:xfrm>
          <a:prstGeom prst="roundRect">
            <a:avLst>
              <a:gd name="adj" fmla="val 9677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88136" y="5330952"/>
            <a:ext cx="185623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Consent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2962656" y="5385816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72384" y="5230368"/>
            <a:ext cx="1929384" cy="566928"/>
          </a:xfrm>
          <a:prstGeom prst="roundRect">
            <a:avLst>
              <a:gd name="adj" fmla="val 9677"/>
            </a:avLst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5330952"/>
            <a:ext cx="185623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Privacy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4983480" y="5385816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93208" y="5230368"/>
            <a:ext cx="1929384" cy="566928"/>
          </a:xfrm>
          <a:prstGeom prst="roundRect">
            <a:avLst>
              <a:gd name="adj" fmla="val 9677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9784" y="5330952"/>
            <a:ext cx="185623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Bias check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7004304" y="5385816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14032" y="5230368"/>
            <a:ext cx="1929384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5330952"/>
            <a:ext cx="185623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Human review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9025128" y="5385816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134856" y="5230368"/>
            <a:ext cx="1929384" cy="566928"/>
          </a:xfrm>
          <a:prstGeom prst="roundRect">
            <a:avLst>
              <a:gd name="adj" fmla="val 9677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71432" y="5330952"/>
            <a:ext cx="185623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Audit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320040" y="6656832"/>
            <a:ext cx="9784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Karan &amp; Elbek 2025: black box, inequidad digital, consentimiento y transparencia en IA médica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D73636"/>
          </a:solidFill>
          <a:ln w="12700">
            <a:solidFill>
              <a:srgbClr val="D736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A12 · Checklist de seguridad para usar IA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Esto convierte curiosidad en práctica profesional.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D73636"/>
          </a:solidFill>
          <a:ln w="12700">
            <a:solidFill>
              <a:srgbClr val="D736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234440"/>
            <a:ext cx="1097280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7E3F1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05840" y="1645920"/>
            <a:ext cx="5074920" cy="713232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847088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181051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¿La tarea clínica está claramente definida?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0" y="1645920"/>
            <a:ext cx="5074920" cy="713232"/>
          </a:xfrm>
          <a:prstGeom prst="roundRect">
            <a:avLst>
              <a:gd name="adj" fmla="val 6410"/>
            </a:avLst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847088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03720" y="181051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¿El dato usado es autorizado, mínimo y protegido?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05840" y="2788920"/>
            <a:ext cx="5074920" cy="713232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2990088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295351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¿El resultado será revisado por un profesional?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0" y="2788920"/>
            <a:ext cx="5074920" cy="713232"/>
          </a:xfrm>
          <a:prstGeom prst="roundRect">
            <a:avLst>
              <a:gd name="adj" fmla="val 6410"/>
            </a:avLst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990088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03720" y="295351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¿Medimos falsos positivos, falsos negativos y sesgo?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05840" y="3931920"/>
            <a:ext cx="5074920" cy="713232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4133088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409651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¿Hay opción de explicar, corregir y apagar la herramienta?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0" y="3931920"/>
            <a:ext cx="5074920" cy="713232"/>
          </a:xfrm>
          <a:prstGeom prst="roundRect">
            <a:avLst>
              <a:gd name="adj" fmla="val 6410"/>
            </a:avLst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4133088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03720" y="409651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¿El beneficio reduce tiempo, costo, estrés o riesgo real?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0040" y="6656832"/>
            <a:ext cx="9784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para auditoría educativa de herramientas IA clínicas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233F"/>
          </a:solidFill>
          <a:ln w="12700">
            <a:solidFill>
              <a:srgbClr val="0823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Q13 · ¿Dónde entra enfermería?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La IA fracasa si no entiende el trabajo real de quienes cuidan al paciente.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08233F"/>
          </a:solidFill>
          <a:ln w="12700">
            <a:solidFill>
              <a:srgbClr val="0823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1732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7ED"/>
          </a:solidFill>
          <a:ln w="12700">
            <a:solidFill>
              <a:srgbClr val="FED7AA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61848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233F"/>
                </a:solidFill>
              </a:rPr>
              <a:t>PREGUNTA CLÍNICA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1947672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“¿La IA es solo para médicos, radiólogos e informáticos?”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257800" cy="3108960"/>
          </a:xfrm>
          <a:prstGeom prst="roundRect">
            <a:avLst>
              <a:gd name="adj" fmla="val 2353"/>
            </a:avLst>
          </a:prstGeom>
          <a:solidFill>
            <a:srgbClr val="F0FDF4"/>
          </a:solidFill>
          <a:ln w="12700">
            <a:solidFill>
              <a:srgbClr val="BBF7D0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1618488"/>
            <a:ext cx="4800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RESPUESTA OPERATIVA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537960" y="1920240"/>
            <a:ext cx="4800600" cy="2423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No. Enfermería es clave en triage, seguimiento, signos vitales, educación, seguridad de medicación, handover y detección temprana. Muchos modelos solo sirven si las acciones posteriores están diseñadas con enfermería.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05840" y="5230368"/>
            <a:ext cx="1938528" cy="566928"/>
          </a:xfrm>
          <a:prstGeom prst="roundRect">
            <a:avLst>
              <a:gd name="adj" fmla="val 9677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5330952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Observe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2926080" y="5385816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35808" y="5230368"/>
            <a:ext cx="1938528" cy="566928"/>
          </a:xfrm>
          <a:prstGeom prst="roundRect">
            <a:avLst>
              <a:gd name="adj" fmla="val 9677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72384" y="5330952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Document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4956048" y="5385816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65776" y="5230368"/>
            <a:ext cx="1938528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02352" y="5330952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Prioritize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6986016" y="5385816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095744" y="5230368"/>
            <a:ext cx="1938528" cy="566928"/>
          </a:xfrm>
          <a:prstGeom prst="roundRect">
            <a:avLst>
              <a:gd name="adj" fmla="val 9677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5330952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Educate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9015984" y="5385816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125712" y="5230368"/>
            <a:ext cx="1938528" cy="566928"/>
          </a:xfrm>
          <a:prstGeom prst="roundRect">
            <a:avLst>
              <a:gd name="adj" fmla="val 9677"/>
            </a:avLst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62288" y="5330952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Escalate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320040" y="6656832"/>
            <a:ext cx="9784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Enfoque del curso: IA aplicada a flujos clínicos reales, no solo algoritmos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27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233F"/>
          </a:solidFill>
          <a:ln w="12700">
            <a:solidFill>
              <a:srgbClr val="0823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A13 · Rol de enfermería en cada tecnología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Convertir predicción en cuidado.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08233F"/>
          </a:solidFill>
          <a:ln w="12700">
            <a:solidFill>
              <a:srgbClr val="0823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80160"/>
            <a:ext cx="10652760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D7E3F1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4630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65D8"/>
                </a:solidFill>
              </a:rPr>
              <a:t>IA / NLP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68880" y="1444752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clasificar mensajes y priorizar triage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2423160"/>
            <a:ext cx="10652760" cy="777240"/>
          </a:xfrm>
          <a:prstGeom prst="roundRect">
            <a:avLst>
              <a:gd name="adj" fmla="val 9412"/>
            </a:avLst>
          </a:prstGeom>
          <a:solidFill>
            <a:srgbClr val="F0FDF4"/>
          </a:solidFill>
          <a:ln w="12700">
            <a:solidFill>
              <a:srgbClr val="D7E3F1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6060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ML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68880" y="2587752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listas de seguimiento y riesgo de reingreso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" y="3566160"/>
            <a:ext cx="10652760" cy="777240"/>
          </a:xfrm>
          <a:prstGeom prst="roundRect">
            <a:avLst>
              <a:gd name="adj" fmla="val 9412"/>
            </a:avLst>
          </a:prstGeom>
          <a:solidFill>
            <a:srgbClr val="FFF7ED"/>
          </a:solidFill>
          <a:ln w="12700">
            <a:solidFill>
              <a:srgbClr val="D7E3F1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7490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DL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68880" y="3730752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alertas de imagen / signos / sensores para revisión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" y="4709160"/>
            <a:ext cx="10652760" cy="777240"/>
          </a:xfrm>
          <a:prstGeom prst="roundRect">
            <a:avLst>
              <a:gd name="adj" fmla="val 9412"/>
            </a:avLst>
          </a:prstGeom>
          <a:solidFill>
            <a:srgbClr val="F5F3FF"/>
          </a:solidFill>
          <a:ln w="12700">
            <a:solidFill>
              <a:srgbClr val="D7E3F1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8920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3FD9"/>
                </a:solidFill>
              </a:rPr>
              <a:t>GenAI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468880" y="4873752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pase de turno, educación y borradores de notas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98932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Pregunta para el aula: ¿qué flujo de trabajo de su práctica diaria ganaría más con IA esta semana?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20040" y="6656832"/>
            <a:ext cx="9784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Discusión guiada: problemas cotidianos de enfermería y medicina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28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Q14 · ¿Cómo se convierte esto en proyecto final?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 curiosidad a prototipo funcional.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17320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FFF7ED"/>
          </a:solidFill>
          <a:ln w="12700">
            <a:solidFill>
              <a:srgbClr val="FED7AA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61848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</a:rPr>
              <a:t>PREGUNTA CLÍNICA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1947672"/>
            <a:ext cx="4937760" cy="2331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“¿Qué puedo construir en clase que parezca útil para mi hospital o clínica?”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257800" cy="3063240"/>
          </a:xfrm>
          <a:prstGeom prst="roundRect">
            <a:avLst>
              <a:gd name="adj" fmla="val 2388"/>
            </a:avLst>
          </a:prstGeom>
          <a:solidFill>
            <a:srgbClr val="F0FDF4"/>
          </a:solidFill>
          <a:ln w="12700">
            <a:solidFill>
              <a:srgbClr val="BBF7D0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1618488"/>
            <a:ext cx="4800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RESPUESTA OPERATIVA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537960" y="1920240"/>
            <a:ext cx="480060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Un mini AI Health Lab: dataset ficticio, modelo simple, métricas, explicación, resumen clínico y decisión operativa. El prototipo debe ahorrar tiempo o reducir un riesgo claro.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60120" y="5193792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" y="5294376"/>
            <a:ext cx="18928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Problem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2907792" y="5349240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17520" y="5193792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54096" y="5294376"/>
            <a:ext cx="18928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Data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4965192" y="5349240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74920" y="5193792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11496" y="5294376"/>
            <a:ext cx="18928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Model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7022592" y="5349240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32320" y="5193792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68896" y="5294376"/>
            <a:ext cx="18928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Metrics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9079992" y="5349240"/>
            <a:ext cx="1188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189720" y="5193792"/>
            <a:ext cx="1965960" cy="566928"/>
          </a:xfrm>
          <a:prstGeom prst="roundRect">
            <a:avLst>
              <a:gd name="adj" fmla="val 9677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26296" y="5294376"/>
            <a:ext cx="18928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33F"/>
                </a:solidFill>
              </a:rPr>
              <a:t>Workflow action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320040" y="6656832"/>
            <a:ext cx="9784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Preparación para sesiones 3–12: datos, modelos, métricas, Python, imágenes, LLM, FHIR, ética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29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4FC"/>
          </a:solidFill>
          <a:ln w="12700">
            <a:solidFill>
              <a:srgbClr val="EEF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8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A14 · Reto de cierre: “AI clinical workflow canvas”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Los estudiantes deben salir con una idea implementable.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0352" y="1188720"/>
            <a:ext cx="10058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143000"/>
            <a:ext cx="1097280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7E3F1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0160" dir="2700000">
              <a:srgbClr val="0B1B2B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50876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 w="12700">
            <a:solidFill>
              <a:srgbClr val="D7E3F1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673352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233F"/>
                </a:solidFill>
              </a:rPr>
              <a:t>1. Dolor real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01168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¿Qué tarea consume tiempo o causa errores?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26280" y="150876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0FDF4"/>
          </a:solidFill>
          <a:ln w="12700">
            <a:solidFill>
              <a:srgbClr val="D7E3F1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673352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233F"/>
                </a:solidFill>
              </a:rPr>
              <a:t>2. Dato disponible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201168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¿Texto, EHR, imagen, sensor o audio?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38160" y="150876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7ED"/>
          </a:solidFill>
          <a:ln w="12700">
            <a:solidFill>
              <a:srgbClr val="D7E3F1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1673352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233F"/>
                </a:solidFill>
              </a:rPr>
              <a:t>3. Tecnología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75320" y="201168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IA, ML, DL, GenAI u Orange workflow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4400" y="342900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5F3FF"/>
          </a:solidFill>
          <a:ln w="12700">
            <a:solidFill>
              <a:srgbClr val="D7E3F1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3593592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233F"/>
                </a:solidFill>
              </a:rPr>
              <a:t>4. Acción clínica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39319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¿Qué hará enfermería/médico con el resultado?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26280" y="342900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0FDFA"/>
          </a:solidFill>
          <a:ln w="12700">
            <a:solidFill>
              <a:srgbClr val="D7E3F1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593592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233F"/>
                </a:solidFill>
              </a:rPr>
              <a:t>5. Métrica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39319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Tiempo, costo, sensibilidad, estrés, seguridad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342900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D7E3F1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5320" y="3593592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233F"/>
                </a:solidFill>
              </a:rPr>
              <a:t>6. Riesgo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75320" y="39319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</a:rPr>
              <a:t>Privacidad, sesgo, error, dependencia, consentimiento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05840" y="5806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</a:rPr>
              <a:t>Entrega rápida: 1 diapositiva por grupo con problema, software, evidencia y acción clínica.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320040" y="6656832"/>
            <a:ext cx="978408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sesión: convertir IA en rediseño operativo, no en promesa abstracta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</a:rPr>
              <a:t>30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SIT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2 — Q&amp;A clínico práctico: IA, ML, DL, GenAI y Orange</dc:title>
  <dc:subject>Sesión 2: IA, ML, DL y GenAI en salud</dc:subject>
  <dc:creator>OpenAI</dc:creator>
  <cp:lastModifiedBy>OpenAI</cp:lastModifiedBy>
  <cp:revision>1</cp:revision>
  <dcterms:created xsi:type="dcterms:W3CDTF">2026-09-27T21:04:37Z</dcterms:created>
  <dcterms:modified xsi:type="dcterms:W3CDTF">2026-09-27T21:04:37Z</dcterms:modified>
</cp:coreProperties>
</file>