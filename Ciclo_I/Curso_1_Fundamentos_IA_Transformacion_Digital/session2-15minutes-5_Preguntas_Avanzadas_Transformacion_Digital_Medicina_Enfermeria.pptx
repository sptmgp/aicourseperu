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233D"/>
                </a:solidFill>
                <a:latin typeface="Aptos"/>
              </a:rPr>
              <a:t>5 RETOS AVANZADOS — TRANSFORMACIÓN DIGITAL EN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64B1"/>
                </a:solidFill>
                <a:latin typeface="Aptos"/>
              </a:rPr>
              <a:t>Medicina + Enfermería | Escenarios tecnológicos actuales + solución razonada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E233D"/>
                </a:solidFill>
                <a:latin typeface="Aptos"/>
              </a:rPr>
              <a:t>De hospital tradicional → hospital digital integrado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2743200"/>
            <a:ext cx="2103120" cy="12801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862072"/>
            <a:ext cx="17922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64B1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182112"/>
            <a:ext cx="1792223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A"/>
                </a:solidFill>
                <a:latin typeface="Aptos"/>
              </a:rPr>
              <a:t>Interoperabilidad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15184" y="2743200"/>
            <a:ext cx="2103120" cy="12801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2862072"/>
            <a:ext cx="17922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8830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3182112"/>
            <a:ext cx="1792223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A"/>
                </a:solidFill>
                <a:latin typeface="Aptos"/>
              </a:rPr>
              <a:t>RPM + 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4336" y="2743200"/>
            <a:ext cx="2103120" cy="12801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9784" y="2862072"/>
            <a:ext cx="17922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1509E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4" y="3182112"/>
            <a:ext cx="1792223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A"/>
                </a:solidFill>
                <a:latin typeface="Aptos"/>
              </a:rPr>
              <a:t>IA clínica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3488" y="2743200"/>
            <a:ext cx="2103120" cy="12801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2862072"/>
            <a:ext cx="17922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E4141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3182112"/>
            <a:ext cx="1792223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A"/>
                </a:solidFill>
                <a:latin typeface="Aptos"/>
              </a:rPr>
              <a:t>Ciberseguridad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743200"/>
            <a:ext cx="2103120" cy="12801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48088" y="2862072"/>
            <a:ext cx="17922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979C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8088" y="3182112"/>
            <a:ext cx="1792223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A"/>
                </a:solidFill>
                <a:latin typeface="Aptos"/>
              </a:rPr>
              <a:t>Integración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Formato: caso → decisión → solución → principio tecnológico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54880"/>
            <a:ext cx="10881360" cy="777240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Preguntas docentes avanzadas de razonamiento clínico-tecnológico; no corresponden a ítems oficiales de USMLE/GRE.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233D"/>
                </a:solidFill>
                <a:latin typeface="Aptos"/>
              </a:rPr>
              <a:t>PREGUNTA 1 — EHR +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64B1"/>
                </a:solidFill>
                <a:latin typeface="Aptos"/>
              </a:rPr>
              <a:t>Seleccione la mejor respuesta antes de avanzar.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2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6187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Una paciente de 68 años llega inconsciente a Emergencias. Tiene insuficiencia cardiaca, diabetes y enfermedad renal. Su información está distribuida entre tres hospitales. El equipo local no puede ver medicamentos, alergias ni resultados recientes.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64B1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404872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Crear un nuevo EHR 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64B1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026664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Pedir a la familia fotografías de recetas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75304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64B1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648456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Implementar interoperabilidad mediante APIs/estándares para recuperar información clínica autorizada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97096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64B1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70248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Usar IA generativa para inferir medicamentos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818888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3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64B1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92040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Instalar más monitores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Preguntas docentes avanzadas de razonamiento clínico-tecnológico; no corresponden a ítems oficiales de USMLE/GRE.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233D"/>
                </a:solidFill>
                <a:latin typeface="Aptos"/>
              </a:rPr>
              <a:t>SOLUCIÓN 1 — EHR +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64B1"/>
                </a:solidFill>
                <a:latin typeface="Aptos"/>
              </a:rPr>
              <a:t>Respuesta, razonamiento y arquitectura recomendada.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1920240" cy="868680"/>
          </a:xfrm>
          <a:prstGeom prst="round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RESPUESTA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1732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233D"/>
                </a:solidFill>
                <a:latin typeface="Aptos"/>
              </a:rPr>
              <a:t>Implementar interoperabilidad mediante APIs/estándares para recuperar información clínica autorizada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69848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2491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9163"/>
                </a:solidFill>
                <a:latin typeface="Aptos"/>
              </a:rPr>
              <a:t>¿POR QUÉ?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44952"/>
            <a:ext cx="10387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3A"/>
                </a:solidFill>
                <a:latin typeface="Aptos"/>
              </a:rPr>
              <a:t>El problema no es falta de datos, sino fragmentación. La solución es intercambio interoperable dentro del workflow clínico, con identidad, autorización y trazabilidad.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69848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3708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64B1"/>
                </a:solidFill>
                <a:latin typeface="Aptos"/>
              </a:rPr>
              <a:t>ARQUITECTURA / PRINCIPIO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90872"/>
            <a:ext cx="1038758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EHR A + EHR B + EHR C → INTEROPERABILIDAD → DECISIÓN CLÍNICA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Solución educativa: en implementación real se requiere validación clínica, gobernanza, privacidad, seguridad y protocolos locales.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8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233D"/>
                </a:solidFill>
                <a:latin typeface="Aptos"/>
              </a:rPr>
              <a:t>PREGUNTA 2 — RPM + IA + ENFERMERÍA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64B1"/>
                </a:solidFill>
                <a:latin typeface="Aptos"/>
              </a:rPr>
              <a:t>Seleccione la mejor respuesta antes de avanzar.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EB8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6187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Una clínica monitoriza 500 pacientes con insuficiencia cardiaca. Se generan 1.800 alertas diarias. Un paciente aumenta 2,2 kg en 3 días y desarrolla disnea; otro presenta SpO₂ 82% durante 8 segundos mientras mueve el sensor y luego vuelve a 97%.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830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404872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Alertar cada valor fuera de rango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8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026664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Contratar personal para revisar todas las lecturas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75304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830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648456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Priorizar por tendencia, persistencia, calidad de señal y contexto clínico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97096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830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70248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Permitir que la IA modifique medicación automáticamente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818888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3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8830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92040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Suspender RPM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Preguntas docentes avanzadas de razonamiento clínico-tecnológico; no corresponden a ítems oficiales de USMLE/GRE.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233D"/>
                </a:solidFill>
                <a:latin typeface="Aptos"/>
              </a:rPr>
              <a:t>SOLUCIÓN 2 — RPM + IA + ENFERMERÍA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64B1"/>
                </a:solidFill>
                <a:latin typeface="Aptos"/>
              </a:rPr>
              <a:t>Respuesta, razonamiento y arquitectura recomendada.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1920240" cy="868680"/>
          </a:xfrm>
          <a:prstGeom prst="round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RESPUESTA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1732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233D"/>
                </a:solidFill>
                <a:latin typeface="Aptos"/>
              </a:rPr>
              <a:t>Priorizar por tendencia, persistencia, calidad de señal y contexto clínico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69848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2491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9163"/>
                </a:solidFill>
                <a:latin typeface="Aptos"/>
              </a:rPr>
              <a:t>¿POR QUÉ?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44952"/>
            <a:ext cx="10387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3A"/>
                </a:solidFill>
                <a:latin typeface="Aptos"/>
              </a:rPr>
              <a:t>El RPM útil transforma datos en señales accionables. Tendencia + persistencia + calidad de señal permiten reducir ruido y priorizar sin sustituir el juicio clínico.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69848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3708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8830"/>
                </a:solidFill>
                <a:latin typeface="Aptos"/>
              </a:rPr>
              <a:t>ARQUITECTURA / PRINCIPIO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90872"/>
            <a:ext cx="1038758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DATOS → FILTRO → PRIORIZACIÓN → ENFERMERÍA → ACCIÓN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Solución educativa: en implementación real se requiere validación clínica, gobernanza, privacidad, seguridad y protocolos locales.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1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233D"/>
                </a:solidFill>
                <a:latin typeface="Aptos"/>
              </a:rPr>
              <a:t>PREGUNTA 3 — IA CLÍNICA +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64B1"/>
                </a:solidFill>
                <a:latin typeface="Aptos"/>
              </a:rPr>
              <a:t>Seleccione la mejor respuesta antes de avanzar.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71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6187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Un sistema de IA resume el EHR antes de la ronda: “Paciente sin alergias conocidas”. Sin embargo, un hospital externo documentó anafilaxia a penicilina. El médico está por prescribir un antibiótico betalactámico.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1509E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404872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Permitir que la IA sustituya al EHR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1509E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026664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Confiar si confidence score &gt;95%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75304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1509E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648456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Exigir trazabilidad a la fuente, reconciliación interoperable y validación humana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97096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1509E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70248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Eliminar información antigua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818888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3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1509E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92040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Pedir al modelo una segunda respuesta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Preguntas docentes avanzadas de razonamiento clínico-tecnológico; no corresponden a ítems oficiales de USMLE/GRE.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233D"/>
                </a:solidFill>
                <a:latin typeface="Aptos"/>
              </a:rPr>
              <a:t>SOLUCIÓN 3 — IA CLÍNICA +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64B1"/>
                </a:solidFill>
                <a:latin typeface="Aptos"/>
              </a:rPr>
              <a:t>Respuesta, razonamiento y arquitectura recomendada.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1920240" cy="868680"/>
          </a:xfrm>
          <a:prstGeom prst="round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RESPUESTA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1732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233D"/>
                </a:solidFill>
                <a:latin typeface="Aptos"/>
              </a:rPr>
              <a:t>Exigir trazabilidad a la fuente, reconciliación interoperable y validación humana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69848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2491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9163"/>
                </a:solidFill>
                <a:latin typeface="Aptos"/>
              </a:rPr>
              <a:t>¿POR QUÉ?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44952"/>
            <a:ext cx="10387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3A"/>
                </a:solidFill>
                <a:latin typeface="Aptos"/>
              </a:rPr>
              <a:t>Un resumen generado no debe convertirse en una fuente clínica independiente. Debe poder verificarse contra el dato original y permanecer bajo revisión profesional.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69848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3708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1509E"/>
                </a:solidFill>
                <a:latin typeface="Aptos"/>
              </a:rPr>
              <a:t>ARQUITECTURA / PRINCIPIO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90872"/>
            <a:ext cx="1038758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AI SUMMARY → SOURCE VERIFICATION → CLINICAL REVIEW →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Solución educativa: en implementación real se requiere validación clínica, gobernanza, privacidad, seguridad y protocolos locales.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233D"/>
                </a:solidFill>
                <a:latin typeface="Aptos"/>
              </a:rPr>
              <a:t>PREGUNTA 4 — CIBERSEGURIDAD +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64B1"/>
                </a:solidFill>
                <a:latin typeface="Aptos"/>
              </a:rPr>
              <a:t>Seleccione la mejor respuesta antes de avanzar.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6187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A las 02:00 un hospital digital pierde acceso al EHR por ransomware. También fallan interfaces con laboratorio y farmacia. Una enfermera debe administrar insulina, pero no puede verificar electrónicamente la última dosis.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E4141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404872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Esperar hasta que vuelva el EHR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E4141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026664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Usar únicamente lo que recuerde el paciente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75304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E4141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648456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Activar procedimientos de downtime, registros alternativos controlados y verificación independiente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97096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E4141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70248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Crear cuentas nuevas en el sistema comprometido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818888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3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E4141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92040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Usar una IA externa para reconstruir el expediente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Preguntas docentes avanzadas de razonamiento clínico-tecnológico; no corresponden a ítems oficiales de USMLE/GRE.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233D"/>
                </a:solidFill>
                <a:latin typeface="Aptos"/>
              </a:rPr>
              <a:t>SOLUCIÓN 4 — CIBERSEGURIDAD +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64B1"/>
                </a:solidFill>
                <a:latin typeface="Aptos"/>
              </a:rPr>
              <a:t>Respuesta, razonamiento y arquitectura recomendada.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1920240" cy="868680"/>
          </a:xfrm>
          <a:prstGeom prst="round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RESPUESTA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1732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233D"/>
                </a:solidFill>
                <a:latin typeface="Aptos"/>
              </a:rPr>
              <a:t>Activar procedimientos de downtime, registros alternativos controlados y verificación independiente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69848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2491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9163"/>
                </a:solidFill>
                <a:latin typeface="Aptos"/>
              </a:rPr>
              <a:t>¿POR QUÉ?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44952"/>
            <a:ext cx="10387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3A"/>
                </a:solidFill>
                <a:latin typeface="Aptos"/>
              </a:rPr>
              <a:t>La ciberseguridad es seguridad del paciente. Un hospital digital necesita continuidad clínica: downtime, verificación, documentación temporal segura y recuperación controlada.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69848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3708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E4141"/>
                </a:solidFill>
                <a:latin typeface="Aptos"/>
              </a:rPr>
              <a:t>ARQUITECTURA / PRINCIPIO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90872"/>
            <a:ext cx="1038758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CYBERSECURITY = PATIENT SAFETY + BUSINESS/CLINICAL CONTINUITY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Solución educativa: en implementación real se requiere validación clínica, gobernanza, privacidad, seguridad y protocolos locales.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233D"/>
                </a:solidFill>
                <a:latin typeface="Aptos"/>
              </a:rPr>
              <a:t>PREGUNTA 5 — HOSPITAL DIGITAL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64B1"/>
                </a:solidFill>
                <a:latin typeface="Aptos"/>
              </a:rPr>
              <a:t>Seleccione la mejor respuesta antes de avanzar.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14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6187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Un hospital posee EHR, telemedicina, wearables, PACS, RPM, software de enfermería y un algoritmo de IA. Sin embargo, una enfermera debe abrir cinco aplicaciones para comprender el estado de un paciente.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979C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404872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Sí: muchas tecnologías significan transformación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53512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979C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026664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Sí: tener IA es suficiente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75304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979C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648456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No: existe digitalización, pero persisten silos y fragmentación del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97096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979C"/>
                </a:solidFill>
                <a:latin typeface="Apto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270248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Sí, si todos los sistemas tienen Internet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818888"/>
            <a:ext cx="10652760" cy="475488"/>
          </a:xfrm>
          <a:prstGeom prst="roundRect">
            <a:avLst/>
          </a:prstGeom>
          <a:solidFill>
            <a:srgbClr val="F4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3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979C"/>
                </a:solidFill>
                <a:latin typeface="Aptos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92040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6303A"/>
                </a:solidFill>
                <a:latin typeface="Aptos"/>
              </a:rPr>
              <a:t>Solo falta comprar un digital twin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Preguntas docentes avanzadas de razonamiento clínico-tecnológico; no corresponden a ítems oficiales de USMLE/GRE.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233D"/>
                </a:solidFill>
                <a:latin typeface="Aptos"/>
              </a:rPr>
              <a:t>SOLUCIÓN 5 — HOSPITAL DIGITAL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64B1"/>
                </a:solidFill>
                <a:latin typeface="Aptos"/>
              </a:rPr>
              <a:t>Respuesta, razonamiento y arquitectura recomendada.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1920240" cy="868680"/>
          </a:xfrm>
          <a:prstGeom prst="roundRect">
            <a:avLst/>
          </a:prstGeom>
          <a:solidFill>
            <a:srgbClr val="35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RESPUESTA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1732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233D"/>
                </a:solidFill>
                <a:latin typeface="Aptos"/>
              </a:rPr>
              <a:t>No: existe digitalización, pero persisten silos y fragmentación del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69848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2491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9163"/>
                </a:solidFill>
                <a:latin typeface="Aptos"/>
              </a:rPr>
              <a:t>¿POR QUÉ?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44952"/>
            <a:ext cx="103875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3A"/>
                </a:solidFill>
                <a:latin typeface="Aptos"/>
              </a:rPr>
              <a:t>La transformación digital no se mide por el número de tecnologías. Requiere integración de datos, workflow, responsabilidades y decisiones alrededor del paciente.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69848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370832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979C"/>
                </a:solidFill>
                <a:latin typeface="Aptos"/>
              </a:rPr>
              <a:t>ARQUITECTURA / PRINCIPIO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90872"/>
            <a:ext cx="1038758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A"/>
                </a:solidFill>
                <a:latin typeface="Aptos"/>
              </a:rPr>
              <a:t>EHR ↔ RPM ↔ TELEHEALTH ↔ AI/CDS ↔ CLINICAL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Solución educativa: en implementación real se requiere validación clínica, gobernanza, privacidad, seguridad y protocolos locales.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8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233D"/>
                </a:solidFill>
                <a:latin typeface="Aptos"/>
              </a:rPr>
              <a:t>DESAFÍO FINAL — USTED DIRIGE LA TRANSFORMACIÓN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64B1"/>
                </a:solidFill>
                <a:latin typeface="Aptos"/>
              </a:rPr>
              <a:t>Presupuesto: $20.000 | Tiempo: 90 días | Una sola prioridad clínica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56032"/>
            <a:ext cx="914400" cy="384048"/>
          </a:xfrm>
          <a:prstGeom prst="roundRect">
            <a:avLst/>
          </a:prstGeom>
          <a:solidFill>
            <a:srgbClr val="EB8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310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E233D"/>
                </a:solidFill>
                <a:latin typeface="Aptos"/>
              </a:rPr>
              <a:t>Identifique UN problema real de su clínica o práctica profesional.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2331720"/>
            <a:ext cx="356616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2450591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E4141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770632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A"/>
                </a:solidFill>
                <a:latin typeface="Aptos"/>
              </a:rPr>
              <a:t>PROBLEMA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331720"/>
            <a:ext cx="356616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450591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64B1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770632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A"/>
                </a:solidFill>
                <a:latin typeface="Aptos"/>
              </a:rPr>
              <a:t>TECNOLOGÍA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2331720"/>
            <a:ext cx="356616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50591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1509E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770632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A"/>
                </a:solidFill>
                <a:latin typeface="Aptos"/>
              </a:rPr>
              <a:t>DATOS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" y="3749039"/>
            <a:ext cx="356616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" y="3867911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979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" y="4187952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A"/>
                </a:solidFill>
                <a:latin typeface="Aptos"/>
              </a:rPr>
              <a:t>RESPONSABLE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749039"/>
            <a:ext cx="356616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3867911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8830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4187952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A"/>
                </a:solidFill>
                <a:latin typeface="Aptos"/>
              </a:rPr>
              <a:t>DECISIÓN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749039"/>
            <a:ext cx="356616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867911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9163"/>
                </a:solidFill>
                <a:latin typeface="Apto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187952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03A"/>
                </a:solidFill>
                <a:latin typeface="Aptos"/>
              </a:rPr>
              <a:t>RESULTADO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492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E4141"/>
                </a:solidFill>
                <a:latin typeface="Aptos"/>
              </a:rPr>
              <a:t>Condición: la tecnología debe cambiar una decisión o un resultado; si no, elimínela.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9737D"/>
                </a:solidFill>
                <a:latin typeface="Aptos"/>
              </a:rPr>
              <a:t>Preguntas docentes avanzadas de razonamiento clínico-tecnológico; no corresponden a ítems oficiales de USMLE/GRE.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