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AEBE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"/>
            <a:ext cx="10607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440"/>
                </a:solidFill>
                <a:latin typeface="Aptos"/>
              </a:rPr>
              <a:t>RPM: el hospital sale del hospital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Aptos"/>
              </a:rPr>
              <a:t>Remote Patient Monitoring = datos clínicos recogidos fuera del centro y enviados al equipo asistencial.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55680" cy="27432"/>
          </a:xfrm>
          <a:prstGeom prst="rect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1874519"/>
            <a:ext cx="1051560" cy="1051560"/>
          </a:xfrm>
          <a:prstGeom prst="ellipse">
            <a:avLst/>
          </a:prstGeom>
          <a:solidFill>
            <a:srgbClr val="1C8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9923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PACIENTE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B6C7A"/>
                </a:solidFill>
                <a:latin typeface="Aptos"/>
              </a:rPr>
              <a:t>en casa</a:t>
            </a:r>
          </a:p>
        </p:txBody>
      </p:sp>
      <p:sp>
        <p:nvSpPr>
          <p:cNvPr id="10" name="Oval 9"/>
          <p:cNvSpPr/>
          <p:nvPr/>
        </p:nvSpPr>
        <p:spPr>
          <a:xfrm>
            <a:off x="3794759" y="1874519"/>
            <a:ext cx="1051560" cy="1051560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99923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SENSORES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310128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B6C7A"/>
                </a:solidFill>
                <a:latin typeface="Aptos"/>
              </a:rPr>
              <a:t>PA • SpO₂ • ECG
Glucosa • peso</a:t>
            </a:r>
          </a:p>
        </p:txBody>
      </p:sp>
      <p:sp>
        <p:nvSpPr>
          <p:cNvPr id="13" name="Oval 12"/>
          <p:cNvSpPr/>
          <p:nvPr/>
        </p:nvSpPr>
        <p:spPr>
          <a:xfrm>
            <a:off x="6537959" y="1874519"/>
            <a:ext cx="1051560" cy="1051560"/>
          </a:xfrm>
          <a:prstGeom prst="ellipse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299923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310128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B6C7A"/>
                </a:solidFill>
                <a:latin typeface="Aptos"/>
              </a:rPr>
              <a:t>transmite + integra
+ genera alertas</a:t>
            </a:r>
          </a:p>
        </p:txBody>
      </p:sp>
      <p:sp>
        <p:nvSpPr>
          <p:cNvPr id="16" name="Oval 15"/>
          <p:cNvSpPr/>
          <p:nvPr/>
        </p:nvSpPr>
        <p:spPr>
          <a:xfrm>
            <a:off x="9372600" y="1874519"/>
            <a:ext cx="1051560" cy="1051560"/>
          </a:xfrm>
          <a:prstGeom prst="ellipse">
            <a:avLst/>
          </a:prstGeom>
          <a:solidFill>
            <a:srgbClr val="37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999232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CLÍNICO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310128"/>
            <a:ext cx="2148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B6C7A"/>
                </a:solidFill>
                <a:latin typeface="Aptos"/>
              </a:rPr>
              <a:t>revisa tendencias
y actúa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5798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977B5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15798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977B5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5798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1977B5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70832"/>
            <a:ext cx="1060704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35424"/>
            <a:ext cx="10149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EAEBE"/>
                </a:solidFill>
                <a:latin typeface="Aptos"/>
              </a:rPr>
              <a:t>CAMBIO DE MODELO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10149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0A2440"/>
                </a:solidFill>
                <a:latin typeface="Aptos"/>
              </a:rPr>
              <a:t>Visita puntual  →  seguimiento continuo y atención proactiva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B6C7A"/>
                </a:solidFill>
                <a:latin typeface="Aptos"/>
              </a:rPr>
              <a:t>Ejemplo: un aumento de peso + caída de SpO₂ puede activar revisión temprana en un paciente con insuficiencia cardiaca.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AEBE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"/>
            <a:ext cx="10607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440"/>
                </a:solidFill>
                <a:latin typeface="Aptos"/>
              </a:rPr>
              <a:t>¿Qué puede monitorizar RPM?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Aptos"/>
              </a:rPr>
              <a:t>La tecnología cambia según la condición clínica; RPM no es un único dispositivo.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55680" cy="27432"/>
          </a:xfrm>
          <a:prstGeom prst="rect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2487168" cy="303580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9888" y="1719072"/>
            <a:ext cx="841248" cy="841248"/>
          </a:xfrm>
          <a:prstGeom prst="ellipse">
            <a:avLst/>
          </a:prstGeom>
          <a:solidFill>
            <a:srgbClr val="C24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1810512"/>
            <a:ext cx="6583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"/>
              </a:rPr>
              <a:t>❤️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24912"/>
            <a:ext cx="21579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Cardiología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136392"/>
            <a:ext cx="21579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B37"/>
                </a:solidFill>
                <a:latin typeface="Aptos"/>
              </a:rPr>
              <a:t>ECG • ritmo • presión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68503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Arritmias / insuficiencia cardiaca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481328"/>
            <a:ext cx="2487168" cy="303580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719072"/>
            <a:ext cx="841248" cy="841248"/>
          </a:xfrm>
          <a:prstGeom prst="ellipse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810512"/>
            <a:ext cx="6583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"/>
              </a:rPr>
              <a:t>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2724912"/>
            <a:ext cx="21579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Diabetes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3136392"/>
            <a:ext cx="21579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B37"/>
                </a:solidFill>
                <a:latin typeface="Aptos"/>
              </a:rPr>
              <a:t>Glucosa continua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368503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Control metabólico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481328"/>
            <a:ext cx="2487168" cy="303580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2" y="1719072"/>
            <a:ext cx="841248" cy="841248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1810512"/>
            <a:ext cx="6583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"/>
              </a:rPr>
              <a:t>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724912"/>
            <a:ext cx="21579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Respiratorio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136392"/>
            <a:ext cx="21579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B37"/>
                </a:solidFill>
                <a:latin typeface="Aptos"/>
              </a:rPr>
              <a:t>SpO₂ • frecuencia respiratoria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68503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COPD / seguimiento domiciliario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3416" y="1481328"/>
            <a:ext cx="2487168" cy="3035808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38944" y="1719072"/>
            <a:ext cx="841248" cy="841248"/>
          </a:xfrm>
          <a:prstGeom prst="ellipse">
            <a:avLst/>
          </a:prstGeom>
          <a:solidFill>
            <a:srgbClr val="1C8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1810512"/>
            <a:ext cx="65836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ptos"/>
              </a:rPr>
              <a:t>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724912"/>
            <a:ext cx="215798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Crónicos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3136392"/>
            <a:ext cx="215798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2B37"/>
                </a:solidFill>
                <a:latin typeface="Aptos"/>
              </a:rPr>
              <a:t>Peso • PA • síntomas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008" y="368503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Hipertensión / post-alta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4965192"/>
            <a:ext cx="9784080" cy="822960"/>
          </a:xfrm>
          <a:prstGeom prst="roundRect">
            <a:avLst/>
          </a:prstGeom>
          <a:solidFill>
            <a:srgbClr val="E4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7320" y="5102352"/>
            <a:ext cx="9326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A2440"/>
                </a:solidFill>
                <a:latin typeface="Aptos"/>
              </a:rPr>
              <a:t>RPM + TELEHEALTH + HOSPITAL-AT-HOME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404104"/>
            <a:ext cx="9326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El dato remoto tiene valor cuando entra en un flujo clínico con revisión, escalamiento e intervención.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AEBE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"/>
            <a:ext cx="10607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440"/>
                </a:solidFill>
                <a:latin typeface="Aptos"/>
              </a:rPr>
              <a:t>Arquitectura digital: del sensor a la HCE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Aptos"/>
              </a:rPr>
              <a:t>El reto no es solo medir: es transportar, normalizar, interpretar y documentar.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55680" cy="27432"/>
          </a:xfrm>
          <a:prstGeom prst="rect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874519"/>
            <a:ext cx="1993392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6424" y="1417320"/>
            <a:ext cx="566928" cy="566928"/>
          </a:xfrm>
          <a:prstGeom prst="ellipse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147218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17190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Sensor / wearable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719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dato fisiológico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505456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977B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5768" y="1874519"/>
            <a:ext cx="1993392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10712" y="1417320"/>
            <a:ext cx="566928" cy="566928"/>
          </a:xfrm>
          <a:prstGeom prst="ellipse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147218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2121408"/>
            <a:ext cx="17190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Móvil /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834640"/>
            <a:ext cx="1719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Bluetooth / 4G / Wi-Fi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505456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977B5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0056" y="1874519"/>
            <a:ext cx="1993392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1417320"/>
            <a:ext cx="566928" cy="566928"/>
          </a:xfrm>
          <a:prstGeom prst="ellipse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147218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121408"/>
            <a:ext cx="17190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Cloud RPM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2834640"/>
            <a:ext cx="1719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normalización + reglas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2505456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977B5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1874519"/>
            <a:ext cx="1993392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1417320"/>
            <a:ext cx="566928" cy="566928"/>
          </a:xfrm>
          <a:prstGeom prst="ellipse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47218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2121408"/>
            <a:ext cx="17190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IA / alertas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834640"/>
            <a:ext cx="1719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priorización de riesgo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2505456"/>
            <a:ext cx="320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977B5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8632" y="1874519"/>
            <a:ext cx="1993392" cy="20299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23576" y="1417320"/>
            <a:ext cx="566928" cy="566928"/>
          </a:xfrm>
          <a:prstGeom prst="ellipse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23576" y="147218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2121408"/>
            <a:ext cx="17190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HCE / 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834640"/>
            <a:ext cx="1719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FHIR + flujo clínico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480560"/>
            <a:ext cx="10515600" cy="1097280"/>
          </a:xfrm>
          <a:prstGeom prst="roundRect">
            <a:avLst/>
          </a:prstGeom>
          <a:solidFill>
            <a:srgbClr val="E8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626864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79669"/>
                </a:solidFill>
                <a:latin typeface="Aptos"/>
              </a:rPr>
              <a:t>INTEROPERABILIDAD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937760"/>
            <a:ext cx="10058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A2440"/>
                </a:solidFill>
                <a:latin typeface="Aptos"/>
              </a:rPr>
              <a:t>El objetivo: que el dato remoto llegue al expediente clínico en formato estructurado y utilizable — no como otro silo.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Seguridad transversal: cifrado, autenticación, control de acceso y auditoría.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AEBE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"/>
            <a:ext cx="10607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440"/>
                </a:solidFill>
                <a:latin typeface="Aptos"/>
              </a:rPr>
              <a:t>RPM + IA: de muchos datos a una señal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Aptos"/>
              </a:rPr>
              <a:t>La IA puede ayudar a filtrar tendencias; la decisión clínica sigue dentro del flujo asistencial.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55680" cy="27432"/>
          </a:xfrm>
          <a:prstGeom prst="rect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6720840" cy="425196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6126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A2440"/>
                </a:solidFill>
                <a:latin typeface="Aptos"/>
              </a:rPr>
              <a:t>Ejemplo conceptual: tendencia de riesgo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4983480"/>
            <a:ext cx="5852160" cy="27432"/>
          </a:xfrm>
          <a:prstGeom prst="rect">
            <a:avLst/>
          </a:prstGeom>
          <a:solidFill>
            <a:srgbClr val="5B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2148840"/>
            <a:ext cx="27432" cy="2834640"/>
          </a:xfrm>
          <a:prstGeom prst="rect">
            <a:avLst/>
          </a:prstGeom>
          <a:solidFill>
            <a:srgbClr val="5B6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188720" y="4498848"/>
            <a:ext cx="731520" cy="118872"/>
          </a:xfrm>
          <a:prstGeom prst="line">
            <a:avLst/>
          </a:prstGeom>
          <a:ln w="31750">
            <a:solidFill>
              <a:srgbClr val="197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20240" y="4251960"/>
            <a:ext cx="731520" cy="246888"/>
          </a:xfrm>
          <a:prstGeom prst="line">
            <a:avLst/>
          </a:prstGeom>
          <a:ln w="31750">
            <a:solidFill>
              <a:srgbClr val="197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51760" y="4041648"/>
            <a:ext cx="731520" cy="210312"/>
          </a:xfrm>
          <a:prstGeom prst="line">
            <a:avLst/>
          </a:prstGeom>
          <a:ln w="31750">
            <a:solidFill>
              <a:srgbClr val="197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383280" y="3749039"/>
            <a:ext cx="731520" cy="292609"/>
          </a:xfrm>
          <a:prstGeom prst="line">
            <a:avLst/>
          </a:prstGeom>
          <a:ln w="31750">
            <a:solidFill>
              <a:srgbClr val="197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14800" y="3246120"/>
            <a:ext cx="731520" cy="502919"/>
          </a:xfrm>
          <a:prstGeom prst="line">
            <a:avLst/>
          </a:prstGeom>
          <a:ln w="31750">
            <a:solidFill>
              <a:srgbClr val="197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846320" y="2606040"/>
            <a:ext cx="731520" cy="640080"/>
          </a:xfrm>
          <a:prstGeom prst="line">
            <a:avLst/>
          </a:prstGeom>
          <a:ln w="31750">
            <a:solidFill>
              <a:srgbClr val="197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577840" y="2331720"/>
            <a:ext cx="914400" cy="274320"/>
          </a:xfrm>
          <a:prstGeom prst="line">
            <a:avLst/>
          </a:prstGeom>
          <a:ln w="31750">
            <a:solidFill>
              <a:srgbClr val="1977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24712" y="4553712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56232" y="4434840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87752" y="4187952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19272" y="3977639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50791" y="3685031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82312" y="3182112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13831" y="2542032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1" y="2267712"/>
            <a:ext cx="128016" cy="128016"/>
          </a:xfrm>
          <a:prstGeom prst="ellipse">
            <a:avLst/>
          </a:prstGeom>
          <a:solidFill>
            <a:srgbClr val="19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1920240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2463C"/>
                </a:solidFill>
                <a:latin typeface="Aptos"/>
              </a:rPr>
              <a:t>ALERTA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1508760"/>
            <a:ext cx="3794760" cy="96012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163677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EAEBE"/>
                </a:solidFill>
                <a:latin typeface="Aptos"/>
              </a:rPr>
              <a:t>DETECTAR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160020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cambio sostenido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2788920"/>
            <a:ext cx="3794760" cy="96012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91693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8912D"/>
                </a:solidFill>
                <a:latin typeface="Aptos"/>
              </a:rPr>
              <a:t>PRIORIZAR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28803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qué paciente revisar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4069080"/>
            <a:ext cx="3794760" cy="96012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19709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79669"/>
                </a:solidFill>
                <a:latin typeface="Aptos"/>
              </a:rPr>
              <a:t>ACTUAR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1605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F2B37"/>
                </a:solidFill>
                <a:latin typeface="Aptos"/>
              </a:rPr>
              <a:t>contacto / ajuste / derivación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5833872"/>
            <a:ext cx="10195560" cy="438912"/>
          </a:xfrm>
          <a:prstGeom prst="roundRect">
            <a:avLst/>
          </a:prstGeom>
          <a:solidFill>
            <a:srgbClr val="F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888736"/>
            <a:ext cx="9921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2463C"/>
                </a:solidFill>
                <a:latin typeface="Aptos"/>
              </a:rPr>
              <a:t>IMPORTANTE: una alerta algorítmica no equivale automáticamente a diagnóstico ni a autorización regulatoria.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EAEBE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19456"/>
            <a:ext cx="10607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440"/>
                </a:solidFill>
                <a:latin typeface="Aptos"/>
              </a:rPr>
              <a:t>¿Por qué importa? Resultados, límites y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13232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C7A"/>
                </a:solidFill>
                <a:latin typeface="Aptos"/>
              </a:rPr>
              <a:t>RPM convierte el domicilio en una extensión digital del sistema de salud.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69848"/>
            <a:ext cx="11155680" cy="27432"/>
          </a:xfrm>
          <a:prstGeom prst="rect">
            <a:avLst/>
          </a:prstGeom>
          <a:solidFill>
            <a:srgbClr val="1E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487168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18488"/>
            <a:ext cx="22128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379669"/>
                </a:solidFill>
                <a:latin typeface="Apto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22128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Hospitalización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87752"/>
            <a:ext cx="22128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intervención más temprana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417320"/>
            <a:ext cx="2487168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618488"/>
            <a:ext cx="22128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8983"/>
                </a:solidFill>
                <a:latin typeface="Aptos"/>
              </a:rPr>
              <a:t>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212848"/>
            <a:ext cx="22128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Casa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587752"/>
            <a:ext cx="22128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hospital-at-home / post-alta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417320"/>
            <a:ext cx="2487168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618488"/>
            <a:ext cx="22128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977B5"/>
                </a:solidFill>
                <a:latin typeface="Aptos"/>
              </a:rPr>
              <a:t>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212848"/>
            <a:ext cx="22128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Integración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587752"/>
            <a:ext cx="22128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RPM ↔ HCE/HIS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417320"/>
            <a:ext cx="2487168" cy="1938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618488"/>
            <a:ext cx="22128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E8912D"/>
                </a:solidFill>
                <a:latin typeface="Aptos"/>
              </a:rP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212848"/>
            <a:ext cx="22128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A2440"/>
                </a:solidFill>
                <a:latin typeface="Aptos"/>
              </a:rPr>
              <a:t>Analítica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587752"/>
            <a:ext cx="22128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5B6C7A"/>
                </a:solidFill>
                <a:latin typeface="Aptos"/>
              </a:rPr>
              <a:t>priorización y personalización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94760"/>
            <a:ext cx="5212080" cy="1353312"/>
          </a:xfrm>
          <a:prstGeom prst="roundRect">
            <a:avLst/>
          </a:prstGeom>
          <a:solidFill>
            <a:srgbClr val="E8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6849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79669"/>
                </a:solidFill>
                <a:latin typeface="Aptos"/>
              </a:rPr>
              <a:t>OPORTUNIDAD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159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B37"/>
                </a:solidFill>
                <a:latin typeface="Aptos"/>
              </a:rPr>
              <a:t>Atención continua, detección temprana, comodidad del paciente y mejor uso de recursos.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94760"/>
            <a:ext cx="5212080" cy="1353312"/>
          </a:xfrm>
          <a:prstGeom prst="roundRect">
            <a:avLst/>
          </a:prstGeom>
          <a:solidFill>
            <a:srgbClr val="F7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968496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C2463C"/>
                </a:solidFill>
                <a:latin typeface="Aptos"/>
              </a:rPr>
              <a:t>RIESGOS A GESTIONAR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3159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2B37"/>
                </a:solidFill>
                <a:latin typeface="Aptos"/>
              </a:rPr>
              <a:t>Sobrecarga de alertas, privacidad, acceso digital, calidad del dispositivo e integración.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5532120"/>
            <a:ext cx="9738360" cy="640080"/>
          </a:xfrm>
          <a:prstGeom prst="roundRect">
            <a:avLst/>
          </a:prstGeom>
          <a:solidFill>
            <a:srgbClr val="0A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5632704"/>
            <a:ext cx="9372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IDEA CLAVE: RPM = SENSOR + CONECTIVIDAD + DATOS + FLUJO CLÍNICO + RESPUESTA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698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5B6C7A"/>
                </a:solidFill>
                <a:latin typeface="Aptos"/>
              </a:rPr>
              <a:t>Base: IntuitionLabs, Remote Patient Monitoring in the United States: 2025 Landscape Report, actualizado 21 Jul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