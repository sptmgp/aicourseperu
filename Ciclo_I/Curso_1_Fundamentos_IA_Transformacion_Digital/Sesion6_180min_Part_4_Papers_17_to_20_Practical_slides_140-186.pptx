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82" r:id="rId33"/>
    <p:sldId id="283" r:id="rId34"/>
    <p:sldId id="284" r:id="rId35"/>
    <p:sldId id="285" r:id="rId36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  <p:sldId id="441" r:id="rId192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33" Type="http://schemas.openxmlformats.org/officeDocument/2006/relationships/slide" Target="slides/slide140.xml"/><Relationship Id="rId34" Type="http://schemas.openxmlformats.org/officeDocument/2006/relationships/slide" Target="slides/slide141.xml"/><Relationship Id="rId35" Type="http://schemas.openxmlformats.org/officeDocument/2006/relationships/slide" Target="slides/slide142.xml"/><Relationship Id="rId36" Type="http://schemas.openxmlformats.org/officeDocument/2006/relationships/slide" Target="slides/slide143.xml"/><Relationship Id="rId37" Type="http://schemas.openxmlformats.org/officeDocument/2006/relationships/slide" Target="slides/slide174.xml"/><Relationship Id="rId38" Type="http://schemas.openxmlformats.org/officeDocument/2006/relationships/slide" Target="slides/slide175.xml"/><Relationship Id="rId39" Type="http://schemas.openxmlformats.org/officeDocument/2006/relationships/slide" Target="slides/slide176.xml"/><Relationship Id="rId40" Type="http://schemas.openxmlformats.org/officeDocument/2006/relationships/slide" Target="slides/slide177.xml"/><Relationship Id="rId41" Type="http://schemas.openxmlformats.org/officeDocument/2006/relationships/slide" Target="slides/slide178.xml"/><Relationship Id="rId42" Type="http://schemas.openxmlformats.org/officeDocument/2006/relationships/slide" Target="slides/slide179.xml"/><Relationship Id="rId43" Type="http://schemas.openxmlformats.org/officeDocument/2006/relationships/slide" Target="slides/slide180.xml"/><Relationship Id="rId44" Type="http://schemas.openxmlformats.org/officeDocument/2006/relationships/slide" Target="slides/slide181.xml"/><Relationship Id="rId45" Type="http://schemas.openxmlformats.org/officeDocument/2006/relationships/slide" Target="slides/slide182.xml"/><Relationship Id="rId46" Type="http://schemas.openxmlformats.org/officeDocument/2006/relationships/slide" Target="slides/slide183.xml"/><Relationship Id="rId47" Type="http://schemas.openxmlformats.org/officeDocument/2006/relationships/slide" Target="slides/slide184.xml"/><Relationship Id="rId48" Type="http://schemas.openxmlformats.org/officeDocument/2006/relationships/slide" Target="slides/slide185.xml"/><Relationship Id="rId49" Type="http://schemas.openxmlformats.org/officeDocument/2006/relationships/slide" Target="slides/slide186.xml"/><Relationship Id="rId163" Type="http://schemas.openxmlformats.org/officeDocument/2006/relationships/slide" Target="slides/slide144.xml"/><Relationship Id="rId164" Type="http://schemas.openxmlformats.org/officeDocument/2006/relationships/slide" Target="slides/slide145.xml"/><Relationship Id="rId165" Type="http://schemas.openxmlformats.org/officeDocument/2006/relationships/slide" Target="slides/slide146.xml"/><Relationship Id="rId166" Type="http://schemas.openxmlformats.org/officeDocument/2006/relationships/slide" Target="slides/slide147.xml"/><Relationship Id="rId167" Type="http://schemas.openxmlformats.org/officeDocument/2006/relationships/slide" Target="slides/slide148.xml"/><Relationship Id="rId168" Type="http://schemas.openxmlformats.org/officeDocument/2006/relationships/slide" Target="slides/slide149.xml"/><Relationship Id="rId169" Type="http://schemas.openxmlformats.org/officeDocument/2006/relationships/slide" Target="slides/slide150.xml"/><Relationship Id="rId170" Type="http://schemas.openxmlformats.org/officeDocument/2006/relationships/slide" Target="slides/slide151.xml"/><Relationship Id="rId171" Type="http://schemas.openxmlformats.org/officeDocument/2006/relationships/slide" Target="slides/slide152.xml"/><Relationship Id="rId172" Type="http://schemas.openxmlformats.org/officeDocument/2006/relationships/slide" Target="slides/slide153.xml"/><Relationship Id="rId173" Type="http://schemas.openxmlformats.org/officeDocument/2006/relationships/slide" Target="slides/slide154.xml"/><Relationship Id="rId174" Type="http://schemas.openxmlformats.org/officeDocument/2006/relationships/slide" Target="slides/slide155.xml"/><Relationship Id="rId175" Type="http://schemas.openxmlformats.org/officeDocument/2006/relationships/slide" Target="slides/slide156.xml"/><Relationship Id="rId176" Type="http://schemas.openxmlformats.org/officeDocument/2006/relationships/slide" Target="slides/slide157.xml"/><Relationship Id="rId177" Type="http://schemas.openxmlformats.org/officeDocument/2006/relationships/slide" Target="slides/slide158.xml"/><Relationship Id="rId178" Type="http://schemas.openxmlformats.org/officeDocument/2006/relationships/slide" Target="slides/slide159.xml"/><Relationship Id="rId179" Type="http://schemas.openxmlformats.org/officeDocument/2006/relationships/slide" Target="slides/slide160.xml"/><Relationship Id="rId180" Type="http://schemas.openxmlformats.org/officeDocument/2006/relationships/slide" Target="slides/slide161.xml"/><Relationship Id="rId181" Type="http://schemas.openxmlformats.org/officeDocument/2006/relationships/slide" Target="slides/slide162.xml"/><Relationship Id="rId182" Type="http://schemas.openxmlformats.org/officeDocument/2006/relationships/slide" Target="slides/slide163.xml"/><Relationship Id="rId183" Type="http://schemas.openxmlformats.org/officeDocument/2006/relationships/slide" Target="slides/slide164.xml"/><Relationship Id="rId184" Type="http://schemas.openxmlformats.org/officeDocument/2006/relationships/slide" Target="slides/slide165.xml"/><Relationship Id="rId185" Type="http://schemas.openxmlformats.org/officeDocument/2006/relationships/slide" Target="slides/slide166.xml"/><Relationship Id="rId186" Type="http://schemas.openxmlformats.org/officeDocument/2006/relationships/slide" Target="slides/slide167.xml"/><Relationship Id="rId187" Type="http://schemas.openxmlformats.org/officeDocument/2006/relationships/slide" Target="slides/slide168.xml"/><Relationship Id="rId188" Type="http://schemas.openxmlformats.org/officeDocument/2006/relationships/slide" Target="slides/slide169.xml"/><Relationship Id="rId189" Type="http://schemas.openxmlformats.org/officeDocument/2006/relationships/slide" Target="slides/slide170.xml"/><Relationship Id="rId190" Type="http://schemas.openxmlformats.org/officeDocument/2006/relationships/slide" Target="slides/slide171.xml"/><Relationship Id="rId191" Type="http://schemas.openxmlformats.org/officeDocument/2006/relationships/slide" Target="slides/slide172.xml"/><Relationship Id="rId192" Type="http://schemas.openxmlformats.org/officeDocument/2006/relationships/slide" Target="slides/slide17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1.jpg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2.jpg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3.jpg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4.jpg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5.jpg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6.jpg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7.jpg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8.jpg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9.jpg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0.jpg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1.jpg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2.jpg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3.jpg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4.jpg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5.jpg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6.jpg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7.jpg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8.jpg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9.jpg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0.jpg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1.jpg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2.jpg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3.jpg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4.jpg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5.jpg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>
              <a:defRPr sz="3000" b="1">
                <a:solidFill>
                  <a:srgbClr val="0F243E"/>
                </a:solidFill>
                <a:latin typeface="Aptos Display"/>
              </a:defRPr>
            </a:pPr>
            <a:r>
              <a:t>Paper 17: LLM preoperative communication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789920" cy="36576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>
              <a:defRPr sz="1300" b="0">
                <a:solidFill>
                  <a:srgbClr val="595959"/>
                </a:solidFill>
                <a:latin typeface="Aptos"/>
              </a:defRPr>
            </a:pPr>
            <a:r>
              <a:t>LLM-assisted preoperative communication reduces patient anxiety and physician workload in prostate cancer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29800" y="292608"/>
            <a:ext cx="1783080" cy="347472"/>
          </a:xfrm>
          <a:prstGeom prst="roundRect">
            <a:avLst/>
          </a:prstGeom>
          <a:solidFill>
            <a:srgbClr val="009195"/>
          </a:solidFill>
          <a:ln>
            <a:solidFill>
              <a:srgbClr val="0091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97864"/>
            <a:ext cx="11155680" cy="27432"/>
          </a:xfrm>
          <a:prstGeom prst="rect">
            <a:avLst/>
          </a:prstGeom>
          <a:solidFill>
            <a:srgbClr val="0091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772400" cy="22860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>
              <a:defRPr sz="800" b="0">
                <a:solidFill>
                  <a:srgbClr val="595959"/>
                </a:solidFill>
                <a:latin typeface="Aptos"/>
              </a:defRPr>
            </a:pPr>
            <a:r>
              <a:t>Sesión 6 · Python para IA médica · Google Colab + pandas + scikit-learn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731520" cy="22860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r">
              <a:defRPr sz="800" b="0">
                <a:solidFill>
                  <a:srgbClr val="595959"/>
                </a:solidFill>
                <a:latin typeface="Aptos"/>
              </a:defRPr>
            </a:pPr>
            <a:r>
              <a:t>27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1481328"/>
            <a:ext cx="658368" cy="658368"/>
          </a:xfrm>
          <a:prstGeom prst="ellipse">
            <a:avLst/>
          </a:prstGeom>
          <a:solidFill>
            <a:srgbClr val="0091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00200" y="1417320"/>
            <a:ext cx="31089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2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64792" y="1536192"/>
            <a:ext cx="2779776" cy="292608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>
              <a:defRPr sz="1500" b="1">
                <a:solidFill>
                  <a:srgbClr val="156082"/>
                </a:solidFill>
                <a:latin typeface="Aptos"/>
              </a:defRPr>
            </a:pPr>
            <a:r>
              <a:t>Patient-care problem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01368" y="1920240"/>
            <a:ext cx="2706624" cy="3794759"/>
          </a:xfrm>
          <a:prstGeom prst="rect">
            <a:avLst/>
          </a:prstGeom>
          <a:noFill/>
        </p:spPr>
        <p:txBody>
          <a:bodyPr wrap="square" lIns="18288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Patient communication</a:t>
            </a:r>
          </a:p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A randomized design evaluated patient anxiety and physician workload.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92040" y="1417320"/>
            <a:ext cx="31089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2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56631" y="1536192"/>
            <a:ext cx="2779776" cy="292608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>
              <a:defRPr sz="1500" b="1">
                <a:solidFill>
                  <a:srgbClr val="288545"/>
                </a:solidFill>
                <a:latin typeface="Aptos"/>
              </a:defRPr>
            </a:pPr>
            <a:r>
              <a:t>Python exercise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93207" y="1920240"/>
            <a:ext cx="2706624" cy="3794759"/>
          </a:xfrm>
          <a:prstGeom prst="rect">
            <a:avLst/>
          </a:prstGeom>
          <a:noFill/>
        </p:spPr>
        <p:txBody>
          <a:bodyPr wrap="square" lIns="18288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Build a pre-visit question checklist and classify question themes.</a:t>
            </a:r>
          </a:p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Use pandas → train/test → scikit-learn → metrics.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79" y="1417320"/>
            <a:ext cx="31546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2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48471" y="1536192"/>
            <a:ext cx="2825496" cy="292608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>
              <a:defRPr sz="1500" b="1">
                <a:solidFill>
                  <a:srgbClr val="DC782D"/>
                </a:solidFill>
                <a:latin typeface="Aptos"/>
              </a:defRPr>
            </a:pPr>
            <a:r>
              <a:t>Clinical safety question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5048" y="1920240"/>
            <a:ext cx="2752344" cy="3794759"/>
          </a:xfrm>
          <a:prstGeom prst="rect">
            <a:avLst/>
          </a:prstGeom>
          <a:noFill/>
        </p:spPr>
        <p:txBody>
          <a:bodyPr wrap="square" lIns="18288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Who acts on the output?</a:t>
            </a:r>
          </a:p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What false negative would harm?</a:t>
            </a:r>
          </a:p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What false positive wastes resources?</a:t>
            </a:r>
          </a:p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Is the dataset representative?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961888"/>
            <a:ext cx="10789920" cy="32004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>
              <a:defRPr sz="800" b="0">
                <a:solidFill>
                  <a:srgbClr val="595959"/>
                </a:solidFill>
                <a:latin typeface="Aptos"/>
              </a:defRPr>
            </a:pPr>
            <a:r>
              <a:t>Source / download: https://www.nature.com/articles/s41746-026-03309-7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>
              <a:defRPr sz="3000" b="1">
                <a:solidFill>
                  <a:srgbClr val="0F243E"/>
                </a:solidFill>
                <a:latin typeface="Aptos Display"/>
              </a:defRPr>
            </a:pPr>
            <a:r>
              <a:t>Paper 18: AI-mediated clinical communication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789920" cy="36576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>
              <a:defRPr sz="1300" b="0">
                <a:solidFill>
                  <a:srgbClr val="595959"/>
                </a:solidFill>
                <a:latin typeface="Aptos"/>
              </a:defRPr>
            </a:pPr>
            <a:r>
              <a:t>AI-mediated clinical communication between providers and patients/caregivers: scoping review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29800" y="292608"/>
            <a:ext cx="1783080" cy="347472"/>
          </a:xfrm>
          <a:prstGeom prst="roundRect">
            <a:avLst/>
          </a:prstGeom>
          <a:solidFill>
            <a:srgbClr val="009195"/>
          </a:solidFill>
          <a:ln>
            <a:solidFill>
              <a:srgbClr val="0091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97864"/>
            <a:ext cx="11155680" cy="27432"/>
          </a:xfrm>
          <a:prstGeom prst="rect">
            <a:avLst/>
          </a:prstGeom>
          <a:solidFill>
            <a:srgbClr val="0091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772400" cy="22860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>
              <a:defRPr sz="800" b="0">
                <a:solidFill>
                  <a:srgbClr val="595959"/>
                </a:solidFill>
                <a:latin typeface="Aptos"/>
              </a:defRPr>
            </a:pPr>
            <a:r>
              <a:t>Sesión 6 · Python para IA médica · Google Colab + pandas + scikit-learn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731520" cy="22860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r">
              <a:defRPr sz="800" b="0">
                <a:solidFill>
                  <a:srgbClr val="595959"/>
                </a:solidFill>
                <a:latin typeface="Aptos"/>
              </a:defRPr>
            </a:pPr>
            <a:r>
              <a:t>28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1481328"/>
            <a:ext cx="658368" cy="658368"/>
          </a:xfrm>
          <a:prstGeom prst="ellipse">
            <a:avLst/>
          </a:prstGeom>
          <a:solidFill>
            <a:srgbClr val="0091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00200" y="1417320"/>
            <a:ext cx="31089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2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64792" y="1536192"/>
            <a:ext cx="2779776" cy="292608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>
              <a:defRPr sz="1500" b="1">
                <a:solidFill>
                  <a:srgbClr val="156082"/>
                </a:solidFill>
                <a:latin typeface="Aptos"/>
              </a:defRPr>
            </a:pPr>
            <a:r>
              <a:t>Patient-care problem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01368" y="1920240"/>
            <a:ext cx="2706624" cy="3794759"/>
          </a:xfrm>
          <a:prstGeom prst="rect">
            <a:avLst/>
          </a:prstGeom>
          <a:noFill/>
        </p:spPr>
        <p:txBody>
          <a:bodyPr wrap="square" lIns="18288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Communication / safety</a:t>
            </a:r>
          </a:p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Reviews attributes, use cases and risks of AI-mediated communication.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92040" y="1417320"/>
            <a:ext cx="31089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2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56631" y="1536192"/>
            <a:ext cx="2779776" cy="292608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>
              <a:defRPr sz="1500" b="1">
                <a:solidFill>
                  <a:srgbClr val="288545"/>
                </a:solidFill>
                <a:latin typeface="Aptos"/>
              </a:defRPr>
            </a:pPr>
            <a:r>
              <a:t>Python exercise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93207" y="1920240"/>
            <a:ext cx="2706624" cy="3794759"/>
          </a:xfrm>
          <a:prstGeom prst="rect">
            <a:avLst/>
          </a:prstGeom>
          <a:noFill/>
        </p:spPr>
        <p:txBody>
          <a:bodyPr wrap="square" lIns="18288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Classify patient messages into admin, clinical, urgent and education.</a:t>
            </a:r>
          </a:p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Use pandas → train/test → scikit-learn → metrics.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79" y="1417320"/>
            <a:ext cx="31546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2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48471" y="1536192"/>
            <a:ext cx="2825496" cy="292608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>
              <a:defRPr sz="1500" b="1">
                <a:solidFill>
                  <a:srgbClr val="DC782D"/>
                </a:solidFill>
                <a:latin typeface="Aptos"/>
              </a:defRPr>
            </a:pPr>
            <a:r>
              <a:t>Clinical safety question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5048" y="1920240"/>
            <a:ext cx="2752344" cy="3794759"/>
          </a:xfrm>
          <a:prstGeom prst="rect">
            <a:avLst/>
          </a:prstGeom>
          <a:noFill/>
        </p:spPr>
        <p:txBody>
          <a:bodyPr wrap="square" lIns="18288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Who acts on the output?</a:t>
            </a:r>
          </a:p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What false negative would harm?</a:t>
            </a:r>
          </a:p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What false positive wastes resources?</a:t>
            </a:r>
          </a:p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Is the dataset representative?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961888"/>
            <a:ext cx="10789920" cy="32004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>
              <a:defRPr sz="800" b="0">
                <a:solidFill>
                  <a:srgbClr val="595959"/>
                </a:solidFill>
                <a:latin typeface="Aptos"/>
              </a:defRPr>
            </a:pPr>
            <a:r>
              <a:t>Source / download: https://www.nature.com/articles/s41746-026-03279-w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>
              <a:defRPr sz="3000" b="1">
                <a:solidFill>
                  <a:srgbClr val="0F243E"/>
                </a:solidFill>
                <a:latin typeface="Aptos Display"/>
              </a:defRPr>
            </a:pPr>
            <a:r>
              <a:t>Paper 19: Remote BP monitoring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789920" cy="36576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>
              <a:defRPr sz="1300" b="0">
                <a:solidFill>
                  <a:srgbClr val="595959"/>
                </a:solidFill>
                <a:latin typeface="Aptos"/>
              </a:defRPr>
            </a:pPr>
            <a:r>
              <a:t>Implementation of remote patient monitoring for hypertension: EHR secondary analysis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29800" y="292608"/>
            <a:ext cx="1783080" cy="347472"/>
          </a:xfrm>
          <a:prstGeom prst="roundRect">
            <a:avLst/>
          </a:prstGeom>
          <a:solidFill>
            <a:srgbClr val="009195"/>
          </a:solidFill>
          <a:ln>
            <a:solidFill>
              <a:srgbClr val="0091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97864"/>
            <a:ext cx="11155680" cy="27432"/>
          </a:xfrm>
          <a:prstGeom prst="rect">
            <a:avLst/>
          </a:prstGeom>
          <a:solidFill>
            <a:srgbClr val="0091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772400" cy="22860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>
              <a:defRPr sz="800" b="0">
                <a:solidFill>
                  <a:srgbClr val="595959"/>
                </a:solidFill>
                <a:latin typeface="Aptos"/>
              </a:defRPr>
            </a:pPr>
            <a:r>
              <a:t>Sesión 6 · Python para IA médica · Google Colab + pandas + scikit-learn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731520" cy="22860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r">
              <a:defRPr sz="800" b="0">
                <a:solidFill>
                  <a:srgbClr val="595959"/>
                </a:solidFill>
                <a:latin typeface="Aptos"/>
              </a:defRPr>
            </a:pPr>
            <a:r>
              <a:t>29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1481328"/>
            <a:ext cx="658368" cy="658368"/>
          </a:xfrm>
          <a:prstGeom prst="ellipse">
            <a:avLst/>
          </a:prstGeom>
          <a:solidFill>
            <a:srgbClr val="0091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00200" y="1417320"/>
            <a:ext cx="31089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2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64792" y="1536192"/>
            <a:ext cx="2779776" cy="292608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>
              <a:defRPr sz="1500" b="1">
                <a:solidFill>
                  <a:srgbClr val="156082"/>
                </a:solidFill>
                <a:latin typeface="Aptos"/>
              </a:defRPr>
            </a:pPr>
            <a:r>
              <a:t>Patient-care problem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01368" y="1920240"/>
            <a:ext cx="2706624" cy="3794759"/>
          </a:xfrm>
          <a:prstGeom prst="rect">
            <a:avLst/>
          </a:prstGeom>
          <a:noFill/>
        </p:spPr>
        <p:txBody>
          <a:bodyPr wrap="square" lIns="18288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Primary care / RPM</a:t>
            </a:r>
          </a:p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Remote monitoring creates repeated home measurements that can feed dashboards.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92040" y="1417320"/>
            <a:ext cx="31089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2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56631" y="1536192"/>
            <a:ext cx="2779776" cy="292608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>
              <a:defRPr sz="1500" b="1">
                <a:solidFill>
                  <a:srgbClr val="288545"/>
                </a:solidFill>
                <a:latin typeface="Aptos"/>
              </a:defRPr>
            </a:pPr>
            <a:r>
              <a:t>Python exercise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93207" y="1920240"/>
            <a:ext cx="2706624" cy="3794759"/>
          </a:xfrm>
          <a:prstGeom prst="rect">
            <a:avLst/>
          </a:prstGeom>
          <a:noFill/>
        </p:spPr>
        <p:txBody>
          <a:bodyPr wrap="square" lIns="18288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Analyze home BP trends and flag follow-up priority.</a:t>
            </a:r>
          </a:p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Use pandas → train/test → scikit-learn → metrics.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79" y="1417320"/>
            <a:ext cx="31546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2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48471" y="1536192"/>
            <a:ext cx="2825496" cy="292608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>
              <a:defRPr sz="1500" b="1">
                <a:solidFill>
                  <a:srgbClr val="DC782D"/>
                </a:solidFill>
                <a:latin typeface="Aptos"/>
              </a:defRPr>
            </a:pPr>
            <a:r>
              <a:t>Clinical safety question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5048" y="1920240"/>
            <a:ext cx="2752344" cy="3794759"/>
          </a:xfrm>
          <a:prstGeom prst="rect">
            <a:avLst/>
          </a:prstGeom>
          <a:noFill/>
        </p:spPr>
        <p:txBody>
          <a:bodyPr wrap="square" lIns="18288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Who acts on the output?</a:t>
            </a:r>
          </a:p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What false negative would harm?</a:t>
            </a:r>
          </a:p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What false positive wastes resources?</a:t>
            </a:r>
          </a:p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Is the dataset representative?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961888"/>
            <a:ext cx="10789920" cy="32004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>
              <a:defRPr sz="800" b="0">
                <a:solidFill>
                  <a:srgbClr val="595959"/>
                </a:solidFill>
                <a:latin typeface="Aptos"/>
              </a:defRPr>
            </a:pPr>
            <a:r>
              <a:t>Source / download: https://www.nature.com/articles/s41746-026-03312-y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>
              <a:defRPr sz="3000" b="1">
                <a:solidFill>
                  <a:srgbClr val="0F243E"/>
                </a:solidFill>
                <a:latin typeface="Aptos Display"/>
              </a:defRPr>
            </a:pPr>
            <a:r>
              <a:t>Paper 20: AI evaluation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789920" cy="36576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>
              <a:defRPr sz="1300" b="0">
                <a:solidFill>
                  <a:srgbClr val="595959"/>
                </a:solidFill>
                <a:latin typeface="Aptos"/>
              </a:defRPr>
            </a:pPr>
            <a:r>
              <a:t>A five-phase evaluation framework for diagnostic and predictive medical AI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29800" y="292608"/>
            <a:ext cx="1783080" cy="347472"/>
          </a:xfrm>
          <a:prstGeom prst="roundRect">
            <a:avLst/>
          </a:prstGeom>
          <a:solidFill>
            <a:srgbClr val="009195"/>
          </a:solidFill>
          <a:ln>
            <a:solidFill>
              <a:srgbClr val="0091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97864"/>
            <a:ext cx="11155680" cy="27432"/>
          </a:xfrm>
          <a:prstGeom prst="rect">
            <a:avLst/>
          </a:prstGeom>
          <a:solidFill>
            <a:srgbClr val="0091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772400" cy="22860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>
              <a:defRPr sz="800" b="0">
                <a:solidFill>
                  <a:srgbClr val="595959"/>
                </a:solidFill>
                <a:latin typeface="Aptos"/>
              </a:defRPr>
            </a:pPr>
            <a:r>
              <a:t>Sesión 6 · Python para IA médica · Google Colab + pandas + scikit-learn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731520" cy="22860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r">
              <a:defRPr sz="800" b="0">
                <a:solidFill>
                  <a:srgbClr val="595959"/>
                </a:solidFill>
                <a:latin typeface="Aptos"/>
              </a:defRPr>
            </a:pPr>
            <a:r>
              <a:t>30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1481328"/>
            <a:ext cx="658368" cy="658368"/>
          </a:xfrm>
          <a:prstGeom prst="ellipse">
            <a:avLst/>
          </a:prstGeom>
          <a:solidFill>
            <a:srgbClr val="0091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00200" y="1417320"/>
            <a:ext cx="31089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2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64792" y="1536192"/>
            <a:ext cx="2779776" cy="292608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>
              <a:defRPr sz="1500" b="1">
                <a:solidFill>
                  <a:srgbClr val="156082"/>
                </a:solidFill>
                <a:latin typeface="Aptos"/>
              </a:defRPr>
            </a:pPr>
            <a:r>
              <a:t>Patient-care problem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01368" y="1920240"/>
            <a:ext cx="2706624" cy="3794759"/>
          </a:xfrm>
          <a:prstGeom prst="rect">
            <a:avLst/>
          </a:prstGeom>
          <a:noFill/>
        </p:spPr>
        <p:txBody>
          <a:bodyPr wrap="square" lIns="18288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Safety and deployment</a:t>
            </a:r>
          </a:p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Python prototype is only phase zero; real deployment needs validation and monitoring.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92040" y="1417320"/>
            <a:ext cx="31089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2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56631" y="1536192"/>
            <a:ext cx="2779776" cy="292608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>
              <a:defRPr sz="1500" b="1">
                <a:solidFill>
                  <a:srgbClr val="288545"/>
                </a:solidFill>
                <a:latin typeface="Aptos"/>
              </a:defRPr>
            </a:pPr>
            <a:r>
              <a:t>Python exercise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93207" y="1920240"/>
            <a:ext cx="2706624" cy="3794759"/>
          </a:xfrm>
          <a:prstGeom prst="rect">
            <a:avLst/>
          </a:prstGeom>
          <a:noFill/>
        </p:spPr>
        <p:txBody>
          <a:bodyPr wrap="square" lIns="18288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Map a student project to technical validation, workflow testing and clinical evidence.</a:t>
            </a:r>
          </a:p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Use pandas → train/test → scikit-learn → metrics.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79" y="1417320"/>
            <a:ext cx="31546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2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48471" y="1536192"/>
            <a:ext cx="2825496" cy="292608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>
              <a:defRPr sz="1500" b="1">
                <a:solidFill>
                  <a:srgbClr val="DC782D"/>
                </a:solidFill>
                <a:latin typeface="Aptos"/>
              </a:defRPr>
            </a:pPr>
            <a:r>
              <a:t>Clinical safety question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5048" y="1920240"/>
            <a:ext cx="2752344" cy="3794759"/>
          </a:xfrm>
          <a:prstGeom prst="rect">
            <a:avLst/>
          </a:prstGeom>
          <a:noFill/>
        </p:spPr>
        <p:txBody>
          <a:bodyPr wrap="square" lIns="18288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Who acts on the output?</a:t>
            </a:r>
          </a:p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What false negative would harm?</a:t>
            </a:r>
          </a:p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What false positive wastes resources?</a:t>
            </a:r>
          </a:p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Is the dataset representative?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961888"/>
            <a:ext cx="10789920" cy="32004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>
              <a:defRPr sz="800" b="0">
                <a:solidFill>
                  <a:srgbClr val="595959"/>
                </a:solidFill>
                <a:latin typeface="Aptos"/>
              </a:defRPr>
            </a:pPr>
            <a:r>
              <a:t>Source / download: https://www.nature.com/articles/s41746-026-03155-7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162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84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3150"/>
                </a:solidFill>
              </a:defRPr>
            </a:pPr>
            <a:r>
              <a:t>Extra evidence A · evidencia integrada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749808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B69"/>
                </a:solidFill>
              </a:defRPr>
            </a:pPr>
            <a:r>
              <a:t>Appropriateness and utility of a clinical decision support system at the digital front door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115568"/>
            <a:ext cx="2313432" cy="310896"/>
          </a:xfrm>
          <a:prstGeom prst="roundRect">
            <a:avLst/>
          </a:prstGeom>
          <a:solidFill>
            <a:srgbClr val="2162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Digital front door CDSS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5577840" cy="3017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E1E1E"/>
                </a:solidFill>
              </a:defRPr>
            </a:pPr>
            <a:r>
              <a:t>Problema clínico: convertir datos cotidianos en una decisión de priorización clínica.</a:t>
            </a:r>
          </a:p>
          <a:p>
            <a:pPr>
              <a:spcAft>
                <a:spcPts val="600"/>
              </a:spcAft>
              <a:defRPr sz="1400">
                <a:solidFill>
                  <a:srgbClr val="1E1E1E"/>
                </a:solidFill>
              </a:defRPr>
            </a:pPr>
            <a:r>
              <a:t>Prospective post-market clinical follow-up in routine care.</a:t>
            </a:r>
          </a:p>
          <a:p>
            <a:pPr>
              <a:spcAft>
                <a:spcPts val="600"/>
              </a:spcAft>
              <a:defRPr sz="1400">
                <a:solidFill>
                  <a:srgbClr val="1E1E1E"/>
                </a:solidFill>
              </a:defRPr>
            </a:pPr>
            <a:r>
              <a:t>1470 participants completed structured symptom assessment before consultation.</a:t>
            </a:r>
          </a:p>
          <a:p>
            <a:pPr>
              <a:spcAft>
                <a:spcPts val="600"/>
              </a:spcAft>
              <a:defRPr sz="1400">
                <a:solidFill>
                  <a:srgbClr val="1E1E1E"/>
                </a:solidFill>
              </a:defRPr>
            </a:pPr>
            <a:r>
              <a:t>Reports supported preparedness and perceived efficiency when reviewed beforehand.</a:t>
            </a:r>
          </a:p>
          <a:p>
            <a:pPr>
              <a:spcAft>
                <a:spcPts val="600"/>
              </a:spcAft>
              <a:defRPr sz="1400">
                <a:solidFill>
                  <a:srgbClr val="1E1E1E"/>
                </a:solidFill>
              </a:defRPr>
            </a:pPr>
            <a:r>
              <a:t>Teaching link: pre-visit digital intake can structure the encounter.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1417320"/>
            <a:ext cx="5029200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C4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20840" y="1645920"/>
            <a:ext cx="4480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3150"/>
                </a:solidFill>
              </a:defRPr>
            </a:pPr>
            <a:r>
              <a:t>Cómo convertirlo en práctica Python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20840" y="2148840"/>
            <a:ext cx="4480560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505B69"/>
                </a:solidFill>
              </a:defRPr>
            </a:pPr>
            <a:r>
              <a:t>symptoms + urgency + report review → preparedness / efficiency metrics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0840" y="3063240"/>
            <a:ext cx="4480560" cy="1463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E4854"/>
                </a:solidFill>
              </a:defRPr>
            </a:pPr>
            <a:r>
              <a:t>DataFrame: una fila = paciente, episodio o ventana temporal.</a:t>
            </a:r>
          </a:p>
          <a:p>
            <a:pPr>
              <a:spcAft>
                <a:spcPts val="600"/>
              </a:spcAft>
              <a:defRPr sz="1200">
                <a:solidFill>
                  <a:srgbClr val="3E4854"/>
                </a:solidFill>
              </a:defRPr>
            </a:pPr>
            <a:r>
              <a:t>Features: variables disponibles antes de la decisión.</a:t>
            </a:r>
          </a:p>
          <a:p>
            <a:pPr>
              <a:spcAft>
                <a:spcPts val="600"/>
              </a:spcAft>
              <a:defRPr sz="1200">
                <a:solidFill>
                  <a:srgbClr val="3E4854"/>
                </a:solidFill>
              </a:defRPr>
            </a:pPr>
            <a:r>
              <a:t>Target: evento clínico, riesgo o categoría de acción.</a:t>
            </a:r>
          </a:p>
          <a:p>
            <a:pPr>
              <a:spcAft>
                <a:spcPts val="600"/>
              </a:spcAft>
              <a:defRPr sz="1200">
                <a:solidFill>
                  <a:srgbClr val="3E4854"/>
                </a:solidFill>
              </a:defRPr>
            </a:pPr>
            <a:r>
              <a:t>Métrica: sensibilidad, PPV/NPV, AUC, tiempo o carga de alertas.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26364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05B69"/>
                </a:solidFill>
              </a:defRPr>
            </a:pPr>
            <a:r>
              <a:t>Fuente: npj Digital Medicine · DOI: 10.1038/s41746-026-02711-5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162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84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3150"/>
                </a:solidFill>
              </a:defRPr>
            </a:pPr>
            <a:r>
              <a:t>Extra evidence A · figura / tabla / plot 1/5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749808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B69"/>
                </a:solidFill>
              </a:defRPr>
            </a:pPr>
            <a:r>
              <a:t>Digital front door CDSS · página del PDF 2 · DOI: 10.1038/s41746-026-02711-5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7452360" cy="5303520"/>
          </a:xfrm>
          <a:prstGeom prst="rect">
            <a:avLst/>
          </a:prstGeom>
          <a:solidFill>
            <a:srgbClr val="FFFFFF"/>
          </a:solidFill>
          <a:ln>
            <a:solidFill>
              <a:srgbClr val="D2DA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fd_p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2831" y="1078992"/>
            <a:ext cx="3992537" cy="5303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75320" y="1143000"/>
            <a:ext cx="2011680" cy="310896"/>
          </a:xfrm>
          <a:prstGeom prst="roundRect">
            <a:avLst/>
          </a:prstGeom>
          <a:solidFill>
            <a:srgbClr val="DE7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QUÉ MIRAR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20" y="1572768"/>
            <a:ext cx="3429000" cy="3017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Prospective post-market clinical follow-up in routine care.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Identifique qué variable entra al modelo, qué salida se entrega y qué decisión humana apoya.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Conecte la figura/tabla con pandas: columnas, target, train/test y métrica clínica.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Discuta el error peligroso: falso negativo, falso positivo, retraso o sobrecarga de alertas.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75320" y="4983480"/>
            <a:ext cx="3429000" cy="1051560"/>
          </a:xfrm>
          <a:prstGeom prst="roundRect">
            <a:avLst/>
          </a:prstGeom>
          <a:solidFill>
            <a:srgbClr val="E8F5F0"/>
          </a:solidFill>
          <a:ln>
            <a:solidFill>
              <a:srgbClr val="AED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47652"/>
                </a:solidFill>
              </a:defRPr>
            </a:pPr>
            <a:r>
              <a:t>Pregunta para estudiantes:</a:t>
            </a:r>
          </a:p>
          <a:p>
            <a:pPr>
              <a:defRPr sz="1100">
                <a:solidFill>
                  <a:srgbClr val="235541"/>
                </a:solidFill>
              </a:defRPr>
            </a:pPr>
            <a:r>
              <a:t>¿Qué tabla mínima crearías para reproducir esta lógica en Colab?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162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84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3150"/>
                </a:solidFill>
              </a:defRPr>
            </a:pPr>
            <a:r>
              <a:t>Extra evidence A · figura / tabla / plot 2/5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749808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B69"/>
                </a:solidFill>
              </a:defRPr>
            </a:pPr>
            <a:r>
              <a:t>Digital front door CDSS · página del PDF 3 · DOI: 10.1038/s41746-026-02711-5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7452360" cy="5303520"/>
          </a:xfrm>
          <a:prstGeom prst="rect">
            <a:avLst/>
          </a:prstGeom>
          <a:solidFill>
            <a:srgbClr val="FFFFFF"/>
          </a:solidFill>
          <a:ln>
            <a:solidFill>
              <a:srgbClr val="D2DA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fd_p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2831" y="1078992"/>
            <a:ext cx="3992537" cy="5303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75320" y="1143000"/>
            <a:ext cx="2011680" cy="310896"/>
          </a:xfrm>
          <a:prstGeom prst="roundRect">
            <a:avLst/>
          </a:prstGeom>
          <a:solidFill>
            <a:srgbClr val="DE7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QUÉ MIRAR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20" y="1572768"/>
            <a:ext cx="3429000" cy="3017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Prospective post-market clinical follow-up in routine care.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Identifique qué variable entra al modelo, qué salida se entrega y qué decisión humana apoya.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Conecte la figura/tabla con pandas: columnas, target, train/test y métrica clínica.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Discuta el error peligroso: falso negativo, falso positivo, retraso o sobrecarga de alertas.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75320" y="4983480"/>
            <a:ext cx="3429000" cy="1051560"/>
          </a:xfrm>
          <a:prstGeom prst="roundRect">
            <a:avLst/>
          </a:prstGeom>
          <a:solidFill>
            <a:srgbClr val="E8F5F0"/>
          </a:solidFill>
          <a:ln>
            <a:solidFill>
              <a:srgbClr val="AED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47652"/>
                </a:solidFill>
              </a:defRPr>
            </a:pPr>
            <a:r>
              <a:t>Pregunta para estudiantes:</a:t>
            </a:r>
          </a:p>
          <a:p>
            <a:pPr>
              <a:defRPr sz="1100">
                <a:solidFill>
                  <a:srgbClr val="235541"/>
                </a:solidFill>
              </a:defRPr>
            </a:pPr>
            <a:r>
              <a:t>¿Qué tabla mínima crearías para reproducir esta lógica en Colab?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162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84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3150"/>
                </a:solidFill>
              </a:defRPr>
            </a:pPr>
            <a:r>
              <a:t>Extra evidence A · figura / tabla / plot 3/5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749808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B69"/>
                </a:solidFill>
              </a:defRPr>
            </a:pPr>
            <a:r>
              <a:t>Digital front door CDSS · página del PDF 4 · DOI: 10.1038/s41746-026-02711-5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7452360" cy="5303520"/>
          </a:xfrm>
          <a:prstGeom prst="rect">
            <a:avLst/>
          </a:prstGeom>
          <a:solidFill>
            <a:srgbClr val="FFFFFF"/>
          </a:solidFill>
          <a:ln>
            <a:solidFill>
              <a:srgbClr val="D2DA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fd_p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2831" y="1078992"/>
            <a:ext cx="3992537" cy="5303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75320" y="1143000"/>
            <a:ext cx="2011680" cy="310896"/>
          </a:xfrm>
          <a:prstGeom prst="roundRect">
            <a:avLst/>
          </a:prstGeom>
          <a:solidFill>
            <a:srgbClr val="DE7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QUÉ MIRAR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20" y="1572768"/>
            <a:ext cx="3429000" cy="3017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Prospective post-market clinical follow-up in routine care.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Identifique qué variable entra al modelo, qué salida se entrega y qué decisión humana apoya.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Conecte la figura/tabla con pandas: columnas, target, train/test y métrica clínica.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Discuta el error peligroso: falso negativo, falso positivo, retraso o sobrecarga de alertas.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75320" y="4983480"/>
            <a:ext cx="3429000" cy="1051560"/>
          </a:xfrm>
          <a:prstGeom prst="roundRect">
            <a:avLst/>
          </a:prstGeom>
          <a:solidFill>
            <a:srgbClr val="E8F5F0"/>
          </a:solidFill>
          <a:ln>
            <a:solidFill>
              <a:srgbClr val="AED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47652"/>
                </a:solidFill>
              </a:defRPr>
            </a:pPr>
            <a:r>
              <a:t>Pregunta para estudiantes:</a:t>
            </a:r>
          </a:p>
          <a:p>
            <a:pPr>
              <a:defRPr sz="1100">
                <a:solidFill>
                  <a:srgbClr val="235541"/>
                </a:solidFill>
              </a:defRPr>
            </a:pPr>
            <a:r>
              <a:t>¿Qué tabla mínima crearías para reproducir esta lógica en Colab?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162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84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3150"/>
                </a:solidFill>
              </a:defRPr>
            </a:pPr>
            <a:r>
              <a:t>Extra evidence A · figura / tabla / plot 4/5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749808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B69"/>
                </a:solidFill>
              </a:defRPr>
            </a:pPr>
            <a:r>
              <a:t>Digital front door CDSS · página del PDF 5 · DOI: 10.1038/s41746-026-02711-5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7452360" cy="5303520"/>
          </a:xfrm>
          <a:prstGeom prst="rect">
            <a:avLst/>
          </a:prstGeom>
          <a:solidFill>
            <a:srgbClr val="FFFFFF"/>
          </a:solidFill>
          <a:ln>
            <a:solidFill>
              <a:srgbClr val="D2DA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fd_p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2831" y="1078992"/>
            <a:ext cx="3992537" cy="5303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75320" y="1143000"/>
            <a:ext cx="2011680" cy="310896"/>
          </a:xfrm>
          <a:prstGeom prst="roundRect">
            <a:avLst/>
          </a:prstGeom>
          <a:solidFill>
            <a:srgbClr val="DE7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QUÉ MIRAR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20" y="1572768"/>
            <a:ext cx="3429000" cy="3017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Prospective post-market clinical follow-up in routine care.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Identifique qué variable entra al modelo, qué salida se entrega y qué decisión humana apoya.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Conecte la figura/tabla con pandas: columnas, target, train/test y métrica clínica.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Discuta el error peligroso: falso negativo, falso positivo, retraso o sobrecarga de alertas.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75320" y="4983480"/>
            <a:ext cx="3429000" cy="1051560"/>
          </a:xfrm>
          <a:prstGeom prst="roundRect">
            <a:avLst/>
          </a:prstGeom>
          <a:solidFill>
            <a:srgbClr val="E8F5F0"/>
          </a:solidFill>
          <a:ln>
            <a:solidFill>
              <a:srgbClr val="AED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47652"/>
                </a:solidFill>
              </a:defRPr>
            </a:pPr>
            <a:r>
              <a:t>Pregunta para estudiantes:</a:t>
            </a:r>
          </a:p>
          <a:p>
            <a:pPr>
              <a:defRPr sz="1100">
                <a:solidFill>
                  <a:srgbClr val="235541"/>
                </a:solidFill>
              </a:defRPr>
            </a:pPr>
            <a:r>
              <a:t>¿Qué tabla mínima crearías para reproducir esta lógica en Colab?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162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84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3150"/>
                </a:solidFill>
              </a:defRPr>
            </a:pPr>
            <a:r>
              <a:t>Extra evidence A · figura / tabla / plot 5/5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749808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B69"/>
                </a:solidFill>
              </a:defRPr>
            </a:pPr>
            <a:r>
              <a:t>Digital front door CDSS · página del PDF 7 · DOI: 10.1038/s41746-026-02711-5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7452360" cy="5303520"/>
          </a:xfrm>
          <a:prstGeom prst="rect">
            <a:avLst/>
          </a:prstGeom>
          <a:solidFill>
            <a:srgbClr val="FFFFFF"/>
          </a:solidFill>
          <a:ln>
            <a:solidFill>
              <a:srgbClr val="D2DA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fd_p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2831" y="1078992"/>
            <a:ext cx="3992537" cy="5303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75320" y="1143000"/>
            <a:ext cx="2011680" cy="310896"/>
          </a:xfrm>
          <a:prstGeom prst="roundRect">
            <a:avLst/>
          </a:prstGeom>
          <a:solidFill>
            <a:srgbClr val="DE7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QUÉ MIRAR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20" y="1572768"/>
            <a:ext cx="3429000" cy="3017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Prospective post-market clinical follow-up in routine care.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Identifique qué variable entra al modelo, qué salida se entrega y qué decisión humana apoya.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Conecte la figura/tabla con pandas: columnas, target, train/test y métrica clínica.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Discuta el error peligroso: falso negativo, falso positivo, retraso o sobrecarga de alertas.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75320" y="4983480"/>
            <a:ext cx="3429000" cy="1051560"/>
          </a:xfrm>
          <a:prstGeom prst="roundRect">
            <a:avLst/>
          </a:prstGeom>
          <a:solidFill>
            <a:srgbClr val="E8F5F0"/>
          </a:solidFill>
          <a:ln>
            <a:solidFill>
              <a:srgbClr val="AED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47652"/>
                </a:solidFill>
              </a:defRPr>
            </a:pPr>
            <a:r>
              <a:t>Pregunta para estudiantes:</a:t>
            </a:r>
          </a:p>
          <a:p>
            <a:pPr>
              <a:defRPr sz="1100">
                <a:solidFill>
                  <a:srgbClr val="235541"/>
                </a:solidFill>
              </a:defRPr>
            </a:pPr>
            <a:r>
              <a:t>¿Qué tabla mínima crearías para reproducir esta lógica en Colab?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162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84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3150"/>
                </a:solidFill>
              </a:defRPr>
            </a:pPr>
            <a:r>
              <a:t>Extra evidence B · evidencia integrada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749808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B69"/>
                </a:solidFill>
              </a:defRPr>
            </a:pPr>
            <a:r>
              <a:t>ActiTect: a generalizable machine learning pipeline for REM sleep behavior disorder screening through standardized actigraphy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115568"/>
            <a:ext cx="3118104" cy="310896"/>
          </a:xfrm>
          <a:prstGeom prst="roundRect">
            <a:avLst/>
          </a:prstGeom>
          <a:solidFill>
            <a:srgbClr val="2162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ActiTect wearable RBD screening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5577840" cy="3017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E1E1E"/>
                </a:solidFill>
              </a:defRPr>
            </a:pPr>
            <a:r>
              <a:t>Problema clínico: convertir datos cotidianos en una decisión de priorización clínica.</a:t>
            </a:r>
          </a:p>
          <a:p>
            <a:pPr>
              <a:spcAft>
                <a:spcPts val="600"/>
              </a:spcAft>
              <a:defRPr sz="1400">
                <a:solidFill>
                  <a:srgbClr val="1E1E1E"/>
                </a:solidFill>
              </a:defRPr>
            </a:pPr>
            <a:r>
              <a:t>Open-source ML pipeline for wrist actigraphy RBD screening.</a:t>
            </a:r>
          </a:p>
          <a:p>
            <a:pPr>
              <a:spcAft>
                <a:spcPts val="600"/>
              </a:spcAft>
              <a:defRPr sz="1400">
                <a:solidFill>
                  <a:srgbClr val="1E1E1E"/>
                </a:solidFill>
              </a:defRPr>
            </a:pPr>
            <a:r>
              <a:t>Preprocessing harmonizes multi-device data and detects sleep/wear periods.</a:t>
            </a:r>
          </a:p>
          <a:p>
            <a:pPr>
              <a:spcAft>
                <a:spcPts val="600"/>
              </a:spcAft>
              <a:defRPr sz="1400">
                <a:solidFill>
                  <a:srgbClr val="1E1E1E"/>
                </a:solidFill>
              </a:defRPr>
            </a:pPr>
            <a:r>
              <a:t>External cohorts showed AUROC 0.84 and 0.94.</a:t>
            </a:r>
          </a:p>
          <a:p>
            <a:pPr>
              <a:spcAft>
                <a:spcPts val="600"/>
              </a:spcAft>
              <a:defRPr sz="1400">
                <a:solidFill>
                  <a:srgbClr val="1E1E1E"/>
                </a:solidFill>
              </a:defRPr>
            </a:pPr>
            <a:r>
              <a:t>Teaching link: wearable signals can become scalable neurological screening.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1417320"/>
            <a:ext cx="5029200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C4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20840" y="1645920"/>
            <a:ext cx="4480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3150"/>
                </a:solidFill>
              </a:defRPr>
            </a:pPr>
            <a:r>
              <a:t>Cómo convertirlo en práctica Python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20840" y="2148840"/>
            <a:ext cx="4480560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505B69"/>
                </a:solidFill>
              </a:defRPr>
            </a:pPr>
            <a:r>
              <a:t>nocturnal accelerometer features → RBD probability / referral flag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0840" y="3063240"/>
            <a:ext cx="4480560" cy="1463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E4854"/>
                </a:solidFill>
              </a:defRPr>
            </a:pPr>
            <a:r>
              <a:t>DataFrame: una fila = paciente, episodio o ventana temporal.</a:t>
            </a:r>
          </a:p>
          <a:p>
            <a:pPr>
              <a:spcAft>
                <a:spcPts val="600"/>
              </a:spcAft>
              <a:defRPr sz="1200">
                <a:solidFill>
                  <a:srgbClr val="3E4854"/>
                </a:solidFill>
              </a:defRPr>
            </a:pPr>
            <a:r>
              <a:t>Features: variables disponibles antes de la decisión.</a:t>
            </a:r>
          </a:p>
          <a:p>
            <a:pPr>
              <a:spcAft>
                <a:spcPts val="600"/>
              </a:spcAft>
              <a:defRPr sz="1200">
                <a:solidFill>
                  <a:srgbClr val="3E4854"/>
                </a:solidFill>
              </a:defRPr>
            </a:pPr>
            <a:r>
              <a:t>Target: evento clínico, riesgo o categoría de acción.</a:t>
            </a:r>
          </a:p>
          <a:p>
            <a:pPr>
              <a:spcAft>
                <a:spcPts val="600"/>
              </a:spcAft>
              <a:defRPr sz="1200">
                <a:solidFill>
                  <a:srgbClr val="3E4854"/>
                </a:solidFill>
              </a:defRPr>
            </a:pPr>
            <a:r>
              <a:t>Métrica: sensibilidad, PPV/NPV, AUC, tiempo o carga de alertas.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26364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05B69"/>
                </a:solidFill>
              </a:defRPr>
            </a:pPr>
            <a:r>
              <a:t>Fuente: npj Digital Medicine · DOI: 10.1038/s41746-026-02738-8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162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84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3150"/>
                </a:solidFill>
              </a:defRPr>
            </a:pPr>
            <a:r>
              <a:t>Extra evidence B · figura / tabla / plot 1/8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749808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B69"/>
                </a:solidFill>
              </a:defRPr>
            </a:pPr>
            <a:r>
              <a:t>ActiTect wearable RBD screening · página del PDF 3 · DOI: 10.1038/s41746-026-02738-8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7452360" cy="5303520"/>
          </a:xfrm>
          <a:prstGeom prst="rect">
            <a:avLst/>
          </a:prstGeom>
          <a:solidFill>
            <a:srgbClr val="FFFFFF"/>
          </a:solidFill>
          <a:ln>
            <a:solidFill>
              <a:srgbClr val="D2DA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ctitect_p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2831" y="1078992"/>
            <a:ext cx="3992537" cy="5303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75320" y="1143000"/>
            <a:ext cx="2011680" cy="310896"/>
          </a:xfrm>
          <a:prstGeom prst="roundRect">
            <a:avLst/>
          </a:prstGeom>
          <a:solidFill>
            <a:srgbClr val="DE7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QUÉ MIRAR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20" y="1572768"/>
            <a:ext cx="3429000" cy="3017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Open-source ML pipeline for wrist actigraphy RBD screening.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Identifique qué variable entra al modelo, qué salida se entrega y qué decisión humana apoya.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Conecte la figura/tabla con pandas: columnas, target, train/test y métrica clínica.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Discuta el error peligroso: falso negativo, falso positivo, retraso o sobrecarga de alertas.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75320" y="4983480"/>
            <a:ext cx="3429000" cy="1051560"/>
          </a:xfrm>
          <a:prstGeom prst="roundRect">
            <a:avLst/>
          </a:prstGeom>
          <a:solidFill>
            <a:srgbClr val="E8F5F0"/>
          </a:solidFill>
          <a:ln>
            <a:solidFill>
              <a:srgbClr val="AED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47652"/>
                </a:solidFill>
              </a:defRPr>
            </a:pPr>
            <a:r>
              <a:t>Pregunta para estudiantes:</a:t>
            </a:r>
          </a:p>
          <a:p>
            <a:pPr>
              <a:defRPr sz="1100">
                <a:solidFill>
                  <a:srgbClr val="235541"/>
                </a:solidFill>
              </a:defRPr>
            </a:pPr>
            <a:r>
              <a:t>¿Qué tabla mínima crearías para reproducir esta lógica en Colab?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162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84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3150"/>
                </a:solidFill>
              </a:defRPr>
            </a:pPr>
            <a:r>
              <a:t>Extra evidence B · figura / tabla / plot 2/8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749808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B69"/>
                </a:solidFill>
              </a:defRPr>
            </a:pPr>
            <a:r>
              <a:t>ActiTect wearable RBD screening · página del PDF 4 · DOI: 10.1038/s41746-026-02738-8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7452360" cy="5303520"/>
          </a:xfrm>
          <a:prstGeom prst="rect">
            <a:avLst/>
          </a:prstGeom>
          <a:solidFill>
            <a:srgbClr val="FFFFFF"/>
          </a:solidFill>
          <a:ln>
            <a:solidFill>
              <a:srgbClr val="D2DA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ctitect_p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2831" y="1078992"/>
            <a:ext cx="3992537" cy="5303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75320" y="1143000"/>
            <a:ext cx="2011680" cy="310896"/>
          </a:xfrm>
          <a:prstGeom prst="roundRect">
            <a:avLst/>
          </a:prstGeom>
          <a:solidFill>
            <a:srgbClr val="DE7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QUÉ MIRAR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20" y="1572768"/>
            <a:ext cx="3429000" cy="3017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Open-source ML pipeline for wrist actigraphy RBD screening.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Identifique qué variable entra al modelo, qué salida se entrega y qué decisión humana apoya.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Conecte la figura/tabla con pandas: columnas, target, train/test y métrica clínica.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Discuta el error peligroso: falso negativo, falso positivo, retraso o sobrecarga de alertas.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75320" y="4983480"/>
            <a:ext cx="3429000" cy="1051560"/>
          </a:xfrm>
          <a:prstGeom prst="roundRect">
            <a:avLst/>
          </a:prstGeom>
          <a:solidFill>
            <a:srgbClr val="E8F5F0"/>
          </a:solidFill>
          <a:ln>
            <a:solidFill>
              <a:srgbClr val="AED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47652"/>
                </a:solidFill>
              </a:defRPr>
            </a:pPr>
            <a:r>
              <a:t>Pregunta para estudiantes:</a:t>
            </a:r>
          </a:p>
          <a:p>
            <a:pPr>
              <a:defRPr sz="1100">
                <a:solidFill>
                  <a:srgbClr val="235541"/>
                </a:solidFill>
              </a:defRPr>
            </a:pPr>
            <a:r>
              <a:t>¿Qué tabla mínima crearías para reproducir esta lógica en Colab?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162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84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3150"/>
                </a:solidFill>
              </a:defRPr>
            </a:pPr>
            <a:r>
              <a:t>Extra evidence B · figura / tabla / plot 3/8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749808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B69"/>
                </a:solidFill>
              </a:defRPr>
            </a:pPr>
            <a:r>
              <a:t>ActiTect wearable RBD screening · página del PDF 6 · DOI: 10.1038/s41746-026-02738-8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7452360" cy="5303520"/>
          </a:xfrm>
          <a:prstGeom prst="rect">
            <a:avLst/>
          </a:prstGeom>
          <a:solidFill>
            <a:srgbClr val="FFFFFF"/>
          </a:solidFill>
          <a:ln>
            <a:solidFill>
              <a:srgbClr val="D2DA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ctitect_p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2831" y="1078992"/>
            <a:ext cx="3992537" cy="5303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75320" y="1143000"/>
            <a:ext cx="2011680" cy="310896"/>
          </a:xfrm>
          <a:prstGeom prst="roundRect">
            <a:avLst/>
          </a:prstGeom>
          <a:solidFill>
            <a:srgbClr val="DE7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QUÉ MIRAR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20" y="1572768"/>
            <a:ext cx="3429000" cy="3017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Open-source ML pipeline for wrist actigraphy RBD screening.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Identifique qué variable entra al modelo, qué salida se entrega y qué decisión humana apoya.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Conecte la figura/tabla con pandas: columnas, target, train/test y métrica clínica.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Discuta el error peligroso: falso negativo, falso positivo, retraso o sobrecarga de alertas.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75320" y="4983480"/>
            <a:ext cx="3429000" cy="1051560"/>
          </a:xfrm>
          <a:prstGeom prst="roundRect">
            <a:avLst/>
          </a:prstGeom>
          <a:solidFill>
            <a:srgbClr val="E8F5F0"/>
          </a:solidFill>
          <a:ln>
            <a:solidFill>
              <a:srgbClr val="AED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47652"/>
                </a:solidFill>
              </a:defRPr>
            </a:pPr>
            <a:r>
              <a:t>Pregunta para estudiantes:</a:t>
            </a:r>
          </a:p>
          <a:p>
            <a:pPr>
              <a:defRPr sz="1100">
                <a:solidFill>
                  <a:srgbClr val="235541"/>
                </a:solidFill>
              </a:defRPr>
            </a:pPr>
            <a:r>
              <a:t>¿Qué tabla mínima crearías para reproducir esta lógica en Colab?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162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84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3150"/>
                </a:solidFill>
              </a:defRPr>
            </a:pPr>
            <a:r>
              <a:t>Extra evidence B · figura / tabla / plot 4/8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749808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B69"/>
                </a:solidFill>
              </a:defRPr>
            </a:pPr>
            <a:r>
              <a:t>ActiTect wearable RBD screening · página del PDF 7 · DOI: 10.1038/s41746-026-02738-8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7452360" cy="5303520"/>
          </a:xfrm>
          <a:prstGeom prst="rect">
            <a:avLst/>
          </a:prstGeom>
          <a:solidFill>
            <a:srgbClr val="FFFFFF"/>
          </a:solidFill>
          <a:ln>
            <a:solidFill>
              <a:srgbClr val="D2DA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ctitect_p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2831" y="1078992"/>
            <a:ext cx="3992537" cy="5303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75320" y="1143000"/>
            <a:ext cx="2011680" cy="310896"/>
          </a:xfrm>
          <a:prstGeom prst="roundRect">
            <a:avLst/>
          </a:prstGeom>
          <a:solidFill>
            <a:srgbClr val="DE7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QUÉ MIRAR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20" y="1572768"/>
            <a:ext cx="3429000" cy="3017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Open-source ML pipeline for wrist actigraphy RBD screening.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Identifique qué variable entra al modelo, qué salida se entrega y qué decisión humana apoya.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Conecte la figura/tabla con pandas: columnas, target, train/test y métrica clínica.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Discuta el error peligroso: falso negativo, falso positivo, retraso o sobrecarga de alertas.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75320" y="4983480"/>
            <a:ext cx="3429000" cy="1051560"/>
          </a:xfrm>
          <a:prstGeom prst="roundRect">
            <a:avLst/>
          </a:prstGeom>
          <a:solidFill>
            <a:srgbClr val="E8F5F0"/>
          </a:solidFill>
          <a:ln>
            <a:solidFill>
              <a:srgbClr val="AED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47652"/>
                </a:solidFill>
              </a:defRPr>
            </a:pPr>
            <a:r>
              <a:t>Pregunta para estudiantes:</a:t>
            </a:r>
          </a:p>
          <a:p>
            <a:pPr>
              <a:defRPr sz="1100">
                <a:solidFill>
                  <a:srgbClr val="235541"/>
                </a:solidFill>
              </a:defRPr>
            </a:pPr>
            <a:r>
              <a:t>¿Qué tabla mínima crearías para reproducir esta lógica en Colab?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162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84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3150"/>
                </a:solidFill>
              </a:defRPr>
            </a:pPr>
            <a:r>
              <a:t>Extra evidence B · figura / tabla / plot 5/8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749808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B69"/>
                </a:solidFill>
              </a:defRPr>
            </a:pPr>
            <a:r>
              <a:t>ActiTect wearable RBD screening · página del PDF 8 · DOI: 10.1038/s41746-026-02738-8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7452360" cy="5303520"/>
          </a:xfrm>
          <a:prstGeom prst="rect">
            <a:avLst/>
          </a:prstGeom>
          <a:solidFill>
            <a:srgbClr val="FFFFFF"/>
          </a:solidFill>
          <a:ln>
            <a:solidFill>
              <a:srgbClr val="D2DA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ctitect_p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2831" y="1078992"/>
            <a:ext cx="3992537" cy="5303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75320" y="1143000"/>
            <a:ext cx="2011680" cy="310896"/>
          </a:xfrm>
          <a:prstGeom prst="roundRect">
            <a:avLst/>
          </a:prstGeom>
          <a:solidFill>
            <a:srgbClr val="DE7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QUÉ MIRAR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20" y="1572768"/>
            <a:ext cx="3429000" cy="3017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Open-source ML pipeline for wrist actigraphy RBD screening.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Identifique qué variable entra al modelo, qué salida se entrega y qué decisión humana apoya.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Conecte la figura/tabla con pandas: columnas, target, train/test y métrica clínica.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Discuta el error peligroso: falso negativo, falso positivo, retraso o sobrecarga de alertas.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75320" y="4983480"/>
            <a:ext cx="3429000" cy="1051560"/>
          </a:xfrm>
          <a:prstGeom prst="roundRect">
            <a:avLst/>
          </a:prstGeom>
          <a:solidFill>
            <a:srgbClr val="E8F5F0"/>
          </a:solidFill>
          <a:ln>
            <a:solidFill>
              <a:srgbClr val="AED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47652"/>
                </a:solidFill>
              </a:defRPr>
            </a:pPr>
            <a:r>
              <a:t>Pregunta para estudiantes:</a:t>
            </a:r>
          </a:p>
          <a:p>
            <a:pPr>
              <a:defRPr sz="1100">
                <a:solidFill>
                  <a:srgbClr val="235541"/>
                </a:solidFill>
              </a:defRPr>
            </a:pPr>
            <a:r>
              <a:t>¿Qué tabla mínima crearías para reproducir esta lógica en Colab?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162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84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3150"/>
                </a:solidFill>
              </a:defRPr>
            </a:pPr>
            <a:r>
              <a:t>Extra evidence B · figura / tabla / plot 6/8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749808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B69"/>
                </a:solidFill>
              </a:defRPr>
            </a:pPr>
            <a:r>
              <a:t>ActiTect wearable RBD screening · página del PDF 10 · DOI: 10.1038/s41746-026-02738-8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7452360" cy="5303520"/>
          </a:xfrm>
          <a:prstGeom prst="rect">
            <a:avLst/>
          </a:prstGeom>
          <a:solidFill>
            <a:srgbClr val="FFFFFF"/>
          </a:solidFill>
          <a:ln>
            <a:solidFill>
              <a:srgbClr val="D2DA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ctitect_p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2831" y="1078992"/>
            <a:ext cx="3992537" cy="5303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75320" y="1143000"/>
            <a:ext cx="2011680" cy="310896"/>
          </a:xfrm>
          <a:prstGeom prst="roundRect">
            <a:avLst/>
          </a:prstGeom>
          <a:solidFill>
            <a:srgbClr val="DE7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QUÉ MIRAR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20" y="1572768"/>
            <a:ext cx="3429000" cy="3017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Open-source ML pipeline for wrist actigraphy RBD screening.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Identifique qué variable entra al modelo, qué salida se entrega y qué decisión humana apoya.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Conecte la figura/tabla con pandas: columnas, target, train/test y métrica clínica.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Discuta el error peligroso: falso negativo, falso positivo, retraso o sobrecarga de alertas.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75320" y="4983480"/>
            <a:ext cx="3429000" cy="1051560"/>
          </a:xfrm>
          <a:prstGeom prst="roundRect">
            <a:avLst/>
          </a:prstGeom>
          <a:solidFill>
            <a:srgbClr val="E8F5F0"/>
          </a:solidFill>
          <a:ln>
            <a:solidFill>
              <a:srgbClr val="AED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47652"/>
                </a:solidFill>
              </a:defRPr>
            </a:pPr>
            <a:r>
              <a:t>Pregunta para estudiantes:</a:t>
            </a:r>
          </a:p>
          <a:p>
            <a:pPr>
              <a:defRPr sz="1100">
                <a:solidFill>
                  <a:srgbClr val="235541"/>
                </a:solidFill>
              </a:defRPr>
            </a:pPr>
            <a:r>
              <a:t>¿Qué tabla mínima crearías para reproducir esta lógica en Colab?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162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84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3150"/>
                </a:solidFill>
              </a:defRPr>
            </a:pPr>
            <a:r>
              <a:t>Extra evidence B · figura / tabla / plot 7/8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749808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B69"/>
                </a:solidFill>
              </a:defRPr>
            </a:pPr>
            <a:r>
              <a:t>ActiTect wearable RBD screening · página del PDF 11 · DOI: 10.1038/s41746-026-02738-8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7452360" cy="5303520"/>
          </a:xfrm>
          <a:prstGeom prst="rect">
            <a:avLst/>
          </a:prstGeom>
          <a:solidFill>
            <a:srgbClr val="FFFFFF"/>
          </a:solidFill>
          <a:ln>
            <a:solidFill>
              <a:srgbClr val="D2DA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ctitect_p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2831" y="1078992"/>
            <a:ext cx="3992537" cy="5303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75320" y="1143000"/>
            <a:ext cx="2011680" cy="310896"/>
          </a:xfrm>
          <a:prstGeom prst="roundRect">
            <a:avLst/>
          </a:prstGeom>
          <a:solidFill>
            <a:srgbClr val="DE7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QUÉ MIRAR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20" y="1572768"/>
            <a:ext cx="3429000" cy="3017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Open-source ML pipeline for wrist actigraphy RBD screening.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Identifique qué variable entra al modelo, qué salida se entrega y qué decisión humana apoya.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Conecte la figura/tabla con pandas: columnas, target, train/test y métrica clínica.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Discuta el error peligroso: falso negativo, falso positivo, retraso o sobrecarga de alertas.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75320" y="4983480"/>
            <a:ext cx="3429000" cy="1051560"/>
          </a:xfrm>
          <a:prstGeom prst="roundRect">
            <a:avLst/>
          </a:prstGeom>
          <a:solidFill>
            <a:srgbClr val="E8F5F0"/>
          </a:solidFill>
          <a:ln>
            <a:solidFill>
              <a:srgbClr val="AED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47652"/>
                </a:solidFill>
              </a:defRPr>
            </a:pPr>
            <a:r>
              <a:t>Pregunta para estudiantes:</a:t>
            </a:r>
          </a:p>
          <a:p>
            <a:pPr>
              <a:defRPr sz="1100">
                <a:solidFill>
                  <a:srgbClr val="235541"/>
                </a:solidFill>
              </a:defRPr>
            </a:pPr>
            <a:r>
              <a:t>¿Qué tabla mínima crearías para reproducir esta lógica en Colab?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162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84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3150"/>
                </a:solidFill>
              </a:defRPr>
            </a:pPr>
            <a:r>
              <a:t>Extra evidence B · figura / tabla / plot 8/8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749808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B69"/>
                </a:solidFill>
              </a:defRPr>
            </a:pPr>
            <a:r>
              <a:t>ActiTect wearable RBD screening · página del PDF 12 · DOI: 10.1038/s41746-026-02738-8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7452360" cy="5303520"/>
          </a:xfrm>
          <a:prstGeom prst="rect">
            <a:avLst/>
          </a:prstGeom>
          <a:solidFill>
            <a:srgbClr val="FFFFFF"/>
          </a:solidFill>
          <a:ln>
            <a:solidFill>
              <a:srgbClr val="D2DA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ctitect_p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2831" y="1078992"/>
            <a:ext cx="3992537" cy="5303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75320" y="1143000"/>
            <a:ext cx="2011680" cy="310896"/>
          </a:xfrm>
          <a:prstGeom prst="roundRect">
            <a:avLst/>
          </a:prstGeom>
          <a:solidFill>
            <a:srgbClr val="DE7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QUÉ MIRAR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20" y="1572768"/>
            <a:ext cx="3429000" cy="3017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Open-source ML pipeline for wrist actigraphy RBD screening.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Identifique qué variable entra al modelo, qué salida se entrega y qué decisión humana apoya.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Conecte la figura/tabla con pandas: columnas, target, train/test y métrica clínica.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Discuta el error peligroso: falso negativo, falso positivo, retraso o sobrecarga de alertas.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75320" y="4983480"/>
            <a:ext cx="3429000" cy="1051560"/>
          </a:xfrm>
          <a:prstGeom prst="roundRect">
            <a:avLst/>
          </a:prstGeom>
          <a:solidFill>
            <a:srgbClr val="E8F5F0"/>
          </a:solidFill>
          <a:ln>
            <a:solidFill>
              <a:srgbClr val="AED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47652"/>
                </a:solidFill>
              </a:defRPr>
            </a:pPr>
            <a:r>
              <a:t>Pregunta para estudiantes:</a:t>
            </a:r>
          </a:p>
          <a:p>
            <a:pPr>
              <a:defRPr sz="1100">
                <a:solidFill>
                  <a:srgbClr val="235541"/>
                </a:solidFill>
              </a:defRPr>
            </a:pPr>
            <a:r>
              <a:t>¿Qué tabla mínima crearías para reproducir esta lógica en Colab?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162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84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3150"/>
                </a:solidFill>
              </a:defRPr>
            </a:pPr>
            <a:r>
              <a:t>Extra evidence C · evidencia integrada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749808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B69"/>
                </a:solidFill>
              </a:defRPr>
            </a:pPr>
            <a:r>
              <a:t>Transformer-DAPT: AI-based dynamic assessment of ischemic and bleeding risks in patients on DAPT following PCI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115568"/>
            <a:ext cx="2194560" cy="310896"/>
          </a:xfrm>
          <a:prstGeom prst="roundRect">
            <a:avLst/>
          </a:prstGeom>
          <a:solidFill>
            <a:srgbClr val="2162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Transformer-DAPT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5577840" cy="3017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E1E1E"/>
                </a:solidFill>
              </a:defRPr>
            </a:pPr>
            <a:r>
              <a:t>Problema clínico: convertir datos cotidianos en una decisión de priorización clínica.</a:t>
            </a:r>
          </a:p>
          <a:p>
            <a:pPr>
              <a:spcAft>
                <a:spcPts val="600"/>
              </a:spcAft>
              <a:defRPr sz="1400">
                <a:solidFill>
                  <a:srgbClr val="1E1E1E"/>
                </a:solidFill>
              </a:defRPr>
            </a:pPr>
            <a:r>
              <a:t>29,032 Mayo Clinic patients; external validation in 19,173 OneFlorida+ patients.</a:t>
            </a:r>
          </a:p>
          <a:p>
            <a:pPr>
              <a:spcAft>
                <a:spcPts val="600"/>
              </a:spcAft>
              <a:defRPr sz="1400">
                <a:solidFill>
                  <a:srgbClr val="1E1E1E"/>
                </a:solidFill>
              </a:defRPr>
            </a:pPr>
            <a:r>
              <a:t>Transformer survival framework predicts ischemic and bleeding risks over time.</a:t>
            </a:r>
          </a:p>
          <a:p>
            <a:pPr>
              <a:spcAft>
                <a:spcPts val="600"/>
              </a:spcAft>
              <a:defRPr sz="1400">
                <a:solidFill>
                  <a:srgbClr val="1E1E1E"/>
                </a:solidFill>
              </a:defRPr>
            </a:pPr>
            <a:r>
              <a:t>Dynamic risk trajectories support individualized DAPT reassessment.</a:t>
            </a:r>
          </a:p>
          <a:p>
            <a:pPr>
              <a:spcAft>
                <a:spcPts val="600"/>
              </a:spcAft>
              <a:defRPr sz="1400">
                <a:solidFill>
                  <a:srgbClr val="1E1E1E"/>
                </a:solidFill>
              </a:defRPr>
            </a:pPr>
            <a:r>
              <a:t>Teaching link: time-dependent risk curves can guide follow-up conversations.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1417320"/>
            <a:ext cx="5029200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C4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20840" y="1645920"/>
            <a:ext cx="4480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3150"/>
                </a:solidFill>
              </a:defRPr>
            </a:pPr>
            <a:r>
              <a:t>Cómo convertirlo en práctica Python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20840" y="2148840"/>
            <a:ext cx="4480560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505B69"/>
                </a:solidFill>
              </a:defRPr>
            </a:pPr>
            <a:r>
              <a:t>longitudinal EHR + PCI data → ischemic/bleeding risk trajectories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0840" y="3063240"/>
            <a:ext cx="4480560" cy="1463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E4854"/>
                </a:solidFill>
              </a:defRPr>
            </a:pPr>
            <a:r>
              <a:t>DataFrame: una fila = paciente, episodio o ventana temporal.</a:t>
            </a:r>
          </a:p>
          <a:p>
            <a:pPr>
              <a:spcAft>
                <a:spcPts val="600"/>
              </a:spcAft>
              <a:defRPr sz="1200">
                <a:solidFill>
                  <a:srgbClr val="3E4854"/>
                </a:solidFill>
              </a:defRPr>
            </a:pPr>
            <a:r>
              <a:t>Features: variables disponibles antes de la decisión.</a:t>
            </a:r>
          </a:p>
          <a:p>
            <a:pPr>
              <a:spcAft>
                <a:spcPts val="600"/>
              </a:spcAft>
              <a:defRPr sz="1200">
                <a:solidFill>
                  <a:srgbClr val="3E4854"/>
                </a:solidFill>
              </a:defRPr>
            </a:pPr>
            <a:r>
              <a:t>Target: evento clínico, riesgo o categoría de acción.</a:t>
            </a:r>
          </a:p>
          <a:p>
            <a:pPr>
              <a:spcAft>
                <a:spcPts val="600"/>
              </a:spcAft>
              <a:defRPr sz="1200">
                <a:solidFill>
                  <a:srgbClr val="3E4854"/>
                </a:solidFill>
              </a:defRPr>
            </a:pPr>
            <a:r>
              <a:t>Métrica: sensibilidad, PPV/NPV, AUC, tiempo o carga de alertas.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26364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05B69"/>
                </a:solidFill>
              </a:defRPr>
            </a:pPr>
            <a:r>
              <a:t>Fuente: npj Digital Medicine · DOI: 10.1038/s41746-026-02977-9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162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84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3150"/>
                </a:solidFill>
              </a:defRPr>
            </a:pPr>
            <a:r>
              <a:t>Extra evidence C · figura / tabla / plot 1/9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749808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B69"/>
                </a:solidFill>
              </a:defRPr>
            </a:pPr>
            <a:r>
              <a:t>Transformer-DAPT · página del PDF 7 · DOI: 10.1038/s41746-026-02977-9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7452360" cy="5303520"/>
          </a:xfrm>
          <a:prstGeom prst="rect">
            <a:avLst/>
          </a:prstGeom>
          <a:solidFill>
            <a:srgbClr val="FFFFFF"/>
          </a:solidFill>
          <a:ln>
            <a:solidFill>
              <a:srgbClr val="D2DA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apt_p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8339" y="1078992"/>
            <a:ext cx="3901521" cy="5303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75320" y="1143000"/>
            <a:ext cx="2011680" cy="310896"/>
          </a:xfrm>
          <a:prstGeom prst="roundRect">
            <a:avLst/>
          </a:prstGeom>
          <a:solidFill>
            <a:srgbClr val="DE7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QUÉ MIRAR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20" y="1572768"/>
            <a:ext cx="3429000" cy="3017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29,032 Mayo Clinic patients; external validation in 19,173 OneFlorida+ patients.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Identifique qué variable entra al modelo, qué salida se entrega y qué decisión humana apoya.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Conecte la figura/tabla con pandas: columnas, target, train/test y métrica clínica.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Discuta el error peligroso: falso negativo, falso positivo, retraso o sobrecarga de alertas.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75320" y="4983480"/>
            <a:ext cx="3429000" cy="1051560"/>
          </a:xfrm>
          <a:prstGeom prst="roundRect">
            <a:avLst/>
          </a:prstGeom>
          <a:solidFill>
            <a:srgbClr val="E8F5F0"/>
          </a:solidFill>
          <a:ln>
            <a:solidFill>
              <a:srgbClr val="AED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47652"/>
                </a:solidFill>
              </a:defRPr>
            </a:pPr>
            <a:r>
              <a:t>Pregunta para estudiantes:</a:t>
            </a:r>
          </a:p>
          <a:p>
            <a:pPr>
              <a:defRPr sz="1100">
                <a:solidFill>
                  <a:srgbClr val="235541"/>
                </a:solidFill>
              </a:defRPr>
            </a:pPr>
            <a:r>
              <a:t>¿Qué tabla mínima crearías para reproducir esta lógica en Colab?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162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84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3150"/>
                </a:solidFill>
              </a:defRPr>
            </a:pPr>
            <a:r>
              <a:t>Extra evidence C · figura / tabla / plot 2/9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749808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B69"/>
                </a:solidFill>
              </a:defRPr>
            </a:pPr>
            <a:r>
              <a:t>Transformer-DAPT · página del PDF 8 · DOI: 10.1038/s41746-026-02977-9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7452360" cy="5303520"/>
          </a:xfrm>
          <a:prstGeom prst="rect">
            <a:avLst/>
          </a:prstGeom>
          <a:solidFill>
            <a:srgbClr val="FFFFFF"/>
          </a:solidFill>
          <a:ln>
            <a:solidFill>
              <a:srgbClr val="D2DA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apt_p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8339" y="1078992"/>
            <a:ext cx="3901521" cy="5303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75320" y="1143000"/>
            <a:ext cx="2011680" cy="310896"/>
          </a:xfrm>
          <a:prstGeom prst="roundRect">
            <a:avLst/>
          </a:prstGeom>
          <a:solidFill>
            <a:srgbClr val="DE7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QUÉ MIRAR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20" y="1572768"/>
            <a:ext cx="3429000" cy="3017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29,032 Mayo Clinic patients; external validation in 19,173 OneFlorida+ patients.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Identifique qué variable entra al modelo, qué salida se entrega y qué decisión humana apoya.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Conecte la figura/tabla con pandas: columnas, target, train/test y métrica clínica.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Discuta el error peligroso: falso negativo, falso positivo, retraso o sobrecarga de alertas.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75320" y="4983480"/>
            <a:ext cx="3429000" cy="1051560"/>
          </a:xfrm>
          <a:prstGeom prst="roundRect">
            <a:avLst/>
          </a:prstGeom>
          <a:solidFill>
            <a:srgbClr val="E8F5F0"/>
          </a:solidFill>
          <a:ln>
            <a:solidFill>
              <a:srgbClr val="AED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47652"/>
                </a:solidFill>
              </a:defRPr>
            </a:pPr>
            <a:r>
              <a:t>Pregunta para estudiantes:</a:t>
            </a:r>
          </a:p>
          <a:p>
            <a:pPr>
              <a:defRPr sz="1100">
                <a:solidFill>
                  <a:srgbClr val="235541"/>
                </a:solidFill>
              </a:defRPr>
            </a:pPr>
            <a:r>
              <a:t>¿Qué tabla mínima crearías para reproducir esta lógica en Colab?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162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84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3150"/>
                </a:solidFill>
              </a:defRPr>
            </a:pPr>
            <a:r>
              <a:t>Extra evidence C · figura / tabla / plot 3/9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749808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B69"/>
                </a:solidFill>
              </a:defRPr>
            </a:pPr>
            <a:r>
              <a:t>Transformer-DAPT · página del PDF 11 · DOI: 10.1038/s41746-026-02977-9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7452360" cy="5303520"/>
          </a:xfrm>
          <a:prstGeom prst="rect">
            <a:avLst/>
          </a:prstGeom>
          <a:solidFill>
            <a:srgbClr val="FFFFFF"/>
          </a:solidFill>
          <a:ln>
            <a:solidFill>
              <a:srgbClr val="D2DA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apt_p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8339" y="1078992"/>
            <a:ext cx="3901521" cy="5303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75320" y="1143000"/>
            <a:ext cx="2011680" cy="310896"/>
          </a:xfrm>
          <a:prstGeom prst="roundRect">
            <a:avLst/>
          </a:prstGeom>
          <a:solidFill>
            <a:srgbClr val="DE7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QUÉ MIRAR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20" y="1572768"/>
            <a:ext cx="3429000" cy="3017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29,032 Mayo Clinic patients; external validation in 19,173 OneFlorida+ patients.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Identifique qué variable entra al modelo, qué salida se entrega y qué decisión humana apoya.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Conecte la figura/tabla con pandas: columnas, target, train/test y métrica clínica.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Discuta el error peligroso: falso negativo, falso positivo, retraso o sobrecarga de alertas.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75320" y="4983480"/>
            <a:ext cx="3429000" cy="1051560"/>
          </a:xfrm>
          <a:prstGeom prst="roundRect">
            <a:avLst/>
          </a:prstGeom>
          <a:solidFill>
            <a:srgbClr val="E8F5F0"/>
          </a:solidFill>
          <a:ln>
            <a:solidFill>
              <a:srgbClr val="AED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47652"/>
                </a:solidFill>
              </a:defRPr>
            </a:pPr>
            <a:r>
              <a:t>Pregunta para estudiantes:</a:t>
            </a:r>
          </a:p>
          <a:p>
            <a:pPr>
              <a:defRPr sz="1100">
                <a:solidFill>
                  <a:srgbClr val="235541"/>
                </a:solidFill>
              </a:defRPr>
            </a:pPr>
            <a:r>
              <a:t>¿Qué tabla mínima crearías para reproducir esta lógica en Colab?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162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84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3150"/>
                </a:solidFill>
              </a:defRPr>
            </a:pPr>
            <a:r>
              <a:t>Extra evidence C · figura / tabla / plot 4/9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749808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B69"/>
                </a:solidFill>
              </a:defRPr>
            </a:pPr>
            <a:r>
              <a:t>Transformer-DAPT · página del PDF 13 · DOI: 10.1038/s41746-026-02977-9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7452360" cy="5303520"/>
          </a:xfrm>
          <a:prstGeom prst="rect">
            <a:avLst/>
          </a:prstGeom>
          <a:solidFill>
            <a:srgbClr val="FFFFFF"/>
          </a:solidFill>
          <a:ln>
            <a:solidFill>
              <a:srgbClr val="D2DA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apt_p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8339" y="1078992"/>
            <a:ext cx="3901521" cy="5303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75320" y="1143000"/>
            <a:ext cx="2011680" cy="310896"/>
          </a:xfrm>
          <a:prstGeom prst="roundRect">
            <a:avLst/>
          </a:prstGeom>
          <a:solidFill>
            <a:srgbClr val="DE7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QUÉ MIRAR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20" y="1572768"/>
            <a:ext cx="3429000" cy="3017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29,032 Mayo Clinic patients; external validation in 19,173 OneFlorida+ patients.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Identifique qué variable entra al modelo, qué salida se entrega y qué decisión humana apoya.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Conecte la figura/tabla con pandas: columnas, target, train/test y métrica clínica.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Discuta el error peligroso: falso negativo, falso positivo, retraso o sobrecarga de alertas.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75320" y="4983480"/>
            <a:ext cx="3429000" cy="1051560"/>
          </a:xfrm>
          <a:prstGeom prst="roundRect">
            <a:avLst/>
          </a:prstGeom>
          <a:solidFill>
            <a:srgbClr val="E8F5F0"/>
          </a:solidFill>
          <a:ln>
            <a:solidFill>
              <a:srgbClr val="AED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47652"/>
                </a:solidFill>
              </a:defRPr>
            </a:pPr>
            <a:r>
              <a:t>Pregunta para estudiantes:</a:t>
            </a:r>
          </a:p>
          <a:p>
            <a:pPr>
              <a:defRPr sz="1100">
                <a:solidFill>
                  <a:srgbClr val="235541"/>
                </a:solidFill>
              </a:defRPr>
            </a:pPr>
            <a:r>
              <a:t>¿Qué tabla mínima crearías para reproducir esta lógica en Colab?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162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84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3150"/>
                </a:solidFill>
              </a:defRPr>
            </a:pPr>
            <a:r>
              <a:t>Extra evidence C · figura / tabla / plot 5/9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749808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B69"/>
                </a:solidFill>
              </a:defRPr>
            </a:pPr>
            <a:r>
              <a:t>Transformer-DAPT · página del PDF 25 · DOI: 10.1038/s41746-026-02977-9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7452360" cy="5303520"/>
          </a:xfrm>
          <a:prstGeom prst="rect">
            <a:avLst/>
          </a:prstGeom>
          <a:solidFill>
            <a:srgbClr val="FFFFFF"/>
          </a:solidFill>
          <a:ln>
            <a:solidFill>
              <a:srgbClr val="D2DA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apt_p2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8339" y="1078992"/>
            <a:ext cx="3901521" cy="5303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75320" y="1143000"/>
            <a:ext cx="2011680" cy="310896"/>
          </a:xfrm>
          <a:prstGeom prst="roundRect">
            <a:avLst/>
          </a:prstGeom>
          <a:solidFill>
            <a:srgbClr val="DE7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QUÉ MIRAR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20" y="1572768"/>
            <a:ext cx="3429000" cy="3017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29,032 Mayo Clinic patients; external validation in 19,173 OneFlorida+ patients.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Identifique qué variable entra al modelo, qué salida se entrega y qué decisión humana apoya.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Conecte la figura/tabla con pandas: columnas, target, train/test y métrica clínica.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Discuta el error peligroso: falso negativo, falso positivo, retraso o sobrecarga de alertas.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75320" y="4983480"/>
            <a:ext cx="3429000" cy="1051560"/>
          </a:xfrm>
          <a:prstGeom prst="roundRect">
            <a:avLst/>
          </a:prstGeom>
          <a:solidFill>
            <a:srgbClr val="E8F5F0"/>
          </a:solidFill>
          <a:ln>
            <a:solidFill>
              <a:srgbClr val="AED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47652"/>
                </a:solidFill>
              </a:defRPr>
            </a:pPr>
            <a:r>
              <a:t>Pregunta para estudiantes:</a:t>
            </a:r>
          </a:p>
          <a:p>
            <a:pPr>
              <a:defRPr sz="1100">
                <a:solidFill>
                  <a:srgbClr val="235541"/>
                </a:solidFill>
              </a:defRPr>
            </a:pPr>
            <a:r>
              <a:t>¿Qué tabla mínima crearías para reproducir esta lógica en Colab?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162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84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3150"/>
                </a:solidFill>
              </a:defRPr>
            </a:pPr>
            <a:r>
              <a:t>Extra evidence C · figura / tabla / plot 6/9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749808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B69"/>
                </a:solidFill>
              </a:defRPr>
            </a:pPr>
            <a:r>
              <a:t>Transformer-DAPT · página del PDF 36 · DOI: 10.1038/s41746-026-02977-9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7452360" cy="5303520"/>
          </a:xfrm>
          <a:prstGeom prst="rect">
            <a:avLst/>
          </a:prstGeom>
          <a:solidFill>
            <a:srgbClr val="FFFFFF"/>
          </a:solidFill>
          <a:ln>
            <a:solidFill>
              <a:srgbClr val="D2DA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apt_p3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8339" y="1078992"/>
            <a:ext cx="3901521" cy="5303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75320" y="1143000"/>
            <a:ext cx="2011680" cy="310896"/>
          </a:xfrm>
          <a:prstGeom prst="roundRect">
            <a:avLst/>
          </a:prstGeom>
          <a:solidFill>
            <a:srgbClr val="DE7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QUÉ MIRAR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20" y="1572768"/>
            <a:ext cx="3429000" cy="3017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29,032 Mayo Clinic patients; external validation in 19,173 OneFlorida+ patients.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Identifique qué variable entra al modelo, qué salida se entrega y qué decisión humana apoya.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Conecte la figura/tabla con pandas: columnas, target, train/test y métrica clínica.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Discuta el error peligroso: falso negativo, falso positivo, retraso o sobrecarga de alertas.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75320" y="4983480"/>
            <a:ext cx="3429000" cy="1051560"/>
          </a:xfrm>
          <a:prstGeom prst="roundRect">
            <a:avLst/>
          </a:prstGeom>
          <a:solidFill>
            <a:srgbClr val="E8F5F0"/>
          </a:solidFill>
          <a:ln>
            <a:solidFill>
              <a:srgbClr val="AED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47652"/>
                </a:solidFill>
              </a:defRPr>
            </a:pPr>
            <a:r>
              <a:t>Pregunta para estudiantes:</a:t>
            </a:r>
          </a:p>
          <a:p>
            <a:pPr>
              <a:defRPr sz="1100">
                <a:solidFill>
                  <a:srgbClr val="235541"/>
                </a:solidFill>
              </a:defRPr>
            </a:pPr>
            <a:r>
              <a:t>¿Qué tabla mínima crearías para reproducir esta lógica en Colab?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162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84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3150"/>
                </a:solidFill>
              </a:defRPr>
            </a:pPr>
            <a:r>
              <a:t>Extra evidence C · figura / tabla / plot 7/9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749808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B69"/>
                </a:solidFill>
              </a:defRPr>
            </a:pPr>
            <a:r>
              <a:t>Transformer-DAPT · página del PDF 38 · DOI: 10.1038/s41746-026-02977-9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7452360" cy="5303520"/>
          </a:xfrm>
          <a:prstGeom prst="rect">
            <a:avLst/>
          </a:prstGeom>
          <a:solidFill>
            <a:srgbClr val="FFFFFF"/>
          </a:solidFill>
          <a:ln>
            <a:solidFill>
              <a:srgbClr val="D2DA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apt_p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8339" y="1078992"/>
            <a:ext cx="3901521" cy="5303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75320" y="1143000"/>
            <a:ext cx="2011680" cy="310896"/>
          </a:xfrm>
          <a:prstGeom prst="roundRect">
            <a:avLst/>
          </a:prstGeom>
          <a:solidFill>
            <a:srgbClr val="DE7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QUÉ MIRAR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20" y="1572768"/>
            <a:ext cx="3429000" cy="3017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29,032 Mayo Clinic patients; external validation in 19,173 OneFlorida+ patients.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Identifique qué variable entra al modelo, qué salida se entrega y qué decisión humana apoya.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Conecte la figura/tabla con pandas: columnas, target, train/test y métrica clínica.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Discuta el error peligroso: falso negativo, falso positivo, retraso o sobrecarga de alertas.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75320" y="4983480"/>
            <a:ext cx="3429000" cy="1051560"/>
          </a:xfrm>
          <a:prstGeom prst="roundRect">
            <a:avLst/>
          </a:prstGeom>
          <a:solidFill>
            <a:srgbClr val="E8F5F0"/>
          </a:solidFill>
          <a:ln>
            <a:solidFill>
              <a:srgbClr val="AED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47652"/>
                </a:solidFill>
              </a:defRPr>
            </a:pPr>
            <a:r>
              <a:t>Pregunta para estudiantes:</a:t>
            </a:r>
          </a:p>
          <a:p>
            <a:pPr>
              <a:defRPr sz="1100">
                <a:solidFill>
                  <a:srgbClr val="235541"/>
                </a:solidFill>
              </a:defRPr>
            </a:pPr>
            <a:r>
              <a:t>¿Qué tabla mínima crearías para reproducir esta lógica en Colab?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162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84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3150"/>
                </a:solidFill>
              </a:defRPr>
            </a:pPr>
            <a:r>
              <a:t>Extra evidence C · figura / tabla / plot 8/9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749808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B69"/>
                </a:solidFill>
              </a:defRPr>
            </a:pPr>
            <a:r>
              <a:t>Transformer-DAPT · página del PDF 41 · DOI: 10.1038/s41746-026-02977-9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7452360" cy="5303520"/>
          </a:xfrm>
          <a:prstGeom prst="rect">
            <a:avLst/>
          </a:prstGeom>
          <a:solidFill>
            <a:srgbClr val="FFFFFF"/>
          </a:solidFill>
          <a:ln>
            <a:solidFill>
              <a:srgbClr val="D2DA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apt_p4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8339" y="1078992"/>
            <a:ext cx="3901521" cy="5303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75320" y="1143000"/>
            <a:ext cx="2011680" cy="310896"/>
          </a:xfrm>
          <a:prstGeom prst="roundRect">
            <a:avLst/>
          </a:prstGeom>
          <a:solidFill>
            <a:srgbClr val="DE7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QUÉ MIRAR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20" y="1572768"/>
            <a:ext cx="3429000" cy="3017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29,032 Mayo Clinic patients; external validation in 19,173 OneFlorida+ patients.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Identifique qué variable entra al modelo, qué salida se entrega y qué decisión humana apoya.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Conecte la figura/tabla con pandas: columnas, target, train/test y métrica clínica.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Discuta el error peligroso: falso negativo, falso positivo, retraso o sobrecarga de alertas.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75320" y="4983480"/>
            <a:ext cx="3429000" cy="1051560"/>
          </a:xfrm>
          <a:prstGeom prst="roundRect">
            <a:avLst/>
          </a:prstGeom>
          <a:solidFill>
            <a:srgbClr val="E8F5F0"/>
          </a:solidFill>
          <a:ln>
            <a:solidFill>
              <a:srgbClr val="AED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47652"/>
                </a:solidFill>
              </a:defRPr>
            </a:pPr>
            <a:r>
              <a:t>Pregunta para estudiantes:</a:t>
            </a:r>
          </a:p>
          <a:p>
            <a:pPr>
              <a:defRPr sz="1100">
                <a:solidFill>
                  <a:srgbClr val="235541"/>
                </a:solidFill>
              </a:defRPr>
            </a:pPr>
            <a:r>
              <a:t>¿Qué tabla mínima crearías para reproducir esta lógica en Colab?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162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84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3150"/>
                </a:solidFill>
              </a:defRPr>
            </a:pPr>
            <a:r>
              <a:t>Extra evidence C · figura / tabla / plot 9/9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749808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B69"/>
                </a:solidFill>
              </a:defRPr>
            </a:pPr>
            <a:r>
              <a:t>Transformer-DAPT · página del PDF 43 · DOI: 10.1038/s41746-026-02977-9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7452360" cy="5303520"/>
          </a:xfrm>
          <a:prstGeom prst="rect">
            <a:avLst/>
          </a:prstGeom>
          <a:solidFill>
            <a:srgbClr val="FFFFFF"/>
          </a:solidFill>
          <a:ln>
            <a:solidFill>
              <a:srgbClr val="D2DA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apt_p4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8339" y="1078992"/>
            <a:ext cx="3901521" cy="5303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75320" y="1143000"/>
            <a:ext cx="2011680" cy="310896"/>
          </a:xfrm>
          <a:prstGeom prst="roundRect">
            <a:avLst/>
          </a:prstGeom>
          <a:solidFill>
            <a:srgbClr val="DE7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QUÉ MIRAR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20" y="1572768"/>
            <a:ext cx="3429000" cy="3017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29,032 Mayo Clinic patients; external validation in 19,173 OneFlorida+ patients.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Identifique qué variable entra al modelo, qué salida se entrega y qué decisión humana apoya.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Conecte la figura/tabla con pandas: columnas, target, train/test y métrica clínica.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Discuta el error peligroso: falso negativo, falso positivo, retraso o sobrecarga de alertas.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75320" y="4983480"/>
            <a:ext cx="3429000" cy="1051560"/>
          </a:xfrm>
          <a:prstGeom prst="roundRect">
            <a:avLst/>
          </a:prstGeom>
          <a:solidFill>
            <a:srgbClr val="E8F5F0"/>
          </a:solidFill>
          <a:ln>
            <a:solidFill>
              <a:srgbClr val="AED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47652"/>
                </a:solidFill>
              </a:defRPr>
            </a:pPr>
            <a:r>
              <a:t>Pregunta para estudiantes:</a:t>
            </a:r>
          </a:p>
          <a:p>
            <a:pPr>
              <a:defRPr sz="1100">
                <a:solidFill>
                  <a:srgbClr val="235541"/>
                </a:solidFill>
              </a:defRPr>
            </a:pPr>
            <a:r>
              <a:t>¿Qué tabla mínima crearías para reproducir esta lógica en Colab?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162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84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3150"/>
                </a:solidFill>
              </a:defRPr>
            </a:pPr>
            <a:r>
              <a:t>Extra evidence D · evidencia integrada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749808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B69"/>
                </a:solidFill>
              </a:defRPr>
            </a:pPr>
            <a:r>
              <a:t>Integrating large language models for enhanced predictive analytics in healthcare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115568"/>
            <a:ext cx="3218688" cy="310896"/>
          </a:xfrm>
          <a:prstGeom prst="roundRect">
            <a:avLst/>
          </a:prstGeom>
          <a:solidFill>
            <a:srgbClr val="2162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Hopkins LLM predictive 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5577840" cy="3017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E1E1E"/>
                </a:solidFill>
              </a:defRPr>
            </a:pPr>
            <a:r>
              <a:t>Problema clínico: convertir datos cotidianos en una decisión de priorización clínica.</a:t>
            </a:r>
          </a:p>
          <a:p>
            <a:pPr>
              <a:spcAft>
                <a:spcPts val="600"/>
              </a:spcAft>
              <a:defRPr sz="1400">
                <a:solidFill>
                  <a:srgbClr val="1E1E1E"/>
                </a:solidFill>
              </a:defRPr>
            </a:pPr>
            <a:r>
              <a:t>Structured EHR data used to fine-tune a 7B-parameter LLaMA-style clinical LLM.</a:t>
            </a:r>
          </a:p>
          <a:p>
            <a:pPr>
              <a:spcAft>
                <a:spcPts val="600"/>
              </a:spcAft>
              <a:defRPr sz="1400">
                <a:solidFill>
                  <a:srgbClr val="1E1E1E"/>
                </a:solidFill>
              </a:defRPr>
            </a:pPr>
            <a:r>
              <a:t>42,160 Johns Hopkins patients plus external validation across health systems.</a:t>
            </a:r>
          </a:p>
          <a:p>
            <a:pPr>
              <a:spcAft>
                <a:spcPts val="600"/>
              </a:spcAft>
              <a:defRPr sz="1400">
                <a:solidFill>
                  <a:srgbClr val="1E1E1E"/>
                </a:solidFill>
              </a:defRPr>
            </a:pPr>
            <a:r>
              <a:t>Mean ROC-AUC 0.84 across prediction tasks.</a:t>
            </a:r>
          </a:p>
          <a:p>
            <a:pPr>
              <a:spcAft>
                <a:spcPts val="600"/>
              </a:spcAft>
              <a:defRPr sz="1400">
                <a:solidFill>
                  <a:srgbClr val="1E1E1E"/>
                </a:solidFill>
              </a:defRPr>
            </a:pPr>
            <a:r>
              <a:t>Teaching link: LLMs can act as unified predictive engines, not only chatbots.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1417320"/>
            <a:ext cx="5029200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C4D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20840" y="1645920"/>
            <a:ext cx="4480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3150"/>
                </a:solidFill>
              </a:defRPr>
            </a:pPr>
            <a:r>
              <a:t>Cómo convertirlo en práctica Python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20840" y="2148840"/>
            <a:ext cx="4480560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505B69"/>
                </a:solidFill>
              </a:defRPr>
            </a:pPr>
            <a:r>
              <a:t>structured EHR serialized as text → readmission / mortality / ICU admission predictions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0840" y="3063240"/>
            <a:ext cx="4480560" cy="1463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E4854"/>
                </a:solidFill>
              </a:defRPr>
            </a:pPr>
            <a:r>
              <a:t>DataFrame: una fila = paciente, episodio o ventana temporal.</a:t>
            </a:r>
          </a:p>
          <a:p>
            <a:pPr>
              <a:spcAft>
                <a:spcPts val="600"/>
              </a:spcAft>
              <a:defRPr sz="1200">
                <a:solidFill>
                  <a:srgbClr val="3E4854"/>
                </a:solidFill>
              </a:defRPr>
            </a:pPr>
            <a:r>
              <a:t>Features: variables disponibles antes de la decisión.</a:t>
            </a:r>
          </a:p>
          <a:p>
            <a:pPr>
              <a:spcAft>
                <a:spcPts val="600"/>
              </a:spcAft>
              <a:defRPr sz="1200">
                <a:solidFill>
                  <a:srgbClr val="3E4854"/>
                </a:solidFill>
              </a:defRPr>
            </a:pPr>
            <a:r>
              <a:t>Target: evento clínico, riesgo o categoría de acción.</a:t>
            </a:r>
          </a:p>
          <a:p>
            <a:pPr>
              <a:spcAft>
                <a:spcPts val="600"/>
              </a:spcAft>
              <a:defRPr sz="1200">
                <a:solidFill>
                  <a:srgbClr val="3E4854"/>
                </a:solidFill>
              </a:defRPr>
            </a:pPr>
            <a:r>
              <a:t>Métrica: sensibilidad, PPV/NPV, AUC, tiempo o carga de alertas.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26364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05B69"/>
                </a:solidFill>
              </a:defRPr>
            </a:pPr>
            <a:r>
              <a:t>Fuente: npj Digital Medicine · DOI: 10.1038/s41746-026-02572-y</a:t>
            </a: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162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84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3150"/>
                </a:solidFill>
              </a:defRPr>
            </a:pPr>
            <a:r>
              <a:t>Extra evidence D · figura / tabla / plot 1/3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749808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B69"/>
                </a:solidFill>
              </a:defRPr>
            </a:pPr>
            <a:r>
              <a:t>Hopkins LLM predictive analytics · página del PDF 3 · DOI: 10.1038/s41746-026-02572-y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7452360" cy="5303520"/>
          </a:xfrm>
          <a:prstGeom prst="rect">
            <a:avLst/>
          </a:prstGeom>
          <a:solidFill>
            <a:srgbClr val="FFFFFF"/>
          </a:solidFill>
          <a:ln>
            <a:solidFill>
              <a:srgbClr val="D2DA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hopkins_llm_p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2831" y="1078992"/>
            <a:ext cx="3992537" cy="5303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75320" y="1143000"/>
            <a:ext cx="2011680" cy="310896"/>
          </a:xfrm>
          <a:prstGeom prst="roundRect">
            <a:avLst/>
          </a:prstGeom>
          <a:solidFill>
            <a:srgbClr val="DE7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QUÉ MIRAR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20" y="1572768"/>
            <a:ext cx="3429000" cy="3017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Structured EHR data used to fine-tune a 7B-parameter LLaMA-style clinical LLM.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Identifique qué variable entra al modelo, qué salida se entrega y qué decisión humana apoya.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Conecte la figura/tabla con pandas: columnas, target, train/test y métrica clínica.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Discuta el error peligroso: falso negativo, falso positivo, retraso o sobrecarga de alertas.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75320" y="4983480"/>
            <a:ext cx="3429000" cy="1051560"/>
          </a:xfrm>
          <a:prstGeom prst="roundRect">
            <a:avLst/>
          </a:prstGeom>
          <a:solidFill>
            <a:srgbClr val="E8F5F0"/>
          </a:solidFill>
          <a:ln>
            <a:solidFill>
              <a:srgbClr val="AED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47652"/>
                </a:solidFill>
              </a:defRPr>
            </a:pPr>
            <a:r>
              <a:t>Pregunta para estudiantes:</a:t>
            </a:r>
          </a:p>
          <a:p>
            <a:pPr>
              <a:defRPr sz="1100">
                <a:solidFill>
                  <a:srgbClr val="235541"/>
                </a:solidFill>
              </a:defRPr>
            </a:pPr>
            <a:r>
              <a:t>¿Qué tabla mínima crearías para reproducir esta lógica en Colab?</a:t>
            </a: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162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84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3150"/>
                </a:solidFill>
              </a:defRPr>
            </a:pPr>
            <a:r>
              <a:t>Extra evidence D · figura / tabla / plot 2/3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749808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B69"/>
                </a:solidFill>
              </a:defRPr>
            </a:pPr>
            <a:r>
              <a:t>Hopkins LLM predictive analytics · página del PDF 4 · DOI: 10.1038/s41746-026-02572-y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7452360" cy="5303520"/>
          </a:xfrm>
          <a:prstGeom prst="rect">
            <a:avLst/>
          </a:prstGeom>
          <a:solidFill>
            <a:srgbClr val="FFFFFF"/>
          </a:solidFill>
          <a:ln>
            <a:solidFill>
              <a:srgbClr val="D2DA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hopkins_llm_p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2831" y="1078992"/>
            <a:ext cx="3992537" cy="5303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75320" y="1143000"/>
            <a:ext cx="2011680" cy="310896"/>
          </a:xfrm>
          <a:prstGeom prst="roundRect">
            <a:avLst/>
          </a:prstGeom>
          <a:solidFill>
            <a:srgbClr val="DE7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QUÉ MIRAR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20" y="1572768"/>
            <a:ext cx="3429000" cy="3017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Structured EHR data used to fine-tune a 7B-parameter LLaMA-style clinical LLM.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Identifique qué variable entra al modelo, qué salida se entrega y qué decisión humana apoya.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Conecte la figura/tabla con pandas: columnas, target, train/test y métrica clínica.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Discuta el error peligroso: falso negativo, falso positivo, retraso o sobrecarga de alertas.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75320" y="4983480"/>
            <a:ext cx="3429000" cy="1051560"/>
          </a:xfrm>
          <a:prstGeom prst="roundRect">
            <a:avLst/>
          </a:prstGeom>
          <a:solidFill>
            <a:srgbClr val="E8F5F0"/>
          </a:solidFill>
          <a:ln>
            <a:solidFill>
              <a:srgbClr val="AED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47652"/>
                </a:solidFill>
              </a:defRPr>
            </a:pPr>
            <a:r>
              <a:t>Pregunta para estudiantes:</a:t>
            </a:r>
          </a:p>
          <a:p>
            <a:pPr>
              <a:defRPr sz="1100">
                <a:solidFill>
                  <a:srgbClr val="235541"/>
                </a:solidFill>
              </a:defRPr>
            </a:pPr>
            <a:r>
              <a:t>¿Qué tabla mínima crearías para reproducir esta lógica en Colab?</a:t>
            </a: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162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84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3150"/>
                </a:solidFill>
              </a:defRPr>
            </a:pPr>
            <a:r>
              <a:t>Extra evidence D · figura / tabla / plot 3/3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749808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B69"/>
                </a:solidFill>
              </a:defRPr>
            </a:pPr>
            <a:r>
              <a:t>Hopkins LLM predictive analytics · página del PDF 5 · DOI: 10.1038/s41746-026-02572-y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7452360" cy="5303520"/>
          </a:xfrm>
          <a:prstGeom prst="rect">
            <a:avLst/>
          </a:prstGeom>
          <a:solidFill>
            <a:srgbClr val="FFFFFF"/>
          </a:solidFill>
          <a:ln>
            <a:solidFill>
              <a:srgbClr val="D2DA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hopkins_llm_p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2831" y="1078992"/>
            <a:ext cx="3992537" cy="5303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75320" y="1143000"/>
            <a:ext cx="2011680" cy="310896"/>
          </a:xfrm>
          <a:prstGeom prst="roundRect">
            <a:avLst/>
          </a:prstGeom>
          <a:solidFill>
            <a:srgbClr val="DE7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QUÉ MIRAR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20" y="1572768"/>
            <a:ext cx="3429000" cy="3017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Structured EHR data used to fine-tune a 7B-parameter LLaMA-style clinical LLM.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Identifique qué variable entra al modelo, qué salida se entrega y qué decisión humana apoya.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Conecte la figura/tabla con pandas: columnas, target, train/test y métrica clínica.</a:t>
            </a:r>
          </a:p>
          <a:p>
            <a:pPr>
              <a:spcAft>
                <a:spcPts val="600"/>
              </a:spcAft>
              <a:defRPr sz="1200">
                <a:solidFill>
                  <a:srgbClr val="505B69"/>
                </a:solidFill>
              </a:defRPr>
            </a:pPr>
            <a:r>
              <a:t>Discuta el error peligroso: falso negativo, falso positivo, retraso o sobrecarga de alertas.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75320" y="4983480"/>
            <a:ext cx="3429000" cy="1051560"/>
          </a:xfrm>
          <a:prstGeom prst="roundRect">
            <a:avLst/>
          </a:prstGeom>
          <a:solidFill>
            <a:srgbClr val="E8F5F0"/>
          </a:solidFill>
          <a:ln>
            <a:solidFill>
              <a:srgbClr val="AED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47652"/>
                </a:solidFill>
              </a:defRPr>
            </a:pPr>
            <a:r>
              <a:t>Pregunta para estudiantes:</a:t>
            </a:r>
          </a:p>
          <a:p>
            <a:pPr>
              <a:defRPr sz="1100">
                <a:solidFill>
                  <a:srgbClr val="235541"/>
                </a:solidFill>
              </a:defRPr>
            </a:pPr>
            <a:r>
              <a:t>¿Qué tabla mínima crearías para reproducir esta lógica en Colab?</a:t>
            </a: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162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384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3150"/>
                </a:solidFill>
              </a:defRPr>
            </a:pPr>
            <a:r>
              <a:t>Mapa de integración · todos los artículos añadidos en su sección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749808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B69"/>
                </a:solidFill>
              </a:defRPr>
            </a:pPr>
            <a:r>
              <a:t>No es un apéndice: cada bloque se coloca después del paper correspondiente en la Sesión 6.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143000"/>
            <a:ext cx="338328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23150"/>
                </a:solidFill>
              </a:defRPr>
            </a:pPr>
            <a:r>
              <a:t>✓ Paper 1: SIMPLE-HF risk score</a:t>
            </a:r>
          </a:p>
          <a:p>
            <a:pPr>
              <a:defRPr sz="850">
                <a:solidFill>
                  <a:srgbClr val="505B69"/>
                </a:solidFill>
              </a:defRPr>
            </a:pPr>
            <a:r>
              <a:t>4 páginas con figura/tabla/plot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901952"/>
            <a:ext cx="338328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23150"/>
                </a:solidFill>
              </a:defRPr>
            </a:pPr>
            <a:r>
              <a:t>✓ Paper 2: AKI continuous monitoring</a:t>
            </a:r>
          </a:p>
          <a:p>
            <a:pPr>
              <a:defRPr sz="850">
                <a:solidFill>
                  <a:srgbClr val="505B69"/>
                </a:solidFill>
              </a:defRPr>
            </a:pPr>
            <a:r>
              <a:t>7 páginas con figura/tabla/plot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660904"/>
            <a:ext cx="338328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23150"/>
                </a:solidFill>
              </a:defRPr>
            </a:pPr>
            <a:r>
              <a:t>✓ Paper 3: Sepsis trajectories</a:t>
            </a:r>
          </a:p>
          <a:p>
            <a:pPr>
              <a:defRPr sz="850">
                <a:solidFill>
                  <a:srgbClr val="505B69"/>
                </a:solidFill>
              </a:defRPr>
            </a:pPr>
            <a:r>
              <a:t>9 páginas con figura/tabla/plot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3419856"/>
            <a:ext cx="338328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23150"/>
                </a:solidFill>
              </a:defRPr>
            </a:pPr>
            <a:r>
              <a:t>✓ Paper 4: AI-TEW early warning</a:t>
            </a:r>
          </a:p>
          <a:p>
            <a:pPr>
              <a:defRPr sz="850">
                <a:solidFill>
                  <a:srgbClr val="505B69"/>
                </a:solidFill>
              </a:defRPr>
            </a:pPr>
            <a:r>
              <a:t>8 páginas con figura/tabla/plot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4178808"/>
            <a:ext cx="338328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23150"/>
                </a:solidFill>
              </a:defRPr>
            </a:pPr>
            <a:r>
              <a:t>✓ Paper 5: Clinicians vs AI ICU</a:t>
            </a:r>
          </a:p>
          <a:p>
            <a:pPr>
              <a:defRPr sz="850">
                <a:solidFill>
                  <a:srgbClr val="505B69"/>
                </a:solidFill>
              </a:defRPr>
            </a:pPr>
            <a:r>
              <a:t>13 páginas con figura/tabla/plot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4937759"/>
            <a:ext cx="338328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23150"/>
                </a:solidFill>
              </a:defRPr>
            </a:pPr>
            <a:r>
              <a:t>✓ Paper 6: End-of-surgery infection risk</a:t>
            </a:r>
          </a:p>
          <a:p>
            <a:pPr>
              <a:defRPr sz="850">
                <a:solidFill>
                  <a:srgbClr val="505B69"/>
                </a:solidFill>
              </a:defRPr>
            </a:pPr>
            <a:r>
              <a:t>13 páginas con figura/tabla/plot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1960" y="1143000"/>
            <a:ext cx="338328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23150"/>
                </a:solidFill>
              </a:defRPr>
            </a:pPr>
            <a:r>
              <a:t>✓ Paper 7: ED-Foundation</a:t>
            </a:r>
          </a:p>
          <a:p>
            <a:pPr>
              <a:defRPr sz="850">
                <a:solidFill>
                  <a:srgbClr val="505B69"/>
                </a:solidFill>
              </a:defRPr>
            </a:pPr>
            <a:r>
              <a:t>14 páginas con figura/tabla/plot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51960" y="1901952"/>
            <a:ext cx="338328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23150"/>
                </a:solidFill>
              </a:defRPr>
            </a:pPr>
            <a:r>
              <a:t>✓ Paper 8: Autonomous ED AI agent</a:t>
            </a:r>
          </a:p>
          <a:p>
            <a:pPr>
              <a:defRPr sz="850">
                <a:solidFill>
                  <a:srgbClr val="505B69"/>
                </a:solidFill>
              </a:defRPr>
            </a:pPr>
            <a:r>
              <a:t>7 páginas con figura/tabla/plot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51960" y="2660904"/>
            <a:ext cx="338328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23150"/>
                </a:solidFill>
              </a:defRPr>
            </a:pPr>
            <a:r>
              <a:t>✓ Paper 9: Virtual Nursing</a:t>
            </a:r>
          </a:p>
          <a:p>
            <a:pPr>
              <a:defRPr sz="850">
                <a:solidFill>
                  <a:srgbClr val="505B69"/>
                </a:solidFill>
              </a:defRPr>
            </a:pPr>
            <a:r>
              <a:t>5 páginas con figura/tabla/plot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51960" y="3419856"/>
            <a:ext cx="338328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23150"/>
                </a:solidFill>
              </a:defRPr>
            </a:pPr>
            <a:r>
              <a:t>✓ Paper 12: Stroke exergame</a:t>
            </a:r>
          </a:p>
          <a:p>
            <a:pPr>
              <a:defRPr sz="850">
                <a:solidFill>
                  <a:srgbClr val="505B69"/>
                </a:solidFill>
              </a:defRPr>
            </a:pPr>
            <a:r>
              <a:t>5 páginas con figura/tabla/plot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51960" y="4178808"/>
            <a:ext cx="338328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23150"/>
                </a:solidFill>
              </a:defRPr>
            </a:pPr>
            <a:r>
              <a:t>✓ Paper 13: AI-ECG + AI-FoCUS</a:t>
            </a:r>
          </a:p>
          <a:p>
            <a:pPr>
              <a:defRPr sz="850">
                <a:solidFill>
                  <a:srgbClr val="505B69"/>
                </a:solidFill>
              </a:defRPr>
            </a:pPr>
            <a:r>
              <a:t>7 páginas con figura/tabla/plot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51960" y="4937759"/>
            <a:ext cx="338328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23150"/>
                </a:solidFill>
              </a:defRPr>
            </a:pPr>
            <a:r>
              <a:t>✓ Paper 15: Diabetic retinopathy screening</a:t>
            </a:r>
          </a:p>
          <a:p>
            <a:pPr>
              <a:defRPr sz="850">
                <a:solidFill>
                  <a:srgbClr val="505B69"/>
                </a:solidFill>
              </a:defRPr>
            </a:pPr>
            <a:r>
              <a:t>6 páginas con figura/tabla/plot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01000" y="1143000"/>
            <a:ext cx="338328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23150"/>
                </a:solidFill>
              </a:defRPr>
            </a:pPr>
            <a:r>
              <a:t>✓ Paper 16: Clinician + AI prognosis</a:t>
            </a:r>
          </a:p>
          <a:p>
            <a:pPr>
              <a:defRPr sz="850">
                <a:solidFill>
                  <a:srgbClr val="505B69"/>
                </a:solidFill>
              </a:defRPr>
            </a:pPr>
            <a:r>
              <a:t>2 páginas con figura/tabla/plot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901952"/>
            <a:ext cx="338328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23150"/>
                </a:solidFill>
              </a:defRPr>
            </a:pPr>
            <a:r>
              <a:t>✓ Extra evidence A: Digital front door CDSS</a:t>
            </a:r>
          </a:p>
          <a:p>
            <a:pPr>
              <a:defRPr sz="850">
                <a:solidFill>
                  <a:srgbClr val="505B69"/>
                </a:solidFill>
              </a:defRPr>
            </a:pPr>
            <a:r>
              <a:t>5 páginas con figura/tabla/plot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01000" y="2660904"/>
            <a:ext cx="338328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23150"/>
                </a:solidFill>
              </a:defRPr>
            </a:pPr>
            <a:r>
              <a:t>✓ Extra evidence B: ActiTect wearable RBD screening</a:t>
            </a:r>
          </a:p>
          <a:p>
            <a:pPr>
              <a:defRPr sz="850">
                <a:solidFill>
                  <a:srgbClr val="505B69"/>
                </a:solidFill>
              </a:defRPr>
            </a:pPr>
            <a:r>
              <a:t>8 páginas con figura/tabla/plot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01000" y="3419856"/>
            <a:ext cx="338328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23150"/>
                </a:solidFill>
              </a:defRPr>
            </a:pPr>
            <a:r>
              <a:t>✓ Extra evidence C: Transformer-DAPT</a:t>
            </a:r>
          </a:p>
          <a:p>
            <a:pPr>
              <a:defRPr sz="850">
                <a:solidFill>
                  <a:srgbClr val="505B69"/>
                </a:solidFill>
              </a:defRPr>
            </a:pPr>
            <a:r>
              <a:t>9 páginas con figura/tabla/plot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01000" y="4178808"/>
            <a:ext cx="338328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23150"/>
                </a:solidFill>
              </a:defRPr>
            </a:pPr>
            <a:r>
              <a:t>✓ Extra evidence D: Hopkins LLM predictive analytics</a:t>
            </a:r>
          </a:p>
          <a:p>
            <a:pPr>
              <a:defRPr sz="850">
                <a:solidFill>
                  <a:srgbClr val="505B69"/>
                </a:solidFill>
              </a:defRPr>
            </a:pPr>
            <a:r>
              <a:t>3 páginas con figura/tabla/plot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0807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505B69"/>
                </a:solidFill>
              </a:defRPr>
            </a:pPr>
            <a:r>
              <a:t>Versión reconstruida: mantiene el PPT original y añade evidencia visual en el flujo correcto.</a:t>
            </a: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>
              <a:defRPr sz="3000" b="1">
                <a:solidFill>
                  <a:srgbClr val="0F243E"/>
                </a:solidFill>
                <a:latin typeface="Aptos Display"/>
              </a:defRPr>
            </a:pPr>
            <a:r>
              <a:t>Live Colab notebook: what you will build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789920" cy="36576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>
              <a:defRPr sz="1300" b="0">
                <a:solidFill>
                  <a:srgbClr val="595959"/>
                </a:solidFill>
                <a:latin typeface="Aptos"/>
              </a:defRPr>
            </a:pPr>
            <a:r>
              <a:t>This is the practical core after the paper discussion.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29800" y="292608"/>
            <a:ext cx="1783080" cy="347472"/>
          </a:xfrm>
          <a:prstGeom prst="roundRect">
            <a:avLst/>
          </a:prstGeom>
          <a:solidFill>
            <a:srgbClr val="009195"/>
          </a:solidFill>
          <a:ln>
            <a:solidFill>
              <a:srgbClr val="0091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COLAB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97864"/>
            <a:ext cx="11155680" cy="27432"/>
          </a:xfrm>
          <a:prstGeom prst="rect">
            <a:avLst/>
          </a:prstGeom>
          <a:solidFill>
            <a:srgbClr val="0091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772400" cy="22860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>
              <a:defRPr sz="800" b="0">
                <a:solidFill>
                  <a:srgbClr val="595959"/>
                </a:solidFill>
                <a:latin typeface="Aptos"/>
              </a:defRPr>
            </a:pPr>
            <a:r>
              <a:t>Sesión 6 · Python para IA médica · Google Colab + pandas + scikit-learn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731520" cy="22860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r">
              <a:defRPr sz="800" b="0">
                <a:solidFill>
                  <a:srgbClr val="595959"/>
                </a:solidFill>
                <a:latin typeface="Aptos"/>
              </a:defRPr>
            </a:pPr>
            <a:r>
              <a:t>31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08760"/>
            <a:ext cx="5212080" cy="1554480"/>
          </a:xfrm>
          <a:prstGeom prst="roundRect">
            <a:avLst/>
          </a:prstGeom>
          <a:solidFill>
            <a:srgbClr val="17202A"/>
          </a:solidFill>
          <a:ln>
            <a:solidFill>
              <a:srgbClr val="1720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618488"/>
            <a:ext cx="4937760" cy="22860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>
              <a:defRPr sz="1000" b="1">
                <a:solidFill>
                  <a:srgbClr val="B4DCFF"/>
                </a:solidFill>
                <a:latin typeface="Aptos"/>
              </a:defRPr>
            </a:pPr>
            <a:r>
              <a:t>Imports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1920240"/>
            <a:ext cx="4882896" cy="1078992"/>
          </a:xfrm>
          <a:prstGeom prst="rect">
            <a:avLst/>
          </a:prstGeom>
          <a:noFill/>
        </p:spPr>
        <p:txBody>
          <a:bodyPr wrap="square" lIns="18288">
            <a:spAutoFit/>
          </a:bodyPr>
          <a:lstStyle/>
          <a:p>
            <a:pPr>
              <a:defRPr sz="1100">
                <a:solidFill>
                  <a:srgbClr val="E8F4FF"/>
                </a:solidFill>
                <a:latin typeface="Consolas"/>
              </a:defRPr>
            </a:pPr>
            <a:r>
              <a:t>import pandas as pd</a:t>
            </a:r>
            <a:br/>
            <a:r>
              <a:t>from sklearn.model_selection import train_test_split</a:t>
            </a:r>
            <a:br/>
            <a:r>
              <a:t>from sklearn.linear_model import LogisticRegression</a:t>
            </a:r>
            <a:br/>
            <a:r>
              <a:t>from sklearn.metrics import classification_report, confusion_matrix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508760"/>
            <a:ext cx="502920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2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73952" y="1627631"/>
            <a:ext cx="4700016" cy="292608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>
              <a:defRPr sz="1500" b="1">
                <a:solidFill>
                  <a:srgbClr val="156082"/>
                </a:solidFill>
                <a:latin typeface="Aptos"/>
              </a:defRPr>
            </a:pPr>
            <a:r>
              <a:t>What the notebook demonstrates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0528" y="2011680"/>
            <a:ext cx="4626864" cy="3703320"/>
          </a:xfrm>
          <a:prstGeom prst="rect">
            <a:avLst/>
          </a:prstGeom>
          <a:noFill/>
        </p:spPr>
        <p:txBody>
          <a:bodyPr wrap="square" lIns="18288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Load a clinical CSV.</a:t>
            </a:r>
          </a:p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Inspect missing values and variable types.</a:t>
            </a:r>
          </a:p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Define X features and y target.</a:t>
            </a:r>
          </a:p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Train a Logistic Regression model.</a:t>
            </a:r>
          </a:p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Print accuracy, confusion matrix, sensitivity-related outputs.</a:t>
            </a: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>
              <a:defRPr sz="3000" b="1">
                <a:solidFill>
                  <a:srgbClr val="0F243E"/>
                </a:solidFill>
                <a:latin typeface="Aptos Display"/>
              </a:defRPr>
            </a:pPr>
            <a:r>
              <a:t>Step 1 — Load and inspect clinical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789920" cy="36576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>
              <a:defRPr sz="1300" b="0">
                <a:solidFill>
                  <a:srgbClr val="595959"/>
                </a:solidFill>
                <a:latin typeface="Aptos"/>
              </a:defRPr>
            </a:pPr>
            <a:r>
              <a:t>They should see the patient table before they model it.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29800" y="292608"/>
            <a:ext cx="1783080" cy="347472"/>
          </a:xfrm>
          <a:prstGeom prst="roundRect">
            <a:avLst/>
          </a:prstGeom>
          <a:solidFill>
            <a:srgbClr val="009195"/>
          </a:solidFill>
          <a:ln>
            <a:solidFill>
              <a:srgbClr val="0091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COLAB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97864"/>
            <a:ext cx="11155680" cy="27432"/>
          </a:xfrm>
          <a:prstGeom prst="rect">
            <a:avLst/>
          </a:prstGeom>
          <a:solidFill>
            <a:srgbClr val="0091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772400" cy="22860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>
              <a:defRPr sz="800" b="0">
                <a:solidFill>
                  <a:srgbClr val="595959"/>
                </a:solidFill>
                <a:latin typeface="Aptos"/>
              </a:defRPr>
            </a:pPr>
            <a:r>
              <a:t>Sesión 6 · Python para IA médica · Google Colab + pandas + scikit-learn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731520" cy="22860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r">
              <a:defRPr sz="800" b="0">
                <a:solidFill>
                  <a:srgbClr val="595959"/>
                </a:solidFill>
                <a:latin typeface="Aptos"/>
              </a:defRPr>
            </a:pPr>
            <a:r>
              <a:t>32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08760"/>
            <a:ext cx="5303520" cy="2011680"/>
          </a:xfrm>
          <a:prstGeom prst="roundRect">
            <a:avLst/>
          </a:prstGeom>
          <a:solidFill>
            <a:srgbClr val="17202A"/>
          </a:solidFill>
          <a:ln>
            <a:solidFill>
              <a:srgbClr val="1720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618488"/>
            <a:ext cx="5029200" cy="22860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>
              <a:defRPr sz="1000" b="1">
                <a:solidFill>
                  <a:srgbClr val="B4DCFF"/>
                </a:solidFill>
                <a:latin typeface="Aptos"/>
              </a:defRPr>
            </a:pPr>
            <a:r>
              <a:t>pandas inspection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1920240"/>
            <a:ext cx="4974336" cy="1536192"/>
          </a:xfrm>
          <a:prstGeom prst="rect">
            <a:avLst/>
          </a:prstGeom>
          <a:noFill/>
        </p:spPr>
        <p:txBody>
          <a:bodyPr wrap="square" lIns="18288">
            <a:spAutoFit/>
          </a:bodyPr>
          <a:lstStyle/>
          <a:p>
            <a:pPr>
              <a:defRPr sz="1100">
                <a:solidFill>
                  <a:srgbClr val="E8F4FF"/>
                </a:solidFill>
                <a:latin typeface="Consolas"/>
              </a:defRPr>
            </a:pPr>
            <a:r>
              <a:t>df = pd.read_csv('session6_patient_care_practice_dataset.csv')</a:t>
            </a:r>
            <a:br/>
            <a:br/>
            <a:r>
              <a:t>print(df.shape)</a:t>
            </a:r>
            <a:br/>
            <a:r>
              <a:t>df.head()</a:t>
            </a:r>
            <a:br/>
            <a:r>
              <a:t>df.describe()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508760"/>
            <a:ext cx="493776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D2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65392" y="1627631"/>
            <a:ext cx="4608576" cy="292608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>
              <a:defRPr sz="1500" b="1">
                <a:solidFill>
                  <a:srgbClr val="009195"/>
                </a:solidFill>
                <a:latin typeface="Aptos"/>
              </a:defRPr>
            </a:pPr>
            <a:r>
              <a:t>Ask students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01968" y="2011680"/>
            <a:ext cx="4535424" cy="3520440"/>
          </a:xfrm>
          <a:prstGeom prst="rect">
            <a:avLst/>
          </a:prstGeom>
          <a:noFill/>
        </p:spPr>
        <p:txBody>
          <a:bodyPr wrap="square" lIns="18288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What is one row?</a:t>
            </a:r>
          </a:p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Which columns are vitals?</a:t>
            </a:r>
          </a:p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Which columns are labs?</a:t>
            </a:r>
          </a:p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Which column is the target?</a:t>
            </a:r>
          </a:p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Are any values clinically impossible?</a:t>
            </a: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>
              <a:defRPr sz="3000" b="1">
                <a:solidFill>
                  <a:srgbClr val="0F243E"/>
                </a:solidFill>
                <a:latin typeface="Aptos Display"/>
              </a:defRPr>
            </a:pPr>
            <a:r>
              <a:t>Step 2 — Select features and target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789920" cy="36576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>
              <a:defRPr sz="1300" b="0">
                <a:solidFill>
                  <a:srgbClr val="595959"/>
                </a:solidFill>
                <a:latin typeface="Aptos"/>
              </a:defRPr>
            </a:pPr>
            <a:r>
              <a:t>A clinical question becomes code only after this step.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29800" y="292608"/>
            <a:ext cx="1783080" cy="347472"/>
          </a:xfrm>
          <a:prstGeom prst="roundRect">
            <a:avLst/>
          </a:prstGeom>
          <a:solidFill>
            <a:srgbClr val="009195"/>
          </a:solidFill>
          <a:ln>
            <a:solidFill>
              <a:srgbClr val="0091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COLAB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97864"/>
            <a:ext cx="11155680" cy="27432"/>
          </a:xfrm>
          <a:prstGeom prst="rect">
            <a:avLst/>
          </a:prstGeom>
          <a:solidFill>
            <a:srgbClr val="0091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772400" cy="22860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>
              <a:defRPr sz="800" b="0">
                <a:solidFill>
                  <a:srgbClr val="595959"/>
                </a:solidFill>
                <a:latin typeface="Aptos"/>
              </a:defRPr>
            </a:pPr>
            <a:r>
              <a:t>Sesión 6 · Python para IA médica · Google Colab + pandas + scikit-learn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731520" cy="22860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r">
              <a:defRPr sz="800" b="0">
                <a:solidFill>
                  <a:srgbClr val="595959"/>
                </a:solidFill>
                <a:latin typeface="Aptos"/>
              </a:defRPr>
            </a:pPr>
            <a:r>
              <a:t>33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08760"/>
            <a:ext cx="5577840" cy="2560320"/>
          </a:xfrm>
          <a:prstGeom prst="roundRect">
            <a:avLst/>
          </a:prstGeom>
          <a:solidFill>
            <a:srgbClr val="17202A"/>
          </a:solidFill>
          <a:ln>
            <a:solidFill>
              <a:srgbClr val="1720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618488"/>
            <a:ext cx="5303520" cy="22860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>
              <a:defRPr sz="1000" b="1">
                <a:solidFill>
                  <a:srgbClr val="B4DCFF"/>
                </a:solidFill>
                <a:latin typeface="Aptos"/>
              </a:defRPr>
            </a:pPr>
            <a:r>
              <a:t>features + target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1920240"/>
            <a:ext cx="5248655" cy="2084831"/>
          </a:xfrm>
          <a:prstGeom prst="rect">
            <a:avLst/>
          </a:prstGeom>
          <a:noFill/>
        </p:spPr>
        <p:txBody>
          <a:bodyPr wrap="square" lIns="18288">
            <a:spAutoFit/>
          </a:bodyPr>
          <a:lstStyle/>
          <a:p>
            <a:pPr>
              <a:defRPr sz="1100">
                <a:solidFill>
                  <a:srgbClr val="E8F4FF"/>
                </a:solidFill>
                <a:latin typeface="Consolas"/>
              </a:defRPr>
            </a:pPr>
            <a:r>
              <a:t>features = [</a:t>
            </a:r>
            <a:br/>
            <a:r>
              <a:t>    'age','bmi','heart_rate','systolic_bp','spo2',</a:t>
            </a:r>
            <a:br/>
            <a:r>
              <a:t>    'temperature_c','respiratory_rate','glucose_mg_dl',</a:t>
            </a:r>
            <a:br/>
            <a:r>
              <a:t>    'egfr','medication_count','previous_admissions'</a:t>
            </a:r>
            <a:br/>
            <a:r>
              <a:t>]</a:t>
            </a:r>
            <a:br/>
            <a:br/>
            <a:r>
              <a:t>X = df[features]</a:t>
            </a:r>
            <a:br/>
            <a:r>
              <a:t>y = df['deterioration_48h']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29400" y="1508760"/>
            <a:ext cx="457200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2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93992" y="1627631"/>
            <a:ext cx="4242816" cy="292608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>
              <a:defRPr sz="1500" b="1">
                <a:solidFill>
                  <a:srgbClr val="DC782D"/>
                </a:solidFill>
                <a:latin typeface="Aptos"/>
              </a:defRPr>
            </a:pPr>
            <a:r>
              <a:t>Clinical translation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30568" y="2011680"/>
            <a:ext cx="4169663" cy="3611879"/>
          </a:xfrm>
          <a:prstGeom prst="rect">
            <a:avLst/>
          </a:prstGeom>
          <a:noFill/>
        </p:spPr>
        <p:txBody>
          <a:bodyPr wrap="square" lIns="18288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Features = information available now.</a:t>
            </a:r>
          </a:p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Target = future clinical event.</a:t>
            </a:r>
          </a:p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Do not use information that occurs after the decision point.</a:t>
            </a:r>
          </a:p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This prevents data leakage.</a:t>
            </a: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>
              <a:defRPr sz="3000" b="1">
                <a:solidFill>
                  <a:srgbClr val="0F243E"/>
                </a:solidFill>
                <a:latin typeface="Aptos Display"/>
              </a:defRPr>
            </a:pPr>
            <a:r>
              <a:t>Step 3 — Train a simple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789920" cy="36576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>
              <a:defRPr sz="1300" b="0">
                <a:solidFill>
                  <a:srgbClr val="595959"/>
                </a:solidFill>
                <a:latin typeface="Aptos"/>
              </a:defRPr>
            </a:pPr>
            <a:r>
              <a:t>Use one transparent classifier first.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29800" y="292608"/>
            <a:ext cx="1783080" cy="347472"/>
          </a:xfrm>
          <a:prstGeom prst="roundRect">
            <a:avLst/>
          </a:prstGeom>
          <a:solidFill>
            <a:srgbClr val="009195"/>
          </a:solidFill>
          <a:ln>
            <a:solidFill>
              <a:srgbClr val="0091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COLAB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97864"/>
            <a:ext cx="11155680" cy="27432"/>
          </a:xfrm>
          <a:prstGeom prst="rect">
            <a:avLst/>
          </a:prstGeom>
          <a:solidFill>
            <a:srgbClr val="0091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772400" cy="22860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>
              <a:defRPr sz="800" b="0">
                <a:solidFill>
                  <a:srgbClr val="595959"/>
                </a:solidFill>
                <a:latin typeface="Aptos"/>
              </a:defRPr>
            </a:pPr>
            <a:r>
              <a:t>Sesión 6 · Python para IA médica · Google Colab + pandas + scikit-learn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731520" cy="22860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r">
              <a:defRPr sz="800" b="0">
                <a:solidFill>
                  <a:srgbClr val="595959"/>
                </a:solidFill>
                <a:latin typeface="Aptos"/>
              </a:defRPr>
            </a:pPr>
            <a:r>
              <a:t>34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08760"/>
            <a:ext cx="5394960" cy="2423160"/>
          </a:xfrm>
          <a:prstGeom prst="roundRect">
            <a:avLst/>
          </a:prstGeom>
          <a:solidFill>
            <a:srgbClr val="17202A"/>
          </a:solidFill>
          <a:ln>
            <a:solidFill>
              <a:srgbClr val="1720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618488"/>
            <a:ext cx="5120640" cy="22860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>
              <a:defRPr sz="1000" b="1">
                <a:solidFill>
                  <a:srgbClr val="B4DCFF"/>
                </a:solidFill>
                <a:latin typeface="Aptos"/>
              </a:defRPr>
            </a:pPr>
            <a:r>
              <a:t>model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1920240"/>
            <a:ext cx="5065776" cy="1947672"/>
          </a:xfrm>
          <a:prstGeom prst="rect">
            <a:avLst/>
          </a:prstGeom>
          <a:noFill/>
        </p:spPr>
        <p:txBody>
          <a:bodyPr wrap="square" lIns="18288">
            <a:spAutoFit/>
          </a:bodyPr>
          <a:lstStyle/>
          <a:p>
            <a:pPr>
              <a:defRPr sz="1100">
                <a:solidFill>
                  <a:srgbClr val="E8F4FF"/>
                </a:solidFill>
                <a:latin typeface="Consolas"/>
              </a:defRPr>
            </a:pPr>
            <a:r>
              <a:t>X_train, X_test, y_train, y_test = train_test_split(</a:t>
            </a:r>
            <a:br/>
            <a:r>
              <a:t>    X, y, test_size=0.2, random_state=42, stratify=y</a:t>
            </a:r>
            <a:br/>
            <a:r>
              <a:t>)</a:t>
            </a:r>
            <a:br/>
            <a:br/>
            <a:r>
              <a:t>model = LogisticRegression(max_iter=1000)</a:t>
            </a:r>
            <a:br/>
            <a:r>
              <a:t>model.fit(X_train, y_train)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508760"/>
            <a:ext cx="493776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D2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65392" y="1627631"/>
            <a:ext cx="4608576" cy="292608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>
              <a:defRPr sz="1500" b="1">
                <a:solidFill>
                  <a:srgbClr val="288545"/>
                </a:solidFill>
                <a:latin typeface="Aptos"/>
              </a:defRPr>
            </a:pPr>
            <a:r>
              <a:t>Why simple first?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01968" y="2011680"/>
            <a:ext cx="4535424" cy="3520440"/>
          </a:xfrm>
          <a:prstGeom prst="rect">
            <a:avLst/>
          </a:prstGeom>
          <a:noFill/>
        </p:spPr>
        <p:txBody>
          <a:bodyPr wrap="square" lIns="18288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Logistic regression is easier to explain.</a:t>
            </a:r>
          </a:p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It gives probabilities.</a:t>
            </a:r>
          </a:p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It establishes a baseline.</a:t>
            </a:r>
          </a:p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Only compare advanced models after baseline is understood.</a:t>
            </a: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>
              <a:defRPr sz="3000" b="1">
                <a:solidFill>
                  <a:srgbClr val="0F243E"/>
                </a:solidFill>
                <a:latin typeface="Aptos Display"/>
              </a:defRPr>
            </a:pPr>
            <a:r>
              <a:t>Step 4 — Evaluate the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789920" cy="36576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>
              <a:defRPr sz="1300" b="0">
                <a:solidFill>
                  <a:srgbClr val="595959"/>
                </a:solidFill>
                <a:latin typeface="Aptos"/>
              </a:defRPr>
            </a:pPr>
            <a:r>
              <a:t>Metrics are not numbers; they are clinical consequences.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29800" y="292608"/>
            <a:ext cx="1783080" cy="347472"/>
          </a:xfrm>
          <a:prstGeom prst="roundRect">
            <a:avLst/>
          </a:prstGeom>
          <a:solidFill>
            <a:srgbClr val="009195"/>
          </a:solidFill>
          <a:ln>
            <a:solidFill>
              <a:srgbClr val="0091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COLAB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97864"/>
            <a:ext cx="11155680" cy="27432"/>
          </a:xfrm>
          <a:prstGeom prst="rect">
            <a:avLst/>
          </a:prstGeom>
          <a:solidFill>
            <a:srgbClr val="0091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772400" cy="22860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>
              <a:defRPr sz="800" b="0">
                <a:solidFill>
                  <a:srgbClr val="595959"/>
                </a:solidFill>
                <a:latin typeface="Aptos"/>
              </a:defRPr>
            </a:pPr>
            <a:r>
              <a:t>Sesión 6 · Python para IA médica · Google Colab + pandas + scikit-learn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731520" cy="22860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r">
              <a:defRPr sz="800" b="0">
                <a:solidFill>
                  <a:srgbClr val="595959"/>
                </a:solidFill>
                <a:latin typeface="Aptos"/>
              </a:defRPr>
            </a:pPr>
            <a:r>
              <a:t>35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08760"/>
            <a:ext cx="5577840" cy="2834640"/>
          </a:xfrm>
          <a:prstGeom prst="roundRect">
            <a:avLst/>
          </a:prstGeom>
          <a:solidFill>
            <a:srgbClr val="17202A"/>
          </a:solidFill>
          <a:ln>
            <a:solidFill>
              <a:srgbClr val="1720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618488"/>
            <a:ext cx="5303520" cy="22860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>
              <a:defRPr sz="1000" b="1">
                <a:solidFill>
                  <a:srgbClr val="B4DCFF"/>
                </a:solidFill>
                <a:latin typeface="Aptos"/>
              </a:defRPr>
            </a:pPr>
            <a:r>
              <a:t>metrics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1920240"/>
            <a:ext cx="5248655" cy="2359152"/>
          </a:xfrm>
          <a:prstGeom prst="rect">
            <a:avLst/>
          </a:prstGeom>
          <a:noFill/>
        </p:spPr>
        <p:txBody>
          <a:bodyPr wrap="square" lIns="18288">
            <a:spAutoFit/>
          </a:bodyPr>
          <a:lstStyle/>
          <a:p>
            <a:pPr>
              <a:defRPr sz="1100">
                <a:solidFill>
                  <a:srgbClr val="E8F4FF"/>
                </a:solidFill>
                <a:latin typeface="Consolas"/>
              </a:defRPr>
            </a:pPr>
            <a:r>
              <a:t>pred = model.predict(X_test)</a:t>
            </a:r>
            <a:br/>
            <a:r>
              <a:t>proba = model.predict_proba(X_test)[:,1]</a:t>
            </a:r>
            <a:br/>
            <a:br/>
            <a:r>
              <a:t>print(confusion_matrix(y_test, pred))</a:t>
            </a:r>
            <a:br/>
            <a:r>
              <a:t>print(classification_report(y_test, pred))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29400" y="1508760"/>
            <a:ext cx="457200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2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93992" y="1627631"/>
            <a:ext cx="4242816" cy="292608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>
              <a:defRPr sz="1500" b="1">
                <a:solidFill>
                  <a:srgbClr val="B22323"/>
                </a:solidFill>
                <a:latin typeface="Aptos"/>
              </a:defRPr>
            </a:pPr>
            <a:r>
              <a:t>Discussion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30568" y="2011680"/>
            <a:ext cx="4169663" cy="3794759"/>
          </a:xfrm>
          <a:prstGeom prst="rect">
            <a:avLst/>
          </a:prstGeom>
          <a:noFill/>
        </p:spPr>
        <p:txBody>
          <a:bodyPr wrap="square" lIns="18288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How many deteriorating patients were missed?</a:t>
            </a:r>
          </a:p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How many false alarms were created?</a:t>
            </a:r>
          </a:p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Would this be acceptable in emergency care?</a:t>
            </a:r>
          </a:p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What threshold would nursing choose for review?</a:t>
            </a: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>
              <a:defRPr sz="3000" b="1">
                <a:solidFill>
                  <a:srgbClr val="0F243E"/>
                </a:solidFill>
                <a:latin typeface="Aptos Display"/>
              </a:defRPr>
            </a:pPr>
            <a:r>
              <a:t>Nursing project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789920" cy="36576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>
              <a:defRPr sz="1300" b="0">
                <a:solidFill>
                  <a:srgbClr val="595959"/>
                </a:solidFill>
                <a:latin typeface="Aptos"/>
              </a:defRPr>
            </a:pPr>
            <a:r>
              <a:t>Deterioration Watch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29800" y="292608"/>
            <a:ext cx="1783080" cy="347472"/>
          </a:xfrm>
          <a:prstGeom prst="roundRect">
            <a:avLst/>
          </a:prstGeom>
          <a:solidFill>
            <a:srgbClr val="009195"/>
          </a:solidFill>
          <a:ln>
            <a:solidFill>
              <a:srgbClr val="0091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PROTOTYPES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97864"/>
            <a:ext cx="11155680" cy="27432"/>
          </a:xfrm>
          <a:prstGeom prst="rect">
            <a:avLst/>
          </a:prstGeom>
          <a:solidFill>
            <a:srgbClr val="0091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772400" cy="22860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>
              <a:defRPr sz="800" b="0">
                <a:solidFill>
                  <a:srgbClr val="595959"/>
                </a:solidFill>
                <a:latin typeface="Aptos"/>
              </a:defRPr>
            </a:pPr>
            <a:r>
              <a:t>Sesión 6 · Python para IA médica · Google Colab + pandas + scikit-learn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731520" cy="22860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r">
              <a:defRPr sz="800" b="0">
                <a:solidFill>
                  <a:srgbClr val="595959"/>
                </a:solidFill>
                <a:latin typeface="Aptos"/>
              </a:defRPr>
            </a:pPr>
            <a:r>
              <a:t>36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08760"/>
            <a:ext cx="365760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2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627631"/>
            <a:ext cx="3328416" cy="292608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>
              <a:defRPr sz="1500" b="1">
                <a:solidFill>
                  <a:srgbClr val="156082"/>
                </a:solidFill>
                <a:latin typeface="Aptos"/>
              </a:defRPr>
            </a:pPr>
            <a:r>
              <a:t>Professional use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3255264" cy="3703320"/>
          </a:xfrm>
          <a:prstGeom prst="rect">
            <a:avLst/>
          </a:prstGeom>
          <a:noFill/>
        </p:spPr>
        <p:txBody>
          <a:bodyPr wrap="square" lIns="18288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Predict 48-hour deterioration from vital signs.</a:t>
            </a:r>
          </a:p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Output: low / medium / high review priority.</a:t>
            </a:r>
          </a:p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Action: nurse review, not automatic treatment.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1508760"/>
            <a:ext cx="329184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2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90872" y="1627631"/>
            <a:ext cx="2962656" cy="292608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>
              <a:defRPr sz="1500" b="1">
                <a:solidFill>
                  <a:srgbClr val="009195"/>
                </a:solidFill>
                <a:latin typeface="Aptos"/>
              </a:defRPr>
            </a:pPr>
            <a:r>
              <a:t>Candidate variables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27448" y="2011680"/>
            <a:ext cx="2889504" cy="3703320"/>
          </a:xfrm>
          <a:prstGeom prst="rect">
            <a:avLst/>
          </a:prstGeom>
          <a:noFill/>
        </p:spPr>
        <p:txBody>
          <a:bodyPr wrap="square" lIns="18288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heart_rate</a:t>
            </a:r>
          </a:p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spo2</a:t>
            </a:r>
          </a:p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respiratory_rate</a:t>
            </a:r>
          </a:p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temperature_c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1508760"/>
            <a:ext cx="338328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2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65592" y="1627631"/>
            <a:ext cx="3054096" cy="292608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>
              <a:defRPr sz="1500" b="1">
                <a:solidFill>
                  <a:srgbClr val="288545"/>
                </a:solidFill>
                <a:latin typeface="Aptos"/>
              </a:defRPr>
            </a:pPr>
            <a:r>
              <a:t>Student deliverable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02168" y="2011680"/>
            <a:ext cx="2980944" cy="3703320"/>
          </a:xfrm>
          <a:prstGeom prst="rect">
            <a:avLst/>
          </a:prstGeom>
          <a:noFill/>
        </p:spPr>
        <p:txBody>
          <a:bodyPr wrap="square" lIns="18288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1 clinical question</a:t>
            </a:r>
          </a:p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1 CSV table</a:t>
            </a:r>
          </a:p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1 trained model</a:t>
            </a:r>
          </a:p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1 confusion matrix</a:t>
            </a:r>
          </a:p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1 clinical safety note</a:t>
            </a: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>
              <a:defRPr sz="3000" b="1">
                <a:solidFill>
                  <a:srgbClr val="0F243E"/>
                </a:solidFill>
                <a:latin typeface="Aptos Display"/>
              </a:defRPr>
            </a:pPr>
            <a:r>
              <a:t>Pharmacy project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789920" cy="36576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>
              <a:defRPr sz="1300" b="0">
                <a:solidFill>
                  <a:srgbClr val="595959"/>
                </a:solidFill>
                <a:latin typeface="Aptos"/>
              </a:defRPr>
            </a:pPr>
            <a:r>
              <a:t>Medication Review Prioritizer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29800" y="292608"/>
            <a:ext cx="1783080" cy="347472"/>
          </a:xfrm>
          <a:prstGeom prst="roundRect">
            <a:avLst/>
          </a:prstGeom>
          <a:solidFill>
            <a:srgbClr val="009195"/>
          </a:solidFill>
          <a:ln>
            <a:solidFill>
              <a:srgbClr val="0091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PROTOTYPES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97864"/>
            <a:ext cx="11155680" cy="27432"/>
          </a:xfrm>
          <a:prstGeom prst="rect">
            <a:avLst/>
          </a:prstGeom>
          <a:solidFill>
            <a:srgbClr val="0091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772400" cy="22860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>
              <a:defRPr sz="800" b="0">
                <a:solidFill>
                  <a:srgbClr val="595959"/>
                </a:solidFill>
                <a:latin typeface="Aptos"/>
              </a:defRPr>
            </a:pPr>
            <a:r>
              <a:t>Sesión 6 · Python para IA médica · Google Colab + pandas + scikit-learn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731520" cy="22860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r">
              <a:defRPr sz="800" b="0">
                <a:solidFill>
                  <a:srgbClr val="595959"/>
                </a:solidFill>
                <a:latin typeface="Aptos"/>
              </a:defRPr>
            </a:pPr>
            <a:r>
              <a:t>37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08760"/>
            <a:ext cx="365760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2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627631"/>
            <a:ext cx="3328416" cy="292608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>
              <a:defRPr sz="1500" b="1">
                <a:solidFill>
                  <a:srgbClr val="156082"/>
                </a:solidFill>
                <a:latin typeface="Aptos"/>
              </a:defRPr>
            </a:pPr>
            <a:r>
              <a:t>Professional use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3255264" cy="3703320"/>
          </a:xfrm>
          <a:prstGeom prst="rect">
            <a:avLst/>
          </a:prstGeom>
          <a:noFill/>
        </p:spPr>
        <p:txBody>
          <a:bodyPr wrap="square" lIns="18288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Identify patients who need pharmacist review.</a:t>
            </a:r>
          </a:p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Output: medication-risk priority.</a:t>
            </a:r>
          </a:p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Action: reconciliation and dose check.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1508760"/>
            <a:ext cx="329184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2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90872" y="1627631"/>
            <a:ext cx="2962656" cy="292608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>
              <a:defRPr sz="1500" b="1">
                <a:solidFill>
                  <a:srgbClr val="009195"/>
                </a:solidFill>
                <a:latin typeface="Aptos"/>
              </a:defRPr>
            </a:pPr>
            <a:r>
              <a:t>Candidate variables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27448" y="2011680"/>
            <a:ext cx="2889504" cy="3703320"/>
          </a:xfrm>
          <a:prstGeom prst="rect">
            <a:avLst/>
          </a:prstGeom>
          <a:noFill/>
        </p:spPr>
        <p:txBody>
          <a:bodyPr wrap="square" lIns="18288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age</a:t>
            </a:r>
          </a:p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egfr</a:t>
            </a:r>
          </a:p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medication_count</a:t>
            </a:r>
          </a:p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previous_admissions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1508760"/>
            <a:ext cx="338328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2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65592" y="1627631"/>
            <a:ext cx="3054096" cy="292608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>
              <a:defRPr sz="1500" b="1">
                <a:solidFill>
                  <a:srgbClr val="288545"/>
                </a:solidFill>
                <a:latin typeface="Aptos"/>
              </a:defRPr>
            </a:pPr>
            <a:r>
              <a:t>Student deliverable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02168" y="2011680"/>
            <a:ext cx="2980944" cy="3703320"/>
          </a:xfrm>
          <a:prstGeom prst="rect">
            <a:avLst/>
          </a:prstGeom>
          <a:noFill/>
        </p:spPr>
        <p:txBody>
          <a:bodyPr wrap="square" lIns="18288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1 clinical question</a:t>
            </a:r>
          </a:p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1 CSV table</a:t>
            </a:r>
          </a:p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1 trained model</a:t>
            </a:r>
          </a:p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1 confusion matrix</a:t>
            </a:r>
          </a:p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1 clinical safety note</a:t>
            </a: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>
              <a:defRPr sz="3000" b="1">
                <a:solidFill>
                  <a:srgbClr val="0F243E"/>
                </a:solidFill>
                <a:latin typeface="Aptos Display"/>
              </a:defRPr>
            </a:pPr>
            <a:r>
              <a:t>Physiotherapy project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789920" cy="36576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>
              <a:defRPr sz="1300" b="0">
                <a:solidFill>
                  <a:srgbClr val="595959"/>
                </a:solidFill>
                <a:latin typeface="Aptos"/>
              </a:defRPr>
            </a:pPr>
            <a:r>
              <a:t>Recovery Tracker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29800" y="292608"/>
            <a:ext cx="1783080" cy="347472"/>
          </a:xfrm>
          <a:prstGeom prst="roundRect">
            <a:avLst/>
          </a:prstGeom>
          <a:solidFill>
            <a:srgbClr val="009195"/>
          </a:solidFill>
          <a:ln>
            <a:solidFill>
              <a:srgbClr val="0091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PROTOTYPES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97864"/>
            <a:ext cx="11155680" cy="27432"/>
          </a:xfrm>
          <a:prstGeom prst="rect">
            <a:avLst/>
          </a:prstGeom>
          <a:solidFill>
            <a:srgbClr val="0091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772400" cy="22860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>
              <a:defRPr sz="800" b="0">
                <a:solidFill>
                  <a:srgbClr val="595959"/>
                </a:solidFill>
                <a:latin typeface="Aptos"/>
              </a:defRPr>
            </a:pPr>
            <a:r>
              <a:t>Sesión 6 · Python para IA médica · Google Colab + pandas + scikit-learn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731520" cy="22860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r">
              <a:defRPr sz="800" b="0">
                <a:solidFill>
                  <a:srgbClr val="595959"/>
                </a:solidFill>
                <a:latin typeface="Aptos"/>
              </a:defRPr>
            </a:pPr>
            <a:r>
              <a:t>38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08760"/>
            <a:ext cx="365760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2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627631"/>
            <a:ext cx="3328416" cy="292608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>
              <a:defRPr sz="1500" b="1">
                <a:solidFill>
                  <a:srgbClr val="156082"/>
                </a:solidFill>
                <a:latin typeface="Aptos"/>
              </a:defRPr>
            </a:pPr>
            <a:r>
              <a:t>Professional use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3255264" cy="3703320"/>
          </a:xfrm>
          <a:prstGeom prst="rect">
            <a:avLst/>
          </a:prstGeom>
          <a:noFill/>
        </p:spPr>
        <p:txBody>
          <a:bodyPr wrap="square" lIns="18288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Estimate improvement after rehab sessions.</a:t>
            </a:r>
          </a:p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Output: expected mobility progress.</a:t>
            </a:r>
          </a:p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Action: adapt therapy intensity.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1508760"/>
            <a:ext cx="329184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2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90872" y="1627631"/>
            <a:ext cx="2962656" cy="292608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>
              <a:defRPr sz="1500" b="1">
                <a:solidFill>
                  <a:srgbClr val="009195"/>
                </a:solidFill>
                <a:latin typeface="Aptos"/>
              </a:defRPr>
            </a:pPr>
            <a:r>
              <a:t>Candidate variables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27448" y="2011680"/>
            <a:ext cx="2889504" cy="3703320"/>
          </a:xfrm>
          <a:prstGeom prst="rect">
            <a:avLst/>
          </a:prstGeom>
          <a:noFill/>
        </p:spPr>
        <p:txBody>
          <a:bodyPr wrap="square" lIns="18288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range_of_motion</a:t>
            </a:r>
          </a:p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movement_speed</a:t>
            </a:r>
          </a:p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repetitions</a:t>
            </a:r>
          </a:p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pain_score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1508760"/>
            <a:ext cx="338328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2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65592" y="1627631"/>
            <a:ext cx="3054096" cy="292608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>
              <a:defRPr sz="1500" b="1">
                <a:solidFill>
                  <a:srgbClr val="288545"/>
                </a:solidFill>
                <a:latin typeface="Aptos"/>
              </a:defRPr>
            </a:pPr>
            <a:r>
              <a:t>Student deliverable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02168" y="2011680"/>
            <a:ext cx="2980944" cy="3703320"/>
          </a:xfrm>
          <a:prstGeom prst="rect">
            <a:avLst/>
          </a:prstGeom>
          <a:noFill/>
        </p:spPr>
        <p:txBody>
          <a:bodyPr wrap="square" lIns="18288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1 clinical question</a:t>
            </a:r>
          </a:p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1 CSV table</a:t>
            </a:r>
          </a:p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1 trained model</a:t>
            </a:r>
          </a:p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1 confusion matrix</a:t>
            </a:r>
          </a:p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1 clinical safety note</a:t>
            </a: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>
              <a:defRPr sz="3000" b="1">
                <a:solidFill>
                  <a:srgbClr val="0F243E"/>
                </a:solidFill>
                <a:latin typeface="Aptos Display"/>
              </a:defRPr>
            </a:pPr>
            <a:r>
              <a:t>Emergency project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789920" cy="36576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>
              <a:defRPr sz="1300" b="0">
                <a:solidFill>
                  <a:srgbClr val="595959"/>
                </a:solidFill>
                <a:latin typeface="Aptos"/>
              </a:defRPr>
            </a:pPr>
            <a:r>
              <a:t>Admission / ICU Risk Prototype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29800" y="292608"/>
            <a:ext cx="1783080" cy="347472"/>
          </a:xfrm>
          <a:prstGeom prst="roundRect">
            <a:avLst/>
          </a:prstGeom>
          <a:solidFill>
            <a:srgbClr val="009195"/>
          </a:solidFill>
          <a:ln>
            <a:solidFill>
              <a:srgbClr val="0091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PROTOTYPES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97864"/>
            <a:ext cx="11155680" cy="27432"/>
          </a:xfrm>
          <a:prstGeom prst="rect">
            <a:avLst/>
          </a:prstGeom>
          <a:solidFill>
            <a:srgbClr val="0091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772400" cy="22860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>
              <a:defRPr sz="800" b="0">
                <a:solidFill>
                  <a:srgbClr val="595959"/>
                </a:solidFill>
                <a:latin typeface="Aptos"/>
              </a:defRPr>
            </a:pPr>
            <a:r>
              <a:t>Sesión 6 · Python para IA médica · Google Colab + pandas + scikit-learn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731520" cy="22860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r">
              <a:defRPr sz="800" b="0">
                <a:solidFill>
                  <a:srgbClr val="595959"/>
                </a:solidFill>
                <a:latin typeface="Aptos"/>
              </a:defRPr>
            </a:pPr>
            <a:r>
              <a:t>39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08760"/>
            <a:ext cx="365760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2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627631"/>
            <a:ext cx="3328416" cy="292608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>
              <a:defRPr sz="1500" b="1">
                <a:solidFill>
                  <a:srgbClr val="156082"/>
                </a:solidFill>
                <a:latin typeface="Aptos"/>
              </a:defRPr>
            </a:pPr>
            <a:r>
              <a:t>Professional use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3255264" cy="3703320"/>
          </a:xfrm>
          <a:prstGeom prst="rect">
            <a:avLst/>
          </a:prstGeom>
          <a:noFill/>
        </p:spPr>
        <p:txBody>
          <a:bodyPr wrap="square" lIns="18288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Estimate ED admission or deterioration risk.</a:t>
            </a:r>
          </a:p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Output: triage support.</a:t>
            </a:r>
          </a:p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Action: clinical assessment and escalation.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1508760"/>
            <a:ext cx="329184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2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90872" y="1627631"/>
            <a:ext cx="2962656" cy="292608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>
              <a:defRPr sz="1500" b="1">
                <a:solidFill>
                  <a:srgbClr val="009195"/>
                </a:solidFill>
                <a:latin typeface="Aptos"/>
              </a:defRPr>
            </a:pPr>
            <a:r>
              <a:t>Candidate variables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27448" y="2011680"/>
            <a:ext cx="2889504" cy="3703320"/>
          </a:xfrm>
          <a:prstGeom prst="rect">
            <a:avLst/>
          </a:prstGeom>
          <a:noFill/>
        </p:spPr>
        <p:txBody>
          <a:bodyPr wrap="square" lIns="18288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age</a:t>
            </a:r>
          </a:p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HR</a:t>
            </a:r>
          </a:p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BP</a:t>
            </a:r>
          </a:p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RR</a:t>
            </a:r>
          </a:p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SpO₂</a:t>
            </a:r>
          </a:p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chief_complaint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1508760"/>
            <a:ext cx="338328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2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65592" y="1627631"/>
            <a:ext cx="3054096" cy="292608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>
              <a:defRPr sz="1500" b="1">
                <a:solidFill>
                  <a:srgbClr val="288545"/>
                </a:solidFill>
                <a:latin typeface="Aptos"/>
              </a:defRPr>
            </a:pPr>
            <a:r>
              <a:t>Student deliverable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02168" y="2011680"/>
            <a:ext cx="2980944" cy="3703320"/>
          </a:xfrm>
          <a:prstGeom prst="rect">
            <a:avLst/>
          </a:prstGeom>
          <a:noFill/>
        </p:spPr>
        <p:txBody>
          <a:bodyPr wrap="square" lIns="18288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1 clinical question</a:t>
            </a:r>
          </a:p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1 CSV table</a:t>
            </a:r>
          </a:p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1 trained model</a:t>
            </a:r>
          </a:p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1 confusion matrix</a:t>
            </a:r>
          </a:p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1 clinical safety note</a:t>
            </a: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>
              <a:defRPr sz="3000" b="1">
                <a:solidFill>
                  <a:srgbClr val="0F243E"/>
                </a:solidFill>
                <a:latin typeface="Aptos Display"/>
              </a:defRPr>
            </a:pPr>
            <a:r>
              <a:t>Public health project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789920" cy="36576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>
              <a:defRPr sz="1300" b="0">
                <a:solidFill>
                  <a:srgbClr val="595959"/>
                </a:solidFill>
                <a:latin typeface="Aptos"/>
              </a:defRPr>
            </a:pPr>
            <a:r>
              <a:t>Follow-up Prioritization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29800" y="292608"/>
            <a:ext cx="1783080" cy="347472"/>
          </a:xfrm>
          <a:prstGeom prst="roundRect">
            <a:avLst/>
          </a:prstGeom>
          <a:solidFill>
            <a:srgbClr val="009195"/>
          </a:solidFill>
          <a:ln>
            <a:solidFill>
              <a:srgbClr val="0091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PROTOTYPES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97864"/>
            <a:ext cx="11155680" cy="27432"/>
          </a:xfrm>
          <a:prstGeom prst="rect">
            <a:avLst/>
          </a:prstGeom>
          <a:solidFill>
            <a:srgbClr val="0091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772400" cy="22860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>
              <a:defRPr sz="800" b="0">
                <a:solidFill>
                  <a:srgbClr val="595959"/>
                </a:solidFill>
                <a:latin typeface="Aptos"/>
              </a:defRPr>
            </a:pPr>
            <a:r>
              <a:t>Sesión 6 · Python para IA médica · Google Colab + pandas + scikit-learn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731520" cy="22860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r">
              <a:defRPr sz="800" b="0">
                <a:solidFill>
                  <a:srgbClr val="595959"/>
                </a:solidFill>
                <a:latin typeface="Aptos"/>
              </a:defRPr>
            </a:pPr>
            <a:r>
              <a:t>40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08760"/>
            <a:ext cx="365760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2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627631"/>
            <a:ext cx="3328416" cy="292608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>
              <a:defRPr sz="1500" b="1">
                <a:solidFill>
                  <a:srgbClr val="156082"/>
                </a:solidFill>
                <a:latin typeface="Aptos"/>
              </a:defRPr>
            </a:pPr>
            <a:r>
              <a:t>Professional use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3255264" cy="3703320"/>
          </a:xfrm>
          <a:prstGeom prst="rect">
            <a:avLst/>
          </a:prstGeom>
          <a:noFill/>
        </p:spPr>
        <p:txBody>
          <a:bodyPr wrap="square" lIns="18288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Prioritize chronic-disease follow-up.</a:t>
            </a:r>
          </a:p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Output: outreach priority list.</a:t>
            </a:r>
          </a:p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Action: calls, telemonitoring, community health work.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1508760"/>
            <a:ext cx="329184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2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90872" y="1627631"/>
            <a:ext cx="2962656" cy="292608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>
              <a:defRPr sz="1500" b="1">
                <a:solidFill>
                  <a:srgbClr val="009195"/>
                </a:solidFill>
                <a:latin typeface="Aptos"/>
              </a:defRPr>
            </a:pPr>
            <a:r>
              <a:t>Candidate variables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27448" y="2011680"/>
            <a:ext cx="2889504" cy="3703320"/>
          </a:xfrm>
          <a:prstGeom prst="rect">
            <a:avLst/>
          </a:prstGeom>
          <a:noFill/>
        </p:spPr>
        <p:txBody>
          <a:bodyPr wrap="square" lIns="18288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BP_trend</a:t>
            </a:r>
          </a:p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diabetes</a:t>
            </a:r>
          </a:p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distance</a:t>
            </a:r>
          </a:p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missed_visits</a:t>
            </a:r>
          </a:p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risk_score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1508760"/>
            <a:ext cx="338328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2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65592" y="1627631"/>
            <a:ext cx="3054096" cy="292608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>
              <a:defRPr sz="1500" b="1">
                <a:solidFill>
                  <a:srgbClr val="288545"/>
                </a:solidFill>
                <a:latin typeface="Aptos"/>
              </a:defRPr>
            </a:pPr>
            <a:r>
              <a:t>Student deliverable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02168" y="2011680"/>
            <a:ext cx="2980944" cy="3703320"/>
          </a:xfrm>
          <a:prstGeom prst="rect">
            <a:avLst/>
          </a:prstGeom>
          <a:noFill/>
        </p:spPr>
        <p:txBody>
          <a:bodyPr wrap="square" lIns="18288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1 clinical question</a:t>
            </a:r>
          </a:p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1 CSV table</a:t>
            </a:r>
          </a:p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1 trained model</a:t>
            </a:r>
          </a:p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1 confusion matrix</a:t>
            </a:r>
          </a:p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1 clinical safety note</a:t>
            </a: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>
              <a:defRPr sz="3000" b="1">
                <a:solidFill>
                  <a:srgbClr val="0F243E"/>
                </a:solidFill>
                <a:latin typeface="Aptos Display"/>
              </a:defRPr>
            </a:pPr>
            <a:r>
              <a:t>Student mini-project specification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789920" cy="36576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>
              <a:defRPr sz="1300" b="0">
                <a:solidFill>
                  <a:srgbClr val="595959"/>
                </a:solidFill>
                <a:latin typeface="Aptos"/>
              </a:defRPr>
            </a:pPr>
            <a:r>
              <a:t>They leave Session 6 with a template for their own workplace idea.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29800" y="292608"/>
            <a:ext cx="1783080" cy="347472"/>
          </a:xfrm>
          <a:prstGeom prst="roundRect">
            <a:avLst/>
          </a:prstGeom>
          <a:solidFill>
            <a:srgbClr val="009195"/>
          </a:solidFill>
          <a:ln>
            <a:solidFill>
              <a:srgbClr val="0091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PROJECT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97864"/>
            <a:ext cx="11155680" cy="27432"/>
          </a:xfrm>
          <a:prstGeom prst="rect">
            <a:avLst/>
          </a:prstGeom>
          <a:solidFill>
            <a:srgbClr val="0091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772400" cy="22860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>
              <a:defRPr sz="800" b="0">
                <a:solidFill>
                  <a:srgbClr val="595959"/>
                </a:solidFill>
                <a:latin typeface="Aptos"/>
              </a:defRPr>
            </a:pPr>
            <a:r>
              <a:t>Sesión 6 · Python para IA médica · Google Colab + pandas + scikit-learn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731520" cy="22860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r">
              <a:defRPr sz="800" b="0">
                <a:solidFill>
                  <a:srgbClr val="595959"/>
                </a:solidFill>
                <a:latin typeface="Aptos"/>
              </a:defRPr>
            </a:pPr>
            <a:r>
              <a:t>41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08760"/>
            <a:ext cx="34747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2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627631"/>
            <a:ext cx="3145536" cy="292608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>
              <a:defRPr sz="1500" b="1">
                <a:solidFill>
                  <a:srgbClr val="156082"/>
                </a:solidFill>
                <a:latin typeface="Aptos"/>
              </a:defRPr>
            </a:pPr>
            <a:r>
              <a:t>1. Define 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3072384" cy="3794759"/>
          </a:xfrm>
          <a:prstGeom prst="rect">
            <a:avLst/>
          </a:prstGeom>
          <a:noFill/>
        </p:spPr>
        <p:txBody>
          <a:bodyPr wrap="square" lIns="18288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What repetitive decision wastes time?</a:t>
            </a:r>
          </a:p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Who uses the output?</a:t>
            </a:r>
          </a:p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What is the safe next action?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508760"/>
            <a:ext cx="34747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2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07992" y="1627631"/>
            <a:ext cx="3145536" cy="292608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>
              <a:defRPr sz="1500" b="1">
                <a:solidFill>
                  <a:srgbClr val="009195"/>
                </a:solidFill>
                <a:latin typeface="Aptos"/>
              </a:defRPr>
            </a:pPr>
            <a:r>
              <a:t>2. Build table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2011680"/>
            <a:ext cx="3072384" cy="3794759"/>
          </a:xfrm>
          <a:prstGeom prst="rect">
            <a:avLst/>
          </a:prstGeom>
          <a:noFill/>
        </p:spPr>
        <p:txBody>
          <a:bodyPr wrap="square" lIns="18288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Rows = patients/visits/sessions.</a:t>
            </a:r>
          </a:p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Columns = variables available before action.</a:t>
            </a:r>
          </a:p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Target = outcome to learn.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79" y="1508760"/>
            <a:ext cx="34747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2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19871" y="1627631"/>
            <a:ext cx="3145536" cy="292608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>
              <a:defRPr sz="1500" b="1">
                <a:solidFill>
                  <a:srgbClr val="DC782D"/>
                </a:solidFill>
                <a:latin typeface="Aptos"/>
              </a:defRPr>
            </a:pPr>
            <a:r>
              <a:t>3. Evaluate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56448" y="2011680"/>
            <a:ext cx="3072384" cy="3794759"/>
          </a:xfrm>
          <a:prstGeom prst="rect">
            <a:avLst/>
          </a:prstGeom>
          <a:noFill/>
        </p:spPr>
        <p:txBody>
          <a:bodyPr wrap="square" lIns="18288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Train/test split.</a:t>
            </a:r>
          </a:p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Confusion matrix.</a:t>
            </a:r>
          </a:p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What error is dangerous?</a:t>
            </a:r>
          </a:p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Human review required.</a:t>
            </a: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>
              <a:defRPr sz="3000" b="1">
                <a:solidFill>
                  <a:srgbClr val="0F243E"/>
                </a:solidFill>
                <a:latin typeface="Aptos Display"/>
              </a:defRPr>
            </a:pPr>
            <a:r>
              <a:t>Clinical safety: what they must never forget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789920" cy="36576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>
              <a:defRPr sz="1300" b="0">
                <a:solidFill>
                  <a:srgbClr val="595959"/>
                </a:solidFill>
                <a:latin typeface="Aptos"/>
              </a:defRPr>
            </a:pPr>
            <a:r>
              <a:t>A notebook can support care only after validation, governance and human oversight.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29800" y="292608"/>
            <a:ext cx="1783080" cy="347472"/>
          </a:xfrm>
          <a:prstGeom prst="roundRect">
            <a:avLst/>
          </a:prstGeom>
          <a:solidFill>
            <a:srgbClr val="009195"/>
          </a:solidFill>
          <a:ln>
            <a:solidFill>
              <a:srgbClr val="0091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SAFETY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97864"/>
            <a:ext cx="11155680" cy="27432"/>
          </a:xfrm>
          <a:prstGeom prst="rect">
            <a:avLst/>
          </a:prstGeom>
          <a:solidFill>
            <a:srgbClr val="0091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772400" cy="22860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>
              <a:defRPr sz="800" b="0">
                <a:solidFill>
                  <a:srgbClr val="595959"/>
                </a:solidFill>
                <a:latin typeface="Aptos"/>
              </a:defRPr>
            </a:pPr>
            <a:r>
              <a:t>Sesión 6 · Python para IA médica · Google Colab + pandas + scikit-learn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731520" cy="22860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r">
              <a:defRPr sz="800" b="0">
                <a:solidFill>
                  <a:srgbClr val="595959"/>
                </a:solidFill>
                <a:latin typeface="Aptos"/>
              </a:defRPr>
            </a:pPr>
            <a:r>
              <a:t>42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08760"/>
            <a:ext cx="34747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2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627631"/>
            <a:ext cx="3145536" cy="292608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>
              <a:defRPr sz="1500" b="1">
                <a:solidFill>
                  <a:srgbClr val="B22323"/>
                </a:solidFill>
                <a:latin typeface="Aptos"/>
              </a:defRPr>
            </a:pPr>
            <a:r>
              <a:t>Prototype ≠ product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11680"/>
            <a:ext cx="3072384" cy="3794759"/>
          </a:xfrm>
          <a:prstGeom prst="rect">
            <a:avLst/>
          </a:prstGeom>
          <a:noFill/>
        </p:spPr>
        <p:txBody>
          <a:bodyPr wrap="square" lIns="18288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Educational dataset only.</a:t>
            </a:r>
          </a:p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No real patient decision today.</a:t>
            </a:r>
          </a:p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No PHI in public notebooks.</a:t>
            </a:r>
          </a:p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Document assumptions.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508760"/>
            <a:ext cx="34747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2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07992" y="1627631"/>
            <a:ext cx="3145536" cy="292608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>
              <a:defRPr sz="1500" b="1">
                <a:solidFill>
                  <a:srgbClr val="156082"/>
                </a:solidFill>
                <a:latin typeface="Aptos"/>
              </a:defRPr>
            </a:pPr>
            <a:r>
              <a:t>Before real use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2011680"/>
            <a:ext cx="3072384" cy="3794759"/>
          </a:xfrm>
          <a:prstGeom prst="rect">
            <a:avLst/>
          </a:prstGeom>
          <a:noFill/>
        </p:spPr>
        <p:txBody>
          <a:bodyPr wrap="square" lIns="18288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Ethics/IRB or institutional review.</a:t>
            </a:r>
          </a:p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External validation.</a:t>
            </a:r>
          </a:p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Bias review.</a:t>
            </a:r>
          </a:p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Workflow integration.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79" y="1508760"/>
            <a:ext cx="34747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2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19871" y="1627631"/>
            <a:ext cx="3145536" cy="292608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>
              <a:defRPr sz="1500" b="1">
                <a:solidFill>
                  <a:srgbClr val="288545"/>
                </a:solidFill>
                <a:latin typeface="Aptos"/>
              </a:defRPr>
            </a:pPr>
            <a:r>
              <a:t>Human-in-the-loop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56448" y="2011680"/>
            <a:ext cx="3072384" cy="3794759"/>
          </a:xfrm>
          <a:prstGeom prst="rect">
            <a:avLst/>
          </a:prstGeom>
          <a:noFill/>
        </p:spPr>
        <p:txBody>
          <a:bodyPr wrap="square" lIns="18288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Professional verifies.</a:t>
            </a:r>
          </a:p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Alert fatigue considered.</a:t>
            </a:r>
          </a:p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Errors monitored.</a:t>
            </a:r>
          </a:p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Model updated only with control.</a:t>
            </a: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>
              <a:defRPr sz="3000" b="1">
                <a:solidFill>
                  <a:srgbClr val="0F243E"/>
                </a:solidFill>
                <a:latin typeface="Aptos Display"/>
              </a:defRPr>
            </a:pPr>
            <a:r>
              <a:t>Final take-home message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789920" cy="36576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>
              <a:defRPr sz="1300" b="0">
                <a:solidFill>
                  <a:srgbClr val="595959"/>
                </a:solidFill>
                <a:latin typeface="Aptos"/>
              </a:defRPr>
            </a:pPr>
            <a:r>
              <a:t>The objective is not to become software engineers; it is to translate clinical questions into reproducible workflows.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29800" y="292608"/>
            <a:ext cx="1783080" cy="347472"/>
          </a:xfrm>
          <a:prstGeom prst="roundRect">
            <a:avLst/>
          </a:prstGeom>
          <a:solidFill>
            <a:srgbClr val="009195"/>
          </a:solidFill>
          <a:ln>
            <a:solidFill>
              <a:srgbClr val="0091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CLOSURE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97864"/>
            <a:ext cx="11155680" cy="27432"/>
          </a:xfrm>
          <a:prstGeom prst="rect">
            <a:avLst/>
          </a:prstGeom>
          <a:solidFill>
            <a:srgbClr val="0091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772400" cy="22860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>
              <a:defRPr sz="800" b="0">
                <a:solidFill>
                  <a:srgbClr val="595959"/>
                </a:solidFill>
                <a:latin typeface="Aptos"/>
              </a:defRPr>
            </a:pPr>
            <a:r>
              <a:t>Sesión 6 · Python para IA médica · Google Colab + pandas + scikit-learn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731520" cy="22860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r">
              <a:defRPr sz="800" b="0">
                <a:solidFill>
                  <a:srgbClr val="595959"/>
                </a:solidFill>
                <a:latin typeface="Aptos"/>
              </a:defRPr>
            </a:pPr>
            <a:r>
              <a:t>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600200"/>
            <a:ext cx="10515600" cy="86868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ctr">
              <a:defRPr sz="2800" b="1">
                <a:solidFill>
                  <a:srgbClr val="0F243E"/>
                </a:solidFill>
                <a:latin typeface="Aptos Display"/>
              </a:defRPr>
            </a:pPr>
            <a:r>
              <a:t>Clinical problem → Patient table → Python workflow → Risk estimate → Professional action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" y="2788920"/>
            <a:ext cx="493776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2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24712" y="2907791"/>
            <a:ext cx="4608576" cy="292608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>
              <a:defRPr sz="1500" b="1">
                <a:solidFill>
                  <a:srgbClr val="009195"/>
                </a:solidFill>
                <a:latin typeface="Aptos"/>
              </a:defRPr>
            </a:pPr>
            <a:r>
              <a:t>What students should say now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61288" y="3291839"/>
            <a:ext cx="4535424" cy="1965960"/>
          </a:xfrm>
          <a:prstGeom prst="rect">
            <a:avLst/>
          </a:prstGeom>
          <a:noFill/>
        </p:spPr>
        <p:txBody>
          <a:bodyPr wrap="square" lIns="18288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I know how to define features and target.</a:t>
            </a:r>
          </a:p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I can load a CSV into pandas.</a:t>
            </a:r>
          </a:p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I can train a basic model.</a:t>
            </a:r>
          </a:p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I can explain why human review is required.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2788920"/>
            <a:ext cx="466344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2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3952" y="2907791"/>
            <a:ext cx="4334255" cy="292608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pPr algn="l">
              <a:defRPr sz="1500" b="1">
                <a:solidFill>
                  <a:srgbClr val="DC782D"/>
                </a:solidFill>
                <a:latin typeface="Aptos"/>
              </a:defRPr>
            </a:pPr>
            <a:r>
              <a:t>Question for their own practice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0528" y="3291839"/>
            <a:ext cx="4261103" cy="1965960"/>
          </a:xfrm>
          <a:prstGeom prst="rect">
            <a:avLst/>
          </a:prstGeom>
          <a:noFill/>
        </p:spPr>
        <p:txBody>
          <a:bodyPr wrap="square" lIns="18288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What repetitive decision could become a small dataset?</a:t>
            </a:r>
          </a:p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What variable do I already collect?</a:t>
            </a:r>
          </a:p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What outcome matters to patients?</a:t>
            </a:r>
          </a:p>
          <a:p>
            <a:pPr>
              <a:spcAft>
                <a:spcPts val="400"/>
              </a:spcAft>
              <a:defRPr sz="1100">
                <a:solidFill>
                  <a:srgbClr val="0F243E"/>
                </a:solidFill>
              </a:defRPr>
            </a:pPr>
            <a:r>
              <a:t>• What error would be unacceptable?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