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Sesión 10 · 40 preguntas + 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Interoperabilidad clínica: EHR, HL7 y FHIR · Patient, Observation, Encounter, APIs, intercambio de datos · FHIR demo / 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1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600" b="1">
                <a:solidFill>
                  <a:srgbClr val="142C58"/>
                </a:solidFill>
              </a:defRPr>
            </a:pPr>
            <a:r>
              <a:t>Producto docente:</a:t>
            </a:r>
            <a:br/>
            <a:r>
              <a:t>40 preguntas con respuestas + figuras/tablas recortadas de 3 artículos reales.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06040"/>
            <a:ext cx="53949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Qué cubre este paquete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Artículo 1: MENDS-on-FHIR — OMOP → FHIR → Bulk FHIR → vigilancia poblacional.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Artículo 2: SMARTLiver — SMART-on-FHIR, diseño centrado en humanos y CDSS en hepatología.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Artículo 3: ML en vivo para NGS — EHR/FHIR/API → modelo → estimación clínica prospectiva.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Enfoque de preguntas: conceptos FHIR + razonamiento clínico + workflow + seguridad.</a:t>
            </a:r>
          </a:p>
        </p:txBody>
      </p:sp>
      <p:pic>
        <p:nvPicPr>
          <p:cNvPr id="6" name="Picture 5" descr="ngs_fig1_2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257800" cy="2331720"/>
          </a:xfrm>
          <a:prstGeom prst="rect">
            <a:avLst/>
          </a:prstGeom>
        </p:spPr>
      </p:pic>
      <p:pic>
        <p:nvPicPr>
          <p:cNvPr id="7" name="Picture 6" descr="smart_fig1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657600"/>
            <a:ext cx="525780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Fuentes: Kim et al. npj Digital Medicine 2025; Sunchu et al. PLOS Digital Health 2026; Essaid et al. JAMIA Open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1 · MENDS-on-FHIR: OMOP → FHIR → Bulk FHIR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mends_flow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La figura muestra una tubería real: OMOP CDM → OMOP JSON → FHIR JSON Bundle → FHIR server → Bulk FHIR export → MENDS database.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Conecta directamente con Session 10: no basta tener EHR; hay que convertir datos a recursos interoperables.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Concepto clave: Bulk FHIR sirve para cohortes/población, no solo para un paciente individual.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MENDS-on-FHIR: leveraging the OMOP common data model and FHIR standards for national chronic disease surveillance · JAMIA Open 2024 · DOI: 10.1093/jamiaopen/ooae045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2 · MENDS: transformación JSON y validación FHIR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mends_whistle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Whistle transforma OMOP JSON en FHIR R4 Bundle JSON.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La validación asegura que los recursos cumplan FHIR R4 y US Core IG.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Este slide conecta JSON, APIs, perfiles FHIR y estándares semánticos.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Essaid et al. MENDS-on-FHIR · JAMIA Open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3 · MENDS: tablas de alineación, conteos y tiempos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mends_tables_fig5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Las tablas conectan el mundo relacional OMOP con recursos FHIR.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Muestra que interoperabilidad no es teoría: requiere conteos, tiempos, validación y errores.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Pregunta docente: ¿qué pasa si Observation, Medication o Condition no mapean bien?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Essaid et al. MENDS-on-FHIR · JAMIA Open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4 · SMARTLiver: flujo clínico SMART-on-FHIR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smart_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SMARTLiver consolida laboratorio, medicamentos, síntomas, scores y tareas en una interfaz.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FHIR permite que una app clínica lea datos del EHR de forma estandarizada.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El objetivo no es solo datos: es reducir carga cognitiva y mejorar guideline adherence.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Sunchu et al. SMARTLiver, a FHIR-based clinical decision support system for hepatology · PLOS Digital Health 2026 · DOI: 10.1371/journal.pdig.0000969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5 · SMARTLiver: usabilidad y valor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smart_fig2_us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Health-ITUES mide utilidad clínica, facilidad de uso, integración de workflow y decision support.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La clínica importa: una app técnicamente correcta puede fracasar si interrumpe el flujo del usuario.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Esto enseña human-centered design dentro de interoperabilidad.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Sunchu et al. SMARTLiver · PLOS Digital Health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6 · SMARTLiver: dashboards clínicos reutilizables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smart_fig8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El dashboard convierte datos del EHR en scores y visualizaciones accionables.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Conecta Patient/Observation/Medication/Procedure con decisiones clínicas.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Pregunta docente: ¿qué recursos FHIR alimentan un dashboard de cirrosis?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Sunchu et al. SMARTLiver · PLOS Digital Health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7 · ML en vivo: EHR/FHIR/API → modelo → estimación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ngs_fig1_2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Modelo ML prospectivo predijo resultados de Heme-STAMP con AUROC comparable a hematólogos expertos.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El estudio demuestra integración de predicción en ambiente clínico vivo.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Conecta FHIR/API con inferencia, calibración y decisión de ordenar pruebas costosas.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Kim et al. Real time machine learning prediction of next generation sequencing test results in live clinical settings · npj Digital Medicine 2025 · DOI: 10.1038/s41746-025-01816-7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8 · ML + humano: NPV, TNR y mapas de desacuerdo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ngs_fig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La figura muestra curvas NPV–TNR y heatmaps entre modelo y clínicos.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El valor no es reemplazar al médico: es combinar estimaciones y mejorar calibración.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Pregunta docente: ¿por qué alto NPV puede ser más útil que alto PPV para evitar pruebas innecesarias?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Kim et al. Real time ML prediction of NGS test results · npj Digital Medicine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9 · Diseño de estudio en vivo y arquitectura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ngs_fig4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El estudio separa entrenamiento retrospectivo y evaluación prospectiva en vivo.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La integración con EHR transforma datos estructurados en probabilidad clínica.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Limitación importante: el modelo no accedía a todas las notas externas/unstructured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Kim et al. Real time ML prediction of NGS test results · npj Digital Medicine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Evidencia 10 · Progresión completa Session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Figura / tabla recortada del artículo + conexión directa con la Sesión 10</a:t>
            </a:r>
          </a:p>
        </p:txBody>
      </p:sp>
      <p:pic>
        <p:nvPicPr>
          <p:cNvPr id="4" name="Picture 3" descr="smart_fig9_h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400800" cy="5257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051560"/>
            <a:ext cx="44348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Cómo explicarlo al estudiante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MENDS: interoperabilidad poblacional con Bulk FHIR.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SMARTLiver: app clínica SMART-on-FHIR centrada en usuario.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NGS ML: API/EHR en vivo para soporte diagnóstico.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El estudiante debe entender: Resource → JSON → API → workflow → algoritmo → validación.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5257800"/>
            <a:ext cx="443484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6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130" b="1">
                <a:solidFill>
                  <a:srgbClr val="142C58"/>
                </a:solidFill>
              </a:defRPr>
            </a:pPr>
            <a:r>
              <a:t>Pregunta guía: ¿qué dato viaja, con qué estándar, por qué API y para qué decisión clínica?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Síntesis docente de los 3 artículos · EHR/HL7/FHIR/SMART/Bulk/API/ML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1–2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Concepto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problema clínico intenta resolver la interoperabilidad EHR–FHIR?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Que los datos clínicos estén dispersos en sistemas/módulos diferentes y no puedan fluir fácilmente hacia aplicaciones, algoritmos o vigilancia poblacional.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FHIR básico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En FHIR, ¿qué recurso representa a la persona atendida?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Patient.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3–4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FHIR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recurso representa una visita, admisión o episodio asistencial?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Encounter.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FHIR básico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¿Dónde se representa un dato como SpO₂ = 89% o creatinina = 1.8 mg/dL?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Observation.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5–6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JSON/API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¿Por qué FHIR usa JSON?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Porque JSON permite representar recursos clínicos en un formato legible por humanos y fácilmente consumible por APIs web.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es una FHIR API?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Una interfaz que permite consultar, crear o intercambiar recursos FHIR, típicamente mediante servicios web/REST.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7–8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Bulk FHIR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diferencia hay entre FHIR de un paciente y Bulk FHIR?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FHIR de un paciente consulta recursos individuales; Bulk FHIR exporta datos de cohortes o poblaciones completas de forma asíncrona.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FHIR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es US Core IG?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Una guía de implementación que define perfiles y elementos obligatorios para recursos FHIR en Estados Unidos.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9–10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SMART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significa “write once, run anywhere” en SMART-on-FHIR?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Que una app clínica puede integrarse con diferentes EHR compatibles usando estándares comunes de FHIR y autorización.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IA clínica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¿Por qué HL7/FHIR es importante para IA clínica?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Porque estandariza la entrada de datos hacia modelos, apps y sistemas de soporte de decisión.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11–12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MENDS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En MENDS-on-FHIR, ¿cuál fue el flujo principal de datos?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OMOP CDM → OMOP JSON → FHIR Bundle JSON → FHIR server → Bulk FHIR export → MENDS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MENDS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problema reemplazó MENDS-on-FHIR?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Reemplazó ETL personalizado por recursos FHIR interoperables y exportación Bulk FHIR.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13–14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MENDS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modelo de datos se transformó a FHIR en MENDS?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OMOP Common Data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MENDS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motor/lenguaje se usó para transformar OMOP JSON a FHIR JSON?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Whistle, un lenguaje JSON-to-JSON de transformación.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15–16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MENDS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demostró MENDS al transformar OMOP a FHIR?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Que se pueden generar recursos US Core/FHIR válidos para vigilancia crónica a gran escala.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MENDS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¿Por qué MENDS usa Bulk FHIR y no solo consultas individuales?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Porque la vigilancia de enfermedades crónicas requiere cohortes y datos poblacionales.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17–18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MENDS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tipo de uso público permite MENDS-on-FHIR?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Vigilancia poblacional de hipertensión, diabetes, obesidad, tabaquismo y uso de estatinas.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MENDS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es un ConceptMap en este contexto?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Un mapeo que traduce códigos locales u OMOP a valores/códigos compatibles con FHIR/US 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19–20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Validación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¿Por qué es importante validar recursos FHIR?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Para asegurar que estructura, campos, terminologías y perfiles cumplen el estándar esperado.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Calidad de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riesgo aparece si una transformación OMOP→FHIR es incompleta?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Datos clínicos mal representados, pérdida de información o recursos no conformes que no pueden usarse confiablemente.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21–22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SMARTLiver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problema operativo intenta resolver SMARTLiver?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La fragmentación de datos en EHR que obliga a navegar múltiples pantallas para cirrosis.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SMARTLiver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significa SMART-on-FHIR en SMARTLiver?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Una app sustituible/reutilizable que usa FHIR para integrarse con el EHR.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23–24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SMARTLiver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datos consolida SMARTLiver?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Laboratorios, medicamentos, síntomas, recomendaciones, scores pronósticos y reportes del paciente.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HCD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¿Por qué el diseño centrado en humanos es crucial en SMARTLiver?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Porque la app debe encajar en el flujo real del clínico y reducir carga cognitiva, no aumentarla.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25–26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Usabilidad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midió Health-ITUES en el piloto de SMARTLiver?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Utilidad clínica, facilidad de uso, integración de workflow, soporte de decisión y control/customización.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Usabilidad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área obtuvo mayor satisfacción en SMARTLiver?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Utilidad clínica, con puntuaciones aproximadas de 4.4–4.6/5.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27–28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Usabilidad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área fue más débil en SMARTLiver?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Customización/control y algunos aspectos de integración del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¿Por qué una app FHIR puede fallar aunque técnicamente funcione?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Si interrumpe tareas, genera alertas intrusivas o no se adapta al flujo clínico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29–30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FHIR aplicado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recurso FHIR podría alimentar un score basado en resultados de laboratorio?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Observation.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FHIR aplicado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recurso FHIR podría representar educación al paciente o tareas compartidas?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Puede modelarse mediante CarePlan, Task, Communication, DocumentReference u otros recursos según implementación.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31–32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NGS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predijo el modelo ML del estudio de NGS?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Si una prueba Heme-STAMP produciría un resultado patogénico/positivo.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NGS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datos usó el estudio para entrenar inicialmente el modelo?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3472 órdenes Heme-STAMP entre mayo de 2018 y septiembre de 2021.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33–34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NGS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rendimiento tuvo el modelo frente a hematólogos?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AUROC comparable: modelo ~0.77 y hematólogos expertos ~0.78 en la cohorte prospectiva.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Algoritmo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enseña este artículo sobre Patient → Observation → algoritmo?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Que datos estructurados del EHR pueden convertirse en features para inferencia clínica en vivo.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35–36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Evaluación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significa calibración en este contexto?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Que la probabilidad predicha corresponda razonablemente con la frecuencia real del evento.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Human-AI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ocurrió al combinar estimaciones del médico y del modelo?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Se mantuvo discriminación y se sugirió mejor calibración que con el médico solo.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37–38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Decisión clínica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¿Por qué un alto NPV puede ser útil para una prueba costosa?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Permite identificar casos con baja probabilidad de resultado útil y potencialmente evitar pruebas innecesarias.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Limitación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¿Qué limitación importante tuvo el modelo NGS?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No tenía acceso a toda la información no estructurada o registros externos que sí podían conocer los médicos.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Preguntas 39–40 · Interoperabilidad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Formato tipo caso/razonamiento: pregunta → respuesta → concepto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05156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Explicabilidad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¿Por qué SHAP es útil en el estudio NGS?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4144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Ayuda a identificar qué variables estructuradas contribuyen más a la predicción.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914400" cy="420624"/>
          </a:xfrm>
          <a:prstGeom prst="roundRect">
            <a:avLst/>
          </a:prstGeom>
          <a:solidFill>
            <a:srgbClr val="105EA6"/>
          </a:solidFill>
          <a:ln w="12700">
            <a:solidFill>
              <a:srgbClr val="10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8" y="3657600"/>
            <a:ext cx="9966960" cy="42062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200" b="1">
                <a:solidFill>
                  <a:srgbClr val="142C58"/>
                </a:solidFill>
              </a:defRPr>
            </a:pPr>
            <a:r>
              <a:t>Síntesis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11018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1">
                <a:solidFill>
                  <a:srgbClr val="142C58"/>
                </a:solidFill>
              </a:defRPr>
            </a:pPr>
            <a:r>
              <a:t>Pregunta final: ¿cuál es el mini flujo de Session 10?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47488"/>
            <a:ext cx="11018520" cy="868680"/>
          </a:xfrm>
          <a:prstGeom prst="roundRect">
            <a:avLst/>
          </a:prstGeom>
          <a:solidFill>
            <a:srgbClr val="EFFDF4"/>
          </a:solidFill>
          <a:ln w="12700">
            <a:solidFill>
              <a:srgbClr val="82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320" b="0">
                <a:solidFill>
                  <a:srgbClr val="232D3A"/>
                </a:solidFill>
              </a:defRPr>
            </a:pPr>
            <a:r>
              <a:t>Respuesta: Patient → Encounter → Observation → FHIR API → algoritmo/CDS → recomendación o riesgo → revisión humana.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Basado en los artículos adjuntos de Sesión 10: MENDS-on-FHIR, SMARTLiver y Real-time ML 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Práctica: mini flujo Patient → Observation → algoritmo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Copiar/pegar en el notebook o herramienta JSON para discutir interoperabilidad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5577840" cy="4389120"/>
          </a:xfrm>
          <a:prstGeom prst="rect">
            <a:avLst/>
          </a:prstGeom>
          <a:solidFill>
            <a:srgbClr val="F5F8FF"/>
          </a:solidFill>
          <a:ln w="12700">
            <a:solidFill>
              <a:srgbClr val="96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defRPr sz="1500" b="0">
                <a:solidFill>
                  <a:srgbClr val="14283C"/>
                </a:solidFill>
              </a:defRPr>
            </a:pPr>
            <a:r>
              <a:t>{</a:t>
            </a:r>
            <a:br/>
            <a:r>
              <a:t>  "resourceType": "Observation",</a:t>
            </a:r>
            <a:br/>
            <a:r>
              <a:t>  "status": "final",</a:t>
            </a:r>
            <a:br/>
            <a:r>
              <a:t>  "code": {"text": "Oxygen saturation"},</a:t>
            </a:r>
            <a:br/>
            <a:r>
              <a:t>  "valueQuantity": {"value": 89, "unit": "%"},</a:t>
            </a:r>
            <a:br/>
            <a:r>
              <a:t>  "subject": {"reference": "Patient/001"},</a:t>
            </a:r>
            <a:br/>
            <a:r>
              <a:t>  "encounter": {"reference": "Encounter/abc"}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097280"/>
            <a:ext cx="4983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Instrucciones de clase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Identificar el paciente: Patient/001.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Identificar el episodio: Encounter/abc.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Extraer el valor: SpO₂ = 89%.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Enviar al algoritmo de deterioro o alerta clínica.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Discutir si el resultado debe generar alerta automática o revisión humana.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Session 10 practical demo · FHIR JSON resource → algorithm input → clinical review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C58"/>
                </a:solidFill>
              </a:defRPr>
            </a:pPr>
            <a:r>
              <a:t>Cierre · qué debe dominar el estudiante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525F"/>
                </a:solidFill>
              </a:defRPr>
            </a:pPr>
            <a:r>
              <a:t>Interoperabilidad clínica como puente entre EHR, datos, APIs y algoritmos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4300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Competencias técnicas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Distinguir Patient, Encounter, Observation, Condition, Medication y Procedure.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Leer un JSON FHIR básico.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Explicar qué hace una FHIR API.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Diferenciar SMART-on-FHIR y Bulk FHIR.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Describir cómo un dato clínico alimenta un algoritmo.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43000"/>
            <a:ext cx="51663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73152"/>
          <a:lstStyle/>
          <a:p>
            <a:pPr algn="ctr">
              <a:defRPr sz="1450" b="1">
                <a:solidFill>
                  <a:srgbClr val="142C58"/>
                </a:solidFill>
              </a:defRPr>
            </a:pPr>
            <a:r>
              <a:t>Competencias clínicas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Reconocer fragmentación de datos como problema clínico.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Evaluar si una app se integra realmente en el workflow.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Entender que validación técnica ≠ utilidad clínica.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Justificar supervisión humana en algoritmos conectados al EHR.</a:t>
            </a:r>
          </a:p>
          <a:p>
            <a:pPr>
              <a:spcAft>
                <a:spcPts val="200"/>
              </a:spcAft>
              <a:defRPr sz="1150">
                <a:solidFill>
                  <a:srgbClr val="232D3A"/>
                </a:solidFill>
              </a:defRPr>
            </a:pPr>
            <a:r>
              <a:t>• Diseñar un mini flujo Patient → Observation → algoritmo.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887"/>
                </a:solidFill>
              </a:defRPr>
            </a:pPr>
            <a:r>
              <a:t>Sesión 10 · EHR, HL7, FHIR, APIs, JSON, CDSS y machine learning clínico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