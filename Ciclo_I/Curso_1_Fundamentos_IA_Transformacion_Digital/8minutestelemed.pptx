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9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F38"/>
                </a:solidFill>
                <a:latin typeface="Aptos"/>
              </a:rPr>
              <a:t>TELESALUD 2026: DE EXPERIMENTO A INFRAESTRUCTURA CLÍNICA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5EA6"/>
                </a:solidFill>
                <a:latin typeface="Aptos"/>
              </a:rPr>
              <a:t>5 diapositivas • 8 minutos | ¿Qué cambió después del boom pandémico?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9969C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D1F38"/>
                </a:solidFill>
                <a:latin typeface="Aptos"/>
              </a:rPr>
              <a:t>La atención virtual</a:t>
            </a:r>
            <a:br/>
            <a:r>
              <a:t>ya no es “solo videollamada”.</a:t>
            </a:r>
          </a:p>
        </p:txBody>
      </p:sp>
      <p:sp>
        <p:nvSpPr>
          <p:cNvPr id="7" name="Oval 6"/>
          <p:cNvSpPr/>
          <p:nvPr/>
        </p:nvSpPr>
        <p:spPr>
          <a:xfrm>
            <a:off x="4572000" y="1920240"/>
            <a:ext cx="1143000" cy="1143000"/>
          </a:xfrm>
          <a:prstGeom prst="ellipse">
            <a:avLst/>
          </a:prstGeom>
          <a:solidFill>
            <a:srgbClr val="1F5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7627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≈0.1%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3182112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2D37"/>
                </a:solidFill>
                <a:latin typeface="Aptos"/>
              </a:rPr>
              <a:t>Antes de 2020</a:t>
            </a:r>
          </a:p>
        </p:txBody>
      </p:sp>
      <p:sp>
        <p:nvSpPr>
          <p:cNvPr id="10" name="Oval 9"/>
          <p:cNvSpPr/>
          <p:nvPr/>
        </p:nvSpPr>
        <p:spPr>
          <a:xfrm>
            <a:off x="6629400" y="1920240"/>
            <a:ext cx="1143000" cy="1143000"/>
          </a:xfrm>
          <a:prstGeom prst="ellipse">
            <a:avLst/>
          </a:prstGeom>
          <a:solidFill>
            <a:srgbClr val="ED8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17627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82112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2D37"/>
                </a:solidFill>
                <a:latin typeface="Aptos"/>
              </a:rPr>
              <a:t>Abr 2020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0" y="1920240"/>
            <a:ext cx="1143000" cy="1143000"/>
          </a:xfrm>
          <a:prstGeom prst="ellipse">
            <a:avLst/>
          </a:prstGeom>
          <a:solidFill>
            <a:srgbClr val="199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217627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5.7–7.0%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182112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2D37"/>
                </a:solidFill>
                <a:latin typeface="Aptos"/>
              </a:rPr>
              <a:t>2023–24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MENSAJE CLAVE  →  El reto actual no es “¿usar telemedicina?”, sino ¿qué trabajo clínico debe ser virtual y cómo integrarlo bien?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407408"/>
            <a:ext cx="10972800" cy="960120"/>
          </a:xfrm>
          <a:prstGeom prst="roundRect">
            <a:avLst/>
          </a:prstGeom>
          <a:solidFill>
            <a:srgbClr val="0D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882"/>
                </a:solidFill>
                <a:latin typeface="Aptos"/>
              </a:rPr>
              <a:t>Fuente: Appinventiv Technologies, Telehealth Trends 2026, pp. 2–4.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9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F38"/>
                </a:solidFill>
                <a:latin typeface="Aptos"/>
              </a:rPr>
              <a:t>SEIS TENDENCIAS QUE DEFINEN LA TELESALUD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5EA6"/>
                </a:solidFill>
                <a:latin typeface="Aptos"/>
              </a:rPr>
              <a:t>La competencia se desplaza de “más funciones” a integración, flujo y confiabilidad.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9969C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29000" cy="1417320"/>
          </a:xfrm>
          <a:prstGeom prst="roundRect">
            <a:avLst/>
          </a:prstGeom>
          <a:solidFill>
            <a:srgbClr val="F2F7FA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73351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5EA6"/>
                </a:solidFill>
                <a:latin typeface="Aptos"/>
              </a:rPr>
              <a:t>1  IA ambiental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75688"/>
            <a:ext cx="30632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Notas clínicas / AI scribe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429000" cy="1417320"/>
          </a:xfrm>
          <a:prstGeom prst="roundRect">
            <a:avLst/>
          </a:prstGeom>
          <a:solidFill>
            <a:srgbClr val="F2F7FA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73351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9969C"/>
                </a:solidFill>
                <a:latin typeface="Aptos"/>
              </a:rPr>
              <a:t>2  Interoperabilidad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75688"/>
            <a:ext cx="30632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FHIR + HL7 + HCE/EHR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08760"/>
            <a:ext cx="3429000" cy="1417320"/>
          </a:xfrm>
          <a:prstGeom prst="roundRect">
            <a:avLst/>
          </a:prstGeom>
          <a:solidFill>
            <a:srgbClr val="F2F7FA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673351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1B4D2"/>
                </a:solidFill>
                <a:latin typeface="Aptos"/>
              </a:rPr>
              <a:t>3  Cloud-native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075688"/>
            <a:ext cx="30632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Escalar sin reconstruir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37560"/>
            <a:ext cx="3429000" cy="1417320"/>
          </a:xfrm>
          <a:prstGeom prst="roundRect">
            <a:avLst/>
          </a:prstGeom>
          <a:solidFill>
            <a:srgbClr val="F2F7FA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50215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C9669"/>
                </a:solidFill>
                <a:latin typeface="Aptos"/>
              </a:rPr>
              <a:t>4  RPM + wearables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904487"/>
            <a:ext cx="30632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Datos continuos en casa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337560"/>
            <a:ext cx="3429000" cy="1417320"/>
          </a:xfrm>
          <a:prstGeom prst="roundRect">
            <a:avLst/>
          </a:prstGeom>
          <a:solidFill>
            <a:srgbClr val="F2F7FA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50215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D8537"/>
                </a:solidFill>
                <a:latin typeface="Aptos"/>
              </a:rPr>
              <a:t>5  Asincrónica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904487"/>
            <a:ext cx="30632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Store-and-forward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337560"/>
            <a:ext cx="3429000" cy="1417320"/>
          </a:xfrm>
          <a:prstGeom prst="roundRect">
            <a:avLst/>
          </a:prstGeom>
          <a:solidFill>
            <a:srgbClr val="F2F7FA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50215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1F38"/>
                </a:solidFill>
                <a:latin typeface="Aptos"/>
              </a:rPr>
              <a:t>6  Security-by-design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904487"/>
            <a:ext cx="30632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Cumplimiento desde arquitectura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949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F38"/>
                </a:solidFill>
                <a:latin typeface="Aptos"/>
              </a:rPr>
              <a:t>2026: interoperabilidad + flujo clínico + seguridad &gt; aplicación aislada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882"/>
                </a:solidFill>
                <a:latin typeface="Aptos"/>
              </a:rPr>
              <a:t>Fuente: Appinventiv Technologies, Telehealth Trends 2026, pp. 4–5, 14.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9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F38"/>
                </a:solidFill>
                <a:latin typeface="Aptos"/>
              </a:rPr>
              <a:t>IA EN TELESALUD: EL CASO MÁS INMEDIATO ES DEVOLVER TIEMPO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5EA6"/>
                </a:solidFill>
                <a:latin typeface="Aptos"/>
              </a:rPr>
              <a:t>La fuente enfatiza documentación y eficiencia antes que diagnóstico autónomo.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9969C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383280" cy="1920240"/>
          </a:xfrm>
          <a:prstGeom prst="roundRect">
            <a:avLst/>
          </a:prstGeom>
          <a:solidFill>
            <a:srgbClr val="F2F7FA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819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5EA6"/>
                </a:solidFill>
                <a:latin typeface="Aptos"/>
              </a:rPr>
              <a:t>29%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84248"/>
            <a:ext cx="3017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de médicos usaban documentación por voz a inicios de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1920240"/>
          </a:xfrm>
          <a:prstGeom prst="roundRect">
            <a:avLst/>
          </a:prstGeom>
          <a:solidFill>
            <a:srgbClr val="F2F7FA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819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9969C"/>
                </a:solidFill>
                <a:latin typeface="Aptos"/>
              </a:rPr>
              <a:t>≈ 1 de cada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84248"/>
            <a:ext cx="3017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médicos reportaba usar IA al menos diariamente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383280" cy="1920240"/>
          </a:xfrm>
          <a:prstGeom prst="roundRect">
            <a:avLst/>
          </a:prstGeom>
          <a:solidFill>
            <a:srgbClr val="F2F7FA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819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D8537"/>
                </a:solidFill>
                <a:latin typeface="Aptos"/>
              </a:rPr>
              <a:t>47% vs 14%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84248"/>
            <a:ext cx="3017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menos charting fuera de horario en un ensayo de ambient scribe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F38"/>
                </a:solidFill>
                <a:latin typeface="Aptos"/>
              </a:rPr>
              <a:t>VISITA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886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5EA6"/>
                </a:solidFill>
                <a:latin typeface="Aptos"/>
              </a:rPr>
              <a:t>IA AMBIENTAL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886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9969C"/>
                </a:solidFill>
                <a:latin typeface="Aptos"/>
              </a:rPr>
              <a:t>BORRADOR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886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C9669"/>
                </a:solidFill>
                <a:latin typeface="Aptos"/>
              </a:rPr>
              <a:t>REVISIÓN CLÍNICA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8862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F38"/>
                </a:solidFill>
                <a:latin typeface="Aptos"/>
              </a:rPr>
              <a:t>HCE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8679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D8537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8679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D8537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8679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D8537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38679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D8537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7492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Gobernanza obligatoria: control de acceso • auditoría • supervisión del modelo • protección de datos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937760"/>
            <a:ext cx="10789920" cy="868680"/>
          </a:xfrm>
          <a:prstGeom prst="roundRect">
            <a:avLst/>
          </a:prstGeom>
          <a:solidFill>
            <a:srgbClr val="0D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882"/>
                </a:solidFill>
                <a:latin typeface="Aptos"/>
              </a:rPr>
              <a:t>Fuente: Appinventiv Technologies, Telehealth Trends 2026, p. 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9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F38"/>
                </a:solidFill>
                <a:latin typeface="Aptos"/>
              </a:rPr>
              <a:t>RPM: LA SEGUNDA ETAPA DE LA ATENCIÓN VIRTUAL ES EL FLUJO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5EA6"/>
                </a:solidFill>
                <a:latin typeface="Aptos"/>
              </a:rPr>
              <a:t>De una consulta episódica → seguimiento continuo.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9969C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1965960" cy="1463040"/>
          </a:xfrm>
          <a:prstGeom prst="roundRect">
            <a:avLst/>
          </a:prstGeom>
          <a:solidFill>
            <a:srgbClr val="F2F7FA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6479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5EA6"/>
                </a:solidFill>
                <a:latin typeface="Aptos"/>
              </a:rPr>
              <a:t>Paciente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67128"/>
            <a:ext cx="1600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casa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6584" y="20574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F38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600200"/>
            <a:ext cx="1965960" cy="1463040"/>
          </a:xfrm>
          <a:prstGeom prst="roundRect">
            <a:avLst/>
          </a:prstGeom>
          <a:solidFill>
            <a:srgbClr val="F2F7FA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76479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9969C"/>
                </a:solidFill>
                <a:latin typeface="Aptos"/>
              </a:rPr>
              <a:t>Dispositivo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67128"/>
            <a:ext cx="1600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PA • glucosa • SpO₂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8304" y="20574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F38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600200"/>
            <a:ext cx="1965960" cy="1463040"/>
          </a:xfrm>
          <a:prstGeom prst="roundRect">
            <a:avLst/>
          </a:prstGeom>
          <a:solidFill>
            <a:srgbClr val="F2F7FA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76479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1B4D2"/>
                </a:solidFill>
                <a:latin typeface="Aptos"/>
              </a:rPr>
              <a:t>Plataforma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167128"/>
            <a:ext cx="1600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ingesta + normalización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0024" y="20574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F38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600200"/>
            <a:ext cx="1965960" cy="1463040"/>
          </a:xfrm>
          <a:prstGeom prst="roundRect">
            <a:avLst/>
          </a:prstGeom>
          <a:solidFill>
            <a:srgbClr val="F2F7FA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19" y="176479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D8537"/>
                </a:solidFill>
                <a:latin typeface="Aptos"/>
              </a:rPr>
              <a:t>Señal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2167128"/>
            <a:ext cx="1600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priorización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1744" y="20574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F38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59" y="1600200"/>
            <a:ext cx="1965960" cy="1463040"/>
          </a:xfrm>
          <a:prstGeom prst="roundRect">
            <a:avLst/>
          </a:prstGeom>
          <a:solidFill>
            <a:srgbClr val="F2F7FA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39" y="176479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C9669"/>
                </a:solidFill>
                <a:latin typeface="Aptos"/>
              </a:rPr>
              <a:t>Clínico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39" y="2167128"/>
            <a:ext cx="1600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acción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70332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969C"/>
                </a:solidFill>
                <a:latin typeface="Aptos"/>
              </a:rPr>
              <a:t>≈ $16B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2976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32D37"/>
                </a:solidFill>
                <a:latin typeface="Aptos"/>
              </a:rPr>
              <a:t>mercado de monitoreo remoto en EE.UU.,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70332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D8537"/>
                </a:solidFill>
                <a:latin typeface="Aptos"/>
              </a:rPr>
              <a:t>≈ $29B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2976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32D37"/>
                </a:solidFill>
                <a:latin typeface="Aptos"/>
              </a:rPr>
              <a:t>proyección para 2030 (según el informe)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57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F38"/>
                </a:solidFill>
                <a:latin typeface="Aptos"/>
              </a:rPr>
              <a:t>El problema difícil no es recolectar datos: es convertir el “firehose” en pocas señales clínicas accionables.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882"/>
                </a:solidFill>
                <a:latin typeface="Aptos"/>
              </a:rPr>
              <a:t>Fuente: Appinventiv Technologies, Telehealth Trends 2026, pp. 7–8.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9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F38"/>
                </a:solidFill>
                <a:latin typeface="Aptos"/>
              </a:rPr>
              <a:t>¿QUÉ DEBE CONSTRUIR UN HOSPITAL DIGITAL?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5EA6"/>
                </a:solidFill>
                <a:latin typeface="Aptos"/>
              </a:rPr>
              <a:t>La telesalud madura es arquitectura clínica, no una colección de apps.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9969C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520440" cy="1828800"/>
          </a:xfrm>
          <a:prstGeom prst="roundRect">
            <a:avLst/>
          </a:prstGeom>
          <a:solidFill>
            <a:srgbClr val="F2F7FA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5EA6"/>
                </a:solidFill>
                <a:latin typeface="Aptos"/>
              </a:rPr>
              <a:t>1  INTEGRAR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84248"/>
            <a:ext cx="31546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HCE/EHR + FHIR/HL7</a:t>
            </a:r>
            <a:br/>
            <a:r>
              <a:t>Un solo flujo de información.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1828800"/>
          </a:xfrm>
          <a:prstGeom prst="roundRect">
            <a:avLst/>
          </a:prstGeom>
          <a:solidFill>
            <a:srgbClr val="F2F7FA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819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D8537"/>
                </a:solidFill>
                <a:latin typeface="Aptos"/>
              </a:rPr>
              <a:t>2  PROTEGER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84248"/>
            <a:ext cx="31546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Seguridad desde diseño</a:t>
            </a:r>
            <a:br/>
            <a:r>
              <a:t>Accesos + auditoría + cumplimiento.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520440" cy="1828800"/>
          </a:xfrm>
          <a:prstGeom prst="roundRect">
            <a:avLst/>
          </a:prstGeom>
          <a:solidFill>
            <a:srgbClr val="F2F7FA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5819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9969C"/>
                </a:solidFill>
                <a:latin typeface="Aptos"/>
              </a:rPr>
              <a:t>3  ORQUESTAR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1984248"/>
            <a:ext cx="31546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D37"/>
                </a:solidFill>
                <a:latin typeface="Aptos"/>
              </a:rPr>
              <a:t>Video + mensajería + RPM + IA</a:t>
            </a:r>
            <a:br/>
            <a:r>
              <a:t>alrededor del flujo clínico.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9969C"/>
                </a:solidFill>
                <a:latin typeface="Aptos"/>
              </a:rPr>
              <a:t>TELESALUD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3484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D1F38"/>
                </a:solidFill>
                <a:latin typeface="Aptos"/>
              </a:rPr>
              <a:t>VISITA VIRTUAL  +  DATOS REMOTOS  +  IA ASISTIVA  +  HCE INTEROPERABLE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321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Pregunta para la clase: ¿Qué parte de la atención de su hospital puede pasar de episódica a continua?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394960"/>
            <a:ext cx="10972800" cy="777240"/>
          </a:xfrm>
          <a:prstGeom prst="roundRect">
            <a:avLst/>
          </a:prstGeom>
          <a:solidFill>
            <a:srgbClr val="0D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882"/>
                </a:solidFill>
                <a:latin typeface="Aptos"/>
              </a:rPr>
              <a:t>Fuente: Appinventiv Technologies, Telehealth Trends 2026, pp. 12–15.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