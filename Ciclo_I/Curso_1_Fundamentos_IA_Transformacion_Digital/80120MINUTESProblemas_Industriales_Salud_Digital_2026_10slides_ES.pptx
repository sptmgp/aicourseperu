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PROBLEMAS INDUSTRIALES ACTUALES EN SALUD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EHR/HCE • Telemedicina • RPM • IA | 20–30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0D1F38"/>
                </a:solidFill>
                <a:latin typeface="Aptos"/>
              </a:rPr>
              <a:t>El problema ya no es digitalizar. Es conectar, filtrar y actuar.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338328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651760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EHR / HCE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26664"/>
            <a:ext cx="30540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PROBLEMA:</a:t>
            </a:r>
            <a:br/>
            <a:r>
              <a:t>fragmentación del historial y sobrecarga de información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514600"/>
            <a:ext cx="338328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TELEMEDICINA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26664"/>
            <a:ext cx="30540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PROBLEMA:</a:t>
            </a:r>
            <a:br/>
            <a:r>
              <a:t>atención virtual aislada y falta de continuidad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2514600"/>
            <a:ext cx="338328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651760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RPM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026664"/>
            <a:ext cx="30540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PROBLEMA:</a:t>
            </a:r>
            <a:br/>
            <a:r>
              <a:t>demasiados datos y demasiadas alertas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META INDUSTRIAL → cerrar el ciclo desde el dato hasta una acción clínica documentada.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0881360" cy="868680"/>
          </a:xfrm>
          <a:prstGeom prst="round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Fuentes: informe Telehealth Trends 2026 aportado por el usuario + fuentes oficiales de compañías, consultadas Sep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EHR/HCE: EL PROBLEMA ES LA FRAGMENTACIÓN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Un paciente puede tener información distribuida entre múltiples instituciones.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63040"/>
            <a:ext cx="19659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600200"/>
            <a:ext cx="1636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Hospital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75104"/>
            <a:ext cx="163677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dato parcial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2" y="1463040"/>
            <a:ext cx="19659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600200"/>
            <a:ext cx="1636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Laboratorio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975104"/>
            <a:ext cx="163677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dato parcial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463040"/>
            <a:ext cx="19659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1600200"/>
            <a:ext cx="1636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Cardiólogo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1975104"/>
            <a:ext cx="163677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dato parcial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6" y="1463040"/>
            <a:ext cx="19659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1600200"/>
            <a:ext cx="1636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Farmacia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1975104"/>
            <a:ext cx="163677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dato parcial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6648" y="1463040"/>
            <a:ext cx="196596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600200"/>
            <a:ext cx="1636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Hospital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975104"/>
            <a:ext cx="163677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dato parcial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¿Cómo convertir cinco fragmentos en UNA historia clínica utilizable?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886200"/>
            <a:ext cx="47548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023360"/>
            <a:ext cx="4425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PROBLEMA INDUSTRIAL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4398264"/>
            <a:ext cx="4425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silos • duplicación • contexto incompleto • tiempo de búsqueda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886200"/>
            <a:ext cx="475488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023360"/>
            <a:ext cx="4425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OBJETIVO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398264"/>
            <a:ext cx="44256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interoperabilidad + historia longitudinal + datos dentro del flujo clínico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Epic y Oracle Health presentan interoperabilidad y acceso longitudinal como problemas centrales de sus plataformas.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¿CÓMO LO RESUELVEN EPIC Y ORACLE HEALTH?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Interoperabilidad a escala: conectar sistemas heterogéneos sin sacar al clínico de su flujo.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92024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54480"/>
            <a:ext cx="4974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EPIC — CARE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29384"/>
            <a:ext cx="49743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• &gt;30 millones de expedientes intercambiados/día</a:t>
            </a:r>
            <a:br/>
            <a:r>
              <a:t>• ~50% con otras plataformas interoperables</a:t>
            </a:r>
            <a:br/>
            <a:r>
              <a:t>• APIs basadas en FHIR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192024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54480"/>
            <a:ext cx="4974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ORACLE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29384"/>
            <a:ext cx="49743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• HIE / intercambio clínico</a:t>
            </a:r>
            <a:br/>
            <a:r>
              <a:t>• Connection Hub</a:t>
            </a:r>
            <a:br/>
            <a:r>
              <a:t>• APIs EHR + FHIR para apps y dispositivos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D1F38"/>
                </a:solidFill>
                <a:latin typeface="Aptos"/>
              </a:rPr>
              <a:t>INDUSTRIA: no basta almacenar datos → deben viajar y aparecer donde se toma la decisión.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E4041"/>
                </a:solidFill>
                <a:latin typeface="Aptos"/>
              </a:rPr>
              <a:t>SILOS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634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B8432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63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9499"/>
                </a:solidFill>
                <a:latin typeface="Aptos"/>
              </a:rPr>
              <a:t>INTEROPERABILIDAD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6634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B8432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663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79164"/>
                </a:solidFill>
                <a:latin typeface="Aptos"/>
              </a:rPr>
              <a:t>HISTORIA UTILIZABLE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Fuentes oficiales: Epic Care Everywhere / Epic Interoperability; Oracle Health Interoperability (consultadas Sep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TELEMEDICINA: EL PROBLEMA YA NO ES HACER VIDEOLLAMADAS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El riesgo actual es crear otro silo digital separado del resto de la atención.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42316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2093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9384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consulta virtual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42316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554480"/>
            <a:ext cx="2093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EHR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929384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historial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417320"/>
            <a:ext cx="242316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554480"/>
            <a:ext cx="2093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RPM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929384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sensores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417320"/>
            <a:ext cx="2423160" cy="13258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1554480"/>
            <a:ext cx="2093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MENSAJERÍA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1929384"/>
            <a:ext cx="2093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seguimiento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E4041"/>
                </a:solidFill>
                <a:latin typeface="Aptos"/>
              </a:rPr>
              <a:t>Si cada módulo vive separado, el paciente sigue teniendo atención fragmentada.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NUEVO OBJETIVO: atención conectada, adaptativa y coordinada.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983480"/>
            <a:ext cx="9784080" cy="7315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5120640"/>
            <a:ext cx="9454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TELEHEALTH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5495544"/>
            <a:ext cx="945489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Video + EHR + RPM + mensajería + IA + coordinación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El informe 2026 aportado por el usuario describe el giro hacia sistemas interoperables y orientados al flujo clínico.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TELADOC: DE SOLUCIONES AISLADAS A ATENCIÓN CONECTADA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Ejemplo 2026 de respuesta industrial a la fragmentación.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657600" cy="21031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PROBLEMA DECLARADO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3328416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soluciones construidas enfermedad por enfermedad → experiencia fragmentada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B843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417320"/>
            <a:ext cx="5486400" cy="21031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1554480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TELADOC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1929384"/>
            <a:ext cx="5157216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modelo anunciado en julio de 2026: experiencia única, predictiva y adaptativa con equipos multidisciplinarios + soporte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9737D"/>
                </a:solidFill>
                <a:latin typeface="Aptos"/>
              </a:rPr>
              <a:t>Cambio de pregunta industrial: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1F38"/>
                </a:solidFill>
                <a:latin typeface="Aptos"/>
              </a:rPr>
              <a:t>“¿Podemos ver al paciente?”  →  “¿Podemos coordinar su atención completa?”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Fuente oficial: Teladoc Health, anuncio Teladoc One, 23 Jul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RPM: EL PROBLEMA MÁS DIFÍCIL ES EL 'FIREHOSE'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Recolectar señales es fácil; convertirlas en prioridades clínicas es difícil.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5EA8"/>
                </a:solidFill>
                <a:latin typeface="Aptos"/>
              </a:rPr>
              <a:t>Wearables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17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9499"/>
                </a:solidFill>
                <a:latin typeface="Aptos"/>
              </a:rPr>
              <a:t>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417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E4041"/>
                </a:solidFill>
                <a:latin typeface="Aptos"/>
              </a:rPr>
              <a:t>Ruido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17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8432"/>
                </a:solidFill>
                <a:latin typeface="Aptos"/>
              </a:rPr>
              <a:t>Prioridad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17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9164"/>
                </a:solidFill>
                <a:latin typeface="Aptos"/>
              </a:rPr>
              <a:t>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417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17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417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231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F38"/>
                </a:solidFill>
                <a:latin typeface="Aptos"/>
              </a:rPr>
              <a:t>HR(t) • SpO₂(t) • BP(t) • glucosa(t) • peso(t) • actividad(t)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2461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94760"/>
            <a:ext cx="2916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NO NECESITAMOS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69664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1 000 000 mediciones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657600"/>
            <a:ext cx="32461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794760"/>
            <a:ext cx="2916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NECESITAMOS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169664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las pocas señales relevantes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657600"/>
            <a:ext cx="324612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794760"/>
            <a:ext cx="2916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PARA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169664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una intervención apropiada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F38"/>
                </a:solidFill>
                <a:latin typeface="Aptos"/>
              </a:rPr>
              <a:t>RPM industrial = reducción de ruido + contexto + escalamiento + workflow.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Informe aportado: el reto es normalizar datos conectados y mostrar las pocas señales que importan clínicamente.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DEXCOM: DEL SENSOR DE GLUCOSA AL FLUJO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El valor aumenta cuando el dato del wearable entra directamente en el EHR.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331720" cy="15087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DEXCOM G7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57984"/>
            <a:ext cx="20025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331720" cy="15087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83080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57984"/>
            <a:ext cx="20025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glucosa histórica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331720" cy="15087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EPIC EHR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57984"/>
            <a:ext cx="20025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AGP + métricas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645920"/>
            <a:ext cx="2331720" cy="15087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1" y="1783080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CLÍNICO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1" y="2157984"/>
            <a:ext cx="20025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revisión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86200"/>
            <a:ext cx="480060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023360"/>
            <a:ext cx="4471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PROBLEMA QUE RESUELVE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398264"/>
            <a:ext cx="4471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evitar que los datos CGM queden en una aplicación separada del expediente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886200"/>
            <a:ext cx="480060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023360"/>
            <a:ext cx="4471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SOLUCIÓN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398264"/>
            <a:ext cx="44714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integración directa: datos discretos dentro del EHR y del workflow clínico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Fuente oficial: Dexcom Provider — Direct EHR Integration con Epic; requiere FHIR R4 en sistemas compatibles.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BIOFOURMIS: DEL DATO REMOTO A LA PRIORIZACIÓN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Ejemplo de plataforma que combina sensores, analítica y coordinación clínica.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514600" cy="15544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45919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1. CAPTURAR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21854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sensores y dispositivos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14600" cy="15544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45919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2. MODELAR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20824"/>
            <a:ext cx="21854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baseline individual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514600" cy="15544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19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3. DETECTAR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20824"/>
            <a:ext cx="21854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desviaciones clínicas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08760"/>
            <a:ext cx="2514600" cy="155448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645919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4. INTERVENIR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020824"/>
            <a:ext cx="21854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dashboard + escalamiento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D1F38"/>
                </a:solidFill>
                <a:latin typeface="Aptos"/>
              </a:rPr>
              <a:t>La plataforma declara &gt;4 millones de puntos de datos por paciente post-agudo/día.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663440"/>
            <a:ext cx="10058400" cy="9601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6151" y="4800600"/>
            <a:ext cx="9729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PROBLEMA INDUSTRIAL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1" y="5175504"/>
            <a:ext cx="9729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¿Cómo transformar una corriente masiva de fisiología en desviaciones significativas, triage y acciones coordinadas?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Fuente oficial: Biofourmis Platform; cifras son datos declarados por la compañía.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LA CONVERGENCIA: LAS TRES INDUSTRIAS SE ESTÁN UNIENDO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El producto de mayor valor es el circuito clínico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0574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691639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66543"/>
            <a:ext cx="1728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RPM / wearable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1554480"/>
            <a:ext cx="20574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1691639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INTEGRATE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2066543"/>
            <a:ext cx="1728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EHR / FHIR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1554480"/>
            <a:ext cx="20574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691639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066543"/>
            <a:ext cx="1728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analítica /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6" y="1554480"/>
            <a:ext cx="20574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691639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BE4041"/>
                </a:solidFill>
                <a:latin typeface="Aptos"/>
              </a:rPr>
              <a:t>PRIORITIZE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066543"/>
            <a:ext cx="1728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011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554480"/>
            <a:ext cx="205740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691639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379164"/>
                </a:solidFill>
                <a:latin typeface="Apto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066543"/>
            <a:ext cx="1728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clínico / virtual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9737D"/>
                </a:solidFill>
                <a:latin typeface="Aptos"/>
              </a:rPr>
              <a:t>Y después de actuar: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1F38"/>
                </a:solidFill>
                <a:latin typeface="Aptos"/>
              </a:rPr>
              <a:t>DOCUMENTAR → actualizar EHR → continuar monitorización → repetir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074920"/>
            <a:ext cx="10241280" cy="7315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212080"/>
            <a:ext cx="9912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CLOSED CLINICAL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586983"/>
            <a:ext cx="991209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SENSE → INTEGRATE → UNDERSTAND → PRIORITIZE → ACT →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Síntesis docente basada en el informe aportado y ejemplos industriales oficiales.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38"/>
                </a:solidFill>
                <a:latin typeface="Aptos"/>
              </a:rPr>
              <a:t>PREGUNTA DE DISCUSIÓN: ¿DÓNDE ESTÁ LA OPORTUNIDAD DE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25EA8"/>
                </a:solidFill>
                <a:latin typeface="Aptos"/>
              </a:rPr>
              <a:t>No necesariamente en reemplazar al médico, sino en cerrar la brecha DATOS → ACCIÓN.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59499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25EA8"/>
                </a:solidFill>
                <a:latin typeface="Aptos"/>
              </a:rPr>
              <a:t>EHR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resumir historia</a:t>
            </a:r>
            <a:br/>
            <a:r>
              <a:t>reducir búsqueda</a:t>
            </a:r>
            <a:br/>
            <a:r>
              <a:t>apoyar documentación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59499"/>
                </a:solidFill>
                <a:latin typeface="Aptos"/>
              </a:rPr>
              <a:t>TELEMEDICINA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9384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documentación ambiental</a:t>
            </a:r>
            <a:br/>
            <a:r>
              <a:t>coordinación</a:t>
            </a:r>
            <a:br/>
            <a:r>
              <a:t>seguimiento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417320"/>
            <a:ext cx="33832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554480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B8432"/>
                </a:solidFill>
                <a:latin typeface="Aptos"/>
              </a:rPr>
              <a:t>RPM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929384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filtrar ruido</a:t>
            </a:r>
            <a:br/>
            <a:r>
              <a:t>detectar tendencias</a:t>
            </a:r>
            <a:br/>
            <a:r>
              <a:t>priorizar revisión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F38"/>
                </a:solidFill>
                <a:latin typeface="Aptos"/>
              </a:rPr>
              <a:t>CASO PARA LA CLASE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6303A"/>
                </a:solidFill>
                <a:latin typeface="Aptos"/>
              </a:rPr>
              <a:t>10 000 pacientes envían datos diariamente. Solo 100 requieren revisión y quizá 10 una intervención. ¿Qué capa del sistema debe encontrar esos 100 sin perder a los pacientes realmente deteriorados?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E4041"/>
                </a:solidFill>
                <a:latin typeface="Aptos"/>
              </a:rPr>
              <a:t>→ Aquí aparece el problema de IA, seguridad, sensibilidad, falsas alarmas y gobernanza.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9737D"/>
                </a:solidFill>
                <a:latin typeface="Aptos"/>
              </a:rPr>
              <a:t>Cierre: la oportunidad industrial está en convertir información fragmentada y masiva en atención coordinada y accionable.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