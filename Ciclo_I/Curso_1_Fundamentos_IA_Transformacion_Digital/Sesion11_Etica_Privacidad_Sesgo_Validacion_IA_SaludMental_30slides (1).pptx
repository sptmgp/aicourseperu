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4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ide_clean_modern_flat_illustrative_infograph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0"/>
            <a:ext cx="740664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94360" y="777240"/>
            <a:ext cx="48006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>
            <a:normAutofit/>
          </a:bodyPr>
          <a:lstStyle/>
          <a:p>
            <a:pPr algn="ctr">
              <a:defRPr sz="1400" b="1">
                <a:solidFill>
                  <a:srgbClr val="008B95"/>
                </a:solidFill>
                <a:latin typeface="Aptos"/>
              </a:defRPr>
            </a:pPr>
            <a:r>
              <a:t>SESIÓN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521208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1">
                <a:solidFill>
                  <a:srgbClr val="0F2346"/>
                </a:solidFill>
                <a:latin typeface="Aptos"/>
              </a:defRPr>
            </a:pPr>
            <a:r>
              <a:t>Ética, privacidad, sesgo y validación de IA clínica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880360"/>
            <a:ext cx="47548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>
            <a:normAutofit/>
          </a:bodyPr>
          <a:lstStyle/>
          <a:p>
            <a:pPr algn="ctr">
              <a:defRPr sz="1700" b="0">
                <a:solidFill>
                  <a:srgbClr val="4D596C"/>
                </a:solidFill>
                <a:latin typeface="Aptos"/>
              </a:defRPr>
            </a:pPr>
            <a:r>
              <a:t>Aplicada a salud mental y sistemas clínicos con supervisión humana real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4114800"/>
            <a:ext cx="4800600" cy="731520"/>
          </a:xfrm>
          <a:prstGeom prst="roundRect">
            <a:avLst/>
          </a:prstGeom>
          <a:solidFill>
            <a:srgbClr val="FFFAEB"/>
          </a:solidFill>
          <a:ln w="12700">
            <a:solidFill>
              <a:srgbClr val="AA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>
            <a:normAutofit/>
          </a:bodyPr>
          <a:lstStyle/>
          <a:p>
            <a:pPr algn="ctr">
              <a:defRPr sz="1450" b="1">
                <a:solidFill>
                  <a:srgbClr val="0F2346"/>
                </a:solidFill>
                <a:latin typeface="Aptos"/>
              </a:defRPr>
            </a:pPr>
            <a:r>
              <a:t>Producto final: auditoría de un modelo clínico + registro de riesgos + plan de mitigación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45936"/>
            <a:ext cx="11201400" cy="9144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97382"/>
                </a:solidFill>
                <a:latin typeface="Aptos"/>
              </a:defRPr>
            </a:pPr>
            <a:r>
              <a:t>Fuentes: Psiquiatria.com Ética y Seguridad + Retinar HITL + Inquira Health HIPAA/GDPR, IA especializada y atención 24/7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346"/>
                </a:solidFill>
                <a:latin typeface="Aptos"/>
              </a:defRPr>
            </a:pPr>
            <a:r>
              <a:t>Dónde encaja esta sesión en el diplomado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D596C"/>
                </a:solidFill>
                <a:latin typeface="Aptos"/>
              </a:defRPr>
            </a:pPr>
            <a:r>
              <a:t>Después de construir modelos, ahora aprendemos a gobernarlos con seguridad clínica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5212080" cy="438912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18872" bIns="73152">
            <a:normAutofit/>
          </a:bodyPr>
          <a:lstStyle/>
          <a:p>
            <a:pPr algn="ctr">
              <a:defRPr b="1" sz="1550">
                <a:solidFill>
                  <a:srgbClr val="0F2346"/>
                </a:solidFill>
                <a:latin typeface="Aptos"/>
              </a:defRPr>
            </a:pPr>
            <a:r>
              <a:t>Objetivo de aprendizaje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Sesiones previas: modelos, deep learning, imágenes, LLM y workflows clínicos.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Sesión 11: pregunta si el sistema es seguro, justo, privado, validado y trazable.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No se evalúa solo el AUC: se evalúa el riesgo para pacientes y profesionales.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La meta es que el estudiante pueda auditar una herramienta antes de recomendarla.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23444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18872" bIns="73152">
            <a:normAutofit/>
          </a:bodyPr>
          <a:lstStyle/>
          <a:p>
            <a:pPr algn="ctr">
              <a:defRPr b="1" sz="1550">
                <a:solidFill>
                  <a:srgbClr val="0F2346"/>
                </a:solidFill>
                <a:latin typeface="Aptos"/>
              </a:defRPr>
            </a:pPr>
            <a:r>
              <a:t>Temas centrales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Bias y fairness.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Privacidad, consentimiento y seguridad.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Explicabilidad y trazabilidad.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Validación interna y externa.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Human-in-the-loop.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Regulación y gestión de riesgo.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45936"/>
            <a:ext cx="11201400" cy="9144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97382"/>
                </a:solidFill>
                <a:latin typeface="Aptos"/>
              </a:defRPr>
            </a:pPr>
            <a:r>
              <a:t>Fuente: Psiquiatria.com · “Ética y Seguridad de la Inteligencia Artificial en Salud Mental” · https://psiquiatria.com/inteligencia-artificial-salud-mental/index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346"/>
                </a:solidFill>
                <a:latin typeface="Aptos"/>
              </a:defRPr>
            </a:pPr>
            <a:r>
              <a:t>Por qué salud mental exige máxima cautela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D596C"/>
                </a:solidFill>
                <a:latin typeface="Aptos"/>
              </a:defRPr>
            </a:pPr>
            <a:r>
              <a:t>La IA puede ayudar, pero maneja datos íntimos y decisiones sensibles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5394960" cy="4206240"/>
          </a:xfrm>
          <a:prstGeom prst="roundRect">
            <a:avLst/>
          </a:prstGeom>
          <a:solidFill>
            <a:srgbClr val="FFFAF5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18872" bIns="73152">
            <a:normAutofit/>
          </a:bodyPr>
          <a:lstStyle/>
          <a:p>
            <a:pPr algn="ctr">
              <a:defRPr b="1" sz="1550">
                <a:solidFill>
                  <a:srgbClr val="0F2346"/>
                </a:solidFill>
                <a:latin typeface="Aptos"/>
              </a:defRPr>
            </a:pPr>
            <a:r>
              <a:t>Mensaje clave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Los datos de salud mental pueden incluir síntomas, ideación, relaciones, trauma, medicación y riesgo social.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Un error puede producir daño psicológico, estigma, retraso terapéutico o escalamiento inapropiado.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La confianza del paciente depende de confidencialidad, claridad y supervisión clínica.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El profesional conserva responsabilidad clínica: la IA no sustituye el juicio humano.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417320"/>
            <a:ext cx="4754880" cy="1005840"/>
          </a:xfrm>
          <a:prstGeom prst="roundRect">
            <a:avLst/>
          </a:prstGeom>
          <a:solidFill>
            <a:srgbClr val="F0FFFC"/>
          </a:solidFill>
          <a:ln w="12700">
            <a:solidFill>
              <a:srgbClr val="AA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>
            <a:normAutofit/>
          </a:bodyPr>
          <a:lstStyle/>
          <a:p>
            <a:pPr algn="ctr">
              <a:defRPr sz="1500" b="1">
                <a:solidFill>
                  <a:srgbClr val="0F2346"/>
                </a:solidFill>
                <a:latin typeface="Aptos"/>
              </a:defRPr>
            </a:pPr>
            <a:r>
              <a:t>Frase para explicar: “En salud mental, la seguridad no es solo técnica; también es relacional, ética y clínica.”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2743200"/>
            <a:ext cx="475488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18872" bIns="73152">
            <a:normAutofit/>
          </a:bodyPr>
          <a:lstStyle/>
          <a:p>
            <a:pPr algn="ctr">
              <a:defRPr b="1" sz="1550">
                <a:solidFill>
                  <a:srgbClr val="0F2346"/>
                </a:solidFill>
                <a:latin typeface="Aptos"/>
              </a:defRPr>
            </a:pPr>
            <a:r>
              <a:t>Preguntas de auditoría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¿Quién ve los datos?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¿Cómo se decide escalar?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¿Qué pasa si la IA se equivoca?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¿El paciente sabe que interactúa con IA?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45936"/>
            <a:ext cx="11201400" cy="9144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97382"/>
                </a:solidFill>
                <a:latin typeface="Aptos"/>
              </a:defRPr>
            </a:pPr>
            <a:r>
              <a:t>Fuente: Psiquiatria.com · “Ética y Seguridad de la Inteligencia Artificial en Salud Mental” · https://psiquiatria.com/inteligencia-artificial-salud-mental/index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346"/>
                </a:solidFill>
                <a:latin typeface="Aptos"/>
              </a:defRPr>
            </a:pPr>
            <a:r>
              <a:t>Cuatro principios éticos para IA clínica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D596C"/>
                </a:solidFill>
                <a:latin typeface="Aptos"/>
              </a:defRPr>
            </a:pPr>
            <a:r>
              <a:t>Marco simple para discutir cualquier herramienta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80160"/>
            <a:ext cx="516636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>
            <a:normAutofit/>
          </a:bodyPr>
          <a:lstStyle/>
          <a:p>
            <a:pPr algn="ctr">
              <a:defRPr sz="1700" b="1">
                <a:solidFill>
                  <a:srgbClr val="0F2346"/>
                </a:solidFill>
                <a:latin typeface="Aptos"/>
              </a:defRPr>
            </a:pPr>
            <a:r>
              <a:t>1. Supervisión clínica</a:t>
            </a:r>
            <a:br/>
            <a:r>
              <a:t>La IA no sustituye el juicio profesional.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280160"/>
            <a:ext cx="516636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>
            <a:normAutofit/>
          </a:bodyPr>
          <a:lstStyle/>
          <a:p>
            <a:pPr algn="ctr">
              <a:defRPr sz="1700" b="1">
                <a:solidFill>
                  <a:srgbClr val="0F2346"/>
                </a:solidFill>
                <a:latin typeface="Aptos"/>
              </a:defRPr>
            </a:pPr>
            <a:r>
              <a:t>2. Transparencia</a:t>
            </a:r>
            <a:br/>
            <a:r>
              <a:t>El usuario debe entender límites y funcionamiento.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337560"/>
            <a:ext cx="516636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>
            <a:normAutofit/>
          </a:bodyPr>
          <a:lstStyle/>
          <a:p>
            <a:pPr algn="ctr">
              <a:defRPr sz="1700" b="1">
                <a:solidFill>
                  <a:srgbClr val="0F2346"/>
                </a:solidFill>
                <a:latin typeface="Aptos"/>
              </a:defRPr>
            </a:pPr>
            <a:r>
              <a:t>3. Responsabilidad</a:t>
            </a:r>
            <a:br/>
            <a:r>
              <a:t>Las decisiones son atribuibles a personas y equipos.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3337560"/>
            <a:ext cx="516636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>
            <a:normAutofit/>
          </a:bodyPr>
          <a:lstStyle/>
          <a:p>
            <a:pPr algn="ctr">
              <a:defRPr sz="1700" b="1">
                <a:solidFill>
                  <a:srgbClr val="0F2346"/>
                </a:solidFill>
                <a:latin typeface="Aptos"/>
              </a:defRPr>
            </a:pPr>
            <a:r>
              <a:t>4. No maleficencia</a:t>
            </a:r>
            <a:br/>
            <a:r>
              <a:t>Evitar daño clínico, psicológico o social.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5486400"/>
            <a:ext cx="8595360" cy="502920"/>
          </a:xfrm>
          <a:prstGeom prst="roundRect">
            <a:avLst/>
          </a:prstGeom>
          <a:solidFill>
            <a:srgbClr val="DCF6F2"/>
          </a:solidFill>
          <a:ln w="12700">
            <a:solidFill>
              <a:srgbClr val="AA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>
            <a:normAutofit/>
          </a:bodyPr>
          <a:lstStyle/>
          <a:p>
            <a:pPr algn="ctr">
              <a:defRPr sz="1350" b="1">
                <a:solidFill>
                  <a:srgbClr val="008B95"/>
                </a:solidFill>
                <a:latin typeface="Aptos"/>
              </a:defRPr>
            </a:pPr>
            <a:r>
              <a:t>Actividad: pedir al estudiante que elija un chatbot clínico y ubique qué principio es más vulnerable.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45936"/>
            <a:ext cx="11201400" cy="9144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97382"/>
                </a:solidFill>
                <a:latin typeface="Aptos"/>
              </a:defRPr>
            </a:pPr>
            <a:r>
              <a:t>Fuente: Psiquiatria.com · “Ética y Seguridad de la Inteligencia Artificial en Salud Mental” · https://psiquiatria.com/inteligencia-artificial-salud-mental/index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346"/>
                </a:solidFill>
                <a:latin typeface="Aptos"/>
              </a:defRPr>
            </a:pPr>
            <a:r>
              <a:t>Privacidad y confidencialidad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D596C"/>
                </a:solidFill>
                <a:latin typeface="Aptos"/>
              </a:defRPr>
            </a:pPr>
            <a:r>
              <a:t>En salud mental, una fuga de datos puede ser clínicamente dañina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5394960" cy="448056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18872" bIns="73152">
            <a:normAutofit/>
          </a:bodyPr>
          <a:lstStyle/>
          <a:p>
            <a:pPr algn="ctr">
              <a:defRPr b="1" sz="1550">
                <a:solidFill>
                  <a:srgbClr val="0F2346"/>
                </a:solidFill>
                <a:latin typeface="Aptos"/>
              </a:defRPr>
            </a:pPr>
            <a:r>
              <a:t>Controles prácticos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Usar solo los datos mínimos necesarios.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Anonimizar o seudonimizar cuando sea posible.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Definir quién puede acceder, revisar, exportar o auditar.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Cifrar datos en tránsito y en reposo.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Registrar accesos: quién entró, cuándo y para qué.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46520" y="1234440"/>
            <a:ext cx="49834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18872" bIns="73152">
            <a:normAutofit/>
          </a:bodyPr>
          <a:lstStyle/>
          <a:p>
            <a:pPr algn="ctr">
              <a:defRPr b="1" sz="1550">
                <a:solidFill>
                  <a:srgbClr val="0F2346"/>
                </a:solidFill>
                <a:latin typeface="Aptos"/>
              </a:defRPr>
            </a:pPr>
            <a:r>
              <a:t>Ejemplos de alto riesgo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Chatbot de ansiedad que guarda transcripciones.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Asistente de voz que procesa llamadas.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Modelo predictivo que usa historial psiquiátrico.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Dashboard de riesgo suicida con alertas.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45936"/>
            <a:ext cx="11201400" cy="9144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97382"/>
                </a:solidFill>
                <a:latin typeface="Aptos"/>
              </a:defRPr>
            </a:pPr>
            <a:r>
              <a:t>Fuente: Psiquiatria.com · “Ética y Seguridad de la Inteligencia Artificial en Salud Mental” · https://psiquiatria.com/inteligencia-artificial-salud-mental/index · Fuente: Inquira Health · “GDPR y Cumplimiento de HIPAA en la IA en Salud” · Mar 31, 2025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346"/>
                </a:solidFill>
                <a:latin typeface="Aptos"/>
              </a:defRPr>
            </a:pPr>
            <a:r>
              <a:t>Consentimiento informado y aviso al paciente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D596C"/>
                </a:solidFill>
                <a:latin typeface="Aptos"/>
              </a:defRPr>
            </a:pPr>
            <a:r>
              <a:t>El paciente debe saber qué hace la IA y qué no hace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97280"/>
            <a:ext cx="53949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18872" bIns="73152">
            <a:normAutofit/>
          </a:bodyPr>
          <a:lstStyle/>
          <a:p>
            <a:pPr algn="ctr">
              <a:defRPr b="1" sz="1550">
                <a:solidFill>
                  <a:srgbClr val="0F2346"/>
                </a:solidFill>
                <a:latin typeface="Aptos"/>
              </a:defRPr>
            </a:pPr>
            <a:r>
              <a:t>Buenas prácticas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Informar si una herramienta de IA participa en captura, triage, priorización o resumen.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Explicar límites: no diagnóstico autónomo, no reemplazo de atención profesional.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Indicar qué datos se usan y con qué finalidad.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Permitir vías alternativas cuando corresponda.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Registrar consentimiento o base legal aplicable.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417320"/>
            <a:ext cx="4983480" cy="1234440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AA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>
            <a:normAutofit/>
          </a:bodyPr>
          <a:lstStyle/>
          <a:p>
            <a:pPr algn="ctr">
              <a:defRPr sz="1600" b="1">
                <a:solidFill>
                  <a:srgbClr val="0F2346"/>
                </a:solidFill>
                <a:latin typeface="Aptos"/>
              </a:defRPr>
            </a:pPr>
            <a:r>
              <a:t>Texto para explicar: “La transparencia no es un documento legal escondido; es una condición para la confianza clínica.”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3017520"/>
            <a:ext cx="4983480" cy="22402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18872" bIns="73152">
            <a:normAutofit/>
          </a:bodyPr>
          <a:lstStyle/>
          <a:p>
            <a:pPr algn="ctr">
              <a:defRPr b="1" sz="1550">
                <a:solidFill>
                  <a:srgbClr val="0F2346"/>
                </a:solidFill>
                <a:latin typeface="Aptos"/>
              </a:defRPr>
            </a:pPr>
            <a:r>
              <a:t>Checklist rápido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¿El usuario sabe que habla con IA?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¿Puede pedir humano?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¿Sabe qué información queda guardada?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¿Sabe qué decisiones nunca toma la IA?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45936"/>
            <a:ext cx="11201400" cy="9144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97382"/>
                </a:solidFill>
                <a:latin typeface="Aptos"/>
              </a:defRPr>
            </a:pPr>
            <a:r>
              <a:t>Fuente: Psiquiatria.com · “Ética y Seguridad de la Inteligencia Artificial en Salud Mental” · https://psiquiatria.com/inteligencia-artificial-salud-mental/index · Fuente: Inquira Health · “GDPR y Cumplimiento de HIPAA en la IA en Salud” · Mar 31, 2025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346"/>
                </a:solidFill>
                <a:latin typeface="Aptos"/>
              </a:defRPr>
            </a:pPr>
            <a:r>
              <a:t>Sesgo algorítmico y fairness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D596C"/>
                </a:solidFill>
                <a:latin typeface="Aptos"/>
              </a:defRPr>
            </a:pPr>
            <a:r>
              <a:t>Un modelo puede parecer bueno en promedio y fallar en grupos específicos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5212080" cy="4480560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18872" bIns="73152">
            <a:normAutofit/>
          </a:bodyPr>
          <a:lstStyle/>
          <a:p>
            <a:pPr algn="ctr">
              <a:defRPr b="1" sz="1550">
                <a:solidFill>
                  <a:srgbClr val="0F2346"/>
                </a:solidFill>
                <a:latin typeface="Aptos"/>
              </a:defRPr>
            </a:pPr>
            <a:r>
              <a:t>Riesgo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Diferencias por idioma, cultura, edad, género, nivel educativo o acceso digital.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Datos históricos pueden reflejar desigualdades en diagnóstico o acceso.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Un grupo subrepresentado puede recibir peor sensibilidad o más falsos positivos.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La auditoría debe revisar subgrupos, no solo rendimiento global.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143000"/>
            <a:ext cx="5212080" cy="44805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18872" bIns="73152">
            <a:normAutofit/>
          </a:bodyPr>
          <a:lstStyle/>
          <a:p>
            <a:pPr algn="ctr">
              <a:defRPr b="1" sz="1550">
                <a:solidFill>
                  <a:srgbClr val="0F2346"/>
                </a:solidFill>
                <a:latin typeface="Aptos"/>
              </a:defRPr>
            </a:pPr>
            <a:r>
              <a:t>Mitigación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Comparar sensibilidad/especificidad por subgrupo.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Revisar errores clínicos por idioma y contexto local.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Auditar casos difíciles: crisis, comorbilidad, ambigüedad.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Documentar mitigaciones y responsables.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45936"/>
            <a:ext cx="11201400" cy="9144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97382"/>
                </a:solidFill>
                <a:latin typeface="Aptos"/>
              </a:defRPr>
            </a:pPr>
            <a:r>
              <a:t>Fuente: Psiquiatria.com · “Ética y Seguridad de la Inteligencia Artificial en Salud Mental” · https://psiquiatria.com/inteligencia-artificial-salud-mental/index · Fuente: Inquira Health · “IA Especializada vs. IA Genérica” · Mar 17,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346"/>
                </a:solidFill>
                <a:latin typeface="Aptos"/>
              </a:defRPr>
            </a:pPr>
            <a:r>
              <a:t>Validación clínica: interna, externa y prospectiva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D596C"/>
                </a:solidFill>
                <a:latin typeface="Aptos"/>
              </a:defRPr>
            </a:pPr>
            <a:r>
              <a:t>Un modelo no está listo porque funcionó en un notebook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347472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18872" bIns="73152">
            <a:normAutofit/>
          </a:bodyPr>
          <a:lstStyle/>
          <a:p>
            <a:pPr algn="ctr">
              <a:defRPr b="1" sz="1550">
                <a:solidFill>
                  <a:srgbClr val="0F2346"/>
                </a:solidFill>
                <a:latin typeface="Aptos"/>
              </a:defRPr>
            </a:pPr>
            <a:r>
              <a:t>Validación interna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Mismo hospital.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Datos históricos.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Detecta fallos iniciales.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No prueba generalización completa.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234440"/>
            <a:ext cx="3474720" cy="420624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18872" bIns="73152">
            <a:normAutofit/>
          </a:bodyPr>
          <a:lstStyle/>
          <a:p>
            <a:pPr algn="ctr">
              <a:defRPr b="1" sz="1550">
                <a:solidFill>
                  <a:srgbClr val="0F2346"/>
                </a:solidFill>
                <a:latin typeface="Aptos"/>
              </a:defRPr>
            </a:pPr>
            <a:r>
              <a:t>Validación externa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Otro hospital.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Otra población.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Otros equipos/protocolos.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Detecta sesgo de entorno.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83879" y="1234440"/>
            <a:ext cx="3246120" cy="4206240"/>
          </a:xfrm>
          <a:prstGeom prst="roundRect">
            <a:avLst/>
          </a:prstGeom>
          <a:solidFill>
            <a:srgbClr val="DCF6F2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18872" bIns="73152">
            <a:normAutofit/>
          </a:bodyPr>
          <a:lstStyle/>
          <a:p>
            <a:pPr algn="ctr">
              <a:defRPr b="1" sz="1550">
                <a:solidFill>
                  <a:srgbClr val="0F2346"/>
                </a:solidFill>
                <a:latin typeface="Aptos"/>
              </a:defRPr>
            </a:pPr>
            <a:r>
              <a:t>Prospectiva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Uso real o en sombra.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Mide impacto operacional.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Mide seguridad y aceptación.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Obliga a monitoreo.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25880" y="5596128"/>
            <a:ext cx="9509760" cy="502920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AA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>
            <a:normAutofit/>
          </a:bodyPr>
          <a:lstStyle/>
          <a:p>
            <a:pPr algn="ctr">
              <a:defRPr sz="1300" b="1">
                <a:solidFill>
                  <a:srgbClr val="0F2346"/>
                </a:solidFill>
                <a:latin typeface="Aptos"/>
              </a:defRPr>
            </a:pPr>
            <a:r>
              <a:t>Frase: “La validación clínica es la diferencia entre una demo interesante y una herramienta responsable.”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45936"/>
            <a:ext cx="11201400" cy="9144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97382"/>
                </a:solidFill>
                <a:latin typeface="Aptos"/>
              </a:defRPr>
            </a:pPr>
            <a:r>
              <a:t>Fuente: Psiquiatria.com · “Ética y Seguridad de la Inteligencia Artificial en Salud Mental” · https://psiquiatria.com/inteligencia-artificial-salud-mental/index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346"/>
                </a:solidFill>
                <a:latin typeface="Aptos"/>
              </a:defRPr>
            </a:pPr>
            <a:r>
              <a:t>Explicabilidad y trazabilidad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D596C"/>
                </a:solidFill>
                <a:latin typeface="Aptos"/>
              </a:defRPr>
            </a:pPr>
            <a:r>
              <a:t>La IA clínica debe dejar evidencia de cómo fue usada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88720"/>
            <a:ext cx="52120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18872" bIns="73152">
            <a:normAutofit/>
          </a:bodyPr>
          <a:lstStyle/>
          <a:p>
            <a:pPr algn="ctr">
              <a:defRPr b="1" sz="1550">
                <a:solidFill>
                  <a:srgbClr val="0F2346"/>
                </a:solidFill>
                <a:latin typeface="Aptos"/>
              </a:defRPr>
            </a:pPr>
            <a:r>
              <a:t>Registro mínimo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Resultado del modelo y nivel de confianza.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Datos de entrada usados.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Versión del modelo.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Quién revisó el caso.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Qué decisión se tomó y cuándo.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Motivo de escalamiento o no escalamiento.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188720"/>
            <a:ext cx="5212080" cy="4480560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18872" bIns="73152">
            <a:normAutofit/>
          </a:bodyPr>
          <a:lstStyle/>
          <a:p>
            <a:pPr algn="ctr">
              <a:defRPr b="1" sz="1550">
                <a:solidFill>
                  <a:srgbClr val="0F2346"/>
                </a:solidFill>
                <a:latin typeface="Aptos"/>
              </a:defRPr>
            </a:pPr>
            <a:r>
              <a:t>Lo que NO es trazabilidad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No basta con “aprobado por médico”.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No basta con un score sin contexto.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No basta con una explicación genérica.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La evidencia debe permitir auditoría posterior.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45936"/>
            <a:ext cx="11201400" cy="9144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97382"/>
                </a:solidFill>
                <a:latin typeface="Aptos"/>
              </a:defRPr>
            </a:pPr>
            <a:r>
              <a:t>Fuente: Psiquiatria.com · “Ética y Seguridad de la Inteligencia Artificial en Salud Mental” · https://psiquiatria.com/inteligencia-artificial-salud-mental/index · Fuente: Retinar blog · “IA en salud: qué significa human-in-the-loop en la práctica” · https://retinar.com.ar/blog/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346"/>
                </a:solidFill>
                <a:latin typeface="Aptos"/>
              </a:defRPr>
            </a:pPr>
            <a:r>
              <a:t>IA genérica vs IA especializada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D596C"/>
                </a:solidFill>
                <a:latin typeface="Aptos"/>
              </a:defRPr>
            </a:pPr>
            <a:r>
              <a:t>En salud, lo probable no siempre es lo correcto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5257800" cy="4480560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18872" bIns="73152">
            <a:normAutofit/>
          </a:bodyPr>
          <a:lstStyle/>
          <a:p>
            <a:pPr algn="ctr">
              <a:defRPr b="1" sz="1550">
                <a:solidFill>
                  <a:srgbClr val="0F2346"/>
                </a:solidFill>
                <a:latin typeface="Aptos"/>
              </a:defRPr>
            </a:pPr>
            <a:r>
              <a:t>IA genérica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Entrenada con internet abierto.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Puede responder fuera de su uso previsto.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Riesgo de alucinación y sesgo cultural.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Difícil de certificar para flujos clínicos de alto riesgo.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143000"/>
            <a:ext cx="5257800" cy="44805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18872" bIns="73152">
            <a:normAutofit/>
          </a:bodyPr>
          <a:lstStyle/>
          <a:p>
            <a:pPr algn="ctr">
              <a:defRPr b="1" sz="1550">
                <a:solidFill>
                  <a:srgbClr val="0F2346"/>
                </a:solidFill>
                <a:latin typeface="Aptos"/>
              </a:defRPr>
            </a:pPr>
            <a:r>
              <a:t>IA especializada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Alcance definido.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Base de conocimiento curada.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Trazabilidad y citas.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Integración con guías, EHR y flujos locales.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Mejor opción para responsabilidad clínica.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45936"/>
            <a:ext cx="11201400" cy="9144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97382"/>
                </a:solidFill>
                <a:latin typeface="Aptos"/>
              </a:defRPr>
            </a:pPr>
            <a:r>
              <a:t>Fuente: Inquira Health · “IA Especializada vs. IA Genérica” · Mar 17,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346"/>
                </a:solidFill>
                <a:latin typeface="Aptos"/>
              </a:defRPr>
            </a:pPr>
            <a:r>
              <a:t>Alucinación y falsa certeza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D596C"/>
                </a:solidFill>
                <a:latin typeface="Aptos"/>
              </a:defRPr>
            </a:pPr>
            <a:r>
              <a:t>El mayor peligro no es que la IA dude, sino que se equivoque con seguridad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88720"/>
            <a:ext cx="5394960" cy="4389120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18872" bIns="73152">
            <a:normAutofit/>
          </a:bodyPr>
          <a:lstStyle/>
          <a:p>
            <a:pPr algn="ctr">
              <a:defRPr b="1" sz="1550">
                <a:solidFill>
                  <a:srgbClr val="0F2346"/>
                </a:solidFill>
                <a:latin typeface="Aptos"/>
              </a:defRPr>
            </a:pPr>
            <a:r>
              <a:t>Riesgos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Puede inventar información no presente en la historia.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Puede mezclar guías de distintos países.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Puede crear dosis o interacciones plausibles pero falsas.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Puede sonar empática y correcta aunque esté equivocada.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46520" y="1188720"/>
            <a:ext cx="4983480" cy="438912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18872" bIns="73152">
            <a:normAutofit/>
          </a:bodyPr>
          <a:lstStyle/>
          <a:p>
            <a:pPr algn="ctr">
              <a:defRPr b="1" sz="1550">
                <a:solidFill>
                  <a:srgbClr val="0F2346"/>
                </a:solidFill>
                <a:latin typeface="Aptos"/>
              </a:defRPr>
            </a:pPr>
            <a:r>
              <a:t>Controles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RAG con fuentes clínicas verificadas.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Respuestas con citas.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Regla de “no sé” si no hay evidencia.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Revisión humana en decisiones críticas.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Auditoría de muestras reales.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45936"/>
            <a:ext cx="11201400" cy="9144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97382"/>
                </a:solidFill>
                <a:latin typeface="Aptos"/>
              </a:defRPr>
            </a:pPr>
            <a:r>
              <a:t>Fuente: Inquira Health · “IA Especializada vs. IA Genérica” · Mar 17,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346"/>
                </a:solidFill>
                <a:latin typeface="Aptos"/>
              </a:defRPr>
            </a:pPr>
            <a:r>
              <a:t>RAG: recuperación antes de generación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D596C"/>
                </a:solidFill>
                <a:latin typeface="Aptos"/>
              </a:defRPr>
            </a:pPr>
            <a:r>
              <a:t>Arquitectura útil para asistentes clínicos especializados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914400" cy="594360"/>
          </a:xfrm>
          <a:prstGeom prst="roundRect">
            <a:avLst/>
          </a:prstGeom>
          <a:solidFill>
            <a:srgbClr val="008B95"/>
          </a:solidFill>
          <a:ln w="12700">
            <a:solidFill>
              <a:srgbClr val="008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>
            <a:norm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" y="2633472"/>
            <a:ext cx="14173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>
            <a:normAutofit/>
          </a:bodyPr>
          <a:lstStyle/>
          <a:p>
            <a:pPr algn="ctr">
              <a:defRPr sz="1250" b="1">
                <a:solidFill>
                  <a:srgbClr val="0F2346"/>
                </a:solidFill>
                <a:latin typeface="Aptos"/>
              </a:defRPr>
            </a:pPr>
            <a:r>
              <a:t>Pregunta clínica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53512" y="1828800"/>
            <a:ext cx="914400" cy="594360"/>
          </a:xfrm>
          <a:prstGeom prst="roundRect">
            <a:avLst/>
          </a:prstGeom>
          <a:solidFill>
            <a:srgbClr val="008B95"/>
          </a:solidFill>
          <a:ln w="12700">
            <a:solidFill>
              <a:srgbClr val="008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>
            <a:norm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97480" y="2633472"/>
            <a:ext cx="14173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>
            <a:normAutofit/>
          </a:bodyPr>
          <a:lstStyle/>
          <a:p>
            <a:pPr algn="ctr">
              <a:defRPr sz="1250" b="1">
                <a:solidFill>
                  <a:srgbClr val="0F2346"/>
                </a:solidFill>
                <a:latin typeface="Aptos"/>
              </a:defRPr>
            </a:pPr>
            <a:r>
              <a:t>Recupera guía local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21224" y="1828800"/>
            <a:ext cx="914400" cy="594360"/>
          </a:xfrm>
          <a:prstGeom prst="roundRect">
            <a:avLst/>
          </a:prstGeom>
          <a:solidFill>
            <a:srgbClr val="008B95"/>
          </a:solidFill>
          <a:ln w="12700">
            <a:solidFill>
              <a:srgbClr val="008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>
            <a:norm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65192" y="2633472"/>
            <a:ext cx="14173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>
            <a:normAutofit/>
          </a:bodyPr>
          <a:lstStyle/>
          <a:p>
            <a:pPr algn="ctr">
              <a:defRPr sz="1250" b="1">
                <a:solidFill>
                  <a:srgbClr val="0F2346"/>
                </a:solidFill>
                <a:latin typeface="Aptos"/>
              </a:defRPr>
            </a:pPr>
            <a:r>
              <a:t>Sintetiza solo evidencia recuperada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88936" y="1828800"/>
            <a:ext cx="914400" cy="594360"/>
          </a:xfrm>
          <a:prstGeom prst="roundRect">
            <a:avLst/>
          </a:prstGeom>
          <a:solidFill>
            <a:srgbClr val="008B95"/>
          </a:solidFill>
          <a:ln w="12700">
            <a:solidFill>
              <a:srgbClr val="008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>
            <a:norm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32903" y="2633472"/>
            <a:ext cx="14173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>
            <a:normAutofit/>
          </a:bodyPr>
          <a:lstStyle/>
          <a:p>
            <a:pPr algn="ctr">
              <a:defRPr sz="1250" b="1">
                <a:solidFill>
                  <a:srgbClr val="0F2346"/>
                </a:solidFill>
                <a:latin typeface="Aptos"/>
              </a:defRPr>
            </a:pPr>
            <a:r>
              <a:t>Cita fuente + límites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56648" y="1828800"/>
            <a:ext cx="914400" cy="594360"/>
          </a:xfrm>
          <a:prstGeom prst="roundRect">
            <a:avLst/>
          </a:prstGeom>
          <a:solidFill>
            <a:srgbClr val="008B95"/>
          </a:solidFill>
          <a:ln w="12700">
            <a:solidFill>
              <a:srgbClr val="008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>
            <a:norm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0616" y="2633472"/>
            <a:ext cx="14173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>
            <a:normAutofit/>
          </a:bodyPr>
          <a:lstStyle/>
          <a:p>
            <a:pPr algn="ctr">
              <a:defRPr sz="1250" b="1">
                <a:solidFill>
                  <a:srgbClr val="0F2346"/>
                </a:solidFill>
                <a:latin typeface="Aptos"/>
              </a:defRPr>
            </a:pPr>
            <a:r>
              <a:t>Escala si hay riesgo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4754880"/>
            <a:ext cx="10241280" cy="685800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AA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>
            <a:normAutofit/>
          </a:bodyPr>
          <a:lstStyle/>
          <a:p>
            <a:pPr algn="ctr">
              <a:defRPr sz="1500" b="1">
                <a:solidFill>
                  <a:srgbClr val="0F2346"/>
                </a:solidFill>
                <a:latin typeface="Aptos"/>
              </a:defRPr>
            </a:pPr>
            <a:r>
              <a:t>Texto para explicar: “RAG no hace que la IA sea perfecta; reduce el riesgo porque obliga a responder desde documentos clínicos controlados.”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345936"/>
            <a:ext cx="11201400" cy="9144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97382"/>
                </a:solidFill>
                <a:latin typeface="Aptos"/>
              </a:defRPr>
            </a:pPr>
            <a:r>
              <a:t>Fuente: Inquira Health · “IA Especializada vs. IA Genérica” · Mar 17,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346"/>
                </a:solidFill>
                <a:latin typeface="Aptos"/>
              </a:defRPr>
            </a:pPr>
            <a:r>
              <a:t>Human-in-the-loop no es solo “que firme un médico”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D596C"/>
                </a:solidFill>
                <a:latin typeface="Aptos"/>
              </a:defRPr>
            </a:pPr>
            <a:r>
              <a:t>Es un diseño operativo con roles, umbrales, evidencia y responsabilidad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97280"/>
            <a:ext cx="5394960" cy="44805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18872" bIns="73152">
            <a:normAutofit/>
          </a:bodyPr>
          <a:lstStyle/>
          <a:p>
            <a:pPr algn="ctr">
              <a:defRPr b="1" sz="1550">
                <a:solidFill>
                  <a:srgbClr val="0F2346"/>
                </a:solidFill>
                <a:latin typeface="Aptos"/>
              </a:defRPr>
            </a:pPr>
            <a:r>
              <a:t>HITL real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Define cuándo interviene una persona.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Define qué información ve.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Define qué puede corregir o bloquear.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Define cómo se documenta la decisión.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Define qué se escala y qué no.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097280"/>
            <a:ext cx="5029200" cy="4480560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18872" bIns="73152">
            <a:normAutofit/>
          </a:bodyPr>
          <a:lstStyle/>
          <a:p>
            <a:pPr algn="ctr">
              <a:defRPr b="1" sz="1550">
                <a:solidFill>
                  <a:srgbClr val="0F2346"/>
                </a:solidFill>
                <a:latin typeface="Aptos"/>
              </a:defRPr>
            </a:pPr>
            <a:r>
              <a:t>Falso HITL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Humano firma sin revisar evidencia.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No hay umbrales de escalamiento.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No hay registro de versión del modelo.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La interfaz empuja a aceptar por defecto.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No se revisan errores en producción.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45936"/>
            <a:ext cx="11201400" cy="9144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97382"/>
                </a:solidFill>
                <a:latin typeface="Aptos"/>
              </a:defRPr>
            </a:pPr>
            <a:r>
              <a:t>Fuente: Retinar blog · “IA en salud: qué significa human-in-the-loop en la práctica” · https://retinar.com.ar/blog/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346"/>
                </a:solidFill>
                <a:latin typeface="Aptos"/>
              </a:defRPr>
            </a:pPr>
            <a:r>
              <a:t>Automation bias: sobreconfiar en la máquina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D596C"/>
                </a:solidFill>
                <a:latin typeface="Aptos"/>
              </a:defRPr>
            </a:pPr>
            <a:r>
              <a:t>Riesgo especialmente alto cuando hay carga de trabajo y presión de tiempo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5349240" cy="4434840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18872" bIns="73152">
            <a:normAutofit/>
          </a:bodyPr>
          <a:lstStyle/>
          <a:p>
            <a:pPr algn="ctr">
              <a:defRPr b="1" sz="1550">
                <a:solidFill>
                  <a:srgbClr val="0F2346"/>
                </a:solidFill>
                <a:latin typeface="Aptos"/>
              </a:defRPr>
            </a:pPr>
            <a:r>
              <a:t>Cómo aparece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El profesional acepta la recomendación sin revisar evidencia.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El paciente cree que una respuesta automatizada equivale a diagnóstico.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El equipo deja de detectar errores sutiles.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El sistema parece ahorrar tiempo, pero aumenta riesgo oculto.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1143000"/>
            <a:ext cx="5166360" cy="443484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18872" bIns="73152">
            <a:normAutofit/>
          </a:bodyPr>
          <a:lstStyle/>
          <a:p>
            <a:pPr algn="ctr">
              <a:defRPr b="1" sz="1550">
                <a:solidFill>
                  <a:srgbClr val="0F2346"/>
                </a:solidFill>
                <a:latin typeface="Aptos"/>
              </a:defRPr>
            </a:pPr>
            <a:r>
              <a:t>Cómo prevenirlo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Mostrar incertidumbre.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Evitar botones de “aceptar todo”.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Exigir justificación en casos críticos.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Auditar discordancias humano–IA.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Entrenar al equipo en fallos típicos.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45936"/>
            <a:ext cx="11201400" cy="9144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97382"/>
                </a:solidFill>
                <a:latin typeface="Aptos"/>
              </a:defRPr>
            </a:pPr>
            <a:r>
              <a:t>Fuente: Retinar blog · “IA en salud: qué significa human-in-the-loop en la práctica” · https://retinar.com.ar/blog/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346"/>
                </a:solidFill>
                <a:latin typeface="Aptos"/>
              </a:defRPr>
            </a:pPr>
            <a:r>
              <a:t>Los tres loops de seguridad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D596C"/>
                </a:solidFill>
                <a:latin typeface="Aptos"/>
              </a:defRPr>
            </a:pPr>
            <a:r>
              <a:t>La supervisión humana existe antes, durante y después del despliegue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63040"/>
            <a:ext cx="32461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>
            <a:normAutofit/>
          </a:bodyPr>
          <a:lstStyle/>
          <a:p>
            <a:pPr algn="ctr">
              <a:defRPr sz="1600" b="1">
                <a:solidFill>
                  <a:srgbClr val="0F2346"/>
                </a:solidFill>
                <a:latin typeface="Aptos"/>
              </a:defRPr>
            </a:pPr>
            <a:r>
              <a:t>1</a:t>
            </a:r>
            <a:br/>
            <a:r>
              <a:t>Operación diaria</a:t>
            </a:r>
            <a:br/>
            <a:br/>
            <a:r>
              <a:t>captura → calidad → triage → revisión → informe → seguimiento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1463040"/>
            <a:ext cx="3246120" cy="320040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>
            <a:normAutofit/>
          </a:bodyPr>
          <a:lstStyle/>
          <a:p>
            <a:pPr algn="ctr">
              <a:defRPr sz="1600" b="1">
                <a:solidFill>
                  <a:srgbClr val="0F2346"/>
                </a:solidFill>
                <a:latin typeface="Aptos"/>
              </a:defRPr>
            </a:pPr>
            <a:r>
              <a:t>2</a:t>
            </a:r>
            <a:br/>
            <a:r>
              <a:t>Seguridad y riesgo</a:t>
            </a:r>
            <a:br/>
            <a:br/>
            <a:r>
              <a:t>pruebas, validación, contingencia, análisis de daño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03920" y="1463040"/>
            <a:ext cx="32461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>
            <a:normAutofit/>
          </a:bodyPr>
          <a:lstStyle/>
          <a:p>
            <a:pPr algn="ctr">
              <a:defRPr sz="1600" b="1">
                <a:solidFill>
                  <a:srgbClr val="0F2346"/>
                </a:solidFill>
                <a:latin typeface="Aptos"/>
              </a:defRPr>
            </a:pPr>
            <a:r>
              <a:t>3</a:t>
            </a:r>
            <a:br/>
            <a:r>
              <a:t>Mejora continua</a:t>
            </a:r>
            <a:br/>
            <a:br/>
            <a:r>
              <a:t>métricas, errores, drift, retraining y gobierno de cambios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5212080"/>
            <a:ext cx="9966960" cy="548640"/>
          </a:xfrm>
          <a:prstGeom prst="roundRect">
            <a:avLst/>
          </a:prstGeom>
          <a:solidFill>
            <a:srgbClr val="DCF6F2"/>
          </a:solidFill>
          <a:ln w="12700">
            <a:solidFill>
              <a:srgbClr val="AA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>
            <a:normAutofit/>
          </a:bodyPr>
          <a:lstStyle/>
          <a:p>
            <a:pPr algn="ctr">
              <a:defRPr sz="1400" b="1">
                <a:solidFill>
                  <a:srgbClr val="008B95"/>
                </a:solidFill>
                <a:latin typeface="Aptos"/>
              </a:defRPr>
            </a:pPr>
            <a:r>
              <a:t>Actividad: elegir una herramienta clínica y dibujar sus tres loops.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45936"/>
            <a:ext cx="11201400" cy="9144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97382"/>
                </a:solidFill>
                <a:latin typeface="Aptos"/>
              </a:defRPr>
            </a:pPr>
            <a:r>
              <a:t>Fuente: Retinar blog · “IA en salud: qué significa human-in-the-loop en la práctica” · https://retinar.com.ar/blog/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346"/>
                </a:solidFill>
                <a:latin typeface="Aptos"/>
              </a:defRPr>
            </a:pPr>
            <a:r>
              <a:t>Patrón A: IA filtra, humano confirma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D596C"/>
                </a:solidFill>
                <a:latin typeface="Aptos"/>
              </a:defRPr>
            </a:pPr>
            <a:r>
              <a:t>Útil cuando el costo del error es alto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53035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18872" bIns="73152">
            <a:normAutofit/>
          </a:bodyPr>
          <a:lstStyle/>
          <a:p>
            <a:pPr algn="ctr">
              <a:defRPr b="1" sz="1550">
                <a:solidFill>
                  <a:srgbClr val="0F2346"/>
                </a:solidFill>
                <a:latin typeface="Aptos"/>
              </a:defRPr>
            </a:pPr>
            <a:r>
              <a:t>Diseño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La IA prioriza o sugiere.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El profesional confirma casos relevantes.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La revisión humana no es opcional en riesgo alto.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Se registra el razonamiento mínimo y la acción final.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234440"/>
            <a:ext cx="5029200" cy="4297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18872" bIns="73152">
            <a:normAutofit/>
          </a:bodyPr>
          <a:lstStyle/>
          <a:p>
            <a:pPr algn="ctr">
              <a:defRPr b="1" sz="1550">
                <a:solidFill>
                  <a:srgbClr val="0F2346"/>
                </a:solidFill>
                <a:latin typeface="Aptos"/>
              </a:defRPr>
            </a:pPr>
            <a:r>
              <a:t>Ejemplos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Retinopatía diabética: IA prioriza casos de riesgo.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Salud mental: chatbot identifica señales de crisis y escala.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Radiología: IA marca estudios sospechosos para lectura prioritaria.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45936"/>
            <a:ext cx="11201400" cy="9144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97382"/>
                </a:solidFill>
                <a:latin typeface="Aptos"/>
              </a:defRPr>
            </a:pPr>
            <a:r>
              <a:t>Fuente: Retinar blog · “IA en salud: qué significa human-in-the-loop en la práctica” · https://retinar.com.ar/blog/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346"/>
                </a:solidFill>
                <a:latin typeface="Aptos"/>
              </a:defRPr>
            </a:pPr>
            <a:r>
              <a:t>Patrones B y C: calidad de dato + doble escalamiento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D596C"/>
                </a:solidFill>
                <a:latin typeface="Aptos"/>
              </a:defRPr>
            </a:pPr>
            <a:r>
              <a:t>Muchas fallas no son del modelo, sino del flujo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53949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18872" bIns="73152">
            <a:normAutofit/>
          </a:bodyPr>
          <a:lstStyle/>
          <a:p>
            <a:pPr algn="ctr">
              <a:defRPr b="1" sz="1550">
                <a:solidFill>
                  <a:srgbClr val="0F2346"/>
                </a:solidFill>
                <a:latin typeface="Aptos"/>
              </a:defRPr>
            </a:pPr>
            <a:r>
              <a:t>B · Calidad de dato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La IA asiste captura.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Detecta datos incompletos o imagen no útil.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Permite repetir captura en el momento.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Reduce estudios no gradables y errores de entrada.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143000"/>
            <a:ext cx="5029200" cy="448056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18872" bIns="73152">
            <a:normAutofit/>
          </a:bodyPr>
          <a:lstStyle/>
          <a:p>
            <a:pPr algn="ctr">
              <a:defRPr b="1" sz="1550">
                <a:solidFill>
                  <a:srgbClr val="0F2346"/>
                </a:solidFill>
                <a:latin typeface="Aptos"/>
              </a:defRPr>
            </a:pPr>
            <a:r>
              <a:t>C · Incertidumbre + contexto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Si la IA está insegura → escala.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Si el contexto clínico es preocupante → escala.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Si humano e IA discrepan → segunda revisión.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El score no decide solo.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45936"/>
            <a:ext cx="11201400" cy="9144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97382"/>
                </a:solidFill>
                <a:latin typeface="Aptos"/>
              </a:defRPr>
            </a:pPr>
            <a:r>
              <a:t>Fuente: Retinar blog · “IA en salud: qué significa human-in-the-loop en la práctica” · https://retinar.com.ar/blog/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346"/>
                </a:solidFill>
                <a:latin typeface="Aptos"/>
              </a:defRPr>
            </a:pPr>
            <a:r>
              <a:t>Regulación: HIPAA, GDPR/RGPD y AI 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D596C"/>
                </a:solidFill>
                <a:latin typeface="Aptos"/>
              </a:defRPr>
            </a:pPr>
            <a:r>
              <a:t>La gobernanza no es burocracia: es seguridad del paciente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88720"/>
            <a:ext cx="34747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18872" bIns="73152">
            <a:normAutofit/>
          </a:bodyPr>
          <a:lstStyle/>
          <a:p>
            <a:pPr algn="ctr">
              <a:defRPr b="1" sz="1550">
                <a:solidFill>
                  <a:srgbClr val="0F2346"/>
                </a:solidFill>
                <a:latin typeface="Aptos"/>
              </a:defRPr>
            </a:pPr>
            <a:r>
              <a:t>HIPAA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Protege PHI.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Entidades cubiertas y asociados comerciales.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Salvaguardas administrativas, físicas y técnicas.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BAA con proveedores.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188720"/>
            <a:ext cx="3474720" cy="448056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18872" bIns="73152">
            <a:normAutofit/>
          </a:bodyPr>
          <a:lstStyle/>
          <a:p>
            <a:pPr algn="ctr">
              <a:defRPr b="1" sz="1550">
                <a:solidFill>
                  <a:srgbClr val="0F2346"/>
                </a:solidFill>
                <a:latin typeface="Aptos"/>
              </a:defRPr>
            </a:pPr>
            <a:r>
              <a:t>GDPR/RGPD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Datos de salud = categoría especial.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Base legal, minimización y transparencia.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Derechos del individuo.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DPIA y artículo 22.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83879" y="1188720"/>
            <a:ext cx="3246120" cy="4480560"/>
          </a:xfrm>
          <a:prstGeom prst="roundRect">
            <a:avLst/>
          </a:prstGeom>
          <a:solidFill>
            <a:srgbClr val="DCF6F2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18872" bIns="73152">
            <a:normAutofit/>
          </a:bodyPr>
          <a:lstStyle/>
          <a:p>
            <a:pPr algn="ctr">
              <a:defRPr b="1" sz="1550">
                <a:solidFill>
                  <a:srgbClr val="0F2346"/>
                </a:solidFill>
                <a:latin typeface="Aptos"/>
              </a:defRPr>
            </a:pPr>
            <a:r>
              <a:t>AI Act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Riesgo alto en software médico.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Gestión de riesgos.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Gobernanza de datos.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Trazabilidad y supervisión humana.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45936"/>
            <a:ext cx="11201400" cy="9144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97382"/>
                </a:solidFill>
                <a:latin typeface="Aptos"/>
              </a:defRPr>
            </a:pPr>
            <a:r>
              <a:t>Fuente: Inquira Health · “GDPR y Cumplimiento de HIPAA en la IA en Salud” · Mar 31, 2025 · Fuente: Inquira Health · “IA Especializada vs. IA Genérica” · Mar 17,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346"/>
                </a:solidFill>
                <a:latin typeface="Aptos"/>
              </a:defRPr>
            </a:pPr>
            <a:r>
              <a:t>Seguridad técnica de IA clínica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D596C"/>
                </a:solidFill>
                <a:latin typeface="Aptos"/>
              </a:defRPr>
            </a:pPr>
            <a:r>
              <a:t>Los sistemas de IA acceden a datos valiosos y deben protegerse como EHR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53949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18872" bIns="73152">
            <a:normAutofit/>
          </a:bodyPr>
          <a:lstStyle/>
          <a:p>
            <a:pPr algn="ctr">
              <a:defRPr b="1" sz="1550">
                <a:solidFill>
                  <a:srgbClr val="0F2346"/>
                </a:solidFill>
                <a:latin typeface="Aptos"/>
              </a:defRPr>
            </a:pPr>
            <a:r>
              <a:t>Controles mínimos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Autenticación fuerte.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Autorización por rol.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Cifrado en tránsito y reposo.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Auditoría de accesos.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Integridad de datos.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Plan de respuesta a incidentes.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143000"/>
            <a:ext cx="5029200" cy="4480560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18872" bIns="73152">
            <a:normAutofit/>
          </a:bodyPr>
          <a:lstStyle/>
          <a:p>
            <a:pPr algn="ctr">
              <a:defRPr b="1" sz="1550">
                <a:solidFill>
                  <a:srgbClr val="0F2346"/>
                </a:solidFill>
                <a:latin typeface="Aptos"/>
              </a:defRPr>
            </a:pPr>
            <a:r>
              <a:t>Fallas frecuentes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Proveedor externo sin BAA/DPA.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API fuera de jurisdicción.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Logs con información sensible.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Permisos excesivos.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Exportaciones no controladas.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45936"/>
            <a:ext cx="11201400" cy="9144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97382"/>
                </a:solidFill>
                <a:latin typeface="Aptos"/>
              </a:defRPr>
            </a:pPr>
            <a:r>
              <a:t>Fuente: Inquira Health · “GDPR y Cumplimiento de HIPAA en la IA en Salud” · Mar 31, 2025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346"/>
                </a:solidFill>
                <a:latin typeface="Aptos"/>
              </a:defRPr>
            </a:pPr>
            <a:r>
              <a:t>Proveedores externos: dónde vive el riesgo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D596C"/>
                </a:solidFill>
                <a:latin typeface="Aptos"/>
              </a:defRPr>
            </a:pPr>
            <a:r>
              <a:t>Antes de comprar una herramienta, mapear flujo de datos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88720"/>
            <a:ext cx="5212080" cy="4297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18872" bIns="73152">
            <a:normAutofit/>
          </a:bodyPr>
          <a:lstStyle/>
          <a:p>
            <a:pPr algn="ctr">
              <a:defRPr b="1" sz="1550">
                <a:solidFill>
                  <a:srgbClr val="0F2346"/>
                </a:solidFill>
                <a:latin typeface="Aptos"/>
              </a:defRPr>
            </a:pPr>
            <a:r>
              <a:t>Preguntas de compra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¿Qué datos recibe el proveedor?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¿Dónde se almacenan?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¿Se usan para entrenamiento?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¿Qué subprocesadores participan?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¿Existe contrato BAA/DPA?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¿Hay plan de incidentes?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188720"/>
            <a:ext cx="52120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18872" bIns="73152">
            <a:normAutofit/>
          </a:bodyPr>
          <a:lstStyle/>
          <a:p>
            <a:pPr algn="ctr">
              <a:defRPr b="1" sz="1550">
                <a:solidFill>
                  <a:srgbClr val="0F2346"/>
                </a:solidFill>
                <a:latin typeface="Aptos"/>
              </a:defRPr>
            </a:pPr>
            <a:r>
              <a:t>Regla práctica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Paciente → captura → IA → profesional → EHR → auditoría.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Cada flecha debe tener propietario, permiso y registro.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Si no se puede dibujar el flujo, no se puede auditar.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45936"/>
            <a:ext cx="11201400" cy="9144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97382"/>
                </a:solidFill>
                <a:latin typeface="Aptos"/>
              </a:defRPr>
            </a:pPr>
            <a:r>
              <a:t>Fuente: Inquira Health · “GDPR y Cumplimiento de HIPAA en la IA en Salud” · Mar 31, 2025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346"/>
                </a:solidFill>
                <a:latin typeface="Aptos"/>
              </a:defRPr>
            </a:pPr>
            <a:r>
              <a:t>Caso de auditoría: chatbot de apoyo en salud mental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D596C"/>
                </a:solidFill>
                <a:latin typeface="Aptos"/>
              </a:defRPr>
            </a:pPr>
            <a:r>
              <a:t>Ejemplo para práctica en clase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97280"/>
            <a:ext cx="53949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18872" bIns="73152">
            <a:normAutofit/>
          </a:bodyPr>
          <a:lstStyle/>
          <a:p>
            <a:pPr algn="ctr">
              <a:defRPr b="1" sz="1550">
                <a:solidFill>
                  <a:srgbClr val="0F2346"/>
                </a:solidFill>
                <a:latin typeface="Aptos"/>
              </a:defRPr>
            </a:pPr>
            <a:r>
              <a:t>Función propuesta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Disponible 24/7.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Recoge síntomas en lenguaje natural.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Entrega psicoeducación básica.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Detecta posibles señales de crisis.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Escala a profesional cuando hay riesgo.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097280"/>
            <a:ext cx="5029200" cy="4480560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18872" bIns="73152">
            <a:normAutofit/>
          </a:bodyPr>
          <a:lstStyle/>
          <a:p>
            <a:pPr algn="ctr">
              <a:defRPr b="1" sz="1550">
                <a:solidFill>
                  <a:srgbClr val="0F2346"/>
                </a:solidFill>
                <a:latin typeface="Aptos"/>
              </a:defRPr>
            </a:pPr>
            <a:r>
              <a:t>Riesgos a auditar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Falso negativo en crisis.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Respuesta empática pero clínicamente incorrecta.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Confidencialidad de transcripciones.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Sesgo cultural/lingüístico.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Dependencia excesiva del paciente.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45936"/>
            <a:ext cx="11201400" cy="9144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97382"/>
                </a:solidFill>
                <a:latin typeface="Aptos"/>
              </a:defRPr>
            </a:pPr>
            <a:r>
              <a:t>Fuente: Psiquiatria.com · “Ética y Seguridad de la Inteligencia Artificial en Salud Mental” · https://psiquiatria.com/inteligencia-artificial-salud-mental/index · Fuente: Inquira Health · “Atención al paciente 24/7” · Mar 31, 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346"/>
                </a:solidFill>
                <a:latin typeface="Aptos"/>
              </a:defRPr>
            </a:pPr>
            <a:r>
              <a:t>Asistentes 24/7: valor real y límite ético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D596C"/>
                </a:solidFill>
                <a:latin typeface="Aptos"/>
              </a:defRPr>
            </a:pPr>
            <a:r>
              <a:t>Acceso inmediato no significa decisión autónoma sin supervisión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5349240" cy="44805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18872" bIns="73152">
            <a:normAutofit/>
          </a:bodyPr>
          <a:lstStyle/>
          <a:p>
            <a:pPr algn="ctr">
              <a:defRPr b="1" sz="1550">
                <a:solidFill>
                  <a:srgbClr val="0F2346"/>
                </a:solidFill>
                <a:latin typeface="Aptos"/>
              </a:defRPr>
            </a:pPr>
            <a:r>
              <a:t>Valor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Reducen espera e incertidumbre.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Automatizan triage administrativo.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Pueden mejorar orientación inicial.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Pueden recoger datos antes de la consulta.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Ayudan fuera del horario laboral.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1143000"/>
            <a:ext cx="5166360" cy="4480560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18872" bIns="73152">
            <a:normAutofit/>
          </a:bodyPr>
          <a:lstStyle/>
          <a:p>
            <a:pPr algn="ctr">
              <a:defRPr b="1" sz="1550">
                <a:solidFill>
                  <a:srgbClr val="0F2346"/>
                </a:solidFill>
                <a:latin typeface="Aptos"/>
              </a:defRPr>
            </a:pPr>
            <a:r>
              <a:t>Límites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No deben manejar crisis críticas sin escalamiento.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No deben prometer diagnóstico.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No deben sustituir terapia o evaluación clínica.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Deben documentar límites y acciones.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45936"/>
            <a:ext cx="11201400" cy="9144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97382"/>
                </a:solidFill>
                <a:latin typeface="Aptos"/>
              </a:defRPr>
            </a:pPr>
            <a:r>
              <a:t>Fuente: Inquira Health · “Atención al paciente 24/7” · Mar 31, 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346"/>
                </a:solidFill>
                <a:latin typeface="Aptos"/>
              </a:defRPr>
            </a:pPr>
            <a:r>
              <a:t>Checklist operativo de auditoría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D596C"/>
                </a:solidFill>
                <a:latin typeface="Aptos"/>
              </a:defRPr>
            </a:pPr>
            <a:r>
              <a:t>Preguntas que un hospital debe hacer antes de usar IA clínica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50749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>
            <a:normAutofit/>
          </a:bodyPr>
          <a:lstStyle/>
          <a:p>
            <a:pPr algn="ctr">
              <a:defRPr sz="1550" b="1">
                <a:solidFill>
                  <a:srgbClr val="0F2346"/>
                </a:solidFill>
                <a:latin typeface="Aptos"/>
              </a:defRPr>
            </a:pPr>
            <a:r>
              <a:t>☑ Roles y permisos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143000"/>
            <a:ext cx="50749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>
            <a:normAutofit/>
          </a:bodyPr>
          <a:lstStyle/>
          <a:p>
            <a:pPr algn="ctr">
              <a:defRPr sz="1550" b="1">
                <a:solidFill>
                  <a:srgbClr val="0F2346"/>
                </a:solidFill>
                <a:latin typeface="Aptos"/>
              </a:defRPr>
            </a:pPr>
            <a:r>
              <a:t>☑ Umbrales de escalamiento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286000"/>
            <a:ext cx="50749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>
            <a:normAutofit/>
          </a:bodyPr>
          <a:lstStyle/>
          <a:p>
            <a:pPr algn="ctr">
              <a:defRPr sz="1550" b="1">
                <a:solidFill>
                  <a:srgbClr val="0F2346"/>
                </a:solidFill>
                <a:latin typeface="Aptos"/>
              </a:defRPr>
            </a:pPr>
            <a:r>
              <a:t>☑ Trazabilidad y versión del modelo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286000"/>
            <a:ext cx="50749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>
            <a:normAutofit/>
          </a:bodyPr>
          <a:lstStyle/>
          <a:p>
            <a:pPr algn="ctr">
              <a:defRPr sz="1550" b="1">
                <a:solidFill>
                  <a:srgbClr val="0F2346"/>
                </a:solidFill>
                <a:latin typeface="Aptos"/>
              </a:defRPr>
            </a:pPr>
            <a:r>
              <a:t>☑ Validación clínica pública/local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429000"/>
            <a:ext cx="50749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>
            <a:normAutofit/>
          </a:bodyPr>
          <a:lstStyle/>
          <a:p>
            <a:pPr algn="ctr">
              <a:defRPr sz="1550" b="1">
                <a:solidFill>
                  <a:srgbClr val="0F2346"/>
                </a:solidFill>
                <a:latin typeface="Aptos"/>
              </a:defRPr>
            </a:pPr>
            <a:r>
              <a:t>☑ Manejo de errores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429000"/>
            <a:ext cx="50749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>
            <a:normAutofit/>
          </a:bodyPr>
          <a:lstStyle/>
          <a:p>
            <a:pPr algn="ctr">
              <a:defRPr sz="1550" b="1">
                <a:solidFill>
                  <a:srgbClr val="0F2346"/>
                </a:solidFill>
                <a:latin typeface="Aptos"/>
              </a:defRPr>
            </a:pPr>
            <a:r>
              <a:t>☑ Privacidad y contratos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572000"/>
            <a:ext cx="50749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>
            <a:normAutofit/>
          </a:bodyPr>
          <a:lstStyle/>
          <a:p>
            <a:pPr algn="ctr">
              <a:defRPr sz="1550" b="1">
                <a:solidFill>
                  <a:srgbClr val="0F2346"/>
                </a:solidFill>
                <a:latin typeface="Aptos"/>
              </a:defRPr>
            </a:pPr>
            <a:r>
              <a:t>☑ Monitoreo en producción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4572000"/>
            <a:ext cx="50749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>
            <a:normAutofit/>
          </a:bodyPr>
          <a:lstStyle/>
          <a:p>
            <a:pPr algn="ctr">
              <a:defRPr sz="1550" b="1">
                <a:solidFill>
                  <a:srgbClr val="0F2346"/>
                </a:solidFill>
                <a:latin typeface="Aptos"/>
              </a:defRPr>
            </a:pPr>
            <a:r>
              <a:t>☑ Human-in-the-loop real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345936"/>
            <a:ext cx="11201400" cy="9144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97382"/>
                </a:solidFill>
                <a:latin typeface="Aptos"/>
              </a:defRPr>
            </a:pPr>
            <a:r>
              <a:t>Fuente: Retinar blog · “IA en salud: qué significa human-in-the-loop en la práctica” · https://retinar.com.ar/blog/ · Fuente: Inquira Health · “GDPR y Cumplimiento de HIPAA en la IA en Salud” · Mar 31, 2025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346"/>
                </a:solidFill>
                <a:latin typeface="Aptos"/>
              </a:defRPr>
            </a:pPr>
            <a:r>
              <a:t>Registro de riesgos: plantilla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D596C"/>
                </a:solidFill>
                <a:latin typeface="Aptos"/>
              </a:defRPr>
            </a:pPr>
            <a:r>
              <a:t>El producto final de la sesión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2194560" cy="457200"/>
          </a:xfrm>
          <a:prstGeom prst="rect">
            <a:avLst/>
          </a:prstGeom>
          <a:solidFill>
            <a:srgbClr val="0F234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>
            <a:norm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Riesgo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1188720"/>
            <a:ext cx="1005840" cy="457200"/>
          </a:xfrm>
          <a:prstGeom prst="rect">
            <a:avLst/>
          </a:prstGeom>
          <a:solidFill>
            <a:srgbClr val="0F234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>
            <a:norm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Prob.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9039" y="1188720"/>
            <a:ext cx="1143000" cy="457200"/>
          </a:xfrm>
          <a:prstGeom prst="rect">
            <a:avLst/>
          </a:prstGeom>
          <a:solidFill>
            <a:srgbClr val="0F234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>
            <a:norm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Impacto</a:t>
            </a:r>
          </a:p>
        </p:txBody>
      </p:sp>
      <p:sp>
        <p:nvSpPr>
          <p:cNvPr id="7" name="Rectangle 6"/>
          <p:cNvSpPr/>
          <p:nvPr/>
        </p:nvSpPr>
        <p:spPr>
          <a:xfrm>
            <a:off x="4892040" y="1188720"/>
            <a:ext cx="2103120" cy="457200"/>
          </a:xfrm>
          <a:prstGeom prst="rect">
            <a:avLst/>
          </a:prstGeom>
          <a:solidFill>
            <a:srgbClr val="0F234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>
            <a:norm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Evidencia</a:t>
            </a:r>
          </a:p>
        </p:txBody>
      </p:sp>
      <p:sp>
        <p:nvSpPr>
          <p:cNvPr id="8" name="Rectangle 7"/>
          <p:cNvSpPr/>
          <p:nvPr/>
        </p:nvSpPr>
        <p:spPr>
          <a:xfrm>
            <a:off x="6995159" y="1188720"/>
            <a:ext cx="2743200" cy="457200"/>
          </a:xfrm>
          <a:prstGeom prst="rect">
            <a:avLst/>
          </a:prstGeom>
          <a:solidFill>
            <a:srgbClr val="0F234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>
            <a:norm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Mitigación</a:t>
            </a:r>
          </a:p>
        </p:txBody>
      </p:sp>
      <p:sp>
        <p:nvSpPr>
          <p:cNvPr id="9" name="Rectangle 8"/>
          <p:cNvSpPr/>
          <p:nvPr/>
        </p:nvSpPr>
        <p:spPr>
          <a:xfrm>
            <a:off x="9738360" y="1188720"/>
            <a:ext cx="1828800" cy="457200"/>
          </a:xfrm>
          <a:prstGeom prst="rect">
            <a:avLst/>
          </a:prstGeom>
          <a:solidFill>
            <a:srgbClr val="0F234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>
            <a:norm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Responsable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45920"/>
            <a:ext cx="21945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>
            <a:normAutofit/>
          </a:bodyPr>
          <a:lstStyle/>
          <a:p>
            <a:pPr algn="ctr">
              <a:defRPr sz="1050" b="0">
                <a:solidFill>
                  <a:srgbClr val="232D3C"/>
                </a:solidFill>
                <a:latin typeface="Aptos"/>
              </a:defRPr>
            </a:pPr>
            <a:r>
              <a:t>Falso negativo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1645920"/>
            <a:ext cx="10058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>
            <a:normAutofit/>
          </a:bodyPr>
          <a:lstStyle/>
          <a:p>
            <a:pPr algn="ctr">
              <a:defRPr sz="1050" b="0">
                <a:solidFill>
                  <a:srgbClr val="232D3C"/>
                </a:solidFill>
                <a:latin typeface="Aptos"/>
              </a:defRPr>
            </a:pPr>
            <a:r>
              <a:t>Media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49039" y="1645920"/>
            <a:ext cx="1143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>
            <a:normAutofit/>
          </a:bodyPr>
          <a:lstStyle/>
          <a:p>
            <a:pPr algn="ctr">
              <a:defRPr sz="1050" b="0">
                <a:solidFill>
                  <a:srgbClr val="232D3C"/>
                </a:solidFill>
                <a:latin typeface="Aptos"/>
              </a:defRPr>
            </a:pPr>
            <a:r>
              <a:t>Alta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92040" y="1645920"/>
            <a:ext cx="2103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>
            <a:normAutofit/>
          </a:bodyPr>
          <a:lstStyle/>
          <a:p>
            <a:pPr algn="ctr">
              <a:defRPr sz="1050" b="0">
                <a:solidFill>
                  <a:srgbClr val="232D3C"/>
                </a:solidFill>
                <a:latin typeface="Aptos"/>
              </a:defRPr>
            </a:pPr>
            <a:r>
              <a:t>Test externo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59" y="1645920"/>
            <a:ext cx="2743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>
            <a:normAutofit/>
          </a:bodyPr>
          <a:lstStyle/>
          <a:p>
            <a:pPr algn="ctr">
              <a:defRPr sz="1050" b="0">
                <a:solidFill>
                  <a:srgbClr val="232D3C"/>
                </a:solidFill>
                <a:latin typeface="Aptos"/>
              </a:defRPr>
            </a:pPr>
            <a:r>
              <a:t>Escalamiento humano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738360" y="1645920"/>
            <a:ext cx="1828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>
            <a:normAutofit/>
          </a:bodyPr>
          <a:lstStyle/>
          <a:p>
            <a:pPr algn="ctr">
              <a:defRPr sz="1050" b="0">
                <a:solidFill>
                  <a:srgbClr val="232D3C"/>
                </a:solidFill>
                <a:latin typeface="Aptos"/>
              </a:defRPr>
            </a:pPr>
            <a:r>
              <a:t>Clínico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331720"/>
            <a:ext cx="2194560" cy="685800"/>
          </a:xfrm>
          <a:prstGeom prst="rect">
            <a:avLst/>
          </a:prstGeom>
          <a:solidFill>
            <a:srgbClr val="F5F9FC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>
            <a:normAutofit/>
          </a:bodyPr>
          <a:lstStyle/>
          <a:p>
            <a:pPr algn="ctr">
              <a:defRPr sz="1050" b="0">
                <a:solidFill>
                  <a:srgbClr val="232D3C"/>
                </a:solidFill>
                <a:latin typeface="Aptos"/>
              </a:defRPr>
            </a:pPr>
            <a:r>
              <a:t>Sesgo cultural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0" y="2331720"/>
            <a:ext cx="1005840" cy="685800"/>
          </a:xfrm>
          <a:prstGeom prst="rect">
            <a:avLst/>
          </a:prstGeom>
          <a:solidFill>
            <a:srgbClr val="F5F9FC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>
            <a:normAutofit/>
          </a:bodyPr>
          <a:lstStyle/>
          <a:p>
            <a:pPr algn="ctr">
              <a:defRPr sz="1050" b="0">
                <a:solidFill>
                  <a:srgbClr val="232D3C"/>
                </a:solidFill>
                <a:latin typeface="Aptos"/>
              </a:defRPr>
            </a:pPr>
            <a:r>
              <a:t>Media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49039" y="2331720"/>
            <a:ext cx="1143000" cy="685800"/>
          </a:xfrm>
          <a:prstGeom prst="rect">
            <a:avLst/>
          </a:prstGeom>
          <a:solidFill>
            <a:srgbClr val="F5F9FC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>
            <a:normAutofit/>
          </a:bodyPr>
          <a:lstStyle/>
          <a:p>
            <a:pPr algn="ctr">
              <a:defRPr sz="1050" b="0">
                <a:solidFill>
                  <a:srgbClr val="232D3C"/>
                </a:solidFill>
                <a:latin typeface="Aptos"/>
              </a:defRPr>
            </a:pPr>
            <a:r>
              <a:t>Alta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92040" y="2331720"/>
            <a:ext cx="2103120" cy="685800"/>
          </a:xfrm>
          <a:prstGeom prst="rect">
            <a:avLst/>
          </a:prstGeom>
          <a:solidFill>
            <a:srgbClr val="F5F9FC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>
            <a:normAutofit/>
          </a:bodyPr>
          <a:lstStyle/>
          <a:p>
            <a:pPr algn="ctr">
              <a:defRPr sz="1050" b="0">
                <a:solidFill>
                  <a:srgbClr val="232D3C"/>
                </a:solidFill>
                <a:latin typeface="Aptos"/>
              </a:defRPr>
            </a:pPr>
            <a:r>
              <a:t>Subgrupos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95159" y="2331720"/>
            <a:ext cx="2743200" cy="685800"/>
          </a:xfrm>
          <a:prstGeom prst="rect">
            <a:avLst/>
          </a:prstGeom>
          <a:solidFill>
            <a:srgbClr val="F5F9FC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>
            <a:normAutofit/>
          </a:bodyPr>
          <a:lstStyle/>
          <a:p>
            <a:pPr algn="ctr">
              <a:defRPr sz="1050" b="0">
                <a:solidFill>
                  <a:srgbClr val="232D3C"/>
                </a:solidFill>
                <a:latin typeface="Aptos"/>
              </a:defRPr>
            </a:pPr>
            <a:r>
              <a:t>Validación local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738360" y="2331720"/>
            <a:ext cx="1828800" cy="685800"/>
          </a:xfrm>
          <a:prstGeom prst="rect">
            <a:avLst/>
          </a:prstGeom>
          <a:solidFill>
            <a:srgbClr val="F5F9FC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>
            <a:normAutofit/>
          </a:bodyPr>
          <a:lstStyle/>
          <a:p>
            <a:pPr algn="ctr">
              <a:defRPr sz="1050" b="0">
                <a:solidFill>
                  <a:srgbClr val="232D3C"/>
                </a:solidFill>
                <a:latin typeface="Aptos"/>
              </a:defRPr>
            </a:pPr>
            <a:r>
              <a:t>Equipo IA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017520"/>
            <a:ext cx="21945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>
            <a:normAutofit/>
          </a:bodyPr>
          <a:lstStyle/>
          <a:p>
            <a:pPr algn="ctr">
              <a:defRPr sz="1050" b="0">
                <a:solidFill>
                  <a:srgbClr val="232D3C"/>
                </a:solidFill>
                <a:latin typeface="Aptos"/>
              </a:defRPr>
            </a:pPr>
            <a:r>
              <a:t>Fuga de datos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3017520"/>
            <a:ext cx="10058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>
            <a:normAutofit/>
          </a:bodyPr>
          <a:lstStyle/>
          <a:p>
            <a:pPr algn="ctr">
              <a:defRPr sz="1050" b="0">
                <a:solidFill>
                  <a:srgbClr val="232D3C"/>
                </a:solidFill>
                <a:latin typeface="Aptos"/>
              </a:defRPr>
            </a:pPr>
            <a:r>
              <a:t>Baja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49039" y="3017520"/>
            <a:ext cx="1143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>
            <a:normAutofit/>
          </a:bodyPr>
          <a:lstStyle/>
          <a:p>
            <a:pPr algn="ctr">
              <a:defRPr sz="1050" b="0">
                <a:solidFill>
                  <a:srgbClr val="232D3C"/>
                </a:solidFill>
                <a:latin typeface="Aptos"/>
              </a:defRPr>
            </a:pPr>
            <a:r>
              <a:t>Muy alta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92040" y="3017520"/>
            <a:ext cx="2103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>
            <a:normAutofit/>
          </a:bodyPr>
          <a:lstStyle/>
          <a:p>
            <a:pPr algn="ctr">
              <a:defRPr sz="1050" b="0">
                <a:solidFill>
                  <a:srgbClr val="232D3C"/>
                </a:solidFill>
                <a:latin typeface="Aptos"/>
              </a:defRPr>
            </a:pPr>
            <a:r>
              <a:t>Auditoría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95159" y="3017520"/>
            <a:ext cx="2743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>
            <a:normAutofit/>
          </a:bodyPr>
          <a:lstStyle/>
          <a:p>
            <a:pPr algn="ctr">
              <a:defRPr sz="1050" b="0">
                <a:solidFill>
                  <a:srgbClr val="232D3C"/>
                </a:solidFill>
                <a:latin typeface="Aptos"/>
              </a:defRPr>
            </a:pPr>
            <a:r>
              <a:t>Cifrado + permisos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738360" y="3017520"/>
            <a:ext cx="1828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>
            <a:normAutofit/>
          </a:bodyPr>
          <a:lstStyle/>
          <a:p>
            <a:pPr algn="ctr">
              <a:defRPr sz="1050" b="0">
                <a:solidFill>
                  <a:srgbClr val="232D3C"/>
                </a:solidFill>
                <a:latin typeface="Aptos"/>
              </a:defRPr>
            </a:pPr>
            <a:r>
              <a:t>TI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703320"/>
            <a:ext cx="2194560" cy="685800"/>
          </a:xfrm>
          <a:prstGeom prst="rect">
            <a:avLst/>
          </a:prstGeom>
          <a:solidFill>
            <a:srgbClr val="F5F9FC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>
            <a:normAutofit/>
          </a:bodyPr>
          <a:lstStyle/>
          <a:p>
            <a:pPr algn="ctr">
              <a:defRPr sz="1050" b="0">
                <a:solidFill>
                  <a:srgbClr val="232D3C"/>
                </a:solidFill>
                <a:latin typeface="Aptos"/>
              </a:defRPr>
            </a:pPr>
            <a:r>
              <a:t>Automation bias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0" y="3703320"/>
            <a:ext cx="1005840" cy="685800"/>
          </a:xfrm>
          <a:prstGeom prst="rect">
            <a:avLst/>
          </a:prstGeom>
          <a:solidFill>
            <a:srgbClr val="F5F9FC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>
            <a:normAutofit/>
          </a:bodyPr>
          <a:lstStyle/>
          <a:p>
            <a:pPr algn="ctr">
              <a:defRPr sz="1050" b="0">
                <a:solidFill>
                  <a:srgbClr val="232D3C"/>
                </a:solidFill>
                <a:latin typeface="Aptos"/>
              </a:defRPr>
            </a:pPr>
            <a:r>
              <a:t>Media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49039" y="3703320"/>
            <a:ext cx="1143000" cy="685800"/>
          </a:xfrm>
          <a:prstGeom prst="rect">
            <a:avLst/>
          </a:prstGeom>
          <a:solidFill>
            <a:srgbClr val="F5F9FC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>
            <a:normAutofit/>
          </a:bodyPr>
          <a:lstStyle/>
          <a:p>
            <a:pPr algn="ctr">
              <a:defRPr sz="1050" b="0">
                <a:solidFill>
                  <a:srgbClr val="232D3C"/>
                </a:solidFill>
                <a:latin typeface="Aptos"/>
              </a:defRPr>
            </a:pPr>
            <a:r>
              <a:t>Alta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92040" y="3703320"/>
            <a:ext cx="2103120" cy="685800"/>
          </a:xfrm>
          <a:prstGeom prst="rect">
            <a:avLst/>
          </a:prstGeom>
          <a:solidFill>
            <a:srgbClr val="F5F9FC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>
            <a:normAutofit/>
          </a:bodyPr>
          <a:lstStyle/>
          <a:p>
            <a:pPr algn="ctr">
              <a:defRPr sz="1050" b="0">
                <a:solidFill>
                  <a:srgbClr val="232D3C"/>
                </a:solidFill>
                <a:latin typeface="Aptos"/>
              </a:defRPr>
            </a:pPr>
            <a:r>
              <a:t>Revisión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95159" y="3703320"/>
            <a:ext cx="2743200" cy="685800"/>
          </a:xfrm>
          <a:prstGeom prst="rect">
            <a:avLst/>
          </a:prstGeom>
          <a:solidFill>
            <a:srgbClr val="F5F9FC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>
            <a:normAutofit/>
          </a:bodyPr>
          <a:lstStyle/>
          <a:p>
            <a:pPr algn="ctr">
              <a:defRPr sz="1050" b="0">
                <a:solidFill>
                  <a:srgbClr val="232D3C"/>
                </a:solidFill>
                <a:latin typeface="Aptos"/>
              </a:defRPr>
            </a:pPr>
            <a:r>
              <a:t>Diseño HITL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738360" y="3703320"/>
            <a:ext cx="1828800" cy="685800"/>
          </a:xfrm>
          <a:prstGeom prst="rect">
            <a:avLst/>
          </a:prstGeom>
          <a:solidFill>
            <a:srgbClr val="F5F9FC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>
            <a:normAutofit/>
          </a:bodyPr>
          <a:lstStyle/>
          <a:p>
            <a:pPr algn="ctr">
              <a:defRPr sz="1050" b="0">
                <a:solidFill>
                  <a:srgbClr val="232D3C"/>
                </a:solidFill>
                <a:latin typeface="Aptos"/>
              </a:defRPr>
            </a:pPr>
            <a:r>
              <a:t>Dirección clínica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389120"/>
            <a:ext cx="21945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>
            <a:normAutofit/>
          </a:bodyPr>
          <a:lstStyle/>
          <a:p>
            <a:pPr algn="ctr">
              <a:defRPr sz="1050" b="0">
                <a:solidFill>
                  <a:srgbClr val="232D3C"/>
                </a:solidFill>
                <a:latin typeface="Aptos"/>
              </a:defRPr>
            </a:pPr>
            <a:r>
              <a:t>Drift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0" y="4389120"/>
            <a:ext cx="10058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>
            <a:normAutofit/>
          </a:bodyPr>
          <a:lstStyle/>
          <a:p>
            <a:pPr algn="ctr">
              <a:defRPr sz="1050" b="0">
                <a:solidFill>
                  <a:srgbClr val="232D3C"/>
                </a:solidFill>
                <a:latin typeface="Aptos"/>
              </a:defRPr>
            </a:pPr>
            <a:r>
              <a:t>Media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749039" y="4389120"/>
            <a:ext cx="1143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>
            <a:normAutofit/>
          </a:bodyPr>
          <a:lstStyle/>
          <a:p>
            <a:pPr algn="ctr">
              <a:defRPr sz="1050" b="0">
                <a:solidFill>
                  <a:srgbClr val="232D3C"/>
                </a:solidFill>
                <a:latin typeface="Aptos"/>
              </a:defRPr>
            </a:pPr>
            <a:r>
              <a:t>Alta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92040" y="4389120"/>
            <a:ext cx="2103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>
            <a:normAutofit/>
          </a:bodyPr>
          <a:lstStyle/>
          <a:p>
            <a:pPr algn="ctr">
              <a:defRPr sz="1050" b="0">
                <a:solidFill>
                  <a:srgbClr val="232D3C"/>
                </a:solidFill>
                <a:latin typeface="Aptos"/>
              </a:defRPr>
            </a:pPr>
            <a:r>
              <a:t>Monitoreo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95159" y="4389120"/>
            <a:ext cx="2743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>
            <a:normAutofit/>
          </a:bodyPr>
          <a:lstStyle/>
          <a:p>
            <a:pPr algn="ctr">
              <a:defRPr sz="1050" b="0">
                <a:solidFill>
                  <a:srgbClr val="232D3C"/>
                </a:solidFill>
                <a:latin typeface="Aptos"/>
              </a:defRPr>
            </a:pPr>
            <a:r>
              <a:t>Recalibración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738360" y="4389120"/>
            <a:ext cx="1828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>
            <a:normAutofit/>
          </a:bodyPr>
          <a:lstStyle/>
          <a:p>
            <a:pPr algn="ctr">
              <a:defRPr sz="1050" b="0">
                <a:solidFill>
                  <a:srgbClr val="232D3C"/>
                </a:solidFill>
                <a:latin typeface="Aptos"/>
              </a:defRPr>
            </a:pPr>
            <a:r>
              <a:t>Gobernanza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60" y="5532120"/>
            <a:ext cx="10561320" cy="502920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AA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>
            <a:normAutofit/>
          </a:bodyPr>
          <a:lstStyle/>
          <a:p>
            <a:pPr algn="ctr">
              <a:defRPr sz="1280" b="1">
                <a:solidFill>
                  <a:srgbClr val="0F2346"/>
                </a:solidFill>
                <a:latin typeface="Aptos"/>
              </a:defRPr>
            </a:pPr>
            <a:r>
              <a:t>Regla: cada riesgo debe tener evidencia, mitigación y responsable; si falta uno, el plan no está listo.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6345936"/>
            <a:ext cx="11201400" cy="9144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97382"/>
                </a:solidFill>
                <a:latin typeface="Aptos"/>
              </a:defRPr>
            </a:pPr>
            <a:r>
              <a:t>Fuentes: Psiquiatria.com Ética y Seguridad + Retinar HITL + Inquira Health HIPAA/GDPR, IA especializada y atención 24/7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346"/>
                </a:solidFill>
                <a:latin typeface="Aptos"/>
              </a:defRPr>
            </a:pPr>
            <a:r>
              <a:t>Ficha mínima del modelo clínico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D596C"/>
                </a:solidFill>
                <a:latin typeface="Aptos"/>
              </a:defRPr>
            </a:pPr>
            <a:r>
              <a:t>Sin ficha, no hay gobernanza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53492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18872" bIns="73152">
            <a:normAutofit/>
          </a:bodyPr>
          <a:lstStyle/>
          <a:p>
            <a:pPr algn="ctr">
              <a:defRPr b="1" sz="1550">
                <a:solidFill>
                  <a:srgbClr val="0F2346"/>
                </a:solidFill>
                <a:latin typeface="Aptos"/>
              </a:defRPr>
            </a:pPr>
            <a:r>
              <a:t>Contenido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Uso previsto y uso prohibido.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Población y contexto.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Datos de entrenamiento y validación.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Métricas globales y por subgrupo.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Límites conocidos.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Frecuencia de revisión.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1143000"/>
            <a:ext cx="5166360" cy="448056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18872" bIns="73152">
            <a:normAutofit/>
          </a:bodyPr>
          <a:lstStyle/>
          <a:p>
            <a:pPr algn="ctr">
              <a:defRPr b="1" sz="1550">
                <a:solidFill>
                  <a:srgbClr val="0F2346"/>
                </a:solidFill>
                <a:latin typeface="Aptos"/>
              </a:defRPr>
            </a:pPr>
            <a:r>
              <a:t>Instrucciones de uso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Qué debe hacer el clínico con la salida.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Cuándo escalar.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Cuándo ignorar la IA.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Qué registrar.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Cómo reportar errores.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45936"/>
            <a:ext cx="11201400" cy="9144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97382"/>
                </a:solidFill>
                <a:latin typeface="Aptos"/>
              </a:defRPr>
            </a:pPr>
            <a:r>
              <a:t>Fuente: Psiquiatria.com · “Ética y Seguridad de la Inteligencia Artificial en Salud Mental” · https://psiquiatria.com/inteligencia-artificial-salud-mental/index · Fuente: Retinar blog · “IA en salud: qué significa human-in-the-loop en la práctica” · https://retinar.com.ar/blog/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346"/>
                </a:solidFill>
                <a:latin typeface="Aptos"/>
              </a:defRPr>
            </a:pPr>
            <a:r>
              <a:t>Preparación para incidentes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D596C"/>
                </a:solidFill>
                <a:latin typeface="Aptos"/>
              </a:defRPr>
            </a:pPr>
            <a:r>
              <a:t>La pregunta no es si habrá errores, sino cómo se responderá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53949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18872" bIns="73152">
            <a:normAutofit/>
          </a:bodyPr>
          <a:lstStyle/>
          <a:p>
            <a:pPr algn="ctr">
              <a:defRPr b="1" sz="1550">
                <a:solidFill>
                  <a:srgbClr val="0F2346"/>
                </a:solidFill>
                <a:latin typeface="Aptos"/>
              </a:defRPr>
            </a:pPr>
            <a:r>
              <a:t>Flujo de respuesta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Detectar anomalía o evento adverso.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Contener acceso o función problemática.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Notificar responsables clínicos y TI.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Revisar logs y caso clínico.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Comunicar si existe obligación regulatoria.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Actualizar mitigaciones.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417320"/>
            <a:ext cx="5029200" cy="1097280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AA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>
            <a:normAutofit/>
          </a:bodyPr>
          <a:lstStyle/>
          <a:p>
            <a:pPr algn="ctr">
              <a:defRPr sz="1500" b="1">
                <a:solidFill>
                  <a:srgbClr val="B93434"/>
                </a:solidFill>
                <a:latin typeface="Aptos"/>
              </a:defRPr>
            </a:pPr>
            <a:r>
              <a:t>Ejemplo: una IA de triage no escala ideación suicida ambigua. Debe existir circuito de revisión inmediata.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2880360"/>
            <a:ext cx="5029200" cy="22402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18872" bIns="73152">
            <a:normAutofit/>
          </a:bodyPr>
          <a:lstStyle/>
          <a:p>
            <a:pPr algn="ctr">
              <a:defRPr b="1" sz="1550">
                <a:solidFill>
                  <a:srgbClr val="0F2346"/>
                </a:solidFill>
                <a:latin typeface="Aptos"/>
              </a:defRPr>
            </a:pPr>
            <a:r>
              <a:t>Tipos de incidente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Error clínico.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Brecha de privacidad.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Drift de modelo.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Fallo de integración.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Uso fuera de indicación.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45936"/>
            <a:ext cx="11201400" cy="9144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97382"/>
                </a:solidFill>
                <a:latin typeface="Aptos"/>
              </a:defRPr>
            </a:pPr>
            <a:r>
              <a:t>Fuente: Inquira Health · “GDPR y Cumplimiento de HIPAA en la IA en Salud” · Mar 31, 2025 · Fuente: Psiquiatria.com · “Ética y Seguridad de la Inteligencia Artificial en Salud Mental” · https://psiquiatria.com/inteligencia-artificial-salud-mental/index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346"/>
                </a:solidFill>
                <a:latin typeface="Aptos"/>
              </a:defRPr>
            </a:pPr>
            <a:r>
              <a:t>Monitoreo en producción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D596C"/>
                </a:solidFill>
                <a:latin typeface="Aptos"/>
              </a:defRPr>
            </a:pPr>
            <a:r>
              <a:t>Un modelo seguro hoy puede no ser seguro mañana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5349240" cy="4480560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18872" bIns="73152">
            <a:normAutofit/>
          </a:bodyPr>
          <a:lstStyle/>
          <a:p>
            <a:pPr algn="ctr">
              <a:defRPr b="1" sz="1550">
                <a:solidFill>
                  <a:srgbClr val="0F2346"/>
                </a:solidFill>
                <a:latin typeface="Aptos"/>
              </a:defRPr>
            </a:pPr>
            <a:r>
              <a:t>Causas de drift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Cambios de población.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Nuevos protocolos.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Nueva cámara o plataforma.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Cambios de idioma o canal.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Diferente patrón de demanda.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Actualización del modelo.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1143000"/>
            <a:ext cx="51663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18872" bIns="73152">
            <a:normAutofit/>
          </a:bodyPr>
          <a:lstStyle/>
          <a:p>
            <a:pPr algn="ctr">
              <a:defRPr b="1" sz="1550">
                <a:solidFill>
                  <a:srgbClr val="0F2346"/>
                </a:solidFill>
                <a:latin typeface="Aptos"/>
              </a:defRPr>
            </a:pPr>
            <a:r>
              <a:t>Métricas de vigilancia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Tasa de escalamiento.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Falsos negativos revisados.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Discordancias humano–IA.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Quejas o incidentes.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Métricas por subgrupo.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Tiempo de respuesta y carga clínica.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45936"/>
            <a:ext cx="11201400" cy="9144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97382"/>
                </a:solidFill>
                <a:latin typeface="Aptos"/>
              </a:defRPr>
            </a:pPr>
            <a:r>
              <a:t>Fuente: Retinar blog · “IA en salud: qué significa human-in-the-loop en la práctica” · https://retinar.com.ar/blog/ · Fuente: Inquira Health · “GDPR y Cumplimiento de HIPAA en la IA en Salud” · Mar 31, 2025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346"/>
                </a:solidFill>
                <a:latin typeface="Aptos"/>
              </a:defRPr>
            </a:pPr>
            <a:r>
              <a:t>Práctica: auditoría de una herramienta de IA clínica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D596C"/>
                </a:solidFill>
                <a:latin typeface="Aptos"/>
              </a:defRPr>
            </a:pPr>
            <a:r>
              <a:t>Trabajo en equipos de 3–4 estudiantes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97280"/>
            <a:ext cx="53492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18872" bIns="73152">
            <a:normAutofit/>
          </a:bodyPr>
          <a:lstStyle/>
          <a:p>
            <a:pPr algn="ctr">
              <a:defRPr b="1" sz="1550">
                <a:solidFill>
                  <a:srgbClr val="0F2346"/>
                </a:solidFill>
                <a:latin typeface="Aptos"/>
              </a:defRPr>
            </a:pPr>
            <a:r>
              <a:t>Tareas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Elegir un caso: chatbot salud mental, asistente 24/7, IA de retina o IA de imágenes.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Describir uso previsto.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Dibujar flujo de datos.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Definir roles y escalamiento.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Completar registro de riesgos.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Proponer plan de mitigación.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1097280"/>
            <a:ext cx="5166360" cy="457200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18872" bIns="73152">
            <a:normAutofit/>
          </a:bodyPr>
          <a:lstStyle/>
          <a:p>
            <a:pPr algn="ctr">
              <a:defRPr b="1" sz="1550">
                <a:solidFill>
                  <a:srgbClr val="0F2346"/>
                </a:solidFill>
                <a:latin typeface="Aptos"/>
              </a:defRPr>
            </a:pPr>
            <a:r>
              <a:t>Preguntas guía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¿Qué problema resuelve?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¿Qué daño podría causar?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¿Qué evidencia exige?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¿Quién supervisa?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¿Cómo se audita?</a:t>
            </a:r>
          </a:p>
          <a:p>
            <a:pPr>
              <a:spcAft>
                <a:spcPts val="200"/>
              </a:spcAft>
              <a:defRPr sz="1350">
                <a:solidFill>
                  <a:srgbClr val="202C3D"/>
                </a:solidFill>
                <a:latin typeface="Aptos"/>
              </a:defRPr>
            </a:pPr>
            <a:r>
              <a:t>• ¿Cuándo debe apagarse?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45936"/>
            <a:ext cx="11201400" cy="9144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97382"/>
                </a:solidFill>
                <a:latin typeface="Aptos"/>
              </a:defRPr>
            </a:pPr>
            <a:r>
              <a:t>Fuentes: Psiquiatria.com Ética y Seguridad + Retinar HITL + Inquira Health HIPAA/GDPR, IA especializada y atención 24/7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346"/>
                </a:solidFill>
                <a:latin typeface="Aptos"/>
              </a:defRPr>
            </a:pPr>
            <a:r>
              <a:t>Rúbrica de evaluación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D596C"/>
                </a:solidFill>
                <a:latin typeface="Aptos"/>
              </a:defRPr>
            </a:pPr>
            <a:r>
              <a:t>Cómo calificar la auditoría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143000"/>
            <a:ext cx="1005840" cy="548640"/>
          </a:xfrm>
          <a:prstGeom prst="roundRect">
            <a:avLst/>
          </a:prstGeom>
          <a:solidFill>
            <a:srgbClr val="008B95"/>
          </a:solidFill>
          <a:ln w="12700">
            <a:solidFill>
              <a:srgbClr val="008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>
            <a:norm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20%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57400" y="1143000"/>
            <a:ext cx="886968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>
            <a:normAutofit/>
          </a:bodyPr>
          <a:lstStyle/>
          <a:p>
            <a:pPr algn="ctr">
              <a:defRPr sz="1600" b="1">
                <a:solidFill>
                  <a:srgbClr val="0F2346"/>
                </a:solidFill>
                <a:latin typeface="Aptos"/>
              </a:defRPr>
            </a:pPr>
            <a:r>
              <a:t>Uso previsto claro y límites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011680"/>
            <a:ext cx="1005840" cy="548640"/>
          </a:xfrm>
          <a:prstGeom prst="roundRect">
            <a:avLst/>
          </a:prstGeom>
          <a:solidFill>
            <a:srgbClr val="008B95"/>
          </a:solidFill>
          <a:ln w="12700">
            <a:solidFill>
              <a:srgbClr val="008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>
            <a:norm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20%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57400" y="2011680"/>
            <a:ext cx="886968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>
            <a:normAutofit/>
          </a:bodyPr>
          <a:lstStyle/>
          <a:p>
            <a:pPr algn="ctr">
              <a:defRPr sz="1600" b="1">
                <a:solidFill>
                  <a:srgbClr val="0F2346"/>
                </a:solidFill>
                <a:latin typeface="Aptos"/>
              </a:defRPr>
            </a:pPr>
            <a:r>
              <a:t>Privacidad + consentimiento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880360"/>
            <a:ext cx="1005840" cy="548640"/>
          </a:xfrm>
          <a:prstGeom prst="roundRect">
            <a:avLst/>
          </a:prstGeom>
          <a:solidFill>
            <a:srgbClr val="008B95"/>
          </a:solidFill>
          <a:ln w="12700">
            <a:solidFill>
              <a:srgbClr val="008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>
            <a:norm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20%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57400" y="2880360"/>
            <a:ext cx="886968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>
            <a:normAutofit/>
          </a:bodyPr>
          <a:lstStyle/>
          <a:p>
            <a:pPr algn="ctr">
              <a:defRPr sz="1600" b="1">
                <a:solidFill>
                  <a:srgbClr val="0F2346"/>
                </a:solidFill>
                <a:latin typeface="Aptos"/>
              </a:defRPr>
            </a:pPr>
            <a:r>
              <a:t>Bias/fairness + subgrupos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3749039"/>
            <a:ext cx="1005840" cy="548640"/>
          </a:xfrm>
          <a:prstGeom prst="roundRect">
            <a:avLst/>
          </a:prstGeom>
          <a:solidFill>
            <a:srgbClr val="008B95"/>
          </a:solidFill>
          <a:ln w="12700">
            <a:solidFill>
              <a:srgbClr val="008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>
            <a:norm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20%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57400" y="3749039"/>
            <a:ext cx="886968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>
            <a:normAutofit/>
          </a:bodyPr>
          <a:lstStyle/>
          <a:p>
            <a:pPr algn="ctr">
              <a:defRPr sz="1600" b="1">
                <a:solidFill>
                  <a:srgbClr val="0F2346"/>
                </a:solidFill>
                <a:latin typeface="Aptos"/>
              </a:defRPr>
            </a:pPr>
            <a:r>
              <a:t>Validación + monitoreo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4617720"/>
            <a:ext cx="1005840" cy="548640"/>
          </a:xfrm>
          <a:prstGeom prst="roundRect">
            <a:avLst/>
          </a:prstGeom>
          <a:solidFill>
            <a:srgbClr val="008B95"/>
          </a:solidFill>
          <a:ln w="12700">
            <a:solidFill>
              <a:srgbClr val="008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>
            <a:norm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20%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57400" y="4617720"/>
            <a:ext cx="886968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>
            <a:normAutofit/>
          </a:bodyPr>
          <a:lstStyle/>
          <a:p>
            <a:pPr algn="ctr">
              <a:defRPr sz="1600" b="1">
                <a:solidFill>
                  <a:srgbClr val="0F2346"/>
                </a:solidFill>
                <a:latin typeface="Aptos"/>
              </a:defRPr>
            </a:pPr>
            <a:r>
              <a:t>HITL + mitigación de riesgos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5669280"/>
            <a:ext cx="10149840" cy="502920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AA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>
            <a:normAutofit/>
          </a:bodyPr>
          <a:lstStyle/>
          <a:p>
            <a:pPr algn="ctr">
              <a:defRPr sz="1300" b="1">
                <a:solidFill>
                  <a:srgbClr val="0F2346"/>
                </a:solidFill>
                <a:latin typeface="Aptos"/>
              </a:defRPr>
            </a:pPr>
            <a:r>
              <a:t>Evaluación principal: capacidad de identificar riesgo clínico real y proponer mitigación verificable.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345936"/>
            <a:ext cx="11201400" cy="9144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97382"/>
                </a:solidFill>
                <a:latin typeface="Aptos"/>
              </a:defRPr>
            </a:pPr>
            <a:r>
              <a:t>Fuentes: Psiquiatria.com Ética y Seguridad + Retinar HITL + Inquira Health HIPAA/GDPR, IA especializada y atención 24/7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4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ide_clean_modern_flat_illustrative_infograph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0"/>
            <a:ext cx="576072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40080" y="777240"/>
            <a:ext cx="52578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>
            <a:normAutofit/>
          </a:bodyPr>
          <a:lstStyle/>
          <a:p>
            <a:pPr algn="ctr">
              <a:defRPr sz="1400" b="1">
                <a:solidFill>
                  <a:srgbClr val="008B95"/>
                </a:solidFill>
                <a:latin typeface="Aptos"/>
              </a:defRPr>
            </a:pPr>
            <a:r>
              <a:t>CIERRE DE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56692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346"/>
                </a:solidFill>
                <a:latin typeface="Aptos"/>
              </a:defRPr>
            </a:pPr>
            <a:r>
              <a:t>Un modelo clínico no está listo por tener buen rendimiento promedio.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063240"/>
            <a:ext cx="53949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>
            <a:normAutofit/>
          </a:bodyPr>
          <a:lstStyle/>
          <a:p>
            <a:pPr algn="ctr">
              <a:defRPr sz="1700" b="1">
                <a:solidFill>
                  <a:srgbClr val="0F2346"/>
                </a:solidFill>
                <a:latin typeface="Aptos"/>
              </a:defRPr>
            </a:pPr>
            <a:r>
              <a:t>Está listo cuando demuestra seguridad, equidad, privacidad, trazabilidad, validación local y supervisión humana real.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663440"/>
            <a:ext cx="5394960" cy="1143000"/>
          </a:xfrm>
          <a:prstGeom prst="roundRect">
            <a:avLst/>
          </a:prstGeom>
          <a:solidFill>
            <a:srgbClr val="FFFAEB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18872" bIns="73152">
            <a:normAutofit/>
          </a:bodyPr>
          <a:lstStyle/>
          <a:p>
            <a:pPr algn="ctr">
              <a:spcAft>
                <a:spcPts val="200"/>
              </a:spcAft>
              <a:defRPr sz="1300">
                <a:solidFill>
                  <a:srgbClr val="202C3D"/>
                </a:solidFill>
                <a:latin typeface="Aptos"/>
              </a:defRPr>
            </a:pPr>
            <a:r>
              <a:t>• AUC alto ≠ implementación segura.</a:t>
            </a:r>
          </a:p>
          <a:p>
            <a:pPr>
              <a:spcAft>
                <a:spcPts val="200"/>
              </a:spcAft>
              <a:defRPr sz="1300">
                <a:solidFill>
                  <a:srgbClr val="202C3D"/>
                </a:solidFill>
                <a:latin typeface="Aptos"/>
              </a:defRPr>
            </a:pPr>
            <a:r>
              <a:t>• HITL real ≠ firma simbólica.</a:t>
            </a:r>
          </a:p>
          <a:p>
            <a:pPr>
              <a:spcAft>
                <a:spcPts val="200"/>
              </a:spcAft>
              <a:defRPr sz="1300">
                <a:solidFill>
                  <a:srgbClr val="202C3D"/>
                </a:solidFill>
                <a:latin typeface="Aptos"/>
              </a:defRPr>
            </a:pPr>
            <a:r>
              <a:t>• Privacidad y confianza son parte del tratamiento.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45936"/>
            <a:ext cx="11201400" cy="9144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97382"/>
                </a:solidFill>
                <a:latin typeface="Aptos"/>
              </a:defRPr>
            </a:pPr>
            <a:r>
              <a:t>Fuentes: Psiquiatria.com Ética y Seguridad + Retinar HITL + Inquira Health HIPAA/GDPR, IA especializada y atención 24/7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