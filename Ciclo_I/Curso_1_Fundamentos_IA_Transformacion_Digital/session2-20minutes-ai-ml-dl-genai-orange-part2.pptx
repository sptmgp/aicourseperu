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rop_wide_cinematic_futuristic_infographic_illustrati_740_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0"/>
            <a:ext cx="6766560" cy="8229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94360"/>
            <a:ext cx="3108960" cy="365760"/>
          </a:xfrm>
          <a:prstGeom prst="roundRect">
            <a:avLst/>
          </a:prstGeom>
          <a:solidFill>
            <a:srgbClr val="7847FF"/>
          </a:solidFill>
          <a:ln>
            <a:solidFill>
              <a:srgbClr val="78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20 slides · 20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85800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600" b="1">
                <a:solidFill>
                  <a:srgbClr val="0E2648"/>
                </a:solidFill>
                <a:latin typeface="Aptos"/>
              </a:defRPr>
            </a:pPr>
            <a:r>
              <a:t>Sesión 2</a:t>
            </a:r>
          </a:p>
          <a:p>
            <a:pPr>
              <a:defRPr sz="3600" b="1">
                <a:solidFill>
                  <a:srgbClr val="0E2648"/>
                </a:solidFill>
                <a:latin typeface="Aptos"/>
              </a:defRPr>
            </a:pPr>
            <a:r>
              <a:t>IA, ML, DL y GenAI en Salud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62179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100" b="0">
                <a:solidFill>
                  <a:srgbClr val="5F6978"/>
                </a:solidFill>
                <a:latin typeface="Aptos"/>
              </a:defRPr>
            </a:pPr>
            <a:r>
              <a:t>Evidencia clínica + práctica no-code con Orange Data Mining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6126480" cy="19659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105655"/>
            <a:ext cx="57972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E2648"/>
                </a:solidFill>
                <a:latin typeface="Aptos Display"/>
              </a:defRPr>
            </a:pPr>
            <a:r>
              <a:t>Idea central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572000"/>
            <a:ext cx="5797296" cy="1234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>
                <a:solidFill>
                  <a:srgbClr val="1E1E1E"/>
                </a:solidFill>
                <a:latin typeface="Aptos"/>
              </a:defRPr>
            </a:pPr>
            <a:r>
              <a:t>AI routes · ML predicts · DL sees · GenAI writes</a:t>
            </a:r>
            <a:br/>
            <a:br/>
            <a:r>
              <a:t>Pero siempre con validación humana, seguridad y datos clínicos bien gobernados.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1/20 · 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Fuentes base: Karan &amp; Elbek, Thorac Res Pract 2025; Nguyen et al., JAMA Netw Open 2026; Annarumma et al., Radiology 2019; Duggan et al., JAMA Netw Open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Mapa rápido: cuatro tecnologías, cuatro problemas clínicos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Cada concepto se enseña con un problema real y una evidencia publicada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971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56816"/>
            <a:ext cx="26426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  <a:r>
              <a:t>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2642616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Organiza / decide</a:t>
            </a:r>
            <a:br/>
            <a:br/>
            <a:r>
              <a:t>Mensajes del portal → triage</a:t>
            </a:r>
            <a:br/>
            <a:br/>
            <a:r>
              <a:t>81% accuracy; +17 h más rápido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5989320"/>
            <a:ext cx="2514600" cy="384048"/>
          </a:xfrm>
          <a:prstGeom prst="roundRect">
            <a:avLst/>
          </a:prstGeom>
          <a:solidFill>
            <a:srgbClr val="186DF2"/>
          </a:solidFill>
          <a:ln>
            <a:solidFill>
              <a:srgbClr val="186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AI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2971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956816"/>
            <a:ext cx="26426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423160"/>
            <a:ext cx="2642616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Predice</a:t>
            </a:r>
            <a:br/>
            <a:br/>
            <a:r>
              <a:t>EHR → riesgo de reingreso</a:t>
            </a:r>
            <a:br/>
            <a:br/>
            <a:r>
              <a:t>modelo de riesgo 30 días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5989320"/>
            <a:ext cx="2514600" cy="384048"/>
          </a:xfrm>
          <a:prstGeom prst="roundRect">
            <a:avLst/>
          </a:prstGeom>
          <a:solidFill>
            <a:srgbClr val="00965C"/>
          </a:solidFill>
          <a:ln>
            <a:solidFill>
              <a:srgbClr val="00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ML predicts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828800"/>
            <a:ext cx="2971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1956816"/>
            <a:ext cx="26426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  <a:r>
              <a:t>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2423160"/>
            <a:ext cx="2642616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Ve patrones complejos</a:t>
            </a:r>
            <a:br/>
            <a:br/>
            <a:r>
              <a:t>X-ray → hallazgo crítico</a:t>
            </a:r>
            <a:br/>
            <a:br/>
            <a:r>
              <a:t>470,388 RX; 11.2 → 2.7 días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5989320"/>
            <a:ext cx="2514600" cy="384048"/>
          </a:xfrm>
          <a:prstGeom prst="roundRect">
            <a:avLst/>
          </a:prstGeom>
          <a:solidFill>
            <a:srgbClr val="F38500"/>
          </a:solidFill>
          <a:ln>
            <a:solidFill>
              <a:srgbClr val="F3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DL sees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018520" y="1828800"/>
            <a:ext cx="2971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83112" y="1956816"/>
            <a:ext cx="26426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GenAI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3112" y="2423160"/>
            <a:ext cx="2642616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Genera borradores</a:t>
            </a:r>
            <a:br/>
            <a:br/>
            <a:r>
              <a:t>Conversación → nota clínica</a:t>
            </a:r>
            <a:br/>
            <a:br/>
            <a:r>
              <a:t>20.4% menos tiempo de nota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47120" y="5989320"/>
            <a:ext cx="2514600" cy="384048"/>
          </a:xfrm>
          <a:prstGeom prst="roundRect">
            <a:avLst/>
          </a:prstGeom>
          <a:solidFill>
            <a:srgbClr val="7847FF"/>
          </a:solidFill>
          <a:ln>
            <a:solidFill>
              <a:srgbClr val="78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GenAI writes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2/20 · 1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Síntesis docente basada en estudios clínicos recientes y el artículo 'Artificial Intelligence in Medicine' (2025).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Artificial Intelligence: triage operacional de mensajes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La IA puede mejorar el flujo clínico antes de diagnosticar enfermedades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303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0E2648"/>
                </a:solidFill>
                <a:latin typeface="Aptos"/>
              </a:defRPr>
            </a:pPr>
            <a:r>
              <a:t>Problema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303520" cy="173736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Miles de mensajes llegan al portal de pacientes.</a:t>
            </a:r>
          </a:p>
          <a:p>
            <a:pPr>
              <a:spcAft>
                <a:spcPts val="7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Muchos son administrativos; algunos son clínicamente urgentes.</a:t>
            </a:r>
          </a:p>
          <a:p>
            <a:pPr>
              <a:spcAft>
                <a:spcPts val="7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Sin triage, el riesgo no aparece en el orden correcto.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14800"/>
            <a:ext cx="1783080" cy="8686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4242816"/>
            <a:ext cx="1453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  <a:r>
              <a:t>Patient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4709160"/>
            <a:ext cx="1453895" cy="1371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">
                <a:solidFill>
                  <a:srgbClr val="1E1E1E"/>
                </a:solidFill>
                <a:latin typeface="Aptos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3154680" y="4114800"/>
            <a:ext cx="1783080" cy="8686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4242816"/>
            <a:ext cx="1453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  <a:r>
              <a:t>AI /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4709160"/>
            <a:ext cx="1453895" cy="1371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">
                <a:solidFill>
                  <a:srgbClr val="1E1E1E"/>
                </a:solidFill>
                <a:latin typeface="Aptos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5440680" y="4114800"/>
            <a:ext cx="1783080" cy="8686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5272" y="4242816"/>
            <a:ext cx="1453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  <a:r>
              <a:t>High acuity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5272" y="4709160"/>
            <a:ext cx="1453895" cy="1371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">
                <a:solidFill>
                  <a:srgbClr val="1E1E1E"/>
                </a:solidFill>
                <a:latin typeface="Aptos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7726679" y="4114800"/>
            <a:ext cx="1783080" cy="8686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1" y="4242816"/>
            <a:ext cx="1453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  <a:r>
              <a:t>Clinician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1" y="4709160"/>
            <a:ext cx="1453895" cy="1371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">
                <a:solidFill>
                  <a:srgbClr val="1E1E1E"/>
                </a:solidFill>
                <a:latin typeface="Aptos"/>
              </a:defRPr>
            </a:pPr>
          </a:p>
        </p:txBody>
      </p:sp>
      <p:cxnSp>
        <p:nvCxnSpPr>
          <p:cNvPr id="19" name="Connector 18"/>
          <p:cNvCxnSpPr/>
          <p:nvPr/>
        </p:nvCxnSpPr>
        <p:spPr>
          <a:xfrm>
            <a:off x="2651760" y="4544568"/>
            <a:ext cx="502920" cy="0"/>
          </a:xfrm>
          <a:prstGeom prst="line">
            <a:avLst/>
          </a:prstGeom>
          <a:ln w="38100">
            <a:solidFill>
              <a:srgbClr val="186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4544568"/>
            <a:ext cx="502920" cy="0"/>
          </a:xfrm>
          <a:prstGeom prst="line">
            <a:avLst/>
          </a:prstGeom>
          <a:ln w="38100">
            <a:solidFill>
              <a:srgbClr val="186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23760" y="4544568"/>
            <a:ext cx="502919" cy="0"/>
          </a:xfrm>
          <a:prstGeom prst="line">
            <a:avLst/>
          </a:prstGeom>
          <a:ln w="38100">
            <a:solidFill>
              <a:srgbClr val="186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12680" y="160020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186DF2"/>
                </a:solidFill>
                <a:latin typeface="Aptos Display"/>
              </a:defRPr>
            </a:pPr>
            <a:r>
              <a:t>3.03M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mensajes analizados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12680" y="30632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186DF2"/>
                </a:solidFill>
                <a:latin typeface="Aptos Display"/>
              </a:defRPr>
            </a:pPr>
            <a:r>
              <a:t>81% vs 44%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precisión vs sistema previo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45262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186DF2"/>
                </a:solidFill>
                <a:latin typeface="Aptos Display"/>
              </a:defRPr>
            </a:pPr>
            <a:r>
              <a:t>−17.01 h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lectura clínica de alta prioridad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4652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0E2648"/>
                </a:solidFill>
                <a:latin typeface="Aptos"/>
              </a:defRPr>
            </a:pPr>
            <a:r>
              <a:t>Mensaje para alumnos: IA no siempre reemplaza decisiones médicas; a menudo ordena el trabajo para que el humano actúe antes.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3/20 · 1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Nguyen et al., JAMA Network Open 2026: Smart Messaging Tool, 3,030,247 messages, 81% accuracy, −17.01 h high-acuity read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Práctica no-code: Orange para clasificar mensajes clínicos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Convertimos la idea de triage en un flujo visual que el estudiante puede construir</a:t>
            </a:r>
          </a:p>
        </p:txBody>
      </p:sp>
      <p:pic>
        <p:nvPicPr>
          <p:cNvPr id="5" name="Picture 4" descr="image(20260927-2039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34440"/>
            <a:ext cx="6126480" cy="5394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6309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82495"/>
            <a:ext cx="5980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E2648"/>
                </a:solidFill>
                <a:latin typeface="Aptos Display"/>
              </a:defRPr>
            </a:pPr>
            <a:r>
              <a:t>Ejemplo docente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5980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Aptos"/>
              </a:defRPr>
            </a:pPr>
            <a:r>
              <a:t>Usar Orange Text Mining para construir un flujo: texto → preprocesamiento → clasificación → evaluación.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63093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91256"/>
            <a:ext cx="5980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E2648"/>
                </a:solidFill>
                <a:latin typeface="Aptos Display"/>
              </a:defRPr>
            </a:pPr>
            <a:r>
              <a:t>Caso de práctica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57600"/>
            <a:ext cx="5980176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Dataset ficticio de mensajes:</a:t>
            </a:r>
            <a:br/>
            <a:br/>
            <a:r>
              <a:t>• renovación de receta</a:t>
            </a:r>
            <a:br/>
            <a:r>
              <a:t>• dolor torácico</a:t>
            </a:r>
            <a:br/>
            <a:r>
              <a:t>• fiebre postoperatoria</a:t>
            </a:r>
            <a:br/>
            <a:r>
              <a:t>• cita administrativa</a:t>
            </a:r>
            <a:br/>
            <a:br/>
            <a:r>
              <a:t>Tarea: clasificar cada mensaje como administrativo, rutina clínica o alta prioridad.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400800"/>
            <a:ext cx="1828800" cy="384048"/>
          </a:xfrm>
          <a:prstGeom prst="roundRect">
            <a:avLst/>
          </a:prstGeom>
          <a:solidFill>
            <a:srgbClr val="7847FF"/>
          </a:solidFill>
          <a:ln>
            <a:solidFill>
              <a:srgbClr val="78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tos"/>
              </a:defRPr>
            </a:pPr>
            <a:r>
              <a:t>Orange widgets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6400800"/>
            <a:ext cx="2103120" cy="384048"/>
          </a:xfrm>
          <a:prstGeom prst="roundRect">
            <a:avLst/>
          </a:prstGeom>
          <a:solidFill>
            <a:srgbClr val="009889"/>
          </a:solidFill>
          <a:ln>
            <a:solidFill>
              <a:srgbClr val="009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tos"/>
              </a:defRPr>
            </a:pPr>
            <a:r>
              <a:t>No-code NLP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6400800"/>
            <a:ext cx="1920240" cy="384048"/>
          </a:xfrm>
          <a:prstGeom prst="roundRect">
            <a:avLst/>
          </a:prstGeom>
          <a:solidFill>
            <a:srgbClr val="186DF2"/>
          </a:solidFill>
          <a:ln>
            <a:solidFill>
              <a:srgbClr val="186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tos"/>
              </a:defRPr>
            </a:pPr>
            <a:r>
              <a:t>Clinical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4/20 · 1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Capturas de Orange Data Mining compartidas por el usuario; workflow adaptado para mensajes clínicos.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Machine Learning: predicción de reingreso a 30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ML aprende patrones en datos estructurados del EHR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114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0E2648"/>
                </a:solidFill>
                <a:latin typeface="Aptos"/>
              </a:defRPr>
            </a:pPr>
            <a:r>
              <a:t>Pregunta clínica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937760" cy="137160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56816"/>
            <a:ext cx="46085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E2648"/>
                </a:solidFill>
                <a:latin typeface="Aptos Display"/>
              </a:defRPr>
            </a:pPr>
            <a:r>
              <a:t>Alta hospitalaria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23160"/>
            <a:ext cx="4608576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>
                <a:solidFill>
                  <a:srgbClr val="1E1E1E"/>
                </a:solidFill>
                <a:latin typeface="Aptos"/>
              </a:defRPr>
            </a:pPr>
            <a:r>
              <a:t>¿Quién tiene más probabilidad de regresar en 30 días?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749039"/>
            <a:ext cx="1600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877055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EHR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4343400"/>
            <a:ext cx="1271016" cy="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">
                <a:solidFill>
                  <a:srgbClr val="1E1E1E"/>
                </a:solidFill>
                <a:latin typeface="Aptos"/>
              </a:defRPr>
            </a:pP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4114800"/>
            <a:ext cx="594359" cy="0"/>
          </a:xfrm>
          <a:prstGeom prst="line">
            <a:avLst/>
          </a:prstGeom>
          <a:ln w="31750">
            <a:solidFill>
              <a:srgbClr val="009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63239" y="3749039"/>
            <a:ext cx="1600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3877055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4343400"/>
            <a:ext cx="1271016" cy="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">
                <a:solidFill>
                  <a:srgbClr val="1E1E1E"/>
                </a:solidFill>
                <a:latin typeface="Aptos"/>
              </a:defRPr>
            </a:pPr>
          </a:p>
        </p:txBody>
      </p:sp>
      <p:cxnSp>
        <p:nvCxnSpPr>
          <p:cNvPr id="16" name="Connector 15"/>
          <p:cNvCxnSpPr/>
          <p:nvPr/>
        </p:nvCxnSpPr>
        <p:spPr>
          <a:xfrm>
            <a:off x="4663440" y="4114800"/>
            <a:ext cx="594360" cy="0"/>
          </a:xfrm>
          <a:prstGeom prst="line">
            <a:avLst/>
          </a:prstGeom>
          <a:ln w="31750">
            <a:solidFill>
              <a:srgbClr val="009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3749039"/>
            <a:ext cx="1600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3877055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ML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4343400"/>
            <a:ext cx="1271016" cy="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">
                <a:solidFill>
                  <a:srgbClr val="1E1E1E"/>
                </a:solidFill>
                <a:latin typeface="Aptos"/>
              </a:defRPr>
            </a:pP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4114800"/>
            <a:ext cx="594359" cy="0"/>
          </a:xfrm>
          <a:prstGeom prst="line">
            <a:avLst/>
          </a:prstGeom>
          <a:ln w="31750">
            <a:solidFill>
              <a:srgbClr val="009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52359" y="3749039"/>
            <a:ext cx="1600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1" y="3877055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Risk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1" y="4343400"/>
            <a:ext cx="1271016" cy="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">
                <a:solidFill>
                  <a:srgbClr val="1E1E1E"/>
                </a:solidFill>
                <a:latin typeface="Aptos"/>
              </a:defRPr>
            </a:pPr>
          </a:p>
        </p:txBody>
      </p:sp>
      <p:cxnSp>
        <p:nvCxnSpPr>
          <p:cNvPr id="24" name="Connector 23"/>
          <p:cNvCxnSpPr/>
          <p:nvPr/>
        </p:nvCxnSpPr>
        <p:spPr>
          <a:xfrm>
            <a:off x="9052559" y="4114800"/>
            <a:ext cx="594360" cy="0"/>
          </a:xfrm>
          <a:prstGeom prst="line">
            <a:avLst/>
          </a:prstGeom>
          <a:ln w="31750">
            <a:solidFill>
              <a:srgbClr val="009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46919" y="3749039"/>
            <a:ext cx="1600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1511" y="3877055"/>
            <a:ext cx="1271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Follow-up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1" y="4343400"/>
            <a:ext cx="1271016" cy="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">
                <a:solidFill>
                  <a:srgbClr val="1E1E1E"/>
                </a:solidFill>
                <a:latin typeface="Aptos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9692640" y="1554480"/>
            <a:ext cx="4023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00965C"/>
                </a:solidFill>
                <a:latin typeface="Aptos Display"/>
              </a:defRPr>
            </a:pPr>
            <a:r>
              <a:t>COPD · HF · DM2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poblaciones usadas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743200"/>
            <a:ext cx="4023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00965C"/>
                </a:solidFill>
                <a:latin typeface="Aptos Display"/>
              </a:defRPr>
            </a:pPr>
            <a:r>
              <a:t>30 días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reingreso no planificado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3931920"/>
            <a:ext cx="4023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00965C"/>
                </a:solidFill>
                <a:latin typeface="Aptos Display"/>
              </a:defRPr>
            </a:pPr>
            <a:r>
              <a:t>Ensemble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mejor desempeño reportado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760720"/>
            <a:ext cx="12801600" cy="960120"/>
          </a:xfrm>
          <a:prstGeom prst="roundRect">
            <a:avLst/>
          </a:prstGeom>
          <a:solidFill>
            <a:srgbClr val="EFFAF6"/>
          </a:solidFill>
          <a:ln w="12700">
            <a:solidFill>
              <a:srgbClr val="BDE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888736"/>
            <a:ext cx="124724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E2648"/>
                </a:solidFill>
                <a:latin typeface="Aptos Display"/>
              </a:defRPr>
            </a:pPr>
            <a:r>
              <a:t>Mensaje para alumnos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6355080"/>
            <a:ext cx="12472416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Aptos"/>
              </a:defRPr>
            </a:pPr>
            <a:r>
              <a:t>ML no escribe un informe; produce una probabilidad para priorizar seguimiento: llamada, control precoz o intervención social.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5/20 · 1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BMJ Open 2026 study cited by user: synthetic data-augmented ML for 30-day readmission prediction in COPD, heart failure and type 2 diabetes.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Práctica Orange: de pacientes a riesgo de reingreso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Mismo concepto de ML, pero ejecutable por estudiantes sin programar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2596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1.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2596896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ptos"/>
              </a:defRPr>
            </a:pPr>
            <a:r>
              <a:t>age · diagnosis · labs · admissions · medication · social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417320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545336"/>
            <a:ext cx="2596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2. Preparar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87952" y="2011680"/>
            <a:ext cx="2596896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ptos"/>
              </a:defRPr>
            </a:pPr>
            <a:r>
              <a:t>impute missing values · select columns · normalize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417320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1545336"/>
            <a:ext cx="2596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3. Entrenar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2011680"/>
            <a:ext cx="2596896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ptos"/>
              </a:defRPr>
            </a:pPr>
            <a:r>
              <a:t>logistic regression · random forest · tree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1417320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71632" y="1545336"/>
            <a:ext cx="2596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4. Evaluar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1632" y="2011680"/>
            <a:ext cx="2596896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ptos"/>
              </a:defRPr>
            </a:pPr>
            <a:r>
              <a:t>confusion matrix · ROC · threshold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0" y="1965960"/>
            <a:ext cx="365760" cy="0"/>
          </a:xfrm>
          <a:prstGeom prst="line">
            <a:avLst/>
          </a:prstGeom>
          <a:ln w="38100">
            <a:solidFill>
              <a:srgbClr val="009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49440" y="1965960"/>
            <a:ext cx="365760" cy="0"/>
          </a:xfrm>
          <a:prstGeom prst="line">
            <a:avLst/>
          </a:prstGeom>
          <a:ln w="38100">
            <a:solidFill>
              <a:srgbClr val="009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1965960"/>
            <a:ext cx="365760" cy="0"/>
          </a:xfrm>
          <a:prstGeom prst="line">
            <a:avLst/>
          </a:prstGeom>
          <a:ln w="38100">
            <a:solidFill>
              <a:srgbClr val="009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" y="3154680"/>
            <a:ext cx="5669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3282696"/>
            <a:ext cx="5340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E2648"/>
                </a:solidFill>
                <a:latin typeface="Aptos Display"/>
              </a:defRPr>
            </a:pPr>
            <a:r>
              <a:t>Resultado esperado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749040"/>
            <a:ext cx="5340096" cy="26060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Aptos"/>
              </a:defRPr>
            </a:pPr>
            <a:r>
              <a:t>Los estudiantes responden:</a:t>
            </a:r>
            <a:br/>
            <a:br/>
            <a:r>
              <a:t>• ¿qué modelo detecta más pacientes de alto riesgo?</a:t>
            </a:r>
            <a:br/>
            <a:r>
              <a:t>• ¿qué error es más peligroso: falso positivo o falso negativo?</a:t>
            </a:r>
            <a:br/>
            <a:r>
              <a:t>• ¿qué acción clínica se activa cuando risk &gt; 0.70?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3154680"/>
            <a:ext cx="5669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2" y="3282696"/>
            <a:ext cx="5340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E2648"/>
                </a:solidFill>
                <a:latin typeface="Aptos Display"/>
              </a:defRPr>
            </a:pPr>
            <a:r>
              <a:t>Discusión clínica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749040"/>
            <a:ext cx="5340096" cy="26060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Aptos"/>
              </a:defRPr>
            </a:pPr>
            <a:r>
              <a:t>Un buen AUC no basta. Deben decidir un umbral que tenga sentido para camas, seguimiento telefónico, personal disponible y seguridad del paciente.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6/20 · 1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Orange lab adaptado: File → Select Columns → Impute → Train/Test → Confusion Matrix → ROC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Deep Learning: radiología asistida por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DL prioriza estudios críticos; el radiólogo sigue siendo el decisor</a:t>
            </a:r>
          </a:p>
        </p:txBody>
      </p:sp>
      <p:pic>
        <p:nvPicPr>
          <p:cNvPr id="5" name="Picture 4" descr="_crop_a_realistic_cinematic_high_tech_medical_ai_resea_665_5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051560"/>
            <a:ext cx="60807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17320"/>
            <a:ext cx="61264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0E2648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309360" cy="118872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Miles de radiografías esperan informe.</a:t>
            </a:r>
          </a:p>
          <a:p>
            <a:pPr>
              <a:spcAft>
                <a:spcPts val="7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Un neumotórax puede estar escondido en la cola.</a:t>
            </a:r>
          </a:p>
          <a:p>
            <a:pPr>
              <a:spcAft>
                <a:spcPts val="7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DL puede detectar patrones visuales y priorizar.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F38500"/>
                </a:solidFill>
                <a:latin typeface="Aptos Display"/>
              </a:defRPr>
            </a:pPr>
            <a:r>
              <a:t>470,388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radiografías de entrenamiento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365760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F38500"/>
                </a:solidFill>
                <a:latin typeface="Aptos Display"/>
              </a:defRPr>
            </a:pPr>
            <a:r>
              <a:t>11.2 → 2.7 días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retraso casos críticos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7492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F38500"/>
                </a:solidFill>
                <a:latin typeface="Aptos Display"/>
              </a:defRPr>
            </a:pPr>
            <a:r>
              <a:t>7.6 → 4.1 días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retraso casos urgentes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5074920"/>
            <a:ext cx="2743200" cy="11887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FFD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1" y="5202936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  <a:r>
              <a:t>Mejor término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5669280"/>
            <a:ext cx="241401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ptos"/>
              </a:defRPr>
            </a:pPr>
            <a:r>
              <a:t>AI-assisted radiology</a:t>
            </a:r>
            <a:br/>
            <a:r>
              <a:t>no “radiología autónoma”.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7/20 · 1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Annarumma et al., Radiology 2019; AI triage for adult chest radiographs. Also aligned with Karan &amp; Elbek 2025 thoracic AI examples.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Ejemplos torácicos del artículo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El PDF aporta ejemplos clínicos perfectos para estudiantes médicos</a:t>
            </a:r>
          </a:p>
        </p:txBody>
      </p:sp>
      <p:pic>
        <p:nvPicPr>
          <p:cNvPr id="5" name="Picture 4" descr="p3_chest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143000"/>
            <a:ext cx="5852160" cy="5303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371600"/>
            <a:ext cx="6583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99616"/>
            <a:ext cx="6254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  <a:r>
              <a:t>Lung cancer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65960"/>
            <a:ext cx="625449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t>La IA torácica ayuda a detectar nódulos y mejorar imágenes de TC de baja dosis, aunque algunos sistemas pueden aumentar falsos positivos.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6583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871216"/>
            <a:ext cx="6254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  <a:r>
              <a:t>Interstitial lung disease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37560"/>
            <a:ext cx="625449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t>El artículo reporta una meta-análisis con exactitud diagnóstica aproximada de 78%–91% para IA en TC de enfermedad intersticial.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14800"/>
            <a:ext cx="6583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242816"/>
            <a:ext cx="6254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  <a:r>
              <a:t>Spirometry / asthma / TB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709160"/>
            <a:ext cx="625449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Aptos"/>
              </a:defRPr>
            </a:pPr>
            <a:r>
              <a:t>Ejemplos incluyen interpretación de espirometría, monitoreo de asma con sensores y tamizaje de TB con CAD4TB en menos de 15 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8/20 · 1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Karan &amp; Elbek, Artificial Intelligence in Medicine, Thorac Res Pract 2025; examples from chest diseases section.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Generative AI: ambient clinical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GenAI escucha, resume y propone un borrador; el médico revisa</a:t>
            </a:r>
          </a:p>
        </p:txBody>
      </p:sp>
      <p:pic>
        <p:nvPicPr>
          <p:cNvPr id="5" name="Picture 4" descr="_crop_a_wide_clean_modern_digital_illustration_of_a_he_640_5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14400"/>
            <a:ext cx="585216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508760"/>
            <a:ext cx="3291840" cy="205740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36776"/>
            <a:ext cx="2962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5F6978"/>
                </a:solidFill>
                <a:latin typeface="Aptos Display"/>
              </a:defRPr>
            </a:pPr>
            <a: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03120"/>
            <a:ext cx="2962656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Médico + paciente</a:t>
            </a:r>
            <a:br/>
            <a:r>
              <a:t>↓</a:t>
            </a:r>
            <a:br/>
            <a:r>
              <a:t>consulta</a:t>
            </a:r>
            <a:br/>
            <a:r>
              <a:t>↓</a:t>
            </a:r>
            <a:br/>
            <a:r>
              <a:t>10–15 min escribiendo</a:t>
            </a:r>
            <a:br/>
            <a:r>
              <a:t>↓</a:t>
            </a:r>
            <a:br/>
            <a:r>
              <a:t>nota EHR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91840" cy="2057400"/>
          </a:xfrm>
          <a:prstGeom prst="roundRect">
            <a:avLst/>
          </a:prstGeom>
          <a:solidFill>
            <a:srgbClr val="F6F1FF"/>
          </a:solidFill>
          <a:ln w="12700">
            <a:solidFill>
              <a:srgbClr val="DB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636776"/>
            <a:ext cx="2962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Con GenAI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03120"/>
            <a:ext cx="2962656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conversación</a:t>
            </a:r>
            <a:br/>
            <a:r>
              <a:t>↓</a:t>
            </a:r>
            <a:br/>
            <a:r>
              <a:t>micrófono ambiente</a:t>
            </a:r>
            <a:br/>
            <a:r>
              <a:t>↓</a:t>
            </a:r>
            <a:br/>
            <a:r>
              <a:t>LLM</a:t>
            </a:r>
            <a:br/>
            <a:r>
              <a:t>↓</a:t>
            </a:r>
            <a:br/>
            <a:r>
              <a:t>borrador SOAP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7847FF"/>
                </a:solidFill>
                <a:latin typeface="Aptos Display"/>
              </a:defRPr>
            </a:pPr>
            <a:r>
              <a:t>46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clínicos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1605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7847FF"/>
                </a:solidFill>
                <a:latin typeface="Aptos Display"/>
              </a:defRPr>
            </a:pPr>
            <a:r>
              <a:t>17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especialidades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1605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7847FF"/>
                </a:solidFill>
                <a:latin typeface="Aptos Display"/>
              </a:defRPr>
            </a:pPr>
            <a:r>
              <a:t>−20.4%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tiempo por nota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48640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2800" b="1">
                <a:solidFill>
                  <a:srgbClr val="7847FF"/>
                </a:solidFill>
                <a:latin typeface="Aptos Display"/>
              </a:defRPr>
            </a:pPr>
            <a:r>
              <a:t>−30%</a:t>
            </a:r>
          </a:p>
          <a:p>
            <a:pPr algn="ctr">
              <a:defRPr sz="1050">
                <a:solidFill>
                  <a:srgbClr val="5F6978"/>
                </a:solidFill>
              </a:defRPr>
            </a:pPr>
            <a:r>
              <a:t>trabajo fuera de horario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486400"/>
            <a:ext cx="5074920" cy="1051560"/>
          </a:xfrm>
          <a:prstGeom prst="roundRect">
            <a:avLst/>
          </a:prstGeom>
          <a:solidFill>
            <a:srgbClr val="FAF8FF"/>
          </a:solidFill>
          <a:ln w="12700">
            <a:solidFill>
              <a:srgbClr val="DE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5614416"/>
            <a:ext cx="4745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Regla de 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6080760"/>
            <a:ext cx="4745736" cy="3200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AI creates DRAFT → clinician verifies → EHR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9/20 · 1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Duggan et al., JAMA Network Open 2025: ambient scribe associated with less documentation time and after-hours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GenAI no equivale a comprensión humana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El artículo advierte que ChatGPT resume y escribe, pero no ‘entiende’ como un humano</a:t>
            </a:r>
          </a:p>
        </p:txBody>
      </p:sp>
      <p:pic>
        <p:nvPicPr>
          <p:cNvPr id="5" name="Picture 4" descr="p6_chatgpt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280160"/>
            <a:ext cx="5943600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417320"/>
            <a:ext cx="6309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45336"/>
            <a:ext cx="5980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Qué puede hacer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11680"/>
            <a:ext cx="5980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Análisis de lenguaje, traducción, resumen y solución de algunos problemas.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6309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008376"/>
            <a:ext cx="5980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D23E3E"/>
                </a:solidFill>
                <a:latin typeface="Aptos Display"/>
              </a:defRPr>
            </a:pPr>
            <a:r>
              <a:t>Qué no debe prometer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474720"/>
            <a:ext cx="59801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No posee inteligencia general humana ni comprensión clínica profunda.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43400"/>
            <a:ext cx="6309360" cy="1508760"/>
          </a:xfrm>
          <a:prstGeom prst="roundRect">
            <a:avLst/>
          </a:prstGeom>
          <a:solidFill>
            <a:srgbClr val="FFF6F6"/>
          </a:solidFill>
          <a:ln w="12700">
            <a:solidFill>
              <a:srgbClr val="FF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471416"/>
            <a:ext cx="5980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D23E3E"/>
                </a:solidFill>
                <a:latin typeface="Aptos Display"/>
              </a:defRPr>
            </a:pPr>
            <a:r>
              <a:t>Discusión de 1 minuto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937760"/>
            <a:ext cx="5980176" cy="7772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¿Quién es responsable si el borrador contiene una omisión?</a:t>
            </a:r>
            <a:br/>
            <a:r>
              <a:t>¿El paciente debe consentir grabación ambiental?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10/20 · 1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Karan &amp; Elbek 2025: ChatGPT has strong language functions but narrow intelligence; JAMA Netw Open 2025 discusses consent for ambient documentation.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Comparación final: IA, ML, DL y 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Una frase que los alumnos recuerdan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017520" cy="438912"/>
          </a:xfrm>
          <a:prstGeom prst="roundRect">
            <a:avLst/>
          </a:prstGeom>
          <a:solidFill>
            <a:srgbClr val="186DF2"/>
          </a:solidFill>
          <a:ln>
            <a:solidFill>
              <a:srgbClr val="186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  <a:latin typeface="Aptos"/>
              </a:defRPr>
            </a:pPr>
            <a:r>
              <a:t>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3017520" cy="438912"/>
          </a:xfrm>
          <a:prstGeom prst="roundRect">
            <a:avLst/>
          </a:prstGeom>
          <a:solidFill>
            <a:srgbClr val="00965C"/>
          </a:solidFill>
          <a:ln>
            <a:solidFill>
              <a:srgbClr val="00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71600"/>
            <a:ext cx="3017520" cy="438912"/>
          </a:xfrm>
          <a:prstGeom prst="roundRect">
            <a:avLst/>
          </a:prstGeom>
          <a:solidFill>
            <a:srgbClr val="F38500"/>
          </a:solidFill>
          <a:ln>
            <a:solidFill>
              <a:srgbClr val="F3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  <a:latin typeface="Aptos"/>
              </a:defRPr>
            </a:pPr>
            <a:r>
              <a:t>DL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0" y="1371600"/>
            <a:ext cx="3017520" cy="438912"/>
          </a:xfrm>
          <a:prstGeom prst="roundRect">
            <a:avLst/>
          </a:prstGeom>
          <a:solidFill>
            <a:srgbClr val="7847FF"/>
          </a:solidFill>
          <a:ln>
            <a:solidFill>
              <a:srgbClr val="78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  <a:latin typeface="Aptos"/>
              </a:defRPr>
            </a:pPr>
            <a:r>
              <a:t>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8600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F6978"/>
                </a:solidFill>
                <a:latin typeface="Aptos"/>
              </a:defRPr>
            </a:pPr>
            <a:r>
              <a:t>Función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23113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87552" y="2697479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Organiza / decide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10312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223113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370832" y="2697479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Predice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10312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2" y="223113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754112" y="2697479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Reconoce patrones complejos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0" y="210312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37392" y="223113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1137392" y="2697479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Genera contenido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33756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F6978"/>
                </a:solidFill>
                <a:latin typeface="Aptos"/>
              </a:defRPr>
            </a:pPr>
            <a:r>
              <a:t>Entrada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154679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28269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87552" y="3749039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mensaje del portal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154679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328269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370832" y="3749039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datos EHR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3154679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328269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7754112" y="3749039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imagen / señal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0" y="3154679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7392" y="328269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11137392" y="3749039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conversación / texto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3891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F6978"/>
                </a:solidFill>
                <a:latin typeface="Aptos"/>
              </a:defRPr>
            </a:pPr>
            <a:r>
              <a:t>Salida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20624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4334255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987552" y="4800600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categoría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6240" y="420624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70832" y="4334255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4370832" y="4800600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probabilidad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420624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54112" y="4334255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7754112" y="4800600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detección / heatmap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72800" y="420624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37392" y="4334255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11137392" y="4800600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borrador clínico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544068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1">
                <a:solidFill>
                  <a:srgbClr val="5F6978"/>
                </a:solidFill>
                <a:latin typeface="Aptos"/>
              </a:defRPr>
            </a:pPr>
            <a:r>
              <a:t>Ejemplo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525780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" y="538581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987552" y="5852160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HIGH ACUITY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6240" y="525780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0832" y="538581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4370832" y="5852160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readmission risk 78%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89520" y="525780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54112" y="538581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</a:p>
        </p:txBody>
      </p:sp>
      <p:sp>
        <p:nvSpPr>
          <p:cNvPr id="57" name="TextBox 56"/>
          <p:cNvSpPr txBox="1"/>
          <p:nvPr/>
        </p:nvSpPr>
        <p:spPr>
          <a:xfrm>
            <a:off x="7754112" y="5852160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pneumothorax 94%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972800" y="525780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137392" y="5385816"/>
            <a:ext cx="2688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11137392" y="5852160"/>
            <a:ext cx="2688336" cy="457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SOAP note draft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74519" y="6537960"/>
            <a:ext cx="10881360" cy="594360"/>
          </a:xfrm>
          <a:prstGeom prst="roundRect">
            <a:avLst/>
          </a:prstGeom>
          <a:solidFill>
            <a:srgbClr val="0E2648"/>
          </a:solidFill>
          <a:ln w="12700">
            <a:solidFill>
              <a:srgbClr val="0E2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39112" y="6665976"/>
            <a:ext cx="10552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  <a:latin typeface="Aptos Display"/>
              </a:defRPr>
            </a:pPr>
            <a:r>
              <a:t>Frase docente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39112" y="7132320"/>
            <a:ext cx="10552176" cy="-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400">
                <a:solidFill>
                  <a:srgbClr val="1E1E1E"/>
                </a:solidFill>
                <a:latin typeface="Aptos"/>
              </a:defRPr>
            </a:pPr>
            <a:r>
              <a:t>AI routes · ML predicts · DL sees · GenAI writes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11680" y="6675120"/>
            <a:ext cx="106070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AI routes · ML predicts · DL sees · GenAI writes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11/20 · 1 min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Resumen conceptual para Sesión 2; ejemplos clínicos basados en evidencia publicada.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Ahora lo hacemos en Orange: del concepto a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La práctica no-code evita que la clase sea solo teoría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8521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0E2648"/>
                </a:solidFill>
                <a:latin typeface="Aptos"/>
              </a:defRPr>
            </a:pPr>
            <a:r>
              <a:t>El objetivo de la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035040" cy="2011680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Mostrar que AI/ML no es magia: es un pipeline.</a:t>
            </a:r>
          </a:p>
          <a:p>
            <a:pPr>
              <a:spcAft>
                <a:spcPts val="7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Los widgets obligan a pensar en datos, limpieza, modelo y evaluación.</a:t>
            </a:r>
          </a:p>
          <a:p>
            <a:pPr>
              <a:spcAft>
                <a:spcPts val="700"/>
              </a:spcAft>
              <a:defRPr sz="1800">
                <a:solidFill>
                  <a:srgbClr val="1E1E1E"/>
                </a:solidFill>
                <a:latin typeface="Aptos"/>
              </a:defRPr>
            </a:pPr>
            <a:r>
              <a:t>El estudiante ve el flujo y puede repetirlo.</a:t>
            </a:r>
          </a:p>
        </p:txBody>
      </p:sp>
      <p:pic>
        <p:nvPicPr>
          <p:cNvPr id="7" name="Picture 6" descr="image(20260927-2039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143000"/>
            <a:ext cx="6263640" cy="4937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4617720"/>
            <a:ext cx="6035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745736"/>
            <a:ext cx="570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E2648"/>
                </a:solidFill>
                <a:latin typeface="Aptos Display"/>
              </a:defRPr>
            </a:pPr>
            <a:r>
              <a:t>Workflow mínimo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212080"/>
            <a:ext cx="5705855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>
                <a:solidFill>
                  <a:srgbClr val="1E1E1E"/>
                </a:solidFill>
                <a:latin typeface="Aptos"/>
              </a:defRPr>
            </a:pPr>
            <a:r>
              <a:t>Text → Preprocess → Bag of Words / Embedding → Learner → Test &amp;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12/20 · 1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Orange Data Mining examples, adapted to clinical text workflows.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Orange workflow 1: Text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Sin limpieza, el modelo aprende ruido</a:t>
            </a:r>
          </a:p>
        </p:txBody>
      </p:sp>
      <p:pic>
        <p:nvPicPr>
          <p:cNvPr id="5" name="Picture 4" descr="image(20260927-2039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6217920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6126480" cy="13258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9616"/>
            <a:ext cx="57972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  <a:r>
              <a:t>Qué hace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5797296" cy="5943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Convierte texto libre en unidades analizables: lowercase, tokens, stopwords, lematización.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6126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54096"/>
            <a:ext cx="57972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889"/>
                </a:solidFill>
                <a:latin typeface="Aptos Display"/>
              </a:defRPr>
            </a:pPr>
            <a:r>
              <a:t>Ejemplo médico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20440"/>
            <a:ext cx="5797296" cy="5943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Notas clínicas: 'paciente refiere disnea', 'sin fiebre', 'dolor torácico leve'.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6126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608576"/>
            <a:ext cx="57972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Resultado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074920"/>
            <a:ext cx="5797296" cy="5943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Word cloud / matriz de términos: el texto ya puede entrar a ML.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13/20 · 1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Adaptado de Orange Text Mining: Text Preprocessing example.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Orange workflow 2: Text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Clasificar mensajes, notas o reportes clínicos</a:t>
            </a:r>
          </a:p>
        </p:txBody>
      </p:sp>
      <p:pic>
        <p:nvPicPr>
          <p:cNvPr id="5" name="Picture 4" descr="image(20260927-2039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143000"/>
            <a:ext cx="6263640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417320"/>
            <a:ext cx="6217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45336"/>
            <a:ext cx="5888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  <a:r>
              <a:t>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11680"/>
            <a:ext cx="588873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Corpus de mensajes del portal o notas clínicas etiquetadas.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88920"/>
            <a:ext cx="6217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916936"/>
            <a:ext cx="5888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Modelos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79"/>
            <a:ext cx="588873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Logistic Regression, Naive Bayes, Random Forest u otros learners.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6217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288536"/>
            <a:ext cx="5888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  <a:r>
              <a:t>Salida clínica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754880"/>
            <a:ext cx="588873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administrativo · rutina clínica · alta prioridad · medicación · cita · urgencia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32120"/>
            <a:ext cx="6217920" cy="73152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C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660136"/>
            <a:ext cx="5888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  <a:r>
              <a:t>Conexión con evidencia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6126480"/>
            <a:ext cx="5888736" cy="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Aptos"/>
              </a:defRPr>
            </a:pPr>
            <a:r>
              <a:t>Mismo principio que el triage de mensajes de JAMA: clasificar bien acelera lectura clínica.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14/20 · 1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Orange example: Text Classification; clinical link: Nguyen et al., JAMA Network Open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Orange workflow 3: Semantic Search y Document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Buscar por significado, no solo por palabras exactas</a:t>
            </a:r>
          </a:p>
        </p:txBody>
      </p:sp>
      <p:pic>
        <p:nvPicPr>
          <p:cNvPr id="5" name="Picture 4" descr="image(20260927-20400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51560"/>
            <a:ext cx="6309360" cy="5440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417320"/>
            <a:ext cx="6217920" cy="12801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45336"/>
            <a:ext cx="5888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Uso clínico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11680"/>
            <a:ext cx="5888736" cy="5486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Encontrar pacientes o notas similares aunque no usen exactamente las mismas palabras.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6217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054096"/>
            <a:ext cx="5888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Ejemplo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520440"/>
            <a:ext cx="5888736" cy="5486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Buscar “dificultad respiratoria progresiva” puede recuperar notas con “disnea de esfuerzo” o “shortness of breath”.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34840"/>
            <a:ext cx="6217920" cy="1280160"/>
          </a:xfrm>
          <a:prstGeom prst="roundRect">
            <a:avLst/>
          </a:prstGeom>
          <a:solidFill>
            <a:srgbClr val="FFF8EB"/>
          </a:solidFill>
          <a:ln w="12700">
            <a:solidFill>
              <a:srgbClr val="FF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562855"/>
            <a:ext cx="5888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  <a:r>
              <a:t>Precaución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029200"/>
            <a:ext cx="5888736" cy="5486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Semantic search no sustituye juicio clínico: puede recuperar documentos similares pero no necesariamente diagnósticos iguales.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15/20 · 1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Orange example: Semantic Document Map and Semantic Search.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Orange workflow 4: keywords, vecinos semánticos y ontologías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De texto libre a estructura útil para investigación y docencia</a:t>
            </a:r>
          </a:p>
        </p:txBody>
      </p:sp>
      <p:pic>
        <p:nvPicPr>
          <p:cNvPr id="5" name="Picture 4" descr="image(20260927-20402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051560"/>
            <a:ext cx="6446520" cy="5440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417320"/>
            <a:ext cx="6217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45336"/>
            <a:ext cx="5888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889"/>
                </a:solidFill>
                <a:latin typeface="Aptos Display"/>
              </a:defRPr>
            </a:pPr>
            <a:r>
              <a:t>Keyword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11680"/>
            <a:ext cx="5888736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Extrae términos clínicos relevantes: 'neumonía', 'diabetes', 'disnea', 'HbA1c'.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6217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825496"/>
            <a:ext cx="5888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  <a:r>
              <a:t>Semantic neighbors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291840"/>
            <a:ext cx="5888736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Encuentra documentos clínicamente similares alrededor de un caso índice.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77639"/>
            <a:ext cx="6217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105655"/>
            <a:ext cx="5888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Ontology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572000"/>
            <a:ext cx="5888736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Agrupa términos y ayuda a construir categorías para investigación clínica.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257800"/>
            <a:ext cx="6217920" cy="822960"/>
          </a:xfrm>
          <a:prstGeom prst="roundRect">
            <a:avLst/>
          </a:prstGeom>
          <a:solidFill>
            <a:srgbClr val="EEF9F4"/>
          </a:solidFill>
          <a:ln w="12700">
            <a:solidFill>
              <a:srgbClr val="B7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385816"/>
            <a:ext cx="5888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Aplicación docente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852160"/>
            <a:ext cx="5888736" cy="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Perfecto para demostrar cómo NLP prepara datos antes de GenAI.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16/20 · 1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Orange examples: Keyword Extraction, Semantic Neighbors, Document Map Annotation, Ontology Generation.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Micro-lab de 20 minutos para estudiantes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Actividad práctica dentro de la Sesión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377440" cy="182880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48256"/>
            <a:ext cx="2048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0–3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514600"/>
            <a:ext cx="2048256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Abrir Orange</a:t>
            </a:r>
            <a:br/>
            <a:r>
              <a:t>y cargar corpus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2834640"/>
            <a:ext cx="365760" cy="0"/>
          </a:xfrm>
          <a:prstGeom prst="line">
            <a:avLst/>
          </a:prstGeom>
          <a:ln w="31750">
            <a:solidFill>
              <a:srgbClr val="784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192024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048256"/>
            <a:ext cx="2048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3–7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514600"/>
            <a:ext cx="2048256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Preprocess 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06440" y="2834640"/>
            <a:ext cx="365760" cy="0"/>
          </a:xfrm>
          <a:prstGeom prst="line">
            <a:avLst/>
          </a:prstGeom>
          <a:ln w="31750">
            <a:solidFill>
              <a:srgbClr val="784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1920240"/>
            <a:ext cx="2377440" cy="182880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048256"/>
            <a:ext cx="2048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7–12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514600"/>
            <a:ext cx="2048256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Bag of Words</a:t>
            </a:r>
            <a:br/>
            <a:r>
              <a:t>/ Embedding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49640" y="2834640"/>
            <a:ext cx="365760" cy="0"/>
          </a:xfrm>
          <a:prstGeom prst="line">
            <a:avLst/>
          </a:prstGeom>
          <a:ln w="31750">
            <a:solidFill>
              <a:srgbClr val="784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15400" y="192024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9992" y="2048256"/>
            <a:ext cx="2048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12–16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2514600"/>
            <a:ext cx="2048256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Classifier</a:t>
            </a:r>
            <a:br/>
            <a:r>
              <a:t>/ Semantic map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292840" y="2834640"/>
            <a:ext cx="365760" cy="0"/>
          </a:xfrm>
          <a:prstGeom prst="line">
            <a:avLst/>
          </a:prstGeom>
          <a:ln w="31750">
            <a:solidFill>
              <a:srgbClr val="784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1658600" y="1920240"/>
            <a:ext cx="2377440" cy="182880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23192" y="2048256"/>
            <a:ext cx="20482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16–20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23192" y="2514600"/>
            <a:ext cx="2048256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Aptos"/>
              </a:defRPr>
            </a:pPr>
            <a:r>
              <a:t>Interpretar</a:t>
            </a:r>
            <a:br/>
            <a:r>
              <a:t>y discutir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4800600"/>
            <a:ext cx="12435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6151" y="4928616"/>
            <a:ext cx="12106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E2648"/>
                </a:solidFill>
                <a:latin typeface="Aptos Display"/>
              </a:defRPr>
            </a:pPr>
            <a:r>
              <a:t>Dataset sugerido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1" y="5394960"/>
            <a:ext cx="1210665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Aptos"/>
              </a:defRPr>
            </a:pPr>
            <a:r>
              <a:t>10–20 mensajes clínicos ficticios: receta, dolor torácico, fiebre, cita, resultados, ansiedad, tos, dificultad respiratoria.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6309360"/>
            <a:ext cx="12435840" cy="685800"/>
          </a:xfrm>
          <a:prstGeom prst="roundRect">
            <a:avLst/>
          </a:prstGeom>
          <a:solidFill>
            <a:srgbClr val="0E2648"/>
          </a:solidFill>
          <a:ln w="12700">
            <a:solidFill>
              <a:srgbClr val="0E2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6151" y="6437376"/>
            <a:ext cx="121066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  <a:latin typeface="Aptos Display"/>
              </a:defRPr>
            </a:pPr>
            <a:r>
              <a:t>Producto del alumno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1" y="6903720"/>
            <a:ext cx="12106656" cy="-45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Un flujo Orange + una frase: “mi modelo debe priorizar ____ porque el riesgo clínico es ____”.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6492240"/>
            <a:ext cx="121615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Un flujo Orange + una frase: “mi modelo debe priorizar ____ porque el riesgo clínico es ____”.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17/20 · 1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Actividad práctica integrada: Orange Text Mining + discusión de seguridad clínica.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Seguridad: black box, falsos positivos y sesgo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La tecnología funciona mejor cuando sabemos dónde falla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251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45336"/>
            <a:ext cx="3922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D23E3E"/>
                </a:solidFill>
                <a:latin typeface="Aptos Display"/>
              </a:defRPr>
            </a:pPr>
            <a:r>
              <a:t>Black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0"/>
            <a:ext cx="3922776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Modelos avanzados pueden producir salidas difíciles de explicar incluso para expertos. En clínica, esto afecta confianza y responsabilidad.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417320"/>
            <a:ext cx="4251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22392" y="1545336"/>
            <a:ext cx="3922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  <a:r>
              <a:t>Falsos positivos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2392" y="2011680"/>
            <a:ext cx="3922776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El artículo señala que algunos CAD torácicos pueden detectar nódulos con buen desempeño, pero también aumentar falsos positivos.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417320"/>
            <a:ext cx="4251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2952" y="1545336"/>
            <a:ext cx="3922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Sesgo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2952" y="2011680"/>
            <a:ext cx="3922776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Mismo síntoma puede recibir una recomendación distinta por género o población si el sistema fue entrenado con sesgos.</a:t>
            </a:r>
          </a:p>
        </p:txBody>
      </p:sp>
      <p:pic>
        <p:nvPicPr>
          <p:cNvPr id="14" name="Picture 13" descr="p5_future_ai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840480"/>
            <a:ext cx="5212080" cy="25603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7240" y="3977639"/>
            <a:ext cx="6720840" cy="2423160"/>
          </a:xfrm>
          <a:prstGeom prst="roundRect">
            <a:avLst/>
          </a:prstGeom>
          <a:solidFill>
            <a:srgbClr val="FFF6F6"/>
          </a:solidFill>
          <a:ln w="12700">
            <a:solidFill>
              <a:srgbClr val="FF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6391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D23E3E"/>
                </a:solidFill>
                <a:latin typeface="Aptos Display"/>
              </a:defRPr>
            </a:pPr>
            <a:r>
              <a:t>Regla docente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72000"/>
            <a:ext cx="6391655" cy="16916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>
                <a:solidFill>
                  <a:srgbClr val="1E1E1E"/>
                </a:solidFill>
                <a:latin typeface="Aptos"/>
              </a:defRPr>
            </a:pPr>
            <a:r>
              <a:t>No enseñar IA como reemplazo del médico. Enseñarla como sistema sociotécnico:</a:t>
            </a:r>
            <a:br/>
            <a:br/>
            <a:r>
              <a:t>Datos + modelo + workflow + paciente + profesional + regulación.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18/20 · 1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Karan &amp; Elbek 2025: black-box problem, false positives, equity, transparency, accountability and human oversight.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Puente hacia la práctica: Teachable Machine + Orange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La teoría termina en dos herramientas concretas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6309360" cy="237744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45336"/>
            <a:ext cx="5980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  <a:r>
              <a:t>Google Teachable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0"/>
            <a:ext cx="5980176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Objetivo: entrenar un clasificador visual simple para comprender dataset, clases, training, validation y error.</a:t>
            </a:r>
            <a:br/>
            <a:br/>
            <a:r>
              <a:t>Uso: explicar DL sin código antes de pasar a imagen médica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6309360" cy="237744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8392" y="1545336"/>
            <a:ext cx="59801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Orange Data Mining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011680"/>
            <a:ext cx="5980176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Aptos"/>
              </a:defRPr>
            </a:pPr>
            <a:r>
              <a:t>Objetivo: construir pipeline visible para texto y datos clínicos.</a:t>
            </a:r>
            <a:br/>
            <a:br/>
            <a:r>
              <a:t>Uso: triage de mensajes, clasificación, búsqueda semántica y evaluación.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4572000"/>
            <a:ext cx="10241280" cy="1097280"/>
          </a:xfrm>
          <a:prstGeom prst="roundRect">
            <a:avLst/>
          </a:prstGeom>
          <a:solidFill>
            <a:srgbClr val="0E2648"/>
          </a:solidFill>
          <a:ln w="12700">
            <a:solidFill>
              <a:srgbClr val="0E2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4700016"/>
            <a:ext cx="9912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FFFF"/>
                </a:solidFill>
                <a:latin typeface="Aptos Display"/>
              </a:defRPr>
            </a:pPr>
            <a:r>
              <a:t>Competencia de la sesión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5166360"/>
            <a:ext cx="9912096" cy="3657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>
                <a:solidFill>
                  <a:srgbClr val="1E1E1E"/>
                </a:solidFill>
                <a:latin typeface="Aptos"/>
              </a:defRPr>
            </a:pPr>
            <a:r>
              <a:t>Distinguir IA, ML, DL y GenAI y conectar cada tecnología con un problema clínico medible.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837176"/>
            <a:ext cx="99669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Distinguir IA, ML, DL y GenAI y conectar cada tecnología con un problema clínico medible.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19/20 · 1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Teachable Machine + Orange: herramientas didácticas no-code para práctica de Sesión 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335024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3100">
                <a:solidFill>
                  <a:srgbClr val="0E2648"/>
                </a:solidFill>
                <a:latin typeface="Aptos Display"/>
              </a:defRPr>
            </a:pPr>
            <a:r>
              <a:t>Cierre: lo que deben recordar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243584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500">
                <a:solidFill>
                  <a:srgbClr val="5F6978"/>
                </a:solidFill>
                <a:latin typeface="Aptos"/>
              </a:defRPr>
            </a:pPr>
            <a:r>
              <a:t>20 minutos de teoría con evidencia, y después práctica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206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45336"/>
            <a:ext cx="3877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6DF2"/>
                </a:solidFill>
                <a:latin typeface="Aptos Display"/>
              </a:defRPr>
            </a:pPr>
            <a:r>
              <a:t>1. IA organiza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0"/>
            <a:ext cx="3877055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Patient portal → triage de alta prioridad.</a:t>
            </a:r>
            <a:br/>
            <a:r>
              <a:t>Evidencia: 3.03M mensajes; 81%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417320"/>
            <a:ext cx="4206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6672" y="1545336"/>
            <a:ext cx="3877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65C"/>
                </a:solidFill>
                <a:latin typeface="Aptos Display"/>
              </a:defRPr>
            </a:pPr>
            <a:r>
              <a:t>2. ML predice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6672" y="2011680"/>
            <a:ext cx="3877055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EHR → riesgo de reingreso.</a:t>
            </a:r>
            <a:br/>
            <a:r>
              <a:t>Acción: seguimiento dirigido.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417320"/>
            <a:ext cx="4206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11512" y="1545336"/>
            <a:ext cx="3877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38500"/>
                </a:solidFill>
                <a:latin typeface="Aptos Display"/>
              </a:defRPr>
            </a:pPr>
            <a:r>
              <a:t>3. DL 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2011680"/>
            <a:ext cx="3877055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X-ray → priorización crítica.</a:t>
            </a:r>
            <a:br/>
            <a:r>
              <a:t>Evidencia: 470,388 RX; 11.2→2.7 días.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03320"/>
            <a:ext cx="4206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31335"/>
            <a:ext cx="3877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847FF"/>
                </a:solidFill>
                <a:latin typeface="Aptos Display"/>
              </a:defRPr>
            </a:pPr>
            <a:r>
              <a:t>4. GenAI escribe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297680"/>
            <a:ext cx="3877055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Conversación → borrador de nota.</a:t>
            </a:r>
            <a:br/>
            <a:r>
              <a:t>Evidencia: −20.4% tiempo de nota.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3703320"/>
            <a:ext cx="4206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3831335"/>
            <a:ext cx="3877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9889"/>
                </a:solidFill>
                <a:latin typeface="Aptos Display"/>
              </a:defRPr>
            </a:pPr>
            <a:r>
              <a:t>5. Orange practica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4297680"/>
            <a:ext cx="3877055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Workflow visual: texto → preprocess → model → evaluate.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3703320"/>
            <a:ext cx="4206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1512" y="3831335"/>
            <a:ext cx="38770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D23E3E"/>
                </a:solidFill>
                <a:latin typeface="Aptos Display"/>
              </a:defRPr>
            </a:pPr>
            <a:r>
              <a:t>6. Seguridad manda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4297680"/>
            <a:ext cx="3877055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Aptos"/>
              </a:defRPr>
            </a:pPr>
            <a:r>
              <a:t>Human-in-the-loop, transparencia, consentimiento y equidad.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6492240"/>
            <a:ext cx="125272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800" b="1">
                <a:solidFill>
                  <a:srgbClr val="0E2648"/>
                </a:solidFill>
                <a:latin typeface="Aptos"/>
              </a:defRPr>
            </a:pPr>
            <a:r>
              <a:t>Título del PPT: Sesión 2 — IA, ML, DL y GenAI en Salud: evidencia clínica y práctica no-code con Orange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7818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78"/>
                </a:solidFill>
              </a:defRPr>
            </a:pPr>
            <a:r>
              <a:t>Sesión 2 · 20/20 · 1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77815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20">
                <a:solidFill>
                  <a:srgbClr val="5F6978"/>
                </a:solidFill>
              </a:defRPr>
            </a:pPr>
            <a:r>
              <a:t>Fuentes: Karan &amp; Elbek 2025; Nguyen et al. 2026; Annarumma et al. 2019; Duggan et al. 2025; Orange examples.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