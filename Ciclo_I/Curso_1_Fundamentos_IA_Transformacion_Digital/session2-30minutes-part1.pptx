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pic>
        <p:nvPicPr>
          <p:cNvPr id="4" name="Image 0" descr="/mnt/data/a_wide_cinematic_high_tech_lecture_hall_audito.png">    </p:cNvPr>
          <p:cNvPicPr>
            <a:picLocks noChangeAspect="1"/>
          </p:cNvPicPr>
          <p:nvPr/>
        </p:nvPicPr>
        <p:blipFill>
          <a:blip r:embed="rId1"/>
          <a:srcRect l="22097" r="22097" t="0" b="0"/>
          <a:stretch/>
        </p:blipFill>
        <p:spPr>
          <a:xfrm>
            <a:off x="6355080" y="594360"/>
            <a:ext cx="5394960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94944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B33"/>
                </a:solidFill>
              </a:rPr>
              <a:t>Fundamentos de IA, ML, DL y GenAI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9436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E6877"/>
                </a:solidFill>
              </a:rPr>
              <a:t>Sesión 2 · Origen histórico, conceptos y ejemplos médicos del artículo</a:t>
            </a:r>
            <a:endParaRPr lang="en-US" sz="1420" dirty="0"/>
          </a:p>
        </p:txBody>
      </p:sp>
      <p:sp>
        <p:nvSpPr>
          <p:cNvPr id="7" name="Shape 4"/>
          <p:cNvSpPr/>
          <p:nvPr/>
        </p:nvSpPr>
        <p:spPr>
          <a:xfrm>
            <a:off x="594360" y="2542032"/>
            <a:ext cx="4709160" cy="347472"/>
          </a:xfrm>
          <a:prstGeom prst="roundRect">
            <a:avLst>
              <a:gd name="adj" fmla="val 36842"/>
            </a:avLst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2615184"/>
            <a:ext cx="4489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Basado en Karan &amp; Elbek · Artificial Intelligence in Medicine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3749040"/>
            <a:ext cx="51206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9959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66E8"/>
                </a:solidFill>
              </a:rPr>
              <a:t>Pregunta guía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3159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</a:rPr>
              <a:t>¿Cómo pasamos de “máquinas que piensan” a IA clínica supervisada?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Artículo base: Karan &amp; Elbek, Thorac Res Pract, 2025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Snapshot del artículo base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Usaremos este review como eje para teoría, historia, ejemplos y riesgos.</a:t>
            </a:r>
            <a:endParaRPr lang="en-US" sz="1150" dirty="0"/>
          </a:p>
        </p:txBody>
      </p:sp>
      <p:pic>
        <p:nvPicPr>
          <p:cNvPr id="6" name="Image 0" descr="/mnt/data/turk_crops/p1_title_abs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45361"/>
            <a:ext cx="5212080" cy="37787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417320"/>
            <a:ext cx="498348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691640"/>
            <a:ext cx="434340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B2436"/>
                </a:solidFill>
              </a:rPr>
              <a:t>Review: “Artificial Intelligence in Medicine”.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Resume bases históricas: Egipto/Grecia, Turing y McCarthy.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Conecta IA con radiología, enfermedades respiratorias, modelos de lenguaje, wearables y ética.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Mensaje central: la IA es una herramienta potente, pero no neutral ni exenta de problemas sociales.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20840" y="51663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6E8"/>
                </a:solidFill>
              </a:rPr>
              <a:t>Uso en clase: no memorizar el artículo; extraer el mapa mental de IA médica.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Karan &amp; Elbek, 2025, portada/resumen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De hospital digital a inteligencia artificial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La IA médica necesita datos conectados, no solo computadoras.</a:t>
            </a:r>
            <a:endParaRPr lang="en-US" sz="1150" dirty="0"/>
          </a:p>
        </p:txBody>
      </p:sp>
      <p:pic>
        <p:nvPicPr>
          <p:cNvPr id="6" name="Image 0" descr="/mnt/data/wide_cinematic_futuristic_infographic_illustra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978060"/>
            <a:ext cx="5074920" cy="285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463040"/>
            <a:ext cx="53035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737360"/>
            <a:ext cx="46634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B2436"/>
                </a:solidFill>
              </a:rPr>
              <a:t>Sesión 1: HCE/EHR, HIS, interoperabilidad y flujo clínico digital.</a:t>
            </a:r>
            <a:pPr indent="0" marL="0">
              <a:buNone/>
            </a:pPr>
            <a:r>
              <a:rPr lang="en-US" sz="1700" dirty="0">
                <a:solidFill>
                  <a:srgbClr val="1B2436"/>
                </a:solidFill>
              </a:rPr>
              <a:t>
</a:t>
            </a:r>
            <a:endParaRPr lang="en-US" sz="1700" dirty="0"/>
          </a:p>
          <a:p>
            <a:r>
              <a:rPr lang="en-US" sz="1700" dirty="0">
                <a:solidFill>
                  <a:srgbClr val="1B2436"/>
                </a:solidFill>
              </a:rPr>
              <a:t>Sesión 2: aprender cómo esos datos alimentan modelos de IA.</a:t>
            </a:r>
            <a:pPr indent="0" marL="0">
              <a:buNone/>
            </a:pPr>
            <a:r>
              <a:rPr lang="en-US" sz="1700" dirty="0">
                <a:solidFill>
                  <a:srgbClr val="1B2436"/>
                </a:solidFill>
              </a:rPr>
              <a:t>
</a:t>
            </a:r>
            <a:endParaRPr lang="en-US" sz="1700" dirty="0"/>
          </a:p>
          <a:p>
            <a:r>
              <a:rPr lang="en-US" sz="1700" dirty="0">
                <a:solidFill>
                  <a:srgbClr val="1B2436"/>
                </a:solidFill>
              </a:rPr>
              <a:t>Sin interoperabilidad, la IA aprende de datos incompletos o sesgados.</a:t>
            </a:r>
            <a:pPr indent="0" marL="0">
              <a:buNone/>
            </a:pPr>
            <a:r>
              <a:rPr lang="en-US" sz="1700" dirty="0">
                <a:solidFill>
                  <a:srgbClr val="1B2436"/>
                </a:solidFill>
              </a:rPr>
              <a:t>
</a:t>
            </a:r>
            <a:endParaRPr lang="en-US" sz="1700" dirty="0"/>
          </a:p>
          <a:p>
            <a:r>
              <a:rPr lang="en-US" sz="1700" dirty="0">
                <a:solidFill>
                  <a:srgbClr val="1B2436"/>
                </a:solidFill>
              </a:rPr>
              <a:t>Objetivo: entender IA, ML, DL y GenAI con ejemplos médicos reales.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507492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B33"/>
                </a:solidFill>
              </a:rPr>
              <a:t>Idea clave: la transformación digital es la infraestructura; la IA es la capa analítica.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Conexión pedagógica: infraestructura digital → IA clínica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Origen de la idea: antes de las computadoras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El artículo inicia con una idea provocadora: imaginar vida/artificialidad es muy antiguo.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5166360" cy="4434840"/>
          </a:xfrm>
          <a:prstGeom prst="roundRect">
            <a:avLst>
              <a:gd name="adj" fmla="val 2887"/>
            </a:avLst>
          </a:prstGeom>
          <a:solidFill>
            <a:srgbClr val="FFF6E6"/>
          </a:solidFill>
          <a:ln w="12700">
            <a:solidFill>
              <a:srgbClr val="FFE2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819656"/>
            <a:ext cx="4590288" cy="1435608"/>
          </a:xfrm>
          <a:prstGeom prst="roundRect">
            <a:avLst>
              <a:gd name="adj" fmla="val 764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0A423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874520"/>
            <a:ext cx="44805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33"/>
                </a:solidFill>
              </a:rPr>
              <a:t>Esculturas mecánicas “sabias” y “llenas de emoción”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El review recuerda que tradiciones egipcias y griegas ya imaginaban figuras mecánicas con cualidades inteligentes.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1261872"/>
            <a:ext cx="489204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66E8"/>
                </a:solidFill>
              </a:rPr>
              <a:t>Cómo explicarlo a estudiantes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03720" y="2103120"/>
            <a:ext cx="4160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B2436"/>
                </a:solidFill>
              </a:rPr>
              <a:t>La IA no empieza como software; empieza como deseo humano de imitar inteligencia.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La medicina también ha buscado “herramientas inteligentes”: estetoscopio, imagen, laboratorio, HCE.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La diferencia actual: ahora la máquina aprende desde datos.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Origen antiguo de la idea de IA: Karan &amp; Elbek, 2025, p. 366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1950–1955: Turing y McCarthy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Aquí la idea entra formalmente en ciencias de la computación.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05840" y="1600200"/>
            <a:ext cx="1600200" cy="621792"/>
          </a:xfrm>
          <a:prstGeom prst="roundRect">
            <a:avLst>
              <a:gd name="adj" fmla="val 17647"/>
            </a:avLst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673352"/>
            <a:ext cx="1490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1950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Alan Turing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24912" y="1911096"/>
            <a:ext cx="1069848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1600200"/>
            <a:ext cx="1600200" cy="621792"/>
          </a:xfrm>
          <a:prstGeom prst="roundRect">
            <a:avLst>
              <a:gd name="adj" fmla="val 17647"/>
            </a:avLst>
          </a:prstGeom>
          <a:solidFill>
            <a:srgbClr val="00A889"/>
          </a:solidFill>
          <a:ln w="12700">
            <a:solidFill>
              <a:srgbClr val="00A88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41064" y="1673352"/>
            <a:ext cx="1490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1955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John McCarthy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96128" y="1911096"/>
            <a:ext cx="1078992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1600200"/>
            <a:ext cx="1965960" cy="621792"/>
          </a:xfrm>
          <a:prstGeom prst="roundRect">
            <a:avLst>
              <a:gd name="adj" fmla="val 17647"/>
            </a:avLst>
          </a:prstGeom>
          <a:solidFill>
            <a:srgbClr val="7A51F2"/>
          </a:solidFill>
          <a:ln w="12700">
            <a:solidFill>
              <a:srgbClr val="7A51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1673352"/>
            <a:ext cx="1856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Campo llamado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“Artificial Intelligence”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0" y="1911096"/>
            <a:ext cx="868680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29800" y="160020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0A423"/>
          </a:solidFill>
          <a:ln w="12700">
            <a:solidFill>
              <a:srgbClr val="F0A42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84664" y="1673352"/>
            <a:ext cx="1307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Medicina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digital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2788920"/>
            <a:ext cx="5120640" cy="2423160"/>
          </a:xfrm>
          <a:prstGeom prst="roundRect">
            <a:avLst>
              <a:gd name="adj" fmla="val 528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9576" y="3191256"/>
            <a:ext cx="4498848" cy="978408"/>
          </a:xfrm>
          <a:prstGeom prst="roundRect">
            <a:avLst>
              <a:gd name="adj" fmla="val 1121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1166E8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33"/>
                </a:solidFill>
              </a:rPr>
              <a:t>“machines can think too”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92240" y="2788920"/>
            <a:ext cx="48006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127248"/>
            <a:ext cx="41605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B2436"/>
                </a:solidFill>
              </a:rPr>
              <a:t>Turing: pregunta por la posibilidad de pensamiento computacional.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McCarthy: nombra el campo IA.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En salud, esto se traduce en sistemas que interpretan datos clínicos y apoyan decisiones.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Turing y McCarthy: Karan &amp; Elbek, 2025, p. 367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El “cerebro electrónico”: inspiración biológica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La idea de redes neuronales aparece cuando el cerebro se entiende como red de señales.</a:t>
            </a:r>
            <a:endParaRPr lang="en-US" sz="1150" dirty="0"/>
          </a:p>
        </p:txBody>
      </p:sp>
      <p:pic>
        <p:nvPicPr>
          <p:cNvPr id="6" name="Image 0" descr="/mnt/data/a_realistic_cinematic_high_tech_medical_ai_resea.png">    </p:cNvPr>
          <p:cNvPicPr>
            <a:picLocks noChangeAspect="1"/>
          </p:cNvPicPr>
          <p:nvPr/>
        </p:nvPicPr>
        <p:blipFill>
          <a:blip r:embed="rId1"/>
          <a:srcRect l="17402" r="17402" t="0" b="0"/>
          <a:stretch/>
        </p:blipFill>
        <p:spPr>
          <a:xfrm>
            <a:off x="594360" y="1234440"/>
            <a:ext cx="5349240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234440"/>
            <a:ext cx="507492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554480"/>
            <a:ext cx="44348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50" dirty="0">
                <a:solidFill>
                  <a:srgbClr val="1B2436"/>
                </a:solidFill>
              </a:rPr>
              <a:t>Investigaciones neurológicas mostraron neuronas que emiten impulsos eléctricos.</a:t>
            </a:r>
            <a:pPr indent="0" marL="0">
              <a:buNone/>
            </a:pPr>
            <a:r>
              <a:rPr lang="en-US" sz="1650" dirty="0">
                <a:solidFill>
                  <a:srgbClr val="1B2436"/>
                </a:solidFill>
              </a:rPr>
              <a:t>
</a:t>
            </a:r>
            <a:endParaRPr lang="en-US" sz="1650" dirty="0"/>
          </a:p>
          <a:p>
            <a:r>
              <a:rPr lang="en-US" sz="1650" dirty="0">
                <a:solidFill>
                  <a:srgbClr val="1B2436"/>
                </a:solidFill>
              </a:rPr>
              <a:t>La teoría de la computación permitió formalizar operaciones mentales.</a:t>
            </a:r>
            <a:pPr indent="0" marL="0">
              <a:buNone/>
            </a:pPr>
            <a:r>
              <a:rPr lang="en-US" sz="1650" dirty="0">
                <a:solidFill>
                  <a:srgbClr val="1B2436"/>
                </a:solidFill>
              </a:rPr>
              <a:t>
</a:t>
            </a:r>
            <a:endParaRPr lang="en-US" sz="1650" dirty="0"/>
          </a:p>
          <a:p>
            <a:r>
              <a:rPr lang="en-US" sz="1650" dirty="0">
                <a:solidFill>
                  <a:srgbClr val="1B2436"/>
                </a:solidFill>
              </a:rPr>
              <a:t>El paso conceptual: del cerebro biológico a redes artificiales en hardware de silicio.</a:t>
            </a:r>
            <a:pPr indent="0" marL="0">
              <a:buNone/>
            </a:pPr>
            <a:r>
              <a:rPr lang="en-US" sz="1650" dirty="0">
                <a:solidFill>
                  <a:srgbClr val="1B2436"/>
                </a:solidFill>
              </a:rPr>
              <a:t>
</a:t>
            </a:r>
            <a:endParaRPr lang="en-US" sz="1650" dirty="0"/>
          </a:p>
          <a:p>
            <a:r>
              <a:rPr lang="en-US" sz="1650" dirty="0">
                <a:solidFill>
                  <a:srgbClr val="1B2436"/>
                </a:solidFill>
              </a:rPr>
              <a:t>Resultado moderno: DL para imágenes, señales, texto y predicción clínica.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76656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242"/>
                </a:solidFill>
              </a:rPr>
              <a:t>Advertencia: los modelos complejos pueden volverse opacos incluso para expertos.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Electronic brain, redes neuronales y black box: Karan &amp; Elbek, 2025, p. 367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Inteligencia no es conciencia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Este punto del artículo es excelente para evitar exageraciones sobre IA.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892040" cy="4343400"/>
          </a:xfrm>
          <a:prstGeom prst="roundRect">
            <a:avLst>
              <a:gd name="adj" fmla="val 2947"/>
            </a:avLst>
          </a:prstGeom>
          <a:solidFill>
            <a:srgbClr val="EAF2FF"/>
          </a:solidFill>
          <a:ln w="12700">
            <a:solidFill>
              <a:srgbClr val="CDE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83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66E8"/>
                </a:solidFill>
              </a:rPr>
              <a:t>Inteligencia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234440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B2436"/>
                </a:solidFill>
              </a:rPr>
              <a:t>Aprender y utilizar conocimiento o habilidades.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4440" y="43434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Ejemplo: detectar un patrón en una radiografía.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4892040" cy="4343400"/>
          </a:xfrm>
          <a:prstGeom prst="roundRect">
            <a:avLst>
              <a:gd name="adj" fmla="val 2947"/>
            </a:avLst>
          </a:prstGeom>
          <a:solidFill>
            <a:srgbClr val="F3EE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783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A51F2"/>
                </a:solidFill>
              </a:rPr>
              <a:t>Conciencia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858000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B2436"/>
                </a:solidFill>
              </a:rPr>
              <a:t>Reconocer, percibir y comprender el entorno.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12280" y="4251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242"/>
                </a:solidFill>
              </a:rPr>
              <a:t>La IA actual no tiene conciencia clínica ni responsabilidad moral.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Distinción inteligencia / conciencia: Karan &amp; Elbek, 2025, p. 367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DENDRAL y MYCIN: IA médica antes de ChatGPT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Los primeros sistemas eran específicos, basados en reglas y supervisados por expertos.</a:t>
            </a:r>
            <a:endParaRPr lang="en-US" sz="1150" dirty="0"/>
          </a:p>
        </p:txBody>
      </p:sp>
      <p:pic>
        <p:nvPicPr>
          <p:cNvPr id="6" name="Image 0" descr="/mnt/data/turk_crops/p2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955292"/>
            <a:ext cx="4023360" cy="3084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41732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7A51F2"/>
          </a:solidFill>
          <a:ln w="12700">
            <a:solidFill>
              <a:srgbClr val="7A51F2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490472"/>
            <a:ext cx="12161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1965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DENDRAL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240280" y="1719072"/>
            <a:ext cx="822960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154680" y="141732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0A423"/>
          </a:solidFill>
          <a:ln w="12700">
            <a:solidFill>
              <a:srgbClr val="F0A42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9544" y="1490472"/>
            <a:ext cx="12161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1972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MYCIN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0" y="1719072"/>
            <a:ext cx="777240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40680" y="141732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95544" y="1490472"/>
            <a:ext cx="11704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clínico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2788920"/>
            <a:ext cx="58978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3063240"/>
            <a:ext cx="53035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B2436"/>
                </a:solidFill>
              </a:rPr>
              <a:t>DENDRAL: análisis de sustancias orgánicas; necesitaba especialistas.</a:t>
            </a:r>
            <a:pPr indent="0" marL="0">
              <a:buNone/>
            </a:pPr>
            <a:r>
              <a:rPr lang="en-US" sz="1480" dirty="0">
                <a:solidFill>
                  <a:srgbClr val="1B2436"/>
                </a:solidFill>
              </a:rPr>
              <a:t>
</a:t>
            </a:r>
            <a:endParaRPr lang="en-US" sz="1480" dirty="0"/>
          </a:p>
          <a:p>
            <a:r>
              <a:rPr lang="en-US" sz="1480" dirty="0">
                <a:solidFill>
                  <a:srgbClr val="1B2436"/>
                </a:solidFill>
              </a:rPr>
              <a:t>MYCIN: síntomas + datos de examen → diagnóstico probable, estudios y antibióticos.</a:t>
            </a:r>
            <a:pPr indent="0" marL="0">
              <a:buNone/>
            </a:pPr>
            <a:r>
              <a:rPr lang="en-US" sz="1480" dirty="0">
                <a:solidFill>
                  <a:srgbClr val="1B2436"/>
                </a:solidFill>
              </a:rPr>
              <a:t>
</a:t>
            </a:r>
            <a:endParaRPr lang="en-US" sz="1480" dirty="0"/>
          </a:p>
          <a:p>
            <a:r>
              <a:rPr lang="en-US" sz="1480" dirty="0">
                <a:solidFill>
                  <a:srgbClr val="1B2436"/>
                </a:solidFill>
              </a:rPr>
              <a:t>CAD: apoyo computacional para detección y diagnóstico.</a:t>
            </a:r>
            <a:pPr indent="0" marL="0">
              <a:buNone/>
            </a:pPr>
            <a:r>
              <a:rPr lang="en-US" sz="1480" dirty="0">
                <a:solidFill>
                  <a:srgbClr val="1B2436"/>
                </a:solidFill>
              </a:rPr>
              <a:t>
</a:t>
            </a:r>
            <a:endParaRPr lang="en-US" sz="1480" dirty="0"/>
          </a:p>
          <a:p>
            <a:r>
              <a:rPr lang="en-US" sz="1480" dirty="0">
                <a:solidFill>
                  <a:srgbClr val="1B2436"/>
                </a:solidFill>
              </a:rPr>
              <a:t>Lección: IA médica empieza como herramienta de apoyo, no como médico autónomo.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DENDRAL, MYCIN y CAD: Karan &amp; Elbek, 2025, p. 367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Años 1990–2017: la imagen médica acelera la IA clínica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Cuando la imagen se digitaliza, la IA puede leer patrones visuales.</a:t>
            </a:r>
            <a:endParaRPr lang="en-US" sz="1150" dirty="0"/>
          </a:p>
        </p:txBody>
      </p:sp>
      <p:pic>
        <p:nvPicPr>
          <p:cNvPr id="6" name="Image 0" descr="/mnt/data/a_realistic_cinematic_high_tech_medical_ai_resea.png">    </p:cNvPr>
          <p:cNvPicPr>
            <a:picLocks noChangeAspect="1"/>
          </p:cNvPicPr>
          <p:nvPr/>
        </p:nvPicPr>
        <p:blipFill>
          <a:blip r:embed="rId1"/>
          <a:srcRect l="19074" r="19074" t="0" b="0"/>
          <a:stretch/>
        </p:blipFill>
        <p:spPr>
          <a:xfrm>
            <a:off x="6446520" y="1234440"/>
            <a:ext cx="5074920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234440"/>
            <a:ext cx="539496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54480"/>
            <a:ext cx="47548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B2436"/>
                </a:solidFill>
              </a:rPr>
              <a:t>1990s: digitalización de radiología, endoscopia y otras imágenes.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Mamografía: apoyo a radiólogos cuando no hay especialistas disponibles.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2017: Arterys, aprobado por FDA, interpreta RM cardíaca y entrega ejection fraction en segundos.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Endoscopia: apoyo en páncreas, colon y lesiones difíciles de diferenciar.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5074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66E8"/>
                </a:solidFill>
              </a:rPr>
              <a:t>Mensaje docente: la IA crece primero donde hay datos digitales abundantes y comparables.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Radiología, mamografía, Arterys y endoscopia: Karan &amp; Elbek, 2025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IA, ML, DL y GenAI: no son lo mismo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Ahora ubicamos la historia en cuatro conceptos prácticos.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508760" cy="548640"/>
          </a:xfrm>
          <a:prstGeom prst="roundRect">
            <a:avLst>
              <a:gd name="adj" fmla="val 20000"/>
            </a:avLst>
          </a:prstGeom>
          <a:solidFill>
            <a:srgbClr val="071B33"/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49047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64208" y="2011680"/>
            <a:ext cx="0" cy="32004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423160"/>
            <a:ext cx="1508760" cy="548640"/>
          </a:xfrm>
          <a:prstGeom prst="roundRect">
            <a:avLst>
              <a:gd name="adj" fmla="val 20000"/>
            </a:avLst>
          </a:prstGeom>
          <a:solidFill>
            <a:srgbClr val="00A889"/>
          </a:solidFill>
          <a:ln w="12700">
            <a:solidFill>
              <a:srgbClr val="00A88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9631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664208" y="3017520"/>
            <a:ext cx="0" cy="32004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429000"/>
            <a:ext cx="1508760" cy="548640"/>
          </a:xfrm>
          <a:prstGeom prst="roundRect">
            <a:avLst>
              <a:gd name="adj" fmla="val 20000"/>
            </a:avLst>
          </a:prstGeom>
          <a:solidFill>
            <a:srgbClr val="7A51F2"/>
          </a:solidFill>
          <a:ln w="12700">
            <a:solidFill>
              <a:srgbClr val="7A51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50215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64208" y="4023360"/>
            <a:ext cx="0" cy="32004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4434840"/>
            <a:ext cx="1508760" cy="548640"/>
          </a:xfrm>
          <a:prstGeom prst="roundRect">
            <a:avLst>
              <a:gd name="adj" fmla="val 20000"/>
            </a:avLst>
          </a:prstGeom>
          <a:solidFill>
            <a:srgbClr val="F0A423"/>
          </a:solidFill>
          <a:ln w="12700">
            <a:solidFill>
              <a:srgbClr val="F0A42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450799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GenAI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71800" y="1234440"/>
            <a:ext cx="822960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600200"/>
            <a:ext cx="75895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B2436"/>
                </a:solidFill>
              </a:rPr>
              <a:t>IA: campo amplio de sistemas que realizan tareas asociadas a inteligencia.</a:t>
            </a:r>
            <a:pPr indent="0" marL="0">
              <a:buNone/>
            </a:pPr>
            <a:r>
              <a:rPr lang="en-US" sz="1700" dirty="0">
                <a:solidFill>
                  <a:srgbClr val="1B2436"/>
                </a:solidFill>
              </a:rPr>
              <a:t>
</a:t>
            </a:r>
            <a:endParaRPr lang="en-US" sz="1700" dirty="0"/>
          </a:p>
          <a:p>
            <a:r>
              <a:rPr lang="en-US" sz="1700" dirty="0">
                <a:solidFill>
                  <a:srgbClr val="1B2436"/>
                </a:solidFill>
              </a:rPr>
              <a:t>ML: modelos que aprenden patrones desde datos, no solo reglas manuales.</a:t>
            </a:r>
            <a:pPr indent="0" marL="0">
              <a:buNone/>
            </a:pPr>
            <a:r>
              <a:rPr lang="en-US" sz="1700" dirty="0">
                <a:solidFill>
                  <a:srgbClr val="1B2436"/>
                </a:solidFill>
              </a:rPr>
              <a:t>
</a:t>
            </a:r>
            <a:endParaRPr lang="en-US" sz="1700" dirty="0"/>
          </a:p>
          <a:p>
            <a:r>
              <a:rPr lang="en-US" sz="1700" dirty="0">
                <a:solidFill>
                  <a:srgbClr val="1B2436"/>
                </a:solidFill>
              </a:rPr>
              <a:t>DL: redes profundas útiles para imágenes, señales y texto médico.</a:t>
            </a:r>
            <a:pPr indent="0" marL="0">
              <a:buNone/>
            </a:pPr>
            <a:r>
              <a:rPr lang="en-US" sz="1700" dirty="0">
                <a:solidFill>
                  <a:srgbClr val="1B2436"/>
                </a:solidFill>
              </a:rPr>
              <a:t>
</a:t>
            </a:r>
            <a:endParaRPr lang="en-US" sz="1700" dirty="0"/>
          </a:p>
          <a:p>
            <a:r>
              <a:rPr lang="en-US" sz="1700" dirty="0">
                <a:solidFill>
                  <a:srgbClr val="1B2436"/>
                </a:solidFill>
              </a:rPr>
              <a:t>GenAI: genera texto, resúmenes, imágenes o reportes; requiere verificación clínica.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91840" y="49377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B33"/>
                </a:solidFill>
              </a:rPr>
              <a:t>Ejemplo integrado: EHR + Rx + ECG + laboratorio → riesgo, explicación y resumen clínico.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Conceptos docentes conectados con Karan &amp; Elbek, 2025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Ejemplos médicos del artículo: de imagen a sensores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Estos ejemplos ayudan a que los estudiantes vean aplicaciones concretas.</a:t>
            </a:r>
            <a:endParaRPr lang="en-US" sz="1150" dirty="0"/>
          </a:p>
        </p:txBody>
      </p:sp>
      <p:pic>
        <p:nvPicPr>
          <p:cNvPr id="6" name="Image 0" descr="/mnt/data/turk_crops/p3_chest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840230"/>
            <a:ext cx="4114800" cy="34975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234440"/>
            <a:ext cx="5715000" cy="4800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08760"/>
            <a:ext cx="51206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B2436"/>
                </a:solidFill>
              </a:rPr>
              <a:t>Cáncer de pulmón: detección de nódulos y apoyo radiológico.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Enfermedad intersticial: análisis de Rx y CT con buena precisión reportada.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Asma/EPOC: espirometría, sonidos respiratorios y sensores ambientales.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Tuberculosis: CAD4TB para cribado rápido de Rx de tórax.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Broncoscopia: navegación y reconocimiento anatómico en tiempo real.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Ejemplos respiratorios: Karan &amp; Elbek, 2025, pp. 368–369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Ejemplo 1: cáncer de pulmón y radiología asistida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Muy útil para explicar sensibilidad, especificidad y falsos positivos.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5074920" cy="4434840"/>
          </a:xfrm>
          <a:prstGeom prst="roundRect">
            <a:avLst>
              <a:gd name="adj" fmla="val 2887"/>
            </a:avLst>
          </a:prstGeom>
          <a:solidFill>
            <a:srgbClr val="EAF2FF"/>
          </a:solidFill>
          <a:ln w="12700">
            <a:solidFill>
              <a:srgbClr val="CDE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66E8"/>
                </a:solidFill>
              </a:rPr>
              <a:t>Qué hace la IA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434340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B2436"/>
                </a:solidFill>
              </a:rPr>
              <a:t>Analiza radiografías / CT de tórax.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Busca nódulos pulmonares.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Puede reducir variabilidad entre observadores.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Puede aumentar falsos positivos: no todo hallazgo es cáncer.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46520" y="1234440"/>
            <a:ext cx="489204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4242"/>
                </a:solidFill>
              </a:rPr>
              <a:t>Pregunta a estudiantes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03720" y="2377440"/>
            <a:ext cx="3931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6"/>
                </a:solidFill>
              </a:rPr>
              <a:t>Si la IA detecta muchos nódulos pero aumenta falsos positivos, ¿cómo cambia el flujo de trabajo del radiólogo?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B33"/>
                </a:solidFill>
              </a:rPr>
              <a:t>Discusión: beneficio técnico ≠ beneficio clínico automático.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Cáncer de pulmón y falsos positivos: Karan &amp; Elbek, 2025, p. 368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Ejemplo 2: enfermedad intersticial y espirometría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El artículo ofrece números atractivos para clase.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029200" cy="4251960"/>
          </a:xfrm>
          <a:prstGeom prst="roundRect">
            <a:avLst>
              <a:gd name="adj" fmla="val 3011"/>
            </a:avLst>
          </a:prstGeom>
          <a:solidFill>
            <a:srgbClr val="E8FAF5"/>
          </a:solidFill>
          <a:ln w="12700">
            <a:solidFill>
              <a:srgbClr val="C5EF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89"/>
                </a:solidFill>
              </a:rPr>
              <a:t>Interstitial Lung Disease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4297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6"/>
                </a:solidFill>
              </a:rPr>
              <a:t>En un meta-análisis citado, la exactitud diagnóstica de IA en CT para enfermedad intersticial se ubicó entre 78% y 91%.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46520" y="1234440"/>
            <a:ext cx="5029200" cy="4251960"/>
          </a:xfrm>
          <a:prstGeom prst="roundRect">
            <a:avLst>
              <a:gd name="adj" fmla="val 3011"/>
            </a:avLst>
          </a:prstGeom>
          <a:solidFill>
            <a:srgbClr val="FFF6E6"/>
          </a:solidFill>
          <a:ln w="12700">
            <a:solidFill>
              <a:srgbClr val="FFE2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0A423"/>
                </a:solidFill>
              </a:rPr>
              <a:t>Espirometría Asma/EPOC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12280" y="2331720"/>
            <a:ext cx="42976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6"/>
                </a:solidFill>
              </a:rPr>
              <a:t>Un estudio citado reportó 74,4% de éxito para clínicos vs. 100% para IA en reconocimiento de patrones; diagnóstico correcto de asma/EPOC: 82%.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4300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66E8"/>
                </a:solidFill>
              </a:rPr>
              <a:t>Pregunta: ¿estos números bastan para adoptar IA? ¿Qué validación falta?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ILD y espirometría: Karan &amp; Elbek, 2025, p. 368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Ejemplo 3: sensores, asma y tuberculosis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La IA sale del hospital y entra en el monitoreo cotidiano.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0749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66E8"/>
                </a:solidFill>
              </a:rPr>
              <a:t>Asma + sensores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43891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B2436"/>
                </a:solidFill>
              </a:rPr>
              <a:t>Datos: polvo, partículas, temperatura, humedad, pulso, presión arterial.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Objetivo: estimar riesgo de episodio y enviar notificación móvil.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El artículo reporta éxito de 80% en el ejemplo citado.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1234440"/>
            <a:ext cx="50749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89"/>
                </a:solidFill>
              </a:rPr>
              <a:t>Tuberculosis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12280" y="2148840"/>
            <a:ext cx="43891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B2436"/>
                </a:solidFill>
              </a:rPr>
              <a:t>CAD4TB interpreta radiografías de tórax.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Aplicable donde no hay especialistas disponibles.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El artículo indica cribado de Rx en menos de 15 segundos.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650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33"/>
                </a:solidFill>
              </a:rPr>
              <a:t>Mensaje: IA médica puede apoyar triage, cribado y seguimiento, pero no elimina supervisión médica.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Asma, sensores y CAD4TB: Karan &amp; Elbek, 2025, p. 368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ChatGPT y GenAI: el “big bang” de los modelos de lenguaje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El artículo reconoce el salto, pero también marca el límite.</a:t>
            </a:r>
            <a:endParaRPr lang="en-US" sz="1150" dirty="0"/>
          </a:p>
        </p:txBody>
      </p:sp>
      <p:pic>
        <p:nvPicPr>
          <p:cNvPr id="6" name="Image 0" descr="/mnt/data/a_wide_clean_modern_digital_illustration_of_a_he.png">    </p:cNvPr>
          <p:cNvPicPr>
            <a:picLocks noChangeAspect="1"/>
          </p:cNvPicPr>
          <p:nvPr/>
        </p:nvPicPr>
        <p:blipFill>
          <a:blip r:embed="rId1"/>
          <a:srcRect l="19101" r="19101" t="0" b="0"/>
          <a:stretch/>
        </p:blipFill>
        <p:spPr>
          <a:xfrm>
            <a:off x="6400800" y="1234440"/>
            <a:ext cx="512064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234440"/>
            <a:ext cx="5394960" cy="4526280"/>
          </a:xfrm>
          <a:prstGeom prst="roundRect">
            <a:avLst>
              <a:gd name="adj" fmla="val 2828"/>
            </a:avLst>
          </a:prstGeom>
          <a:solidFill>
            <a:srgbClr val="FFF6E6"/>
          </a:solidFill>
          <a:ln w="12700">
            <a:solidFill>
              <a:srgbClr val="FFE2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0A423"/>
                </a:solidFill>
              </a:rPr>
              <a:t>Capacidades destacadas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3000" y="2039112"/>
            <a:ext cx="46177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B2436"/>
                </a:solidFill>
              </a:rPr>
              <a:t>Análisis de lenguaje.</a:t>
            </a:r>
            <a:pPr indent="0" marL="0">
              <a:buNone/>
            </a:pPr>
            <a:r>
              <a:rPr lang="en-US" sz="1500" dirty="0">
                <a:solidFill>
                  <a:srgbClr val="1B2436"/>
                </a:solidFill>
              </a:rPr>
              <a:t>
</a:t>
            </a:r>
            <a:endParaRPr lang="en-US" sz="1500" dirty="0"/>
          </a:p>
          <a:p>
            <a:r>
              <a:rPr lang="en-US" sz="1500" dirty="0">
                <a:solidFill>
                  <a:srgbClr val="1B2436"/>
                </a:solidFill>
              </a:rPr>
              <a:t>Traducción.</a:t>
            </a:r>
            <a:pPr indent="0" marL="0">
              <a:buNone/>
            </a:pPr>
            <a:r>
              <a:rPr lang="en-US" sz="1500" dirty="0">
                <a:solidFill>
                  <a:srgbClr val="1B2436"/>
                </a:solidFill>
              </a:rPr>
              <a:t>
</a:t>
            </a:r>
            <a:endParaRPr lang="en-US" sz="1500" dirty="0"/>
          </a:p>
          <a:p>
            <a:r>
              <a:rPr lang="en-US" sz="1500" dirty="0">
                <a:solidFill>
                  <a:srgbClr val="1B2436"/>
                </a:solidFill>
              </a:rPr>
              <a:t>Resumen.</a:t>
            </a:r>
            <a:pPr indent="0" marL="0">
              <a:buNone/>
            </a:pPr>
            <a:r>
              <a:rPr lang="en-US" sz="1500" dirty="0">
                <a:solidFill>
                  <a:srgbClr val="1B2436"/>
                </a:solidFill>
              </a:rPr>
              <a:t>
</a:t>
            </a:r>
            <a:endParaRPr lang="en-US" sz="1500" dirty="0"/>
          </a:p>
          <a:p>
            <a:r>
              <a:rPr lang="en-US" sz="1500" dirty="0">
                <a:solidFill>
                  <a:srgbClr val="1B2436"/>
                </a:solidFill>
              </a:rPr>
              <a:t>Redacción de textos clínicos.</a:t>
            </a:r>
            <a:pPr indent="0" marL="0">
              <a:buNone/>
            </a:pPr>
            <a:r>
              <a:rPr lang="en-US" sz="1500" dirty="0">
                <a:solidFill>
                  <a:srgbClr val="1B2436"/>
                </a:solidFill>
              </a:rPr>
              <a:t>
</a:t>
            </a:r>
            <a:endParaRPr lang="en-US" sz="1500" dirty="0"/>
          </a:p>
          <a:p>
            <a:r>
              <a:rPr lang="en-US" sz="1500" dirty="0">
                <a:solidFill>
                  <a:srgbClr val="1B2436"/>
                </a:solidFill>
              </a:rPr>
              <a:t>Resolución de ciertos problemas matemáticos.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4242"/>
                </a:solidFill>
              </a:rPr>
              <a:t>Límite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4300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6"/>
                </a:solidFill>
              </a:rPr>
              <a:t>Puede escribir y resumir, pero no entiende como un humano ni tiene inteligencia general.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ChatGPT y modelos de lenguaje: Karan &amp; Elbek, 2025, p. 367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Snapshot del artículo: la IA habla de sí misma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Esta figura sirve como discusión crítica en clase.</a:t>
            </a:r>
            <a:endParaRPr lang="en-US" sz="1150" dirty="0"/>
          </a:p>
        </p:txBody>
      </p:sp>
      <p:pic>
        <p:nvPicPr>
          <p:cNvPr id="6" name="Image 0" descr="/mnt/data/turk_crops/p6_chatgpt_fig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14348"/>
            <a:ext cx="5577840" cy="3966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1280160"/>
            <a:ext cx="480060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600200"/>
            <a:ext cx="416052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B2436"/>
                </a:solidFill>
              </a:rPr>
              <a:t>La figura muestra una respuesta de ChatGPT sobre el futuro de la medicina.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Promesas: diagnóstico, tratamiento, monitoreo, investigación y acceso.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Riesgos: dependencia excesiva, errores, sesgos, privacidad, deshumanización.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Actividad: estudiantes separan beneficio real, riesgo clínico y requisito ético.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Snapshot de Figura 2 del artículo, p. 371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Black box + sesgo: la parte que el médico no puede ignorar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Un buen modelo no solo debe acertar: debe ser explicable y justo.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074920" cy="4526280"/>
          </a:xfrm>
          <a:prstGeom prst="roundRect">
            <a:avLst>
              <a:gd name="adj" fmla="val 2828"/>
            </a:avLst>
          </a:prstGeom>
          <a:solidFill>
            <a:srgbClr val="F3EE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51F2"/>
                </a:solidFill>
              </a:rPr>
              <a:t>Black box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4389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6"/>
                </a:solidFill>
              </a:rPr>
              <a:t>La razón interna del resultado puede ser difícil de explicar incluso para expertos.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242"/>
                </a:solidFill>
              </a:rPr>
              <a:t>Riesgo: confianza, responsabilidad médico-legal y consentimiento informado.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074920" cy="4526280"/>
          </a:xfrm>
          <a:prstGeom prst="roundRect">
            <a:avLst>
              <a:gd name="adj" fmla="val 2828"/>
            </a:avLst>
          </a:prstGeom>
          <a:solidFill>
            <a:srgbClr val="FFF0F0"/>
          </a:solidFill>
          <a:ln w="12700">
            <a:solidFill>
              <a:srgbClr val="F5B6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4242"/>
                </a:solidFill>
              </a:rPr>
              <a:t>Sesgo clínico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12280" y="2331720"/>
            <a:ext cx="4389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6"/>
                </a:solidFill>
              </a:rPr>
              <a:t>El artículo cita un ejemplo tipo Babylon: síntomas similares pueden producir sugerencias distintas según género.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Pregunta: ¿cómo auditarías ese sistema antes de usarlo?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Black box y sesgo de género: Karan &amp; Elbek, 2025, pp. 367, 370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Wearables y datos continuos: la nueva frontera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La IA también vive en relojes, sensores, apps y registros electrónicos.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507492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72768"/>
            <a:ext cx="44348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B2436"/>
                </a:solidFill>
              </a:rPr>
              <a:t>Detección de convulsiones y llamada a emergencias.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Seguimiento de sueño y arritmias.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Monitoreo de dosis de inhaladores.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Datos que pueden añadirse a la historia clínica electrónica.</a:t>
            </a:r>
            <a:pPr indent="0" marL="0">
              <a:buNone/>
            </a:pPr>
            <a:r>
              <a:rPr lang="en-US" sz="1600" dirty="0">
                <a:solidFill>
                  <a:srgbClr val="1B2436"/>
                </a:solidFill>
              </a:rPr>
              <a:t>
</a:t>
            </a:r>
            <a:endParaRPr lang="en-US" sz="1600" dirty="0"/>
          </a:p>
          <a:p>
            <a:r>
              <a:rPr lang="en-US" sz="1600" dirty="0">
                <a:solidFill>
                  <a:srgbClr val="1B2436"/>
                </a:solidFill>
              </a:rPr>
              <a:t>Riesgo: privacidad, vigilancia, acceso desigual y comercialización de datos.</a:t>
            </a:r>
            <a:endParaRPr lang="en-US" sz="1600" dirty="0"/>
          </a:p>
        </p:txBody>
      </p:sp>
      <p:pic>
        <p:nvPicPr>
          <p:cNvPr id="8" name="Image 0" descr="/mnt/data/turk_crops/p5_future_ai_figure.png">    </p:cNvPr>
          <p:cNvPicPr>
            <a:picLocks noChangeAspect="1"/>
          </p:cNvPicPr>
          <p:nvPr/>
        </p:nvPicPr>
        <p:blipFill>
          <a:blip r:embed="rId1"/>
          <a:srcRect l="18678" r="18678" t="0" b="0"/>
          <a:stretch/>
        </p:blipFill>
        <p:spPr>
          <a:xfrm>
            <a:off x="6492240" y="1234440"/>
            <a:ext cx="4892040" cy="4617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Wearables y datos en EHR: Karan &amp; Elbek, 2025, pp. 370–371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Conclusión del artículo: potencial enorme, gobernanza indispensable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La IA médica debe alinearse con necesidades clínicas y justicia social.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212080" cy="4572000"/>
          </a:xfrm>
          <a:prstGeom prst="roundRect">
            <a:avLst>
              <a:gd name="adj" fmla="val 2800"/>
            </a:avLst>
          </a:prstGeom>
          <a:solidFill>
            <a:srgbClr val="E8FAF5"/>
          </a:solidFill>
          <a:ln w="12700">
            <a:solidFill>
              <a:srgbClr val="C5EF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889"/>
                </a:solidFill>
              </a:rPr>
              <a:t>Potencial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2057400"/>
            <a:ext cx="44805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B2436"/>
                </a:solidFill>
              </a:rPr>
              <a:t>Mejor precisión diagnóstica.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Flujos de trabajo más rápidos.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Análisis en tiempo real.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Modelado predictivo y salud pública.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Acceso en zonas desatendidas.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074920" cy="4572000"/>
          </a:xfrm>
          <a:prstGeom prst="roundRect">
            <a:avLst>
              <a:gd name="adj" fmla="val 2800"/>
            </a:avLst>
          </a:prstGeom>
          <a:solidFill>
            <a:srgbClr val="FFF0F0"/>
          </a:solidFill>
          <a:ln w="12700">
            <a:solidFill>
              <a:srgbClr val="F5B6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4242"/>
                </a:solidFill>
              </a:rPr>
              <a:t>Condiciones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12280" y="2057400"/>
            <a:ext cx="43891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B2436"/>
                </a:solidFill>
              </a:rPr>
              <a:t>Objetivos clínicos claros.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Supervisión robusta.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Protección de datos.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Evaluación de sesgo.</a:t>
            </a:r>
            <a:pPr indent="0" marL="0">
              <a:buNone/>
            </a:pPr>
            <a:r>
              <a:rPr lang="en-US" sz="1550" dirty="0">
                <a:solidFill>
                  <a:srgbClr val="1B2436"/>
                </a:solidFill>
              </a:rPr>
              <a:t>
</a:t>
            </a:r>
            <a:endParaRPr lang="en-US" sz="1550" dirty="0"/>
          </a:p>
          <a:p>
            <a:r>
              <a:rPr lang="en-US" sz="1550" dirty="0">
                <a:solidFill>
                  <a:srgbClr val="1B2436"/>
                </a:solidFill>
              </a:rPr>
              <a:t>Modelo centrado en paciente, no en lucro.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Conclusión del artículo: Karan &amp; Elbek, 2025, p. 372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71B33"/>
                </a:solidFill>
              </a:rPr>
              <a:t>Cierre y transición a la práctica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1208" y="877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877"/>
                </a:solidFill>
              </a:rPr>
              <a:t>Hoy entendimos la historia; ahora construiremos un primer modelo simple.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071B33"/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9047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Historia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48840" y="1700784"/>
            <a:ext cx="731520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417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1166E8"/>
          </a:solidFill>
          <a:ln w="12700">
            <a:solidFill>
              <a:srgbClr val="1166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149047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700784"/>
            <a:ext cx="731520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417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00A889"/>
          </a:solidFill>
          <a:ln w="12700">
            <a:solidFill>
              <a:srgbClr val="00A88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49047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700784"/>
            <a:ext cx="731520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1417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7A51F2"/>
          </a:solidFill>
          <a:ln w="12700">
            <a:solidFill>
              <a:srgbClr val="7A51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4344" y="149047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95360" y="1700784"/>
            <a:ext cx="731520" cy="0"/>
          </a:xfrm>
          <a:prstGeom prst="line">
            <a:avLst/>
          </a:prstGeom>
          <a:noFill/>
          <a:ln w="17145">
            <a:solidFill>
              <a:srgbClr val="8BA3C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18320" y="141732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0A423"/>
          </a:solidFill>
          <a:ln w="12700">
            <a:solidFill>
              <a:srgbClr val="F0A42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73184" y="149047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GenAI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2743200"/>
            <a:ext cx="48463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66E8"/>
                </a:solidFill>
              </a:rPr>
              <a:t>Práctica 1: Teachable Machine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25880" y="3657600"/>
            <a:ext cx="3977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B2436"/>
                </a:solidFill>
              </a:rPr>
              <a:t>Clasificador visual sin código.</a:t>
            </a:r>
            <a:pPr indent="0" marL="0">
              <a:buNone/>
            </a:pPr>
            <a:r>
              <a:rPr lang="en-US" sz="1450" dirty="0">
                <a:solidFill>
                  <a:srgbClr val="1B2436"/>
                </a:solidFill>
              </a:rPr>
              <a:t>
</a:t>
            </a:r>
            <a:endParaRPr lang="en-US" sz="1450" dirty="0"/>
          </a:p>
          <a:p>
            <a:r>
              <a:rPr lang="en-US" sz="1450" dirty="0">
                <a:solidFill>
                  <a:srgbClr val="1B2436"/>
                </a:solidFill>
              </a:rPr>
              <a:t>Entrenamiento con imágenes educativas.</a:t>
            </a:r>
            <a:pPr indent="0" marL="0">
              <a:buNone/>
            </a:pPr>
            <a:r>
              <a:rPr lang="en-US" sz="1450" dirty="0">
                <a:solidFill>
                  <a:srgbClr val="1B2436"/>
                </a:solidFill>
              </a:rPr>
              <a:t>
</a:t>
            </a:r>
            <a:endParaRPr lang="en-US" sz="1450" dirty="0"/>
          </a:p>
          <a:p>
            <a:r>
              <a:rPr lang="en-US" sz="1450" dirty="0">
                <a:solidFill>
                  <a:srgbClr val="1B2436"/>
                </a:solidFill>
              </a:rPr>
              <a:t>Discusión de errores y sesgos.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0" y="2743200"/>
            <a:ext cx="48463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89"/>
                </a:solidFill>
              </a:rPr>
              <a:t>Práctica 2: Orange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812280" y="3657600"/>
            <a:ext cx="3977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B2436"/>
                </a:solidFill>
              </a:rPr>
              <a:t>Dataset clínico simple.</a:t>
            </a:r>
            <a:pPr indent="0" marL="0">
              <a:buNone/>
            </a:pPr>
            <a:r>
              <a:rPr lang="en-US" sz="1450" dirty="0">
                <a:solidFill>
                  <a:srgbClr val="1B2436"/>
                </a:solidFill>
              </a:rPr>
              <a:t>
</a:t>
            </a:r>
            <a:endParaRPr lang="en-US" sz="1450" dirty="0"/>
          </a:p>
          <a:p>
            <a:r>
              <a:rPr lang="en-US" sz="1450" dirty="0">
                <a:solidFill>
                  <a:srgbClr val="1B2436"/>
                </a:solidFill>
              </a:rPr>
              <a:t>Modelo ML visual.</a:t>
            </a:r>
            <a:pPr indent="0" marL="0">
              <a:buNone/>
            </a:pPr>
            <a:r>
              <a:rPr lang="en-US" sz="1450" dirty="0">
                <a:solidFill>
                  <a:srgbClr val="1B2436"/>
                </a:solidFill>
              </a:rPr>
              <a:t>
</a:t>
            </a:r>
            <a:endParaRPr lang="en-US" sz="1450" dirty="0"/>
          </a:p>
          <a:p>
            <a:r>
              <a:rPr lang="en-US" sz="1450" dirty="0">
                <a:solidFill>
                  <a:srgbClr val="1B2436"/>
                </a:solidFill>
              </a:rPr>
              <a:t>Matriz de confusión y sensibilidad.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5156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4242"/>
                </a:solidFill>
              </a:rPr>
              <a:t>Regla final: demo académico ≠ dispositivo médico. Siempre validar, explicar y supervisar.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11480" y="65745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Sesión 2 · Fundamentos de IA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20440" y="6574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4"/>
                </a:solidFill>
              </a:rPr>
              <a:t>Transición hacia práctica de Sesión 2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1201400" y="6528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6E8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— Origen de la IA y ejemplos médicos del artículo</dc:title>
  <dc:subject>Sesión 2: Fundamentos de IA, ML, DL y GenAI en medicina</dc:subject>
  <dc:creator>OpenAI</dc:creator>
  <cp:lastModifiedBy>OpenAI</cp:lastModifiedBy>
  <cp:revision>1</cp:revision>
  <dcterms:created xsi:type="dcterms:W3CDTF">2026-09-27T04:33:53Z</dcterms:created>
  <dcterms:modified xsi:type="dcterms:W3CDTF">2026-09-27T04:33:53Z</dcterms:modified>
</cp:coreProperties>
</file>