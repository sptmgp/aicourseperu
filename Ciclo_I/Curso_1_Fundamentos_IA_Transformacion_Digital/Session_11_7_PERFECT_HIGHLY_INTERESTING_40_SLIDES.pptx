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A0D2DC"/>
                </a:solidFill>
              </a:defRPr>
            </a:pPr>
            <a:r>
              <a:t>SESIÓN 11 · 7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Validación interna de IA clínica</a:t>
            </a:r>
          </a:p>
          <a:p>
            <a:pPr>
              <a:defRPr sz="2100">
                <a:solidFill>
                  <a:srgbClr val="E1EBF5"/>
                </a:solidFill>
              </a:defRPr>
            </a:pPr>
            <a:r>
              <a:t>Caso: RL-DITR para titulación personalizada de insulina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886200"/>
            <a:ext cx="10607040" cy="91440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3977639"/>
            <a:ext cx="103144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B34"/>
                </a:solidFill>
              </a:defRPr>
            </a:pPr>
            <a:r>
              <a:t>Pregunta guía: ¿el modelo funciona de forma reproducible en el entorno donde fue desarrollado?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Objetivos de las 3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Definir validación interna y diferenciarla de entrenamiento.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Leer MAE, PCC, AUROC, R² e intervalos de confianza.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Detectar señales de sobreajuste, leakage o cohorte específica.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Interpretar figuras de validación clínica.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Explicar por qué un buen resultado interno no demuestra generalización.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840480" cy="137160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5478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Producto: ficha de auditoría + lectura crítica de Fig. 2–4 + pregunta “¿qué evidencia falta?”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¿Qué exigirías a una IA que recomienda una dosis de medicamento?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01 · FRAME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Artículo central: problema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ajuste individual de insulina en T2D hospitalizado es dinámico y demandante.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RL-DITR es un sistema de reinforcement learning basado en un modelo del paciente.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Entrada: EHR longitudinal, glucosa, tratamientos y notas clínicas.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Salida: recomendaciones secuenciales de dosis.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estudio sigue el sistema desde desarrollo hasta despliegue.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402336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920240"/>
            <a:ext cx="37307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12.981 pacientes y 119.941 días de tratamiento en la fase de desarrollo.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PIENSA · ¿Qué significa realmente “optimizar” una decisión clínica?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significa validación interna?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Entrenamiento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¿Aprende del conjunto de desarrollo?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Validación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¿Cómo se ajusta/selecciona sin usar el test final?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interno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¿Funciona en datos no vistos del mismo contexto?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Generalización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¿Funciona en otro hospital/población/equipo?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Validación clínica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¿Produce uso seguro y útil en pacientes?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7772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120640"/>
            <a:ext cx="1040587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Test interno ≠ prueba de mundo real. El artículo continúa con validación externa, despliegue prospectivo y factibilidad.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¿Por qué 12.981 pacientes y 16 pacientes responden preguntas diferentes?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 recorrido de evidencia del artículo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132320" cy="6983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32588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1.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2. Cohorte interna retrospectiva.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3. Cohorte externa retrospectiva.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4. Despliegue prospectivo con test–retest.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5. Prueba de factibilidad en 16 pacientes.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MAPA · Identifica en la figura qué etapa responde cada pregunta.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¿De dónde salen los datos?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53035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638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Dato del artículo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Pacientes desarrollo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12.981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Días de tratamiento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119.941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Edad media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59,2 ± 14,5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Mujeres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42,6%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Contexto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Hospitalizados con T2D e insulina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3716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7 periodos temporales diarios.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Datos estructurados + notas clínicas.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ClinicalBERT para texto clínico.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LOINC/ICD-9 para normalización/codificación.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PREGUNTA · ¿Qué diferencia hay entre datos no vistos y datos de otro hospital?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02 · WHAT VALIDATION MEANS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Arquitectura RL-DITR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10923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EXPLICA · En una frase: ¿qué hace el patient model y qué hace el policy model?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idea del “modelo del paciente”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del paciente representa la dinámica de glucosa.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Genera estados ocultos y predicciones futuras.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política de tratamiento interactúa con ese modelo.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Combina reinforcement learning y supervised learning.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idea es planificar decisiones secuenciales con supervisión clínica.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74519"/>
            <a:ext cx="3657600" cy="141732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1544" y="196596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No es “una respuesta única”: es una política condicionada por la evolución temporal del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PIENSA · ¿Por qué una decisión repetida necesita información temporal?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Métrica 1: 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4572000" cy="64008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80160"/>
            <a:ext cx="42793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4"/>
                </a:solidFill>
              </a:defRPr>
            </a:pPr>
            <a:r>
              <a:t>MAE = error absoluto 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Indica cuántas unidades se aleja en promedio la dosis predicha de la referencia.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Mantiene las unidades clínicas.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Menor MAE = menor error promedio respecto al referente.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No demuestra por sí solo seguridad individual.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66344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9984" y="1920240"/>
            <a:ext cx="4370831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Artículo: MAE 1,10 U interno; 1,20 U externo.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¿MAE bajo significa automáticamente decisión segura?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03 · READ THE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Métrica 2: correlación ≠ exactitud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PCC mide asociación lineal, no error absoluto.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Puede existir PCC alto con errores sistemáticos.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combina PCC con MAE y otras métricas.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Predicción de glucosa: PCC interno 0,70; externo 0,71.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09728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Pregunta: ¿PCC 0,90 garantiza que cada dosis sea correcta?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PRUEBA · ¿Puede existir correlación alta con error sistemático?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2: predicción de la trayectoria de glucosa</a:t>
            </a:r>
          </a:p>
        </p:txBody>
      </p:sp>
      <p:pic>
        <p:nvPicPr>
          <p:cNvPr id="5" name="Picture 4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60920" cy="7835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23444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a–b: trayectoria observada vs predicha.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c–d: relación real vs predicción.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e–f: ROC para WTR.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Interno: MAE 2,13 mmol/L; PCC 0,70.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Externo: MAE 2,28 mmol/L; PCC 0,71.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FIGURA · Elige un panel y explica qué pregunta responde.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 guiada: leer la Figura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38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Elemento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Curvas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¿Sigue la tendencia?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Scatter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¿Hay dispersión alrededor de la diagonal?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ROC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¿Qué significa separar WTR/no-WTR?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Interno vs externo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¿Se mantiene el rendimiento?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IC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¿Qué aporta el intervalo?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120640"/>
            <a:ext cx="104058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Discusión: una buena trayectoria predicha no significa automáticamente una dosis segura para cada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¿Predecir WTR es lo mismo que recomendar una dosis?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WTR: convertir una predicción en una pregunta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WTR = glucosa dentro del rango objetivo 3,9–10,0 mmol/L.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AUROC interno: 0,830 preprandial; 0,808 postprandial; 0,848 promedio.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mejora al disponer de más historia temporal.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Pregunta clínica: ¿cuánta historia necesita antes de recomendar?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828800"/>
            <a:ext cx="3749039" cy="128016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0104" y="1920240"/>
            <a:ext cx="34564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Enfermería: ¿qué pasa si faltan mediciones? Medicina: ¿qué pasa si cambia el contexto?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PREGUNTA · ¿Qué riesgo clínico no captura MAE?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3: predicción de la dosis de insulina</a:t>
            </a:r>
          </a:p>
        </p:txBody>
      </p:sp>
      <p:pic>
        <p:nvPicPr>
          <p:cNvPr id="5" name="Picture 4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15200" cy="7269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2344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Interno: MAE 1,10 U (IC 95% 1,07–1,12).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Externo: MAE 1,20 U (IC 95% 1,15–1,26).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Evaluado en distintos tipos de insulina.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e–f: diferencia de dosis vs WTR.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AUDITORÍA · ¿Cuál es el referente y qué sesgos puede contener?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04 · CLINICAL COMPARISON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significa “validación interna” en este artículo?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Cohorte interna: entorno de desarrollo.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40 pacientes y 226 puntos de datos de insulina.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15 médicos: 5 junior, 5 intermedios, 5 senior.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Panel experto como referencia.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evaluaron métricas cuantitativas y cualitativas.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2801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El estudio sigue adelante con una cohorte externa: la validación interna no es el punto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FIGURA · ¿Qué aporta comparar AI, junior, intermedio y senior?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4: AI frente a médicos</a:t>
            </a:r>
          </a:p>
        </p:txBody>
      </p:sp>
      <p:pic>
        <p:nvPicPr>
          <p:cNvPr id="5" name="Picture 4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360920" cy="7728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1887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MAE AI 1,18 U; junior 1,46; intermedio 1,27; senior 0,95.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Acuerdo clínico AI: 81,42%.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También se evaluaron efectividad, seguridad y aceptabilidad.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No demuestra sustitución del médico.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¿Cuál es la diferencia entre métrica técnica, juicio experto y resultado clínico?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¿Por qué comparar contra diferentes niveles de experiencia?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Grupo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Experiencia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Junior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1–3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Intermedio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4–7 años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Senior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8–20 años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89320" y="132588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¿La IA produce recomendaciones clínicamente plausibles?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¿Dónde sigue siendo relevante la experiencia?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¿Cuál es el referente de comparación?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métrica se está comparando?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TEST–RETEST · ¿Qué significa que un resultado sea reproducible?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Actividad: ¿qué métrica te convencería?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39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799"/>
                <a:gridCol w="3733799"/>
                <a:gridCol w="3733799"/>
              </a:tblGrid>
              <a:tr h="6781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Responde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 responde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¿Qué tan lejos?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¿Es segura cada dosis?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PCC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¿Tendencia similar?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¿Error pequeño?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¿Separa estados?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¿Dosis adecuada?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Acuerdo clínico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¿Coincide con referencia?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¿Mejora resultados?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Aceptabilidad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¿Parece apropiada?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B34"/>
                          </a:solidFill>
                        </a:defRPr>
                      </a:pPr>
                      <a:r>
                        <a:t>¿Reduce eventos?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440680"/>
            <a:ext cx="10515600" cy="54864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532120"/>
            <a:ext cx="10222992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B34"/>
                </a:solidFill>
              </a:defRPr>
            </a:pPr>
            <a:r>
              <a:t>Desafío: elige tres métricas complementarias y justifica la elección.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MAPA · ¿Qué evidencia añade cada escalón?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05 · GENERALIZATION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validación interna también necesita evaluación cualitativa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Expertos calificaron efectividad, seguridad y aceptabilidad.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Seguridad se relacionó con riesgo percibido de hipoglucemia.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evaluación cualitativa complementa MAE.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Una predicción numéricamente próxima puede ser clínicamente inaceptable.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657600" cy="14630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920240"/>
            <a:ext cx="336499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Pregunta: ¿un error de +1 U y −1 U tienen necesariamente el mismo significado clínico?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RIESGO · ¿Qué podría aprender el modelo que solo pertenece a un hospital?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Test–retest: ¿la evaluación se repite de forma consistente?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Test–retest permite preguntar si la evaluación es estable.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Reproducibilidad ≠ exactitud.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Un sistema puede ser consistentemente equivocado.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estabilidad debe acompañar a la precisión y seguridad.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3840480" cy="128016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920240"/>
            <a:ext cx="354787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Mini-pregunta: si dos revisores califican distinto el mismo plan, ¿qué debemos investigar?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ROBUSTEZ · ¿Qué harías si faltara 30% de las mediciones?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 validación interna a validación externa</a:t>
            </a:r>
          </a:p>
        </p:txBody>
      </p:sp>
      <p:pic>
        <p:nvPicPr>
          <p:cNvPr id="5" name="Picture 4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766560" cy="6625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3258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Interna: mismo contexto de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Externa: hospital fuera del desarrollo.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Prospectiva: sistema dentro del flujo clínico.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Factibilidad: resultados en pacientes.</a:t>
            </a:r>
          </a:p>
          <a:p>
            <a:pPr>
              <a:spcAft>
                <a:spcPts val="800"/>
              </a:spcAft>
              <a:defRPr sz="1600">
                <a:solidFill>
                  <a:srgbClr val="232B34"/>
                </a:solidFill>
              </a:defRPr>
            </a:pPr>
            <a:r>
              <a:t>Cada etapa responde una pregunta diferente.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GENERALIZACIÓN · ¿Qué cambia cuando pasamos a otro país o población?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¿Dónde podría aparecer el sobreajuste?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modelo puede aprender patrones específicos del hospital.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Protocolos, población, equipos y prácticas pueden ser compartidos entre entrenamiento y test interno.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Al cambiar el contexto, el rendimiento puede cambiar.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reconoce la necesidad de estudiar generalización.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3749039" cy="100584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4383" y="1828800"/>
            <a:ext cx="3456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Pregunta: ¿qué cambia entre hospitales aunque el diagnóstico sea el mismo?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FLUJO CLÍNICO · ¿Qué debe poder hacer el profesional con la recomendación?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Calidad de datos: una parte de la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simuló ruido gaussiano para representar baja calidad.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Se simuló dropout para representar datos faltantes.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También se evaluó un pequeño conjunto ambulatorio retrospectivo (n=27).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Esto prueba robustez ante datos imperfectos, pero no reemplaza validación prospectiva.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94760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502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Actividad: ¿qué controles pondrías si faltara 30% de las mediciones?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PROSPECTIVO · ¿Qué problemas aparecen en uso real que no están en el dataset?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Limitación importante: población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Principalmente pacientes hospitalizados con T2D.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Datos procedentes de China; 92% de la cohorte descrita como Han Chinese.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Los autores indican que la generalización a otras etnias requiere más estudio.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dieta hospitalaria era uniformemente suministrada; fuera del hospital cambian dieta y actividad física.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566160" cy="132588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64424" y="1920240"/>
            <a:ext cx="3273552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Lección: una buena validación interna no elimina el problema de representatividad.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DISEÑO · ¿Qué puede y qué NO puede demostrar una prueba de 16 pacientes?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06 · PATIENT-LEVEL EVIDENCE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Caso práctico para enfermería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12080" cy="68580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34440"/>
            <a:ext cx="49194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Paciente hospitalizado: la IA recomienda una dosis.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Revisar glucosa reciente y tendencia.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Comprobar datos críticos faltantes.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Revisar alimentación, medicación y cambios clínicos.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Comparar con protocolo local.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Adoptar o rechazar y documentar.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663440" cy="118872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920240"/>
            <a:ext cx="4370831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¿Qué parte corresponde al modelo y cuál permanece bajo responsabilidad clínica?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FIGURA · ¿Qué resultado te parece más importante y por qué?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Caso práctico para fisioterapia y profesionales aliados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lógica de validación es transversal a otras disciplinas.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Ejemplos: riesgo de caída, imágenes, pronóstico funcional, rehabilitación.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Preguntar siempre: ¿qué población entrenó el modelo?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variables cambian en mi servicio?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¿Qué resultado clínico importa además de la métrica?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920240"/>
            <a:ext cx="3657600" cy="114300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0104" y="2011680"/>
            <a:ext cx="33649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Transferencia: aprende el método de auditoría, no solo el caso de diabetes.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CAUSALIDAD · ¿Qué control adicional necesitarías?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ocurrió cuando el sistema pasó a prospectivo?</a:t>
            </a:r>
          </a:p>
        </p:txBody>
      </p:sp>
      <p:pic>
        <p:nvPicPr>
          <p:cNvPr id="5" name="Picture 4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040880" cy="7297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280160"/>
            <a:ext cx="3520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20 pacientes prospectivos.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Evaluación por endocrinólogos al lado de la cama.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Test–retest.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Adopción inicial ≈70%; retest 77,5%.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Se reportó estabilidad de efectividad, seguridad y aceptabilidad.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AUDITORÍA · ¿Qué afirmación está realmente respaldada por el diseño?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Confianza y adopción: una variable clínica diferente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rendimiento técnico no garantiza uso clínico.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interacción humano–máquina se acompañó de aumento de adopción.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La adopción aumentó entre la primera y segunda revisión.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Esto muestra una variable operacional, no una prueba definitiva de eficacia.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28800"/>
            <a:ext cx="3749039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1920240"/>
            <a:ext cx="345643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Discusión: ¿confianza creciente = evidencia nueva o aprendizaje del flujo?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LEAKAGE · ¿La IA vio información que no habría existido en el momento de decidir?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07 · AUDIT THE MODEL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Prueba de factibilidad: ¿qué cambia en pacientes reales?</a:t>
            </a:r>
          </a:p>
        </p:txBody>
      </p:sp>
      <p:pic>
        <p:nvPicPr>
          <p:cNvPr id="5" name="Picture 4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7040880" cy="7883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2344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16 pacientes; 5 días.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90,2% de recomendaciones adoptadas.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Glucosa diaria media: 11,1 → 8,6 mmol/L.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TIR: 61,4% → 85,5%.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No hubo episodios de hipoglucemia grave ni hiperglucemia con cetosis.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MÉTRICAS · ¿Qué combinación de métricas usarías para una decisión terapéutica?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Figura 6: cómo leer el resultado clínico</a:t>
            </a:r>
          </a:p>
        </p:txBody>
      </p:sp>
      <p:pic>
        <p:nvPicPr>
          <p:cNvPr id="5" name="Picture 4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315200" cy="81905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600200"/>
            <a:ext cx="3474720" cy="164592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1583" y="1691640"/>
            <a:ext cx="318211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Es una prueba de factibilidad de un solo brazo y 16 pacientes; no es evidencia definitiva de eficacia general.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6576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Comparar inicio vs final.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Observar TIR.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Revisar seguridad.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Preguntar qué no demuestra el diseño.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POBLACIÓN · ¿Qué variables debes comparar antes de transferir el modelo?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Mini-análisis estadístico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477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Inicio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Cambio descriptivo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Glucosa diaria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11,1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8,6 mmol/L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−2,5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TIR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61,4%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85,5%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+24,1 pp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&gt;13,9 mmol/L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10,6%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0,9%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−9,7 pp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&gt;10,0 mmol/L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37,5%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13,6%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−23,9 pp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CV glucémico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27,7%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22,6%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B34"/>
                          </a:solidFill>
                        </a:defRPr>
                      </a:pPr>
                      <a:r>
                        <a:t>−5,1 pp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49240"/>
            <a:ext cx="10515600" cy="59436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5440679"/>
            <a:ext cx="1022299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B34"/>
                </a:solidFill>
              </a:defRPr>
            </a:pPr>
            <a:r>
              <a:t>Pregunta: ¿estos cambios prueban causalidad? ¿Qué control falta?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HUMANO + IA · Diseña un punto de control humano obligatorio.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08 · HUMAN + 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¿Qué NO demuestra la prueba de 16 pacientes?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demuestra eficacia definitiva en una población grande.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establece generalización a otros hospitales o países.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sustituye un ensayo multicéntrico aleatorizado.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garantiza seguridad para todos los subgrupos.</a:t>
            </a:r>
          </a:p>
          <a:p>
            <a:pPr>
              <a:spcAft>
                <a:spcPts val="800"/>
              </a:spcAft>
              <a:defRPr sz="1900">
                <a:solidFill>
                  <a:srgbClr val="232B34"/>
                </a:solidFill>
              </a:defRPr>
            </a:pPr>
            <a:r>
              <a:t>No demuestra desempeño en pacientes ambulatorios.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920240"/>
            <a:ext cx="3840480" cy="123444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8664" y="2011680"/>
            <a:ext cx="354787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Los autores solicitan estudios mayores y multicéntricos.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TALLER · Diseña la validación interna de una IA de tu área.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Auditoría: cinco preguntas antes de aceptar una validación interna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Qué buscar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¿Test separado del entrenamiento?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¿Leakage o información futura?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¿Métrica relevante al uso clínico?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¿Errores y subgrupos?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B34"/>
                          </a:solidFill>
                        </a:defRPr>
                      </a:pPr>
                      <a:r>
                        <a:t>¿Estabilidad/reproducibilidad?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074920"/>
            <a:ext cx="10332720" cy="7772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5166359"/>
            <a:ext cx="10040112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Producto: marcar Evidencia / Parcial / No reportada.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CASO · AUC 0,98: ¿cuál es el siguiente experimento que pedirías?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Actividad grupal: auditoría del artículo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A — Medicina: ¿qué evidencia clínica exigiría?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B — Enfermería: ¿qué debe mostrar la interfaz antes de administrar?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C — Fisioterapia/aliados: ¿qué variables de contexto pueden cambiar el rendimiento?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Grupo D — IA/datos: ¿qué métrica adicional reportarían?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Cada grupo: una fortaleza + una limitación documentada.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PROSPECTIVO · ¿Qué nueva evidencia aparece cuando la IA entra al HIS?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Ejercicio 1 — Detectar una validación débil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685800"/>
          </a:xfrm>
          <a:prstGeom prst="roundRect">
            <a:avLst/>
          </a:prstGeom>
          <a:solidFill>
            <a:srgbClr val="E8F1F9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25880"/>
            <a:ext cx="47365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32B34"/>
                </a:solidFill>
              </a:defRPr>
            </a:pPr>
            <a:r>
              <a:t>Modelo A: AUC 0,98 en el hospital de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Una cohorte.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test externo.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análisis por subgrupos.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prueba prospectiva.</a:t>
            </a:r>
          </a:p>
          <a:p>
            <a:pPr>
              <a:spcAft>
                <a:spcPts val="800"/>
              </a:spcAft>
              <a:defRPr sz="1700">
                <a:solidFill>
                  <a:srgbClr val="232B34"/>
                </a:solidFill>
              </a:defRPr>
            </a:pPr>
            <a:r>
              <a:t>Sin información clara de faltantes.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572000" cy="914400"/>
          </a:xfrm>
          <a:prstGeom prst="roundRect">
            <a:avLst/>
          </a:prstGeom>
          <a:solidFill>
            <a:srgbClr val="FFF7E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1463040"/>
            <a:ext cx="42793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¿Conclusión demasiado fuerte?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4572000" cy="1005840"/>
          </a:xfrm>
          <a:prstGeom prst="roundRect">
            <a:avLst/>
          </a:prstGeom>
          <a:solidFill>
            <a:srgbClr val="E9F7F5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834640"/>
            <a:ext cx="427939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“Funcionará igual en otro hospital” no está demostrado.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ADOPCIÓN · ¿Confianza del usuario y eficacia clínica son la misma cosa?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Ejercicio 2 — Construir la validación de un modelo de fisioterapia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Etapa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 marL="36576" marR="36576">
                    <a:solidFill>
                      <a:srgbClr val="1423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Desarrollo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Pacientes hospital A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interno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No vistos, hospital A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Test externo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Hospital B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Prospectivo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Profesionales usan la recomendación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Resultado clínico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Función, dolor, adherencia o seguridad</a:t>
                      </a:r>
                    </a:p>
                  </a:txBody>
                  <a:tcPr marL="36576" marR="36576">
                    <a:solidFill>
                      <a:srgbClr val="F7F9F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Monitoreo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B34"/>
                          </a:solidFill>
                        </a:defRPr>
                      </a:pPr>
                      <a:r>
                        <a:t>Errores, drift y cambios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623560"/>
            <a:ext cx="10515600" cy="457200"/>
          </a:xfrm>
          <a:prstGeom prst="roundRect">
            <a:avLst/>
          </a:prstGeom>
          <a:solidFill>
            <a:srgbClr val="F2EE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5715000"/>
            <a:ext cx="102229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¿Qué añadirías para adultos mayores, comorbilidad o población rural?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LIMITACIONES · ¿Cuál de estas limitaciones cambiaría más tu interpretación?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 preguntas rápidas de comprensión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1. ¿Qué diferencia hay entre entrenamiento y test interno?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2. ¿Qué mide MAE?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3. ¿Qué mide PCC?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4. ¿Qué significa AUROC?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5. ¿Por qué comparar IA con médicos?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6. ¿Por qué usar test–retest?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7. ¿Qué problema resuelve una cohorte externa?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8. ¿Qué es distribution shift?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9. ¿Por qué 16 pacientes no bastan para generalizar?</a:t>
            </a:r>
          </a:p>
          <a:p>
            <a:pPr>
              <a:spcAft>
                <a:spcPts val="800"/>
              </a:spcAft>
              <a:defRPr sz="1500">
                <a:solidFill>
                  <a:srgbClr val="232B34"/>
                </a:solidFill>
              </a:defRPr>
            </a:pPr>
            <a:r>
              <a:t>10. ¿Qué papel conserva el profesional?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QUIZ · Responde las 10 preguntas sin mirar las diapositivas anteriores.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09 · CONSOLIDATE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Respuestas esperadas — discusión, no memorización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1. Test interno: datos no usados para ajustar, mismo contexto.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2. MAE: error absoluto medio.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3. PCC: asociación lineal.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4. AUROC: discriminación.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5. Evalúa plausibilidad y comparación con práctica.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6. Evalúa estabilidad.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7. Explora generalización.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8. Cambio en distribución/contexto.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9. Tamaño y diseño limitan precisión/generalización.</a:t>
            </a:r>
          </a:p>
          <a:p>
            <a:pPr>
              <a:spcAft>
                <a:spcPts val="800"/>
              </a:spcAft>
              <a:defRPr sz="1400">
                <a:solidFill>
                  <a:srgbClr val="232B34"/>
                </a:solidFill>
              </a:defRPr>
            </a:pPr>
            <a:r>
              <a:t>10. Revisión, decisión y seguridad.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REFLEXIÓN · ¿Qué afirmación está respaldada y qué afirmación todavía no?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Conclusión: la validación es una escalera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DESARROLLO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522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TEST INTERNO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24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EXTERNO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E07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5783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PROSPECTIVO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234440"/>
            <a:ext cx="2057400" cy="640080"/>
          </a:xfrm>
          <a:prstGeom prst="roundRect">
            <a:avLst/>
          </a:prstGeom>
          <a:solidFill>
            <a:srgbClr val="F0F4F8"/>
          </a:solidFill>
          <a:ln>
            <a:solidFill>
              <a:srgbClr val="1A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6064" y="1325880"/>
            <a:ext cx="17647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B34"/>
                </a:solidFill>
              </a:defRPr>
            </a:pPr>
            <a:r>
              <a:t>RESULTADO CLÍNICO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artículo muestra una ruta paso a paso desde datos retrospectivos hasta uso clínico.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El test interno es necesario, pero no suficiente.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Métricas técnicas deben conectarse con seguridad, utilidad y contexto.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Los autores reconocen la necesidad de estudios mayores y multicéntricos.</a:t>
            </a:r>
          </a:p>
          <a:p>
            <a:pPr>
              <a:spcAft>
                <a:spcPts val="800"/>
              </a:spcAft>
              <a:defRPr sz="1800">
                <a:solidFill>
                  <a:srgbClr val="232B34"/>
                </a:solidFill>
              </a:defRPr>
            </a:pPr>
            <a:r>
              <a:t>Esta mentalidad se transfiere a cualquier IA clínica.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PROYECTO · Audita una IA clínica: evidencia, riesgos, generalización y supervisión humana.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052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PROYECTO DE 4 HORAS · MINI-AUDITORÍA DE IA CLÍNICA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PROYECTO DE 4 HORAS · MINI-AUDITORÍA DE IA CLÍNICA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194560" cy="54864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28800"/>
            <a:ext cx="1901952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B34"/>
                </a:solidFill>
              </a:defRPr>
            </a:pPr>
            <a:r>
              <a:t>Producto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Elegir un modelo clínico sencillo.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Definir población y contexto.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Separar entrenamiento / validación / test.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Reportar ≥3 métricas.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Comparar rendimiento interno con otra cohorte si existe.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Identificar 3 riesgos de generalización.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Crear plan de validación prospectiva + supervisión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37360"/>
            <a:ext cx="3657600" cy="64008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828800"/>
            <a:ext cx="3364992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Entregable: 1 página + 3 diapositivas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26080"/>
            <a:ext cx="3840480" cy="137160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0104" y="3017520"/>
            <a:ext cx="3547872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B34"/>
                </a:solidFill>
              </a:defRPr>
            </a:pPr>
            <a:r>
              <a:t>Pregunta final: ¿qué evidencia me falta antes de usar este modelo con mis pacientes?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54880"/>
            <a:ext cx="3840480" cy="822960"/>
          </a:xfrm>
          <a:prstGeom prst="roundRect">
            <a:avLst/>
          </a:prstGeom>
          <a:solidFill>
            <a:srgbClr val="213653"/>
          </a:solidFill>
          <a:ln>
            <a:solidFill>
              <a:srgbClr val="5AA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4846320"/>
            <a:ext cx="35478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B34"/>
                </a:solidFill>
              </a:defRPr>
            </a:pPr>
            <a:r>
              <a:t>Fuente: Wang et al., Nature Medicine 2023 · DOI 10.1038/s41591-023-02552-9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737D"/>
                </a:solidFill>
              </a:defRPr>
            </a:pPr>
            <a:r>
              <a:t>Wang et al., Nature Medicine 2023 · DOI 10.1038/s41591-023-02552-9 · Slide 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"/>
            <a:ext cx="12191695" cy="41148"/>
          </a:xfrm>
          <a:prstGeom prst="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84280" y="100584"/>
            <a:ext cx="438912" cy="310896"/>
          </a:xfrm>
          <a:prstGeom prst="roundRect">
            <a:avLst/>
          </a:prstGeom>
          <a:solidFill>
            <a:srgbClr val="29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925312"/>
            <a:ext cx="11109960" cy="429768"/>
          </a:xfrm>
          <a:prstGeom prst="roundRect">
            <a:avLst/>
          </a:prstGeom>
          <a:solidFill>
            <a:srgbClr val="F6F9FC"/>
          </a:solidFill>
          <a:ln w="13970">
            <a:solidFill>
              <a:srgbClr val="EFA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C2A"/>
                </a:solidFill>
              </a:defRPr>
            </a:pPr>
            <a:r>
              <a:t>DISCUTE · ¿Qué evidencia respalda esta afirmación?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758952"/>
            <a:ext cx="2331720" cy="292608"/>
          </a:xfrm>
          <a:prstGeom prst="round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10 · TAKE IT TO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