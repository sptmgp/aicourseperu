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(20260926-212134)_crop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836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0"/>
            <a:ext cx="6583680" cy="68580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0" y="685800"/>
            <a:ext cx="5303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ANCIENT DREAMS OF
ARTIFICIAL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4768" y="2148840"/>
            <a:ext cx="5029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C7D6E0"/>
                </a:solidFill>
                <a:latin typeface="Aptos"/>
              </a:rPr>
              <a:t>From Greek mythology to the conceptual roots of autonomous machines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3337560"/>
            <a:ext cx="4892040" cy="1325880"/>
          </a:xfrm>
          <a:prstGeom prst="roundRect">
            <a:avLst/>
          </a:prstGeom>
          <a:solidFill>
            <a:srgbClr val="19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566160"/>
            <a:ext cx="4389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59D47"/>
                </a:solidFill>
                <a:latin typeface="Aptos"/>
              </a:rPr>
              <a:t>TALOS • PANDORA • PYGMALION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2336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ptos"/>
              </a:rPr>
              <a:t>Myths imagined artificial beings long before digital technology.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5989320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0B7C7"/>
                </a:solidFill>
                <a:latin typeface="Aptos"/>
              </a:rPr>
              <a:t>Historical bridge for Medical AI • Session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(20260926-211351)_crop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778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411480"/>
            <a:ext cx="5486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D1826"/>
                </a:solidFill>
                <a:latin typeface="Aptos"/>
              </a:rPr>
              <a:t>TALOS — THE BRONZE GUARDIAN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097280"/>
            <a:ext cx="5394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86F77"/>
                </a:solidFill>
                <a:latin typeface="Aptos"/>
              </a:rPr>
              <a:t>A mythological automaton protecting Crete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920240"/>
            <a:ext cx="5029200" cy="749808"/>
          </a:xfrm>
          <a:prstGeom prst="roundRect">
            <a:avLst/>
          </a:prstGeom>
          <a:solidFill>
            <a:srgbClr val="D5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9632" y="1993392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993392"/>
            <a:ext cx="3246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Protect the island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971800"/>
            <a:ext cx="5029200" cy="749808"/>
          </a:xfrm>
          <a:prstGeom prst="roundRect">
            <a:avLst/>
          </a:prstGeom>
          <a:solidFill>
            <a:srgbClr val="2A6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3044952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PATROL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044952"/>
            <a:ext cx="3246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Circle the coast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023360"/>
            <a:ext cx="5029200" cy="749808"/>
          </a:xfrm>
          <a:prstGeom prst="roundRect">
            <a:avLst/>
          </a:prstGeom>
          <a:solidFill>
            <a:srgbClr val="AA4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4096512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096512"/>
            <a:ext cx="3246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Repel intruders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5257800"/>
            <a:ext cx="5029200" cy="868680"/>
          </a:xfrm>
          <a:prstGeom prst="roundRect">
            <a:avLst/>
          </a:prstGeom>
          <a:solidFill>
            <a:srgbClr val="E2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539496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A6C97"/>
                </a:solidFill>
                <a:latin typeface="Aptos"/>
              </a:rPr>
              <a:t>MODERN ANALOGY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715000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D1826"/>
                </a:solidFill>
                <a:latin typeface="Aptos"/>
              </a:rPr>
              <a:t>Sense  →  Decide  →  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6327648"/>
            <a:ext cx="5120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A4439"/>
                </a:solidFill>
                <a:latin typeface="Aptos"/>
              </a:rPr>
              <a:t>Mythological analogy — not a historical AI machine.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PANDORA &amp; PYGMALION — CREATING ARTIFICIAL LIFE</a:t>
            </a:r>
          </a:p>
        </p:txBody>
      </p:sp>
      <p:pic>
        <p:nvPicPr>
          <p:cNvPr id="4" name="Picture 3" descr="image(20260926-211811)_crop_0.65_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3246120" cy="4251960"/>
          </a:xfrm>
          <a:prstGeom prst="rect">
            <a:avLst/>
          </a:prstGeom>
        </p:spPr>
      </p:pic>
      <p:pic>
        <p:nvPicPr>
          <p:cNvPr id="5" name="Picture 4" descr="image(20260926-212211)_crop_4.55_1.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97280"/>
            <a:ext cx="3246120" cy="4251960"/>
          </a:xfrm>
          <a:prstGeom prst="rect">
            <a:avLst/>
          </a:prstGeom>
        </p:spPr>
      </p:pic>
      <p:pic>
        <p:nvPicPr>
          <p:cNvPr id="6" name="Picture 5" descr="image(20260926-212148)_crop_8.45_1.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097280"/>
            <a:ext cx="384048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468112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D59D47"/>
                </a:solidFill>
                <a:latin typeface="Aptos"/>
              </a:rPr>
              <a:t>PANDORA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5468112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D59D47"/>
                </a:solidFill>
                <a:latin typeface="Aptos"/>
              </a:rPr>
              <a:t>PYGMALION / GALATEA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5468112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D59D47"/>
                </a:solidFill>
                <a:latin typeface="Aptos"/>
              </a:rPr>
              <a:t>ARTIFICIAL BEING AS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561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Teaching question: If humans can create an intelligent artificial agent, who is responsible for its actions?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(20260926-212254)_crop_0.55_0.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94360"/>
            <a:ext cx="3749039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26280" y="457200"/>
            <a:ext cx="7040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D1826"/>
                </a:solidFill>
                <a:latin typeface="Aptos"/>
              </a:rPr>
              <a:t>FROM MYTH TO FORMAL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143000"/>
            <a:ext cx="6949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86F77"/>
                </a:solidFill>
                <a:latin typeface="Aptos"/>
              </a:rPr>
              <a:t>Ancient Greek thought also developed systematic approaches to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965960"/>
            <a:ext cx="6080760" cy="685800"/>
          </a:xfrm>
          <a:prstGeom prst="roundRect">
            <a:avLst/>
          </a:prstGeom>
          <a:solidFill>
            <a:srgbClr val="2A6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203911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029967"/>
            <a:ext cx="4251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All humans are mortal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80960" y="2670048"/>
            <a:ext cx="0" cy="228600"/>
          </a:xfrm>
          <a:prstGeom prst="line">
            <a:avLst/>
          </a:prstGeom>
          <a:ln w="25400">
            <a:solidFill>
              <a:srgbClr val="0D1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17720" y="2926080"/>
            <a:ext cx="6080760" cy="685800"/>
          </a:xfrm>
          <a:prstGeom prst="roundRect">
            <a:avLst/>
          </a:prstGeom>
          <a:solidFill>
            <a:srgbClr val="2A6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99923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RULE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990088"/>
            <a:ext cx="4251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Socrates is human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0960" y="3630168"/>
            <a:ext cx="0" cy="228600"/>
          </a:xfrm>
          <a:prstGeom prst="line">
            <a:avLst/>
          </a:prstGeom>
          <a:ln w="25400">
            <a:solidFill>
              <a:srgbClr val="0D1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3886200"/>
            <a:ext cx="6080760" cy="685800"/>
          </a:xfrm>
          <a:prstGeom prst="roundRect">
            <a:avLst/>
          </a:prstGeom>
          <a:solidFill>
            <a:srgbClr val="37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95935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950208"/>
            <a:ext cx="4251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Socrates is mortal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5074920"/>
            <a:ext cx="6080760" cy="749808"/>
          </a:xfrm>
          <a:prstGeom prst="roundRect">
            <a:avLst/>
          </a:prstGeom>
          <a:solidFill>
            <a:srgbClr val="E2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5230368"/>
            <a:ext cx="5715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D1826"/>
                </a:solidFill>
                <a:latin typeface="Aptos"/>
              </a:rPr>
              <a:t>Formal logic → later symbolic / rule-based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09360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AA4439"/>
                </a:solidFill>
                <a:latin typeface="Aptos"/>
              </a:rPr>
              <a:t>Aristotle did not invent AI; this is a historical intellectual connection.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2,700 YEARS OF IDEAS → TODAY'S MEDICAL AI</a:t>
            </a:r>
          </a:p>
        </p:txBody>
      </p:sp>
      <p:pic>
        <p:nvPicPr>
          <p:cNvPr id="4" name="Picture 3" descr="image(20260926-212134)_crop_0.7_1.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2011680" cy="196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310128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AC1D0"/>
                </a:solidFill>
                <a:latin typeface="Aptos"/>
              </a:rPr>
              <a:t>~700 BCE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9359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59D47"/>
                </a:solidFill>
                <a:latin typeface="Aptos"/>
              </a:rPr>
              <a:t>TALOS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1363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Autonomous agent</a:t>
            </a:r>
          </a:p>
        </p:txBody>
      </p:sp>
      <p:pic>
        <p:nvPicPr>
          <p:cNvPr id="8" name="Picture 7" descr="image(20260926-211811)_crop_3.1500000000000004_1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234440"/>
            <a:ext cx="201168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80360" y="3310128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AC1D0"/>
                </a:solidFill>
                <a:latin typeface="Aptos"/>
              </a:rPr>
              <a:t>Greek myth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59359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59D47"/>
                </a:solidFill>
                <a:latin typeface="Aptos"/>
              </a:rPr>
              <a:t>PANDORA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91363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Artificial being</a:t>
            </a:r>
          </a:p>
        </p:txBody>
      </p:sp>
      <p:pic>
        <p:nvPicPr>
          <p:cNvPr id="12" name="Picture 11" descr="image(20260926-212254)_crop_5.6000000000000005_1.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234440"/>
            <a:ext cx="2011680" cy="1965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3310128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AC1D0"/>
                </a:solidFill>
                <a:latin typeface="Aptos"/>
              </a:rPr>
              <a:t>Classical Greece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59359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59D47"/>
                </a:solidFill>
                <a:latin typeface="Aptos"/>
              </a:rPr>
              <a:t>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91363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Formal reasoning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234440"/>
            <a:ext cx="4069080" cy="2999232"/>
          </a:xfrm>
          <a:prstGeom prst="roundRect">
            <a:avLst/>
          </a:prstGeom>
          <a:solidFill>
            <a:srgbClr val="19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1508760"/>
            <a:ext cx="3520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59D47"/>
                </a:solidFill>
                <a:latin typeface="Aptos"/>
              </a:rPr>
              <a:t>TODAY'S MEDICAL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084831"/>
            <a:ext cx="3337560" cy="438912"/>
          </a:xfrm>
          <a:prstGeom prst="roundRect">
            <a:avLst/>
          </a:prstGeom>
          <a:solidFill>
            <a:srgbClr val="2A6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084831"/>
            <a:ext cx="3337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EHR + imaging + labs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91472" y="2542032"/>
            <a:ext cx="0" cy="164592"/>
          </a:xfrm>
          <a:prstGeom prst="line">
            <a:avLst/>
          </a:prstGeom>
          <a:ln w="25400">
            <a:solidFill>
              <a:srgbClr val="BE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18120" y="2724911"/>
            <a:ext cx="3337560" cy="438912"/>
          </a:xfrm>
          <a:prstGeom prst="roundRect">
            <a:avLst/>
          </a:prstGeom>
          <a:solidFill>
            <a:srgbClr val="37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724911"/>
            <a:ext cx="3337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Machine learning / DL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91472" y="3182111"/>
            <a:ext cx="0" cy="164592"/>
          </a:xfrm>
          <a:prstGeom prst="line">
            <a:avLst/>
          </a:prstGeom>
          <a:ln w="25400">
            <a:solidFill>
              <a:srgbClr val="BE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818120" y="3364991"/>
            <a:ext cx="3337560" cy="438912"/>
          </a:xfrm>
          <a:prstGeom prst="roundRect">
            <a:avLst/>
          </a:prstGeom>
          <a:solidFill>
            <a:srgbClr val="AA4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3364991"/>
            <a:ext cx="3337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Clinical decision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2040"/>
            <a:ext cx="9921240" cy="914400"/>
          </a:xfrm>
          <a:prstGeom prst="roundRect">
            <a:avLst/>
          </a:prstGeom>
          <a:solidFill>
            <a:srgbClr val="18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029200"/>
            <a:ext cx="9464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59D47"/>
                </a:solidFill>
                <a:latin typeface="Aptos"/>
              </a:rPr>
              <a:t>WHAT CHANGED?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76672"/>
            <a:ext cx="9464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DATA  +  COMPUTING POWER  +  ALGORITHMS  +  DIGITAL HEALTHCARE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199632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AFC7D6"/>
                </a:solidFill>
                <a:latin typeface="Aptos"/>
              </a:rPr>
              <a:t>Next: Session 2 — Fundamentos de IA, ML, DL y 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D1826"/>
                </a:solidFill>
                <a:latin typeface="Aptos"/>
              </a:rPr>
              <a:t>DAEDALUS &amp; HEPHAESTUS — THE DREAM OF SELF-MOVING MACHINES</a:t>
            </a:r>
          </a:p>
        </p:txBody>
      </p:sp>
      <p:pic>
        <p:nvPicPr>
          <p:cNvPr id="4" name="Picture 3" descr="image(20260926-212148)_extra_6_0.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3840480" cy="4937760"/>
          </a:xfrm>
          <a:prstGeom prst="rect">
            <a:avLst/>
          </a:prstGeom>
        </p:spPr>
      </p:pic>
      <p:pic>
        <p:nvPicPr>
          <p:cNvPr id="5" name="Picture 4" descr="image(20260926-212211)_extra_6_5.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43000"/>
            <a:ext cx="288036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143000"/>
            <a:ext cx="3611880" cy="1051560"/>
          </a:xfrm>
          <a:prstGeom prst="roundRect">
            <a:avLst/>
          </a:prstGeom>
          <a:solidFill>
            <a:srgbClr val="0D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307592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59D47"/>
                </a:solidFill>
                <a:latin typeface="Aptos"/>
              </a:rPr>
              <a:t>SELF-MOTION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31546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Objects imagined to move or act without continuous human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468880"/>
            <a:ext cx="3611880" cy="1051560"/>
          </a:xfrm>
          <a:prstGeom prst="roundRect">
            <a:avLst/>
          </a:prstGeom>
          <a:solidFill>
            <a:srgbClr val="2A6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633472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ARTIFICIAL SERVANTS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71800"/>
            <a:ext cx="31546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Hephaestus' golden attendants and other crafted beings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794760"/>
            <a:ext cx="3611880" cy="1051560"/>
          </a:xfrm>
          <a:prstGeom prst="roundRect">
            <a:avLst/>
          </a:prstGeom>
          <a:solidFill>
            <a:srgbClr val="378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959352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THE MODERN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297680"/>
            <a:ext cx="31546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Which tasks should machines perform autonomously?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257800"/>
            <a:ext cx="3611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D1826"/>
                </a:solidFill>
                <a:latin typeface="Aptos"/>
              </a:rPr>
              <a:t>Myth → automation concept → robotics → AI-assisted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09360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AA4439"/>
                </a:solidFill>
                <a:latin typeface="Aptos"/>
              </a:rPr>
              <a:t>Historical myths are conceptual precursors, not evidence of ancient digital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ANCIENT QUESTIONS THAT STILL MATTER IN MEDICAL AI</a:t>
            </a:r>
          </a:p>
        </p:txBody>
      </p:sp>
      <p:pic>
        <p:nvPicPr>
          <p:cNvPr id="4" name="Picture 3" descr="image(20260926-211811)_extra_7_0.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29718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5468112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D59D47"/>
                </a:solidFill>
                <a:latin typeface="Aptos"/>
              </a:rPr>
              <a:t>PANDORA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06440"/>
            <a:ext cx="2788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Powerful creation → unintended consequences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143000"/>
            <a:ext cx="7223760" cy="960120"/>
          </a:xfrm>
          <a:prstGeom prst="roundRect">
            <a:avLst/>
          </a:prstGeom>
          <a:solidFill>
            <a:srgbClr val="19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8" y="126187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D59D47"/>
                </a:solidFill>
                <a:latin typeface="Aptos"/>
              </a:rP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23444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Who remains responsible when an AI system acts?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258568"/>
            <a:ext cx="7223760" cy="960120"/>
          </a:xfrm>
          <a:prstGeom prst="roundRect">
            <a:avLst/>
          </a:prstGeom>
          <a:solidFill>
            <a:srgbClr val="19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2377439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A4439"/>
                </a:solidFill>
                <a:latin typeface="Aptos"/>
              </a:rP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350008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What happens when a powerful technology behaves unexpectedly?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374135"/>
            <a:ext cx="7223760" cy="960120"/>
          </a:xfrm>
          <a:prstGeom prst="roundRect">
            <a:avLst/>
          </a:prstGeom>
          <a:solidFill>
            <a:srgbClr val="19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3493007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6C97"/>
                </a:solidFill>
                <a:latin typeface="Aptos"/>
              </a:rPr>
              <a:t>HUMAN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465575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Should every task that can be automated be automated?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4489703"/>
            <a:ext cx="7223760" cy="960120"/>
          </a:xfrm>
          <a:prstGeom prst="roundRect">
            <a:avLst/>
          </a:prstGeom>
          <a:solidFill>
            <a:srgbClr val="19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4608575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78B68"/>
                </a:solidFill>
                <a:latin typeface="Aptos"/>
              </a:rPr>
              <a:t>MEDICINE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581143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How do we preserve clinician oversight, patient safety and trust?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5650992"/>
            <a:ext cx="7223760" cy="658368"/>
          </a:xfrm>
          <a:prstGeom prst="roundRect">
            <a:avLst/>
          </a:prstGeom>
          <a:solidFill>
            <a:srgbClr val="24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5751576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59D47"/>
                </a:solidFill>
                <a:latin typeface="Aptos"/>
              </a:rPr>
              <a:t>Medical AI = capability + validation + governance + human responsibility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