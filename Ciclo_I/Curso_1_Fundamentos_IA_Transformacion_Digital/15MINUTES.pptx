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Presentar el bloque como el puente entre transformación digital e IA. Idea central: antes de entrenar modelos, el hospital debe capturar, ordenar, conectar y movilizar datos clínicos.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Diferenciar digitalizar documentos de tener un registro activo, longitudinal y útil en el punto de atención. Dar ejemplo de alergia registrada en urgencias y visible para farmacia.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HIS no es lo mismo que EHR. HIS es operación; EHR es clínica longitudinal. En un hospital real ambos deben conversar.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Hacer una pregunta: si el resultado de radiografía existe pero urgencias no puede verlo a las 2 a.m., ¿el dato existe para la decisión clínica?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Usar la analogía del fútbol del caso INCAN: sistemas diferentes necesitan estándares comunes para entenderse. Resaltar que interoperabilidad es clínica, técnica y organizacional.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Mostrar que un flujo digital no es solo pantalla; es trazabilidad y medición. Pedir a estudiantes pensar qué indicador cambiaría antes y después.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Este slide no promueve una marca específica; lo usamos como entorno educativo. La práctica es observar el flujo: paciente, consulta, receta, resultados y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Evitar que los estudiantes crean que hospital digital es solo instalar OpenEMR u otro EHR. El éxito depende de proceso, gente, estándares, datos y soporte.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Conectar con la próxima sesión de IA. Sin madurez digital, la IA no tiene datos suficientes, confiables ni integrados para operar.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Dividir la clase en grupos. Cada grupo presenta en 3 minutos. La evaluación rápida: ¿el mapa conecta datos y cambia decisiones clínicas?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6B75"/>
          </a:solidFill>
          <a:ln w="12700">
            <a:solidFill>
              <a:srgbClr val="0A6B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B0052"/>
          </a:solidFill>
          <a:ln w="12700">
            <a:solidFill>
              <a:srgbClr val="4B005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 · TRANSFORMACIÓN DIGITAL EN SALUD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HCE/EHR, HIS, interoperabilidad y flujo clínico digital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6B75"/>
                </a:solidFill>
              </a:rPr>
              <a:t>Objetivo del bloque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46634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</a:rPr>
              <a:t>Entender cómo un hospital deja de trabajar con documentos aislados y empieza a operar como un sistema conectado, medible y preparado para IA.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537960" y="1554480"/>
            <a:ext cx="1234440" cy="566928"/>
          </a:xfrm>
          <a:prstGeom prst="rect">
            <a:avLst/>
          </a:prstGeom>
          <a:solidFill>
            <a:srgbClr val="F26A21"/>
          </a:solidFill>
          <a:ln>
            <a:solidFill>
              <a:srgbClr val="F26A2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Paciente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183880" y="1554480"/>
            <a:ext cx="1234440" cy="566928"/>
          </a:xfrm>
          <a:prstGeom prst="rect">
            <a:avLst/>
          </a:prstGeom>
          <a:solidFill>
            <a:srgbClr val="0A6B75"/>
          </a:solidFill>
          <a:ln>
            <a:solidFill>
              <a:srgbClr val="0A6B7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EHR / HCE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29800" y="1554480"/>
            <a:ext cx="1234440" cy="5669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37960" y="2880360"/>
            <a:ext cx="1234440" cy="5669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+ Imagen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83880" y="2880360"/>
            <a:ext cx="1234440" cy="566928"/>
          </a:xfrm>
          <a:prstGeom prst="rect">
            <a:avLst/>
          </a:prstGeom>
          <a:solidFill>
            <a:srgbClr val="8A0061"/>
          </a:solidFill>
          <a:ln>
            <a:solidFill>
              <a:srgbClr val="8A006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Farmacia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29800" y="2880360"/>
            <a:ext cx="1234440" cy="566928"/>
          </a:xfrm>
          <a:prstGeom prst="rect">
            <a:avLst/>
          </a:prstGeom>
          <a:solidFill>
            <a:srgbClr val="4B0052"/>
          </a:solidFill>
          <a:ln>
            <a:solidFill>
              <a:srgbClr val="4B005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IA clínica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47091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B0052"/>
                </a:solidFill>
              </a:rPr>
              <a:t>Del dato clínico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4B0052"/>
                </a:solidFill>
              </a:rPr>
              <a:t>a la decisión segura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30352" y="64465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8838F"/>
                </a:solidFill>
              </a:rPr>
              <a:t>Fuentes: caso INCAN/BID sobre interoperabilidad hospitalaria; JMIR 2024 sobre madurez digital y seguridad; artículo Open-source EHR sobre funciones y límites.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 · BLOQUE PRÁCTICO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HCE/EHR: el expediente clínico que sigue al paciente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No es solo “papel digitalizado”. Es el registro clínico vivo que permite continuidad asistencial.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493776" cy="493776"/>
          </a:xfrm>
          <a:prstGeom prst="ellipse">
            <a:avLst/>
          </a:prstGeom>
          <a:solidFill>
            <a:srgbClr val="0A6B75"/>
          </a:solidFill>
          <a:ln w="12700">
            <a:solidFill>
              <a:srgbClr val="0A6B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207568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Identidad y demografía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Edad, sexo, contacto, seguro, consentimiento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965960"/>
            <a:ext cx="493776" cy="493776"/>
          </a:xfrm>
          <a:prstGeom prst="ellipse">
            <a:avLst/>
          </a:prstGeom>
          <a:solidFill>
            <a:srgbClr val="0A6B75"/>
          </a:solidFill>
          <a:ln w="12700">
            <a:solidFill>
              <a:srgbClr val="0A6B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207568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0" y="19659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Historia clínica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Diagnósticos, alergias, antecedentes, problemas activos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965960"/>
            <a:ext cx="493776" cy="493776"/>
          </a:xfrm>
          <a:prstGeom prst="ellipse">
            <a:avLst/>
          </a:prstGeom>
          <a:solidFill>
            <a:srgbClr val="0A6B75"/>
          </a:solidFill>
          <a:ln w="12700">
            <a:solidFill>
              <a:srgbClr val="0A6B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47304" y="207568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78240" y="19659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Eventos clínicos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Signos vitales, notas, procedimientos, evolución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493776" cy="493776"/>
          </a:xfrm>
          <a:prstGeom prst="ellipse">
            <a:avLst/>
          </a:prstGeom>
          <a:solidFill>
            <a:srgbClr val="0A6B75"/>
          </a:solidFill>
          <a:ln w="12700">
            <a:solidFill>
              <a:srgbClr val="0A6B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" y="349300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38328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Órdenes y resultados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Laboratorio, imágenes, farmacia, interconsultas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34840" y="3383280"/>
            <a:ext cx="493776" cy="493776"/>
          </a:xfrm>
          <a:prstGeom prst="ellipse">
            <a:avLst/>
          </a:prstGeom>
          <a:solidFill>
            <a:srgbClr val="0A6B75"/>
          </a:solidFill>
          <a:ln w="12700">
            <a:solidFill>
              <a:srgbClr val="0A6B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43984" y="349300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38328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Decisión y seguimiento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Alertas, receta electrónica, portal del paciente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46177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6B75"/>
                </a:solidFill>
              </a:rPr>
              <a:t>Mensaje para estudiantes: “la información debe viajar con el paciente, no quedarse en un archivo”.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0352" y="64465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8838F"/>
                </a:solidFill>
              </a:rPr>
              <a:t>Fuente: Open-source EHR describe patient records, vitals, diagnosis/treatment, e-prescription, analytics and patient portal (turn2file0 L200-L220).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 · BLOQUE PRÁCTICO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HIS y EHR: dos piezas distintas del hospital digital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13232" y="1417320"/>
            <a:ext cx="4846320" cy="1737360"/>
          </a:xfrm>
          <a:prstGeom prst="rect">
            <a:avLst/>
          </a:prstGeom>
          <a:solidFill>
            <a:srgbClr val="EEF6FF"/>
          </a:solidFill>
          <a:ln>
            <a:solidFill>
              <a:srgbClr val="D7E3E6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HIS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Hospital Information System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Coordina operación hospitalaria: admisión, agenda, camas, facturación, reportes, gestión administrativa.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29400" y="1417320"/>
            <a:ext cx="4846320" cy="1737360"/>
          </a:xfrm>
          <a:prstGeom prst="rect">
            <a:avLst/>
          </a:prstGeom>
          <a:solidFill>
            <a:srgbClr val="EEFBFA"/>
          </a:solidFill>
          <a:ln>
            <a:solidFill>
              <a:srgbClr val="D7E3E6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HCE / EHR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Electronic Health Record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Organiza la información clínica longitudinal: diagnósticos, órdenes, resultados, notas, medicación y seguimiento.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40680" y="2286000"/>
            <a:ext cx="1188720" cy="0"/>
          </a:xfrm>
          <a:prstGeom prst="line">
            <a:avLst/>
          </a:prstGeom>
          <a:noFill/>
          <a:ln w="27940">
            <a:solidFill>
              <a:srgbClr val="4B0052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143000" y="38862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B0052"/>
                </a:solidFill>
              </a:rPr>
              <a:t>Cuando HIS y EHR no se conectan, el hospital funciona con doble registro, llamadas telefónicas, papel y retrasos.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5166360"/>
            <a:ext cx="1417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F26A21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6A21"/>
                </a:solidFill>
              </a:rPr>
              <a:t>Admisión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90672" y="5166360"/>
            <a:ext cx="1417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10B981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Laboratorio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66944" y="5166360"/>
            <a:ext cx="1417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2563EB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Radiología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43216" y="5166360"/>
            <a:ext cx="1417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8A0061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0061"/>
                </a:solidFill>
              </a:rPr>
              <a:t>Farmacia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19488" y="5166360"/>
            <a:ext cx="1417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D94A38">
                <a:alpha val="8000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A38"/>
                </a:solidFill>
              </a:rPr>
              <a:t>Urgencias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64465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8838F"/>
                </a:solidFill>
              </a:rPr>
              <a:t>Fuente: el caso INCAN identifica HIS y SAA entre los sistemas de información hospitalaria a interoperar (turn0file0 L424-L446).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 · BLOQUE PRÁCTICO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Silos de datos: el enemigo invisible de la seguridad clínica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</a:rPr>
              <a:t>Un silo aparece cuando un dato existe, pero no está disponible donde se necesita.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508760" cy="1097280"/>
          </a:xfrm>
          <a:prstGeom prst="rect">
            <a:avLst/>
          </a:prstGeom>
          <a:solidFill>
            <a:srgbClr val="6B7280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Archivo papel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71800" y="1828800"/>
            <a:ext cx="1508760" cy="1097280"/>
          </a:xfrm>
          <a:prstGeom prst="rect">
            <a:avLst/>
          </a:prstGeom>
          <a:solidFill>
            <a:srgbClr val="10B981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Laboratorio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20640" y="1828800"/>
            <a:ext cx="1508760" cy="1097280"/>
          </a:xfrm>
          <a:prstGeom prst="rect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Imágenes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69480" y="1828800"/>
            <a:ext cx="1508760" cy="1097280"/>
          </a:xfrm>
          <a:prstGeom prst="rect">
            <a:avLst/>
          </a:prstGeom>
          <a:solidFill>
            <a:srgbClr val="8A0061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Farmacia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18320" y="1828800"/>
            <a:ext cx="1508760" cy="1097280"/>
          </a:xfrm>
          <a:prstGeom prst="rect">
            <a:avLst/>
          </a:prstGeom>
          <a:solidFill>
            <a:srgbClr val="D94A38"/>
          </a:solidFill>
          <a:ln>
            <a:solidFill>
              <a:srgbClr val="FFFFF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Urgencias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62272" y="3429000"/>
            <a:ext cx="2926080" cy="384048"/>
          </a:xfrm>
          <a:prstGeom prst="rect">
            <a:avLst/>
          </a:prstGeom>
          <a:solidFill>
            <a:srgbClr val="FFF1F1"/>
          </a:solidFill>
          <a:ln>
            <a:solidFill>
              <a:srgbClr val="D94A3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4A38"/>
                </a:solidFill>
              </a:rPr>
              <a:t>SIN INTEROPERABILIDAD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416052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Cada unidad conserva su propio dato, pero el médico no recibe una visión integrada del paciente.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4A38"/>
                </a:solidFill>
              </a:rPr>
              <a:t>Consecuencias: espera, duplicación, información perdida, decisiones incompletas y mayor carga para el equipo clínico.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" y="64465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8838F"/>
                </a:solidFill>
              </a:rPr>
              <a:t>Fuente: INCAN reporta dificultad para compartir información, sistemas desconectados y demoras por búsqueda física de documentos (turn0file0 L348-L364).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 · BLOQUE PRÁCTICO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Interoperabilidad: que los sistemas “hablen el mismo idioma”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Interoperar no es comprar más software; es permitir que la información clínica circule con significado.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3246120" cy="1828800"/>
          </a:xfrm>
          <a:prstGeom prst="rect">
            <a:avLst/>
          </a:prstGeom>
          <a:solidFill>
            <a:srgbClr val="EEFBFA"/>
          </a:solidFill>
          <a:ln>
            <a:solidFill>
              <a:srgbClr val="D7E3E6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Técnica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conexión entre sistemas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APIs · bases de datos · servicios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26280" y="1965960"/>
            <a:ext cx="3246120" cy="1828800"/>
          </a:xfrm>
          <a:prstGeom prst="rect">
            <a:avLst/>
          </a:prstGeom>
          <a:solidFill>
            <a:srgbClr val="FFF3E8"/>
          </a:solidFill>
          <a:ln>
            <a:solidFill>
              <a:srgbClr val="D7E3E6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Semántica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mismo significado clínico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códigos · unidades · terminologías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21040" y="1965960"/>
            <a:ext cx="3246120" cy="1828800"/>
          </a:xfrm>
          <a:prstGeom prst="rect">
            <a:avLst/>
          </a:prstGeom>
          <a:solidFill>
            <a:srgbClr val="F7EAF8"/>
          </a:solidFill>
          <a:ln>
            <a:solidFill>
              <a:srgbClr val="D7E3E6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Organizacional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uso dentro del flujo real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roles · permisos · gobernanza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377440" y="4434840"/>
            <a:ext cx="7498080" cy="0"/>
          </a:xfrm>
          <a:prstGeom prst="line">
            <a:avLst/>
          </a:prstGeom>
          <a:noFill/>
          <a:ln w="27940">
            <a:solidFill>
              <a:srgbClr val="0A6B7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097280" y="48920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A6B75"/>
                </a:solidFill>
              </a:rPr>
              <a:t>Meta: “la información clínica generada por cada sistema debe ser accesible cuando el profesional la necesita”.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30352" y="64465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8838F"/>
                </a:solidFill>
              </a:rPr>
              <a:t>Fuente: INCAN define la solución como una plataforma que permite consolidar información de sistemas independientes (turn0file0 L372-L386).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 · BLOQUE PRÁCTICO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Flujo clínico digital: el viaje del paciente convertido en datos útiles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1591056" cy="914400"/>
          </a:xfrm>
          <a:prstGeom prst="rect">
            <a:avLst/>
          </a:prstGeom>
          <a:solidFill>
            <a:srgbClr val="FFFFFF"/>
          </a:solidFill>
          <a:ln>
            <a:solidFill>
              <a:srgbClr val="B7D8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Ingreso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check-in / identidad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93976" y="2286000"/>
            <a:ext cx="310896" cy="0"/>
          </a:xfrm>
          <a:prstGeom prst="line">
            <a:avLst/>
          </a:prstGeom>
          <a:noFill/>
          <a:ln w="27940">
            <a:solidFill>
              <a:srgbClr val="0A6B75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423160" y="1828800"/>
            <a:ext cx="1591056" cy="914400"/>
          </a:xfrm>
          <a:prstGeom prst="rect">
            <a:avLst/>
          </a:prstGeom>
          <a:solidFill>
            <a:srgbClr val="EAF7F8"/>
          </a:solidFill>
          <a:ln>
            <a:solidFill>
              <a:srgbClr val="B7D8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Triaje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vitales + prioridad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14216" y="2286000"/>
            <a:ext cx="310896" cy="0"/>
          </a:xfrm>
          <a:prstGeom prst="line">
            <a:avLst/>
          </a:prstGeom>
          <a:noFill/>
          <a:ln w="27940">
            <a:solidFill>
              <a:srgbClr val="0A6B75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343400" y="1828800"/>
            <a:ext cx="1591056" cy="914400"/>
          </a:xfrm>
          <a:prstGeom prst="rect">
            <a:avLst/>
          </a:prstGeom>
          <a:solidFill>
            <a:srgbClr val="FFFFFF"/>
          </a:solidFill>
          <a:ln>
            <a:solidFill>
              <a:srgbClr val="B7D8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Médico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historia + órdenes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34456" y="2286000"/>
            <a:ext cx="310896" cy="0"/>
          </a:xfrm>
          <a:prstGeom prst="line">
            <a:avLst/>
          </a:prstGeom>
          <a:noFill/>
          <a:ln w="27940">
            <a:solidFill>
              <a:srgbClr val="0A6B7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263640" y="1828800"/>
            <a:ext cx="1591056" cy="914400"/>
          </a:xfrm>
          <a:prstGeom prst="rect">
            <a:avLst/>
          </a:prstGeom>
          <a:solidFill>
            <a:srgbClr val="EAF7F8"/>
          </a:solidFill>
          <a:ln>
            <a:solidFill>
              <a:srgbClr val="B7D8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Servicios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lab + imagen + farmacia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54696" y="2286000"/>
            <a:ext cx="310896" cy="0"/>
          </a:xfrm>
          <a:prstGeom prst="line">
            <a:avLst/>
          </a:prstGeom>
          <a:noFill/>
          <a:ln w="27940">
            <a:solidFill>
              <a:srgbClr val="0A6B7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183880" y="1828800"/>
            <a:ext cx="1591056" cy="914400"/>
          </a:xfrm>
          <a:prstGeom prst="rect">
            <a:avLst/>
          </a:prstGeom>
          <a:solidFill>
            <a:srgbClr val="FFFFFF"/>
          </a:solidFill>
          <a:ln>
            <a:solidFill>
              <a:srgbClr val="B7D8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Decisión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alertas + plan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774936" y="2286000"/>
            <a:ext cx="310896" cy="0"/>
          </a:xfrm>
          <a:prstGeom prst="line">
            <a:avLst/>
          </a:prstGeom>
          <a:noFill/>
          <a:ln w="27940">
            <a:solidFill>
              <a:srgbClr val="0A6B75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104120" y="1828800"/>
            <a:ext cx="1591056" cy="914400"/>
          </a:xfrm>
          <a:prstGeom prst="rect">
            <a:avLst/>
          </a:prstGeom>
          <a:solidFill>
            <a:srgbClr val="EAF7F8"/>
          </a:solidFill>
          <a:ln>
            <a:solidFill>
              <a:srgbClr val="B7D8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Alta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receta + seguimiento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24612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0052"/>
                </a:solidFill>
              </a:rPr>
              <a:t>Cada paso debe dejar una huella digital: quién hizo qué, cuándo, por qué y con qué resultado.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0120" y="4343400"/>
            <a:ext cx="101498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7E3E6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Indicadores que los estudiantes pueden medir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Tiempo de espera · duplicación de datos · errores de medicación · acceso nocturno a información · continuidad del cuidado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0352" y="64465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8838F"/>
                </a:solidFill>
              </a:rPr>
              <a:t>Fuente: INCAN: acceso en cualquier momento y lugar para el profesional tratante; JMIR: datos y herramientas automatizadas para seguimiento de resultados.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 · BLOQUE PRÁCTICO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Software de práctica: EHR abierto para aprender sin código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A43"/>
                </a:solidFill>
              </a:rPr>
              <a:t>Para clase: usar un EHR de demostración permite practicar el flujo clínico sin tocar datos reales.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3063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0E5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Crear paciente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demografía + contacto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34840" y="1874520"/>
            <a:ext cx="3063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0E5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Registrar consulta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motivo + diagnóstico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92440" y="1874520"/>
            <a:ext cx="3063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0E5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Signos vitales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HR, BP, SpO₂, temperatura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3063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0E5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Receta electrónica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medicación + dosis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3291840"/>
            <a:ext cx="3063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0E5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Agenda y portal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citas + acceso paciente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92440" y="3291840"/>
            <a:ext cx="3063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0E5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Reportes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analítica básica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983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6B75"/>
                </a:solidFill>
              </a:rPr>
              <a:t>Actividad rápida: crear un paciente ficticio y demostrar dónde se rompe el flujo si laboratorio o farmacia no están conectados.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" y="64465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8838F"/>
                </a:solidFill>
              </a:rPr>
              <a:t>Fuente: OpenEMR incluye gestión de registros, perfiles, FHIR/CCDA, agenda, e-prescripción, facturación, reportes y portal (turn2file0 L200-L220).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 · BLOQUE PRÁCTICO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Riesgos de un EHR: el software no resuelve todo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114300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4A38"/>
                </a:solidFill>
              </a:rPr>
              <a:t>Un EHR mal implementado puede crear más clics, más carga y nuevos riesgos.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2926080" cy="365760"/>
          </a:xfrm>
          <a:prstGeom prst="rect">
            <a:avLst/>
          </a:prstGeom>
          <a:solidFill>
            <a:srgbClr val="FFF7ED"/>
          </a:solidFill>
          <a:ln>
            <a:solidFill>
              <a:srgbClr val="F5C27D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Funcionalidad limitada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77640" y="1783080"/>
            <a:ext cx="71323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7E7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Definir requisitos antes de instalar.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15768"/>
            <a:ext cx="2926080" cy="365760"/>
          </a:xfrm>
          <a:prstGeom prst="rect">
            <a:avLst/>
          </a:prstGeom>
          <a:solidFill>
            <a:srgbClr val="FFF7ED"/>
          </a:solidFill>
          <a:ln>
            <a:solidFill>
              <a:srgbClr val="F5C27D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Soporte insuficiente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77640" y="2715768"/>
            <a:ext cx="71323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7E7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Plan de soporte técnico y entrenamiento.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648456"/>
            <a:ext cx="2926080" cy="365760"/>
          </a:xfrm>
          <a:prstGeom prst="rect">
            <a:avLst/>
          </a:prstGeom>
          <a:solidFill>
            <a:srgbClr val="FFF7ED"/>
          </a:solidFill>
          <a:ln>
            <a:solidFill>
              <a:srgbClr val="F5C27D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Cumplimiento variable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77640" y="3648456"/>
            <a:ext cx="71323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7E7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Verificar privacidad, seguridad y normativa local.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581144"/>
            <a:ext cx="2926080" cy="365760"/>
          </a:xfrm>
          <a:prstGeom prst="rect">
            <a:avLst/>
          </a:prstGeom>
          <a:solidFill>
            <a:srgbClr val="FFF7ED"/>
          </a:solidFill>
          <a:ln>
            <a:solidFill>
              <a:srgbClr val="F5C27D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Flujo mal diseñado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4581144"/>
            <a:ext cx="71323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7E7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02A43"/>
                </a:solidFill>
              </a:rPr>
              <a:t>Rediseñar procesos antes del software.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828800" y="56235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B0052"/>
                </a:solidFill>
              </a:rPr>
              <a:t>Regla docente: primero proceso clínico, después software.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" y="64465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8838F"/>
                </a:solidFill>
              </a:rPr>
              <a:t>Fuente: el artículo sobre Open-source EHR enumera limitaciones: funciones básicas, falta de soporte 24/7 y cumplimiento variable (turn2file0 L139-L152).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 · BLOQUE PRÁCTICO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Madurez digital: de sistemas aislados a hospital inteligente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2377440" cy="141732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Nivel 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Silos: lab, farmacia, imágenes no integrados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154680" y="2532888"/>
            <a:ext cx="393192" cy="0"/>
          </a:xfrm>
          <a:prstGeom prst="line">
            <a:avLst/>
          </a:prstGeom>
          <a:noFill/>
          <a:ln w="27940">
            <a:solidFill>
              <a:srgbClr val="0A6B75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566160" y="1828800"/>
            <a:ext cx="2377440" cy="1417320"/>
          </a:xfrm>
          <a:prstGeom prst="rect">
            <a:avLst/>
          </a:prstGeom>
          <a:solidFill>
            <a:srgbClr val="EAF7F8"/>
          </a:solidFill>
          <a:ln>
            <a:solidFill>
              <a:srgbClr val="0A6B7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Nivel 2–3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Repositorio clínico + documentación electrónica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2532888"/>
            <a:ext cx="393192" cy="0"/>
          </a:xfrm>
          <a:prstGeom prst="line">
            <a:avLst/>
          </a:prstGeom>
          <a:noFill/>
          <a:ln w="27940">
            <a:solidFill>
              <a:srgbClr val="0A6B75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355080" y="1828800"/>
            <a:ext cx="2377440" cy="1417320"/>
          </a:xfrm>
          <a:prstGeom prst="rect">
            <a:avLst/>
          </a:prstGeom>
          <a:solidFill>
            <a:srgbClr val="FFF1E7"/>
          </a:solidFill>
          <a:ln>
            <a:solidFill>
              <a:srgbClr val="F26A2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Nivel 4–5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Órdenes, alertas y monitorización continua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732520" y="2532888"/>
            <a:ext cx="393192" cy="0"/>
          </a:xfrm>
          <a:prstGeom prst="line">
            <a:avLst/>
          </a:prstGeom>
          <a:noFill/>
          <a:ln w="27940">
            <a:solidFill>
              <a:srgbClr val="0A6B7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144000" y="1828800"/>
            <a:ext cx="2377440" cy="1417320"/>
          </a:xfrm>
          <a:prstGeom prst="rect">
            <a:avLst/>
          </a:prstGeom>
          <a:solidFill>
            <a:srgbClr val="F4E8F5"/>
          </a:solidFill>
          <a:ln>
            <a:solidFill>
              <a:srgbClr val="4B005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Nivel 6–7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A43"/>
                </a:solidFill>
              </a:rPr>
              <a:t>Dispositivos, intercambio de información, wearables y participación del paciente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06908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6B75"/>
                </a:solidFill>
              </a:rPr>
              <a:t>Madurez digital significa capacidad del hospital para integrar, movilizar y usar datos de forma segura para mejorar resultados.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05840" y="5120640"/>
            <a:ext cx="10058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0052"/>
                </a:solidFill>
              </a:rPr>
              <a:t>Esta es la base técnica antes de IA clínica, analítica predictiva o automatización avanzada.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" y="64465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8838F"/>
                </a:solidFill>
              </a:rPr>
              <a:t>Fuente: EMRAM describe niveles 0–7 y funciones de niveles 6–7: HIE, wearables, monitoreo remoto y herramientas automatizadas (turn1file0 L179-L188).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1 · BLOQUE PRÁCTICO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Actividad de clase: mapear hospital tradicional → hospital digital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1115568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Producto esperado en 30 minutos: un mapa de flujo con problemas, soluciones digitales e indicadores.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48006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7E3E6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A. Flujo tradicional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Paciente llega con dolor torácico. Dibujar admisión, archivo, triaje, médico, lab, imagen, farmacia y alta.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7920" y="1874520"/>
            <a:ext cx="48006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7E3E6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B. Puntos críticos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Marcar dónde aparecen espera, papel, duplicación, información perdida y riesgo clínico.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48006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7E3E6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C. Rediseño digital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Agregar HCE/EHR, HIS, interoperabilidad, alerta clínica, receta electrónica y seguimiento.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3291840"/>
            <a:ext cx="48006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7E3E6">
                <a:alpha val="9000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D. Indicador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Elegir una métrica: tiempo, error, acceso a información, reingreso o satisfacción.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5413248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0052"/>
                </a:solidFill>
              </a:rPr>
              <a:t>Cierre de la sesión: “sin datos conectados no existe IA clínica fiable”.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0352" y="644652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78838F"/>
                </a:solidFill>
              </a:rPr>
              <a:t>Fuente: JMIR afirma que ML y GenAI dependen de una infraestructura digital madura e integrada (turn1file0 L369-L371).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SIT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Bloque HCE/EHR, HIS, Interoperabilidad y Flujo Clínico Digital</dc:title>
  <dc:subject>Fundamentos de IA y Transformación Digital en Salud</dc:subject>
  <dc:creator>OpenAI</dc:creator>
  <cp:lastModifiedBy>OpenAI</cp:lastModifiedBy>
  <cp:revision>1</cp:revision>
  <dcterms:created xsi:type="dcterms:W3CDTF">2026-09-26T21:07:52Z</dcterms:created>
  <dcterms:modified xsi:type="dcterms:W3CDTF">2026-09-26T21:07:52Z</dcterms:modified>
</cp:coreProperties>
</file>