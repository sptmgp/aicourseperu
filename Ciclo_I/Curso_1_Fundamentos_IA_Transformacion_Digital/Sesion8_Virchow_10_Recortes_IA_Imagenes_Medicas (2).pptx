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Sesión 8 · IA para imágenes médicas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A5568"/>
                </a:solidFill>
              </a:defRPr>
            </a:pPr>
            <a:r>
              <a:t>10 recortes de evidencia del artículo Virchow + explicación para píxeles, CNN/ViT, feature maps, transfer learning y validación clínica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6B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0F2C59"/>
                </a:solidFill>
              </a:defRPr>
            </a:pPr>
            <a:r>
              <a:t>Artículo base:</a:t>
            </a:r>
            <a:br/>
            <a:r>
              <a:t>A foundation model for clinical-grade computational pathology and rare cancers detection</a:t>
            </a:r>
            <a:br/>
            <a:r>
              <a:t>Nature Medicine, 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788920"/>
            <a:ext cx="52120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wrap="square"/>
          <a:lstStyle/>
          <a:p>
            <a:pPr algn="ctr">
              <a:defRPr sz="1450" b="1">
                <a:solidFill>
                  <a:srgbClr val="0F2C59"/>
                </a:solidFill>
              </a:defRPr>
            </a:pPr>
            <a:r>
              <a:t>Por qué este artículo sirve para la sesión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Virchow: modelo fundacional para patología computacional.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Entrenado con imágenes histopatológicas H&amp;E digitalizadas.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Demuestra detección pan-cáncer, cánceres raros y predicción de biomarcadores.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Ideal para enseñar imágenes digitales, tiles, embeddings, feature maps y validación clínica.</a:t>
            </a:r>
          </a:p>
        </p:txBody>
      </p:sp>
      <p:pic>
        <p:nvPicPr>
          <p:cNvPr id="6" name="Picture 5" descr="01_fig1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188720"/>
            <a:ext cx="557784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51967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08C"/>
                </a:solidFill>
              </a:defRPr>
            </a:pPr>
            <a:r>
              <a:t>Sesión 8 · IA para imágenes médicas · Virchow foundation model · Nature Medicine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Mapa de los 10 recortes que se usarán en la clase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A5568"/>
                </a:solidFill>
              </a:defRPr>
            </a:pPr>
            <a:r>
              <a:t>Cada recorte conecta una figura del artículo con un concepto de IA para imágenes médicas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5074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00" b="1">
                <a:solidFill>
                  <a:srgbClr val="0F2C59"/>
                </a:solidFill>
              </a:defRPr>
            </a:pPr>
            <a:r>
              <a:t>Fig.1: WSI → tiles → embeddings → tareas clínicas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51560"/>
            <a:ext cx="5074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00" b="1">
                <a:solidFill>
                  <a:srgbClr val="0F2C59"/>
                </a:solidFill>
              </a:defRPr>
            </a:pPr>
            <a:r>
              <a:t>Fig.2: validación pan-cáncer: AUC y generalización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5074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00" b="1">
                <a:solidFill>
                  <a:srgbClr val="0F2C59"/>
                </a:solidFill>
              </a:defRPr>
            </a:pPr>
            <a:r>
              <a:t>Fig.3: comparación con modelos clínicos + fallos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074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00" b="1">
                <a:solidFill>
                  <a:srgbClr val="0F2C59"/>
                </a:solidFill>
              </a:defRPr>
            </a:pPr>
            <a:r>
              <a:t>Fig.4: biomarcadores desde H&amp;E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71800"/>
            <a:ext cx="5074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00" b="1">
                <a:solidFill>
                  <a:srgbClr val="0F2C59"/>
                </a:solidFill>
              </a:defRPr>
            </a:pPr>
            <a:r>
              <a:t>Fig.5: benchmarks tile-level + componentes visuales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71800"/>
            <a:ext cx="5074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00" b="1">
                <a:solidFill>
                  <a:srgbClr val="0F2C59"/>
                </a:solidFill>
              </a:defRPr>
            </a:pPr>
            <a:r>
              <a:t>Ext.Fig.1: agregador: de tiles a predicción de slide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931920"/>
            <a:ext cx="5074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00" b="1">
                <a:solidFill>
                  <a:srgbClr val="0F2C59"/>
                </a:solidFill>
              </a:defRPr>
            </a:pPr>
            <a:r>
              <a:t>Ext.Fig.2: DINOv2/self-supervised 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074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00" b="1">
                <a:solidFill>
                  <a:srgbClr val="0F2C59"/>
                </a:solidFill>
              </a:defRPr>
            </a:pPr>
            <a:r>
              <a:t>Ext.Fig.3: AUC/especificidad por origen tumoral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892040"/>
            <a:ext cx="5074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00" b="1">
                <a:solidFill>
                  <a:srgbClr val="0F2C59"/>
                </a:solidFill>
              </a:defRPr>
            </a:pPr>
            <a:r>
              <a:t>Ext.Fig.4: distribución del dataset: sesgo y cobertura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892040"/>
            <a:ext cx="5074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00" b="1">
                <a:solidFill>
                  <a:srgbClr val="0F2C59"/>
                </a:solidFill>
              </a:defRPr>
            </a:pPr>
            <a:r>
              <a:t>Reporting: software/código: reproducibilidad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1967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08C"/>
                </a:solidFill>
              </a:defRPr>
            </a:pPr>
            <a:r>
              <a:t>Sesión 8 · IA para imágenes médicas · Virchow foundation model · Nature Medicine 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1 · Fig. 1 — Del tejido digital a la predicción clínica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A5568"/>
                </a:solidFill>
              </a:defRPr>
            </a:pPr>
            <a:r>
              <a:t>Fig. 1 · Dataset + pipeline Virchow · página 2</a:t>
            </a:r>
          </a:p>
        </p:txBody>
      </p:sp>
      <p:pic>
        <p:nvPicPr>
          <p:cNvPr id="4" name="Picture 3" descr="01_fig1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6400800" cy="4983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086600" y="1005840"/>
            <a:ext cx="45720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wrap="square"/>
          <a:lstStyle/>
          <a:p>
            <a:pPr algn="ctr">
              <a:defRPr sz="1450" b="1">
                <a:solidFill>
                  <a:srgbClr val="0F2C59"/>
                </a:solidFill>
              </a:defRPr>
            </a:pPr>
            <a:r>
              <a:t>Cómo explica la Sesión 8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La patología digital empieza como una imagen enorme: whole-slide image.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La imagen se corta en tiles/crops de píxeles.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Virchow transforma cada tile en un embedding reutilizable.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Luego un agregador combina embeddings para predecir atributos del slide.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Satisface la sesión: imágenes digitales, píxeles, feature maps, transfer learning y validación.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6600" y="5230368"/>
            <a:ext cx="4572000" cy="777240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150" b="1">
                <a:solidFill>
                  <a:srgbClr val="0F2C59"/>
                </a:solidFill>
              </a:defRPr>
            </a:pPr>
            <a:r>
              <a:t>Pregunta para estudiantes: ¿por qué no procesamos una WSI completa como una sola imagen?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08C"/>
                </a:solidFill>
              </a:defRPr>
            </a:pPr>
            <a:r>
              <a:t>Sesión 8 · IA para imágenes médicas · Virchow foundation model · Nature Medicine 2024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2 · Fig. 2 — Éxito clínico: detección pan-cáncer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A5568"/>
                </a:solidFill>
              </a:defRPr>
            </a:pPr>
            <a:r>
              <a:t>Fig. 2 · Pan-cancer detection · página 4</a:t>
            </a:r>
          </a:p>
        </p:txBody>
      </p:sp>
      <p:pic>
        <p:nvPicPr>
          <p:cNvPr id="4" name="Picture 3" descr="02_fig2_pancanc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6400800" cy="4983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086600" y="1005840"/>
            <a:ext cx="45720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wrap="square"/>
          <a:lstStyle/>
          <a:p>
            <a:pPr algn="ctr">
              <a:defRPr sz="1450" b="1">
                <a:solidFill>
                  <a:srgbClr val="0F2C59"/>
                </a:solidFill>
              </a:defRPr>
            </a:pPr>
            <a:r>
              <a:t>Cómo explica la Sesión 8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Compara Virchow con otros modelos fundacionales.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Evalúa nueve cánceres comunes y siete raros.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El resultado principal es AUC por tipo tumoral.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Muestra generalización a datos externos y tejidos no vistos.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Conecta con validación clínica: no basta mostrar accuracy en un dataset pequeño.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6600" y="5230368"/>
            <a:ext cx="4572000" cy="777240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150" b="1">
                <a:solidFill>
                  <a:srgbClr val="0F2C59"/>
                </a:solidFill>
              </a:defRPr>
            </a:pPr>
            <a:r>
              <a:t>Mensaje docente: un buen modelo de imagen debe funcionar fuera del caso fácil.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08C"/>
                </a:solidFill>
              </a:defRPr>
            </a:pPr>
            <a:r>
              <a:t>Sesión 8 · IA para imágenes médicas · Virchow foundation model · Nature Medicine 2024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3 · Fig. 3 — Comparación con modelos clínicos y análisis de errores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A5568"/>
                </a:solidFill>
              </a:defRPr>
            </a:pPr>
            <a:r>
              <a:t>Fig. 3 · Clinical-grade comparison + failure examples · página 6</a:t>
            </a:r>
          </a:p>
        </p:txBody>
      </p:sp>
      <p:pic>
        <p:nvPicPr>
          <p:cNvPr id="4" name="Picture 3" descr="03_fig3_clin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6400800" cy="4983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086600" y="1005840"/>
            <a:ext cx="45720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wrap="square"/>
          <a:lstStyle/>
          <a:p>
            <a:pPr algn="ctr">
              <a:defRPr sz="1450" b="1">
                <a:solidFill>
                  <a:srgbClr val="0F2C59"/>
                </a:solidFill>
              </a:defRPr>
            </a:pPr>
            <a:r>
              <a:t>Cómo explica la Sesión 8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El pan-cancer detector se compara con productos clínicos especializados.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Incluye variantes raras y fallos visuales revisados por patólogo.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Los falsos negativos incluyen foco tumoral mínimo, necrosis o artefacto.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Los falsos positivos incluyen precursores, artefactos o cambios reactivos.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Aquí entra la seguridad clínica: la IA debe explicar cuándo falla.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6600" y="5230368"/>
            <a:ext cx="4572000" cy="777240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150" b="1">
                <a:solidFill>
                  <a:srgbClr val="0F2C59"/>
                </a:solidFill>
              </a:defRPr>
            </a:pPr>
            <a:r>
              <a:t>Actividad: clasificar cada error como limitación de datos, imagen, tejido o modelo.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08C"/>
                </a:solidFill>
              </a:defRPr>
            </a:pPr>
            <a:r>
              <a:t>Sesión 8 · IA para imágenes médicas · Virchow foundation model · Nature Medicine 2024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4 · Fig. 4 — Biomarcadores desde imágenes H&amp;E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A5568"/>
                </a:solidFill>
              </a:defRPr>
            </a:pPr>
            <a:r>
              <a:t>Fig. 4 · Biomarker prediction from H&amp;E · página 7</a:t>
            </a:r>
          </a:p>
        </p:txBody>
      </p:sp>
      <p:pic>
        <p:nvPicPr>
          <p:cNvPr id="4" name="Picture 3" descr="04_fig4_biomar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6400800" cy="4983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086600" y="1005840"/>
            <a:ext cx="45720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wrap="square"/>
          <a:lstStyle/>
          <a:p>
            <a:pPr algn="ctr">
              <a:defRPr sz="1450" b="1">
                <a:solidFill>
                  <a:srgbClr val="0F2C59"/>
                </a:solidFill>
              </a:defRPr>
            </a:pPr>
            <a:r>
              <a:t>Cómo explica la Sesión 8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El modelo usa H&amp;E rutinaria para predecir biomarcadores.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Estos biomarcadores suelen requerir IHC o secuenciación molecular.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Virchow aparece entre los mejores en múltiples biomarcadores.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Esto enseña transferencia: un embedding aprendido sirve para nuevas tareas.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Impacto clínico: priorizar o reducir pruebas adicionales en algunos escenarios.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6600" y="5230368"/>
            <a:ext cx="4572000" cy="777240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150" b="1">
                <a:solidFill>
                  <a:srgbClr val="0F2C59"/>
                </a:solidFill>
              </a:defRPr>
            </a:pPr>
            <a:r>
              <a:t>Pregunta: ¿cuándo una predicción de biomarcador desde imagen debería pedir confirmación molecular?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08C"/>
                </a:solidFill>
              </a:defRPr>
            </a:pPr>
            <a:r>
              <a:t>Sesión 8 · IA para imágenes médicas · Virchow foundation model · Nature Medicine 2024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5 · Fig. 5 — Feature maps / componentes semánticos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A5568"/>
                </a:solidFill>
              </a:defRPr>
            </a:pPr>
            <a:r>
              <a:t>Fig. 5 · Tile-level benchmarks + learned components · página 9</a:t>
            </a:r>
          </a:p>
        </p:txBody>
      </p:sp>
      <p:pic>
        <p:nvPicPr>
          <p:cNvPr id="4" name="Picture 3" descr="05_fig5_tilele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6400800" cy="4983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086600" y="1005840"/>
            <a:ext cx="45720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wrap="square"/>
          <a:lstStyle/>
          <a:p>
            <a:pPr algn="ctr">
              <a:defRPr sz="1450" b="1">
                <a:solidFill>
                  <a:srgbClr val="0F2C59"/>
                </a:solidFill>
              </a:defRPr>
            </a:pPr>
            <a:r>
              <a:t>Cómo explica la Sesión 8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Evalúa tareas tile-level: tumor, TILs, mitosis, morfologías, etc.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Los componentes visuales separan estructuras como epitelio maligno e inflamación.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Esto funciona como analogía avanzada de feature maps.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El modelo aprende representaciones con significado patológico.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Conecta con Grad-CAM: no solo predicción, también inspección de qué región importa.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6600" y="5230368"/>
            <a:ext cx="4572000" cy="777240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150" b="1">
                <a:solidFill>
                  <a:srgbClr val="0F2C59"/>
                </a:solidFill>
              </a:defRPr>
            </a:pPr>
            <a:r>
              <a:t>Discusión: ¿qué diferencia hay entre un mapa explicativo bonito y una explicación clínicamente válida?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08C"/>
                </a:solidFill>
              </a:defRPr>
            </a:pPr>
            <a:r>
              <a:t>Sesión 8 · IA para imágenes médicas · Virchow foundation model · Nature Medicine 2024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6 · Extended Data Fig. 1 — Agata aggregator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A5568"/>
                </a:solidFill>
              </a:defRPr>
            </a:pPr>
            <a:r>
              <a:t>Extended Data Fig. 1 · Agata aggregator · página 18</a:t>
            </a:r>
          </a:p>
        </p:txBody>
      </p:sp>
      <p:pic>
        <p:nvPicPr>
          <p:cNvPr id="4" name="Picture 3" descr="06_edfig1_ag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6400800" cy="4983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086600" y="1005840"/>
            <a:ext cx="45720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wrap="square"/>
          <a:lstStyle/>
          <a:p>
            <a:pPr algn="ctr">
              <a:defRPr sz="1450" b="1">
                <a:solidFill>
                  <a:srgbClr val="0F2C59"/>
                </a:solidFill>
              </a:defRPr>
            </a:pPr>
            <a:r>
              <a:t>Cómo explica la Sesión 8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La WSI produce muchos tiles; cada tile tiene embeddings.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El agregador aprende a combinar señales de múltiples regiones.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Es una arquitectura de multiple-instance learning.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Explica cómo se pasa de píxel/tile a diagnóstico de specimen.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Tema de sesión: convolución/ViT + embeddings + agregación de evidencia.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6600" y="5230368"/>
            <a:ext cx="4572000" cy="777240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150" b="1">
                <a:solidFill>
                  <a:srgbClr val="0F2C59"/>
                </a:solidFill>
              </a:defRPr>
            </a:pPr>
            <a:r>
              <a:t>Ejemplo clínico: una lesión pequeña puede estar en pocos tiles; el agregador debe encontrarla.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08C"/>
                </a:solidFill>
              </a:defRPr>
            </a:pPr>
            <a:r>
              <a:t>Sesión 8 · IA para imágenes médicas · Virchow foundation model · Nature Medicine 2024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7 · Extended Data Fig. 2 — DINOv2 y aprendizaje autosupervisado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A5568"/>
                </a:solidFill>
              </a:defRPr>
            </a:pPr>
            <a:r>
              <a:t>Extended Data Fig. 2 · DINOv2 training routine · página 19</a:t>
            </a:r>
          </a:p>
        </p:txBody>
      </p:sp>
      <p:pic>
        <p:nvPicPr>
          <p:cNvPr id="4" name="Picture 3" descr="07_edfig2_dino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6400800" cy="4983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086600" y="1005840"/>
            <a:ext cx="45720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wrap="square"/>
          <a:lstStyle/>
          <a:p>
            <a:pPr algn="ctr">
              <a:defRPr sz="1450" b="1">
                <a:solidFill>
                  <a:srgbClr val="0F2C59"/>
                </a:solidFill>
              </a:defRPr>
            </a:pPr>
            <a:r>
              <a:t>Cómo explica la Sesión 8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El modelo aprende sin etiquetas manuales para cada tile.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Usa vistas/crops locales y globales del tejido.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Student–teacher learning aprende embeddings robustos.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Este es el corazón del transfer learning moderno.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Tema de sesión: de CNN clásica a foundation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6600" y="5230368"/>
            <a:ext cx="4572000" cy="777240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150" b="1">
                <a:solidFill>
                  <a:srgbClr val="0F2C59"/>
                </a:solidFill>
              </a:defRPr>
            </a:pPr>
            <a:r>
              <a:t>Pregunta: ¿por qué es útil aprender de imágenes no etiquetadas en medicina?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08C"/>
                </a:solidFill>
              </a:defRPr>
            </a:pPr>
            <a:r>
              <a:t>Sesión 8 · IA para imágenes médicas · Virchow foundation model · Nature Medicine 2024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8 · Extended Data Fig. 3 — Validación detallada por cáncer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A5568"/>
                </a:solidFill>
              </a:defRPr>
            </a:pPr>
            <a:r>
              <a:t>Extended Data Fig. 3 · AUC and specificity per cancer origin · página 20</a:t>
            </a:r>
          </a:p>
        </p:txBody>
      </p:sp>
      <p:pic>
        <p:nvPicPr>
          <p:cNvPr id="4" name="Picture 3" descr="08_edfig3_auc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6400800" cy="4983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086600" y="1005840"/>
            <a:ext cx="45720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wrap="square"/>
          <a:lstStyle/>
          <a:p>
            <a:pPr algn="ctr">
              <a:defRPr sz="1450" b="1">
                <a:solidFill>
                  <a:srgbClr val="0F2C59"/>
                </a:solidFill>
              </a:defRPr>
            </a:pPr>
            <a:r>
              <a:t>Cómo explica la Sesión 8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Desglosa AUC y especificidad por origen tumoral.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Permite ver dónde el modelo es fuerte o débil.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Esto evita concluir solo con un promedio global.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Muestra importancia de sensibilidad/especificidad en validación clínica.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Tema de sesión: métricas clínicas y subgrupos.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6600" y="5230368"/>
            <a:ext cx="4572000" cy="777240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150" b="1">
                <a:solidFill>
                  <a:srgbClr val="0F2C59"/>
                </a:solidFill>
              </a:defRPr>
            </a:pPr>
            <a:r>
              <a:t>Ejercicio: identificar dos tumores donde el rendimiento parece más difícil.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08C"/>
                </a:solidFill>
              </a:defRPr>
            </a:pPr>
            <a:r>
              <a:t>Sesión 8 · IA para imágenes médicas · Virchow foundation model · Nature Medicine 2024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9 · Extended Data Fig. 4 — Distribución del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A5568"/>
                </a:solidFill>
              </a:defRPr>
            </a:pPr>
            <a:r>
              <a:t>Extended Data Fig. 4 · Dataset distribution · página 21</a:t>
            </a:r>
          </a:p>
        </p:txBody>
      </p:sp>
      <p:pic>
        <p:nvPicPr>
          <p:cNvPr id="4" name="Picture 3" descr="09_edfig4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6400800" cy="4983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086600" y="1005840"/>
            <a:ext cx="45720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wrap="square"/>
          <a:lstStyle/>
          <a:p>
            <a:pPr algn="ctr">
              <a:defRPr sz="1450" b="1">
                <a:solidFill>
                  <a:srgbClr val="0F2C59"/>
                </a:solidFill>
              </a:defRPr>
            </a:pPr>
            <a:r>
              <a:t>Cómo explica la Sesión 8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Muestra distribución de datos de prueba y entrenamiento.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No todos los tejidos están igualmente representados.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La cobertura del dataset afecta sesgo, generalización y confianza.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Perfecto para enseñar data bias en imágenes médicas.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Tema de sesión: validación clínica exige mirar la población, no solo la 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6600" y="5230368"/>
            <a:ext cx="4572000" cy="777240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150" b="1">
                <a:solidFill>
                  <a:srgbClr val="0F2C59"/>
                </a:solidFill>
              </a:defRPr>
            </a:pPr>
            <a:r>
              <a:t>Pregunta: ¿qué pasa si mi hospital tiene más tejidos o tinciones distintas?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08C"/>
                </a:solidFill>
              </a:defRPr>
            </a:pPr>
            <a:r>
              <a:t>Sesión 8 · IA para imágenes médicas · Virchow foundation model · Nature Medicine 2024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10 · Reporting summary — software y reproducibilidad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A5568"/>
                </a:solidFill>
              </a:defRPr>
            </a:pPr>
            <a:r>
              <a:t>Reporting summary · software/code/reproducibility · página 22</a:t>
            </a:r>
          </a:p>
        </p:txBody>
      </p:sp>
      <p:pic>
        <p:nvPicPr>
          <p:cNvPr id="4" name="Picture 3" descr="10_reporting_soft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6400800" cy="4983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086600" y="1005840"/>
            <a:ext cx="45720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wrap="square"/>
          <a:lstStyle/>
          <a:p>
            <a:pPr algn="ctr">
              <a:defRPr sz="1450" b="1">
                <a:solidFill>
                  <a:srgbClr val="0F2C59"/>
                </a:solidFill>
              </a:defRPr>
            </a:pPr>
            <a:r>
              <a:t>Cómo explica la Sesión 8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Reporta Python, OpenSlide, PyTorch y librerías usadas.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Relaciona investigación real con notebook/entorno reproducible.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No es MONAI específicamente, pero sí el ecosistema PyTorch compatible.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Para estudiantes: reproducibilidad = datos + código + métricas + entorno.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Tema de sesión: MONAI/PyTorch o notebook simplificado.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6600" y="5230368"/>
            <a:ext cx="4572000" cy="777240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150" b="1">
                <a:solidFill>
                  <a:srgbClr val="0F2C59"/>
                </a:solidFill>
              </a:defRPr>
            </a:pPr>
            <a:r>
              <a:t>Producto de clase: un notebook que carga tiles, entrena/demo y genera mapa explicativo.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08C"/>
                </a:solidFill>
              </a:defRPr>
            </a:pPr>
            <a:r>
              <a:t>Sesión 8 · IA para imágenes médicas · Virchow foundation model · Nature Medicine 2024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Cómo el artículo satisface todos los temas de la Sesión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A5568"/>
                </a:solidFill>
              </a:defRPr>
            </a:pPr>
            <a:r>
              <a:t>De conceptos técnicos a impacto clínico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534924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wrap="square"/>
          <a:lstStyle/>
          <a:p>
            <a:pPr algn="ctr">
              <a:defRPr sz="1450" b="1">
                <a:solidFill>
                  <a:srgbClr val="0F2C59"/>
                </a:solidFill>
              </a:defRPr>
            </a:pPr>
            <a:r>
              <a:t>Conceptos técnicos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Imágenes digitales: WSIs H&amp;E reemplazan microscopía analógica por slides digitalizados.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Píxeles/tiles: el slide se divide en tiles/crops procesables.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CNN/ViT: Virchow usa arquitectura Vision Transformer de gran escala.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Convolución/feature maps: la idea se extiende a embeddings y componentes semánticos.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Transfer learning: el mismo embedding se reutiliza para cáncer, biomarcadores y tile-level tasks.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051560"/>
            <a:ext cx="534924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wrap="square"/>
          <a:lstStyle/>
          <a:p>
            <a:pPr algn="ctr">
              <a:defRPr sz="1450" b="1">
                <a:solidFill>
                  <a:srgbClr val="0F2C59"/>
                </a:solidFill>
              </a:defRPr>
            </a:pPr>
            <a:r>
              <a:t>Conceptos clínicos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Grad-CAM/explicabilidad: el artículo no usa Grad-CAM como eje central, pero sí analiza componentes visuales y errores patológicos.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Validación clínica: evalúa common/rare cancers, external data, OOD tissue y comparación con productos clínicos.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MONAI/PyTorch: el artículo usa PyTorch; en clase podemos reproducir una versión pequeña con MONAI/PyTorch.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Éxito: muestra AUC 0.950 pan-cáncer y valor en cánceres raros.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Mensaje: IA de imagen no es solo clasificar; es construir un workflow validable y reutilizable.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967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08C"/>
                </a:solidFill>
              </a:defRPr>
            </a:pPr>
            <a:r>
              <a:t>Sesión 8 · IA para imágenes médicas · Virchow foundation model · Nature Medicine 2024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Proyecto simple para estudiantes: versión docente tipo Virchow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A5568"/>
                </a:solidFill>
              </a:defRPr>
            </a:pPr>
            <a:r>
              <a:t>No necesitamos 1.5M slides: hacemos una mini-versión pedagógica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53492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wrap="square"/>
          <a:lstStyle/>
          <a:p>
            <a:pPr algn="ctr">
              <a:defRPr sz="1450" b="1">
                <a:solidFill>
                  <a:srgbClr val="0F2C59"/>
                </a:solidFill>
              </a:defRPr>
            </a:pPr>
            <a:r>
              <a:t>Notebook MONAI/PyTorch simplificado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Usar dataset pequeño de patología o imágenes médicas abiertas.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Dividir imagen en patches/tiles.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Entrenar o reutilizar un modelo preentrenado.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Extraer embeddings o feature maps.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Clasificar normal vs tumor / benigno vs maligno.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Mostrar mapa de regiones importantes tipo Grad-CAM o attention heatmap.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Reportar matriz de confusión, sensibilidad, especificidad y limitaciones.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051560"/>
            <a:ext cx="53492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wrap="square"/>
          <a:lstStyle/>
          <a:p>
            <a:pPr algn="ctr">
              <a:defRPr sz="1450" b="1">
                <a:solidFill>
                  <a:srgbClr val="0F2C59"/>
                </a:solidFill>
              </a:defRPr>
            </a:pPr>
            <a:r>
              <a:t>Producto final de la clase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Entregable 1: una diapositiva con pipeline.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Entregable 2: una figura con imagen original + mapa explicativo.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Entregable 3: tabla pequeña con métricas.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Entregable 4: discusión de seguridad: falsos positivos/falsos negativos.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Entregable 5: cómo lo validarían en su clínica/hospital.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Conexión al artículo: la lógica es la misma, pero a escala educativa.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967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08C"/>
                </a:solidFill>
              </a:defRPr>
            </a:pPr>
            <a:r>
              <a:t>Sesión 8 · IA para imágenes médicas · Virchow foundation model · Nature Medicine 2024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Referencia base y mensajes para copiar/pegar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A5568"/>
                </a:solidFill>
              </a:defRPr>
            </a:pPr>
            <a:r>
              <a:t>Texto breve para tus diapositivas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10835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0F2C59"/>
                </a:solidFill>
              </a:defRPr>
            </a:pPr>
            <a:r>
              <a:t>Vorontsov et al. A foundation model for clinical-grade computational pathology and rare cancers detection. Nature Medicine 30, 2924–2935 (2024). DOI: 10.1038/s41591-024-03141-0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108356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wrap="square"/>
          <a:lstStyle/>
          <a:p>
            <a:pPr algn="ctr">
              <a:defRPr sz="1450" b="1">
                <a:solidFill>
                  <a:srgbClr val="0F2C59"/>
                </a:solidFill>
              </a:defRPr>
            </a:pPr>
            <a:r>
              <a:t>Mensaje docente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La investigación demuestra que los modelos fundacionales pueden convertir imágenes histopatológicas H&amp;E en embeddings reutilizables para múltiples tareas clínicas.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El valor educativo para la Sesión 8 es claro: una imagen médica pasa de píxeles a tiles, luego a representaciones profundas y finalmente a predicciones validadas.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El éxito no se mide solo con una imagen bonita: se evalúa por AUC, especificidad, generalización externa, rare cancers, OOD data y análisis de fallos.</a:t>
            </a:r>
          </a:p>
          <a:p>
            <a:pPr>
              <a:spcAft>
                <a:spcPts val="200"/>
              </a:spcAft>
              <a:defRPr sz="1160">
                <a:solidFill>
                  <a:srgbClr val="1E2837"/>
                </a:solidFill>
              </a:defRPr>
            </a:pPr>
            <a:r>
              <a:t>• Este artículo permite explicar por qué IA + imágenes médicas ayuda: prioriza casos, detecta patrones difíciles, reutiliza conocimiento visual y puede reducir dependencia de pruebas adicionales en ciertos escenarios.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967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08C"/>
                </a:solidFill>
              </a:defRPr>
            </a:pPr>
            <a:r>
              <a:t>Sesión 8 · IA para imágenes médicas · Virchow foundation model · Nature Medicine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