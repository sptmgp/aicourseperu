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99" r:id="rId50"/>
    <p:sldId id="300" r:id="rId51"/>
    <p:sldId id="301" r:id="rId52"/>
    <p:sldId id="302" r:id="rId53"/>
    <p:sldId id="303" r:id="rId54"/>
    <p:sldId id="267" r:id="rId18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268" r:id="rId19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269" r:id="rId20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7.xml"/><Relationship Id="rId19" Type="http://schemas.openxmlformats.org/officeDocument/2006/relationships/slide" Target="slides/slide26.xml"/><Relationship Id="rId20" Type="http://schemas.openxmlformats.org/officeDocument/2006/relationships/slide" Target="slides/slide37.xml"/><Relationship Id="rId50" Type="http://schemas.openxmlformats.org/officeDocument/2006/relationships/slide" Target="slides/slide12.xml"/><Relationship Id="rId51" Type="http://schemas.openxmlformats.org/officeDocument/2006/relationships/slide" Target="slides/slide13.xml"/><Relationship Id="rId52" Type="http://schemas.openxmlformats.org/officeDocument/2006/relationships/slide" Target="slides/slide14.xml"/><Relationship Id="rId53" Type="http://schemas.openxmlformats.org/officeDocument/2006/relationships/slide" Target="slides/slide15.xml"/><Relationship Id="rId54" Type="http://schemas.openxmlformats.org/officeDocument/2006/relationships/slide" Target="slides/slide16.xml"/><Relationship Id="rId55" Type="http://schemas.openxmlformats.org/officeDocument/2006/relationships/slide" Target="slides/slide18.xml"/><Relationship Id="rId56" Type="http://schemas.openxmlformats.org/officeDocument/2006/relationships/slide" Target="slides/slide19.xml"/><Relationship Id="rId57" Type="http://schemas.openxmlformats.org/officeDocument/2006/relationships/slide" Target="slides/slide20.xml"/><Relationship Id="rId58" Type="http://schemas.openxmlformats.org/officeDocument/2006/relationships/slide" Target="slides/slide21.xml"/><Relationship Id="rId59" Type="http://schemas.openxmlformats.org/officeDocument/2006/relationships/slide" Target="slides/slide22.xml"/><Relationship Id="rId60" Type="http://schemas.openxmlformats.org/officeDocument/2006/relationships/slide" Target="slides/slide23.xml"/><Relationship Id="rId61" Type="http://schemas.openxmlformats.org/officeDocument/2006/relationships/slide" Target="slides/slide24.xml"/><Relationship Id="rId62" Type="http://schemas.openxmlformats.org/officeDocument/2006/relationships/slide" Target="slides/slide25.xml"/><Relationship Id="rId63" Type="http://schemas.openxmlformats.org/officeDocument/2006/relationships/slide" Target="slides/slide27.xml"/><Relationship Id="rId64" Type="http://schemas.openxmlformats.org/officeDocument/2006/relationships/slide" Target="slides/slide28.xml"/><Relationship Id="rId65" Type="http://schemas.openxmlformats.org/officeDocument/2006/relationships/slide" Target="slides/slide29.xml"/><Relationship Id="rId66" Type="http://schemas.openxmlformats.org/officeDocument/2006/relationships/slide" Target="slides/slide30.xml"/><Relationship Id="rId67" Type="http://schemas.openxmlformats.org/officeDocument/2006/relationships/slide" Target="slides/slide31.xml"/><Relationship Id="rId68" Type="http://schemas.openxmlformats.org/officeDocument/2006/relationships/slide" Target="slides/slide32.xml"/><Relationship Id="rId69" Type="http://schemas.openxmlformats.org/officeDocument/2006/relationships/slide" Target="slides/slide33.xml"/><Relationship Id="rId70" Type="http://schemas.openxmlformats.org/officeDocument/2006/relationships/slide" Target="slides/slide34.xml"/><Relationship Id="rId71" Type="http://schemas.openxmlformats.org/officeDocument/2006/relationships/slide" Target="slides/slide35.xml"/><Relationship Id="rId72" Type="http://schemas.openxmlformats.org/officeDocument/2006/relationships/slide" Target="slides/slide36.xml"/><Relationship Id="rId73" Type="http://schemas.openxmlformats.org/officeDocument/2006/relationships/slide" Target="slides/slide38.xml"/><Relationship Id="rId74" Type="http://schemas.openxmlformats.org/officeDocument/2006/relationships/slide" Target="slides/slide39.xml"/><Relationship Id="rId75" Type="http://schemas.openxmlformats.org/officeDocument/2006/relationships/slide" Target="slides/slide40.xml"/><Relationship Id="rId76" Type="http://schemas.openxmlformats.org/officeDocument/2006/relationships/slide" Target="slides/slide41.xml"/><Relationship Id="rId77" Type="http://schemas.openxmlformats.org/officeDocument/2006/relationships/slide" Target="slides/slide42.xml"/><Relationship Id="rId78" Type="http://schemas.openxmlformats.org/officeDocument/2006/relationships/slide" Target="slides/slide43.xml"/><Relationship Id="rId79" Type="http://schemas.openxmlformats.org/officeDocument/2006/relationships/slide" Target="slides/slide44.xml"/><Relationship Id="rId80" Type="http://schemas.openxmlformats.org/officeDocument/2006/relationships/slide" Target="slides/slide45.xml"/><Relationship Id="rId81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789920" cy="4572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>
              <a:defRPr sz="1700" b="1">
                <a:solidFill>
                  <a:srgbClr val="009195"/>
                </a:solidFill>
                <a:latin typeface="Aptos"/>
              </a:defRPr>
            </a:pPr>
            <a:r>
              <a:t>SESIÓN 6 · PYTHON PARA IA MÉDICA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424160" cy="10972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>
              <a:defRPr sz="3600" b="1">
                <a:solidFill>
                  <a:srgbClr val="0F243E"/>
                </a:solidFill>
                <a:latin typeface="Aptos Display"/>
              </a:defRPr>
            </a:pPr>
            <a:r>
              <a:t>De datos clínicos a un primer modelo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14600"/>
            <a:ext cx="850392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>
              <a:defRPr sz="1700" b="0">
                <a:solidFill>
                  <a:srgbClr val="595959"/>
                </a:solidFill>
                <a:latin typeface="Aptos"/>
              </a:defRPr>
            </a:pPr>
            <a:r>
              <a:t>Google Colab · pandas · DataFrame · scikit-learn · train/test · métricas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03320"/>
            <a:ext cx="1600200" cy="658368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Clinical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39" y="3703320"/>
            <a:ext cx="1600200" cy="658368"/>
          </a:xfrm>
          <a:prstGeom prst="round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CSV/DataFrame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3703320"/>
            <a:ext cx="1600200" cy="658368"/>
          </a:xfrm>
          <a:prstGeom prst="roundRect">
            <a:avLst/>
          </a:prstGeom>
          <a:solidFill>
            <a:srgbClr val="288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Features +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3703320"/>
            <a:ext cx="1600200" cy="658368"/>
          </a:xfrm>
          <a:prstGeom prst="roundRect">
            <a:avLst/>
          </a:prstGeom>
          <a:solidFill>
            <a:srgbClr val="D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Train/test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703320"/>
            <a:ext cx="1600200" cy="658368"/>
          </a:xfrm>
          <a:prstGeom prst="roundRect">
            <a:avLst/>
          </a:prstGeom>
          <a:solidFill>
            <a:srgbClr val="74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3703320"/>
            <a:ext cx="1600200" cy="658368"/>
          </a:xfrm>
          <a:prstGeom prst="round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Metric +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800600"/>
            <a:ext cx="9601200" cy="5486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>
              <a:defRPr sz="2000" b="1">
                <a:solidFill>
                  <a:srgbClr val="0F243E"/>
                </a:solidFill>
                <a:latin typeface="Aptos"/>
              </a:defRPr>
            </a:pPr>
            <a:r>
              <a:t>80-minute evidence-based lecture + practical clinical project ideas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What they should learn by the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This is not “coding for coding”. It is reproducible clinical reasoning.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27631"/>
            <a:ext cx="49743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Core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4901183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Open a clinical CSV in Google Colab.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to inspect a patient table.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Define features and a target.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Train a simple classifier with scikit-learn.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Explain a prediction as clinical prioritization, not autonomous diagnosis.</a:t>
            </a:r>
          </a:p>
        </p:txBody>
      </p:sp>
      <p:sp>
        <p:nvSpPr>
          <p:cNvPr id="11" name="Chevron 10"/>
          <p:cNvSpPr/>
          <p:nvPr/>
        </p:nvSpPr>
        <p:spPr>
          <a:xfrm>
            <a:off x="6492240" y="1600200"/>
            <a:ext cx="4114800" cy="475488"/>
          </a:xfrm>
          <a:prstGeom prst="chevron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Question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6492240" y="2377440"/>
            <a:ext cx="4114800" cy="475488"/>
          </a:xfrm>
          <a:prstGeom prst="chevron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13" name="Chevron 12"/>
          <p:cNvSpPr/>
          <p:nvPr/>
        </p:nvSpPr>
        <p:spPr>
          <a:xfrm>
            <a:off x="6492240" y="3154680"/>
            <a:ext cx="4114800" cy="475488"/>
          </a:xfrm>
          <a:prstGeom prst="chevron">
            <a:avLst/>
          </a:prstGeom>
          <a:solidFill>
            <a:srgbClr val="288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14" name="Chevron 13"/>
          <p:cNvSpPr/>
          <p:nvPr/>
        </p:nvSpPr>
        <p:spPr>
          <a:xfrm>
            <a:off x="6492240" y="3931920"/>
            <a:ext cx="4114800" cy="475488"/>
          </a:xfrm>
          <a:prstGeom prst="chevron">
            <a:avLst/>
          </a:prstGeom>
          <a:solidFill>
            <a:srgbClr val="D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Metric</a:t>
            </a:r>
          </a:p>
        </p:txBody>
      </p:sp>
      <p:sp>
        <p:nvSpPr>
          <p:cNvPr id="15" name="Chevron 14"/>
          <p:cNvSpPr/>
          <p:nvPr/>
        </p:nvSpPr>
        <p:spPr>
          <a:xfrm>
            <a:off x="6492240" y="4709160"/>
            <a:ext cx="4114800" cy="475488"/>
          </a:xfrm>
          <a:prstGeom prst="chevron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80-minute talk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The class moves from intuition to working Colab prototype.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27631"/>
            <a:ext cx="49743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Core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4901183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0–10 min: why Python matters for clinicians.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10–25 min: DataFrame, features, target, train/test.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25–55 min: 20 patient-care papers and what students can build.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55–72 min: live notebook walkthrough.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72–80 min: clinical safety and student project ideas.</a:t>
            </a:r>
          </a:p>
        </p:txBody>
      </p:sp>
      <p:sp>
        <p:nvSpPr>
          <p:cNvPr id="11" name="Chevron 10"/>
          <p:cNvSpPr/>
          <p:nvPr/>
        </p:nvSpPr>
        <p:spPr>
          <a:xfrm>
            <a:off x="6492240" y="1600200"/>
            <a:ext cx="4114800" cy="475488"/>
          </a:xfrm>
          <a:prstGeom prst="chevron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Question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6492240" y="2377440"/>
            <a:ext cx="4114800" cy="475488"/>
          </a:xfrm>
          <a:prstGeom prst="chevron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13" name="Chevron 12"/>
          <p:cNvSpPr/>
          <p:nvPr/>
        </p:nvSpPr>
        <p:spPr>
          <a:xfrm>
            <a:off x="6492240" y="3154680"/>
            <a:ext cx="4114800" cy="475488"/>
          </a:xfrm>
          <a:prstGeom prst="chevron">
            <a:avLst/>
          </a:prstGeom>
          <a:solidFill>
            <a:srgbClr val="288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14" name="Chevron 13"/>
          <p:cNvSpPr/>
          <p:nvPr/>
        </p:nvSpPr>
        <p:spPr>
          <a:xfrm>
            <a:off x="6492240" y="3931920"/>
            <a:ext cx="4114800" cy="475488"/>
          </a:xfrm>
          <a:prstGeom prst="chevron">
            <a:avLst/>
          </a:prstGeom>
          <a:solidFill>
            <a:srgbClr val="D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Metric</a:t>
            </a:r>
          </a:p>
        </p:txBody>
      </p:sp>
      <p:sp>
        <p:nvSpPr>
          <p:cNvPr id="15" name="Chevron 14"/>
          <p:cNvSpPr/>
          <p:nvPr/>
        </p:nvSpPr>
        <p:spPr>
          <a:xfrm>
            <a:off x="6492240" y="4709160"/>
            <a:ext cx="4114800" cy="475488"/>
          </a:xfrm>
          <a:prstGeom prst="chevron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Why Python in the health sector?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Python is the bridge between clinical questions and reproducible data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27631"/>
            <a:ext cx="49743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Core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4901183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Nursing: deterioration watch and shift prioritization.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Emergency care: triage and admission-risk prototypes.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Pharmacy: medication review and dose-support prioritization.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Physiotherapy: recovery tracking from movement measurements.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Public health: follow-up prioritization and remote monitoring.</a:t>
            </a:r>
          </a:p>
        </p:txBody>
      </p:sp>
      <p:sp>
        <p:nvSpPr>
          <p:cNvPr id="11" name="Chevron 10"/>
          <p:cNvSpPr/>
          <p:nvPr/>
        </p:nvSpPr>
        <p:spPr>
          <a:xfrm>
            <a:off x="6492240" y="1600200"/>
            <a:ext cx="4114800" cy="475488"/>
          </a:xfrm>
          <a:prstGeom prst="chevron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Question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6492240" y="2377440"/>
            <a:ext cx="4114800" cy="475488"/>
          </a:xfrm>
          <a:prstGeom prst="chevron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13" name="Chevron 12"/>
          <p:cNvSpPr/>
          <p:nvPr/>
        </p:nvSpPr>
        <p:spPr>
          <a:xfrm>
            <a:off x="6492240" y="3154680"/>
            <a:ext cx="4114800" cy="475488"/>
          </a:xfrm>
          <a:prstGeom prst="chevron">
            <a:avLst/>
          </a:prstGeom>
          <a:solidFill>
            <a:srgbClr val="288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14" name="Chevron 13"/>
          <p:cNvSpPr/>
          <p:nvPr/>
        </p:nvSpPr>
        <p:spPr>
          <a:xfrm>
            <a:off x="6492240" y="3931920"/>
            <a:ext cx="4114800" cy="475488"/>
          </a:xfrm>
          <a:prstGeom prst="chevron">
            <a:avLst/>
          </a:prstGeom>
          <a:solidFill>
            <a:srgbClr val="D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Metric</a:t>
            </a:r>
          </a:p>
        </p:txBody>
      </p:sp>
      <p:sp>
        <p:nvSpPr>
          <p:cNvPr id="15" name="Chevron 14"/>
          <p:cNvSpPr/>
          <p:nvPr/>
        </p:nvSpPr>
        <p:spPr>
          <a:xfrm>
            <a:off x="6492240" y="4709160"/>
            <a:ext cx="4114800" cy="475488"/>
          </a:xfrm>
          <a:prstGeom prst="chevron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The simplest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A machine-learning notebook is just a structured clinical audit with repeatable steps.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27631"/>
            <a:ext cx="49743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Core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4901183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Question: what are we trying to predict?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Data: what variables exist before the decision?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Model: what pattern was learned from prior patients?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Metric: how often is it correct, and what error is dangerous?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Action: what should a human professional do next?</a:t>
            </a:r>
          </a:p>
        </p:txBody>
      </p:sp>
      <p:sp>
        <p:nvSpPr>
          <p:cNvPr id="11" name="Chevron 10"/>
          <p:cNvSpPr/>
          <p:nvPr/>
        </p:nvSpPr>
        <p:spPr>
          <a:xfrm>
            <a:off x="6492240" y="1600200"/>
            <a:ext cx="4114800" cy="475488"/>
          </a:xfrm>
          <a:prstGeom prst="chevron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Question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6492240" y="2377440"/>
            <a:ext cx="4114800" cy="475488"/>
          </a:xfrm>
          <a:prstGeom prst="chevron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13" name="Chevron 12"/>
          <p:cNvSpPr/>
          <p:nvPr/>
        </p:nvSpPr>
        <p:spPr>
          <a:xfrm>
            <a:off x="6492240" y="3154680"/>
            <a:ext cx="4114800" cy="475488"/>
          </a:xfrm>
          <a:prstGeom prst="chevron">
            <a:avLst/>
          </a:prstGeom>
          <a:solidFill>
            <a:srgbClr val="288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14" name="Chevron 13"/>
          <p:cNvSpPr/>
          <p:nvPr/>
        </p:nvSpPr>
        <p:spPr>
          <a:xfrm>
            <a:off x="6492240" y="3931920"/>
            <a:ext cx="4114800" cy="475488"/>
          </a:xfrm>
          <a:prstGeom prst="chevron">
            <a:avLst/>
          </a:prstGeom>
          <a:solidFill>
            <a:srgbClr val="D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Metric</a:t>
            </a:r>
          </a:p>
        </p:txBody>
      </p:sp>
      <p:sp>
        <p:nvSpPr>
          <p:cNvPr id="15" name="Chevron 14"/>
          <p:cNvSpPr/>
          <p:nvPr/>
        </p:nvSpPr>
        <p:spPr>
          <a:xfrm>
            <a:off x="6492240" y="4709160"/>
            <a:ext cx="4114800" cy="475488"/>
          </a:xfrm>
          <a:prstGeom prst="chevron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DataFrame = digital patient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This is the first “aha” moment for clinical students.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00200"/>
            <a:ext cx="1280160" cy="411480"/>
          </a:xfrm>
          <a:prstGeom prst="rect">
            <a:avLst/>
          </a:prstGeom>
          <a:solidFill>
            <a:srgbClr val="156082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patient_id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600200"/>
            <a:ext cx="914400" cy="411480"/>
          </a:xfrm>
          <a:prstGeom prst="rect">
            <a:avLst/>
          </a:prstGeom>
          <a:solidFill>
            <a:srgbClr val="156082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600200"/>
            <a:ext cx="914400" cy="411480"/>
          </a:xfrm>
          <a:prstGeom prst="rect">
            <a:avLst/>
          </a:prstGeom>
          <a:solidFill>
            <a:srgbClr val="156082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SpO₂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1600200"/>
            <a:ext cx="1188720" cy="411480"/>
          </a:xfrm>
          <a:prstGeom prst="rect">
            <a:avLst/>
          </a:prstGeom>
          <a:solidFill>
            <a:srgbClr val="156082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glucose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1600200"/>
            <a:ext cx="731520" cy="411480"/>
          </a:xfrm>
          <a:prstGeom prst="rect">
            <a:avLst/>
          </a:prstGeom>
          <a:solidFill>
            <a:srgbClr val="156082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011680"/>
            <a:ext cx="12801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P001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2011680"/>
            <a:ext cx="914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68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2011680"/>
            <a:ext cx="914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86200" y="2011680"/>
            <a:ext cx="1188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214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2011680"/>
            <a:ext cx="7315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423160"/>
            <a:ext cx="12801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P002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2423160"/>
            <a:ext cx="914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2423160"/>
            <a:ext cx="914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98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2423160"/>
            <a:ext cx="1188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96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2423160"/>
            <a:ext cx="7315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34640"/>
            <a:ext cx="12801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P003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57400" y="2834640"/>
            <a:ext cx="914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76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2834640"/>
            <a:ext cx="914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88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86200" y="2834640"/>
            <a:ext cx="1188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240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2834640"/>
            <a:ext cx="7315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246120"/>
            <a:ext cx="12801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P004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3246120"/>
            <a:ext cx="914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55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3246120"/>
            <a:ext cx="9144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6200" y="3246120"/>
            <a:ext cx="1188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132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3246120"/>
            <a:ext cx="7315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0F243E"/>
                </a:solidFill>
              </a:defRPr>
            </a:pPr>
            <a: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6440" y="1600200"/>
            <a:ext cx="54406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71031" y="1719072"/>
            <a:ext cx="5111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009195"/>
                </a:solidFill>
                <a:latin typeface="Aptos"/>
              </a:defRPr>
            </a:pPr>
            <a:r>
              <a:t>Clinical meaning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7607" y="2103120"/>
            <a:ext cx="5038344" cy="297180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Each row can be a patient, a visit, or one measurement window.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Each column is a variable: vital sign, lab, medication count, risk group.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pandas helps inspect the table before any model is trained.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If the table is clinically wrong, the model will be wrong.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069080"/>
            <a:ext cx="4572000" cy="1234440"/>
          </a:xfrm>
          <a:prstGeom prst="roundRect">
            <a:avLst/>
          </a:prstGeom>
          <a:solidFill>
            <a:srgbClr val="17202A"/>
          </a:solidFill>
          <a:ln>
            <a:solidFill>
              <a:srgbClr val="17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178808"/>
            <a:ext cx="429768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000" b="1">
                <a:solidFill>
                  <a:srgbClr val="B4DCFF"/>
                </a:solidFill>
                <a:latin typeface="Aptos"/>
              </a:defRPr>
            </a:pPr>
            <a:r>
              <a:t>Colab first cell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" y="4480560"/>
            <a:ext cx="4242816" cy="758952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defRPr sz="1100">
                <a:solidFill>
                  <a:srgbClr val="E8F4FF"/>
                </a:solidFill>
                <a:latin typeface="Consolas"/>
              </a:defRPr>
            </a:pPr>
            <a:r>
              <a:t>import pandas as pd</a:t>
            </a:r>
            <a:br/>
            <a:br/>
            <a:r>
              <a:t>df = pd.read_csv('patients.csv')</a:t>
            </a:r>
            <a:br/>
            <a:r>
              <a:t>df.head()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Features, target, and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Students must learn this before algorithms.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27631"/>
            <a:ext cx="31455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307238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Inputs available before the decision.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Examples: age, SpO₂, glucose, eGFR, medication count.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Do not include future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627631"/>
            <a:ext cx="31455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011680"/>
            <a:ext cx="307238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The answer the model learns.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Examples: deterioration in 48h, readmission, AKI, infection.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Must be clinically defined and labeled.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627631"/>
            <a:ext cx="31455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B22323"/>
                </a:solidFill>
                <a:latin typeface="Aptos"/>
              </a:defRPr>
            </a:pPr>
            <a:r>
              <a:t>Leakage 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11680"/>
            <a:ext cx="307238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Do not use variables that already contain the outcome.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Example: using ICU admission to predict ICU admission.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Leakage creates fake high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Train/test split: “learn” vs “prove”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Session 6 makes Session 4 and Session 5 reproducible in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303520" cy="2011680"/>
          </a:xfrm>
          <a:prstGeom prst="roundRect">
            <a:avLst/>
          </a:prstGeom>
          <a:solidFill>
            <a:srgbClr val="17202A"/>
          </a:solidFill>
          <a:ln>
            <a:solidFill>
              <a:srgbClr val="17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7"/>
            <a:ext cx="50292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000" b="1">
                <a:solidFill>
                  <a:srgbClr val="B4DCFF"/>
                </a:solidFill>
                <a:latin typeface="Aptos"/>
              </a:defRPr>
            </a:pPr>
            <a:r>
              <a:t>Train/test in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65960"/>
            <a:ext cx="4974336" cy="1536192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defRPr sz="1100">
                <a:solidFill>
                  <a:srgbClr val="E8F4FF"/>
                </a:solidFill>
                <a:latin typeface="Consolas"/>
              </a:defRPr>
            </a:pPr>
            <a:r>
              <a:t>from sklearn.model_selection import train_test_split</a:t>
            </a:r>
            <a:br/>
            <a:br/>
            <a:r>
              <a:t>X_train, X_test, y_train, y_test = train_test_split(</a:t>
            </a:r>
            <a:br/>
            <a:r>
              <a:t>    X, y, test_size=0.2, random_state=42</a:t>
            </a:r>
            <a:br/>
            <a: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673352"/>
            <a:ext cx="46085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057400"/>
            <a:ext cx="4535424" cy="352044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Training set: the examples used to learn patterns.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Test set: unseen examples used to estimate performance.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 model that only works on training data is not useful.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Clinical implementation requires external validation later.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From probability to professional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Prediction is not a final diagnosis; it is a prioritization signal.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303520" cy="1920240"/>
          </a:xfrm>
          <a:prstGeom prst="roundRect">
            <a:avLst/>
          </a:prstGeom>
          <a:solidFill>
            <a:srgbClr val="17202A"/>
          </a:solidFill>
          <a:ln>
            <a:solidFill>
              <a:srgbClr val="17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7"/>
            <a:ext cx="50292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000" b="1">
                <a:solidFill>
                  <a:srgbClr val="B4DCFF"/>
                </a:solidFill>
                <a:latin typeface="Aptos"/>
              </a:defRPr>
            </a:pPr>
            <a:r>
              <a:t>Risk probability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65960"/>
            <a:ext cx="4974336" cy="1444752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defRPr sz="1100">
                <a:solidFill>
                  <a:srgbClr val="E8F4FF"/>
                </a:solidFill>
                <a:latin typeface="Consolas"/>
              </a:defRPr>
            </a:pPr>
            <a:r>
              <a:t>model.fit(X_train, y_train)</a:t>
            </a:r>
            <a:br/>
            <a:r>
              <a:t>proba = model.predict_proba(X_test)[:, 1]</a:t>
            </a:r>
            <a:br/>
            <a:br/>
            <a:r>
              <a:t># example output</a:t>
            </a:r>
            <a:br/>
            <a:r>
              <a:t># patient risk = 0.78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4206240" cy="502920"/>
          </a:xfrm>
          <a:prstGeom prst="roundRect">
            <a:avLst/>
          </a:prstGeom>
          <a:solidFill>
            <a:srgbClr val="DC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risk = 0.78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377440"/>
            <a:ext cx="4206240" cy="50292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clinical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154680"/>
            <a:ext cx="4206240" cy="502920"/>
          </a:xfrm>
          <a:prstGeom prst="round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confirmatory assessment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31920"/>
            <a:ext cx="4206240" cy="502920"/>
          </a:xfrm>
          <a:prstGeom prst="roundRect">
            <a:avLst/>
          </a:prstGeom>
          <a:solidFill>
            <a:srgbClr val="288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Twenty papers → twenty Python project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Each paper is converted into a patient-care use case students can prototype after Session 6.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 PAPERS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27631"/>
            <a:ext cx="31455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Clinical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307238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was the patient-care problem?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data were used?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output helped the professional?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error would be dangerous?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27631"/>
            <a:ext cx="31455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009195"/>
                </a:solidFill>
                <a:latin typeface="Aptos"/>
              </a:defRPr>
            </a:pPr>
            <a:r>
              <a:t>Python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11680"/>
            <a:ext cx="307238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Can this become a table?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are the features?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is the target?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Which metric matters?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1" y="1627631"/>
            <a:ext cx="31455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Professional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011680"/>
            <a:ext cx="307238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Nurse, physician, pharmacist, physiotherapist, public health.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The model prioritizes work; humans decide.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Start small; validate before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1: Heart failure mortality risk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Development and validation of a parsimonious AI-based mortality risk score for heart failure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HF risk stratification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 small number of routinely available variables can support mortality-risk scoring.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Build a simple HF-risk logistic model from age, comorbidity, medication and vitals.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https://www.nature.com/articles/s41746-026-03258-1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Development and validation of a parsimonious AI-based mortality risk score for heart failure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194560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SIMPLE-HF risk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373,389 adults with heart failure from CPRD Aurum.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Transformer signals distilled with SHAP into an 11-variable point-of-care model.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12-month mortality C-index 0.801 vs 0.735 for MAGGIC-EHR.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build a simple mortality-risk score from routine EHR variables.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age + BMI + comorbidities + medication count → mortality risk / follow-up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10.1038/s41746-026-03258-1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 · figura / tabla / plot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SIMPLE-HF risk score · página del PDF 2 · DOI: 10.1038/s41746-026-03258-1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ple_hf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373,389 adults with heart failure from CPRD Aurum.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 · figura / tabla / plot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SIMPLE-HF risk score · página del PDF 3 · DOI: 10.1038/s41746-026-03258-1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ple_hf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373,389 adults with heart failure from CPRD Aurum.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 · figura / tabla / plot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SIMPLE-HF risk score · página del PDF 4 · DOI: 10.1038/s41746-026-03258-1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ple_hf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373,389 adults with heart failure from CPRD Aurum.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1 · figura / tabla / plot 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SIMPLE-HF risk score · página del PDF 6 · DOI: 10.1038/s41746-026-03258-1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ple_hf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373,389 adults with heart failure from CPRD Aurum.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2: Acute kidney injury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Deep learning models for acute kidney injury prediction: multi-center external validation and simulated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AKI early warning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External validation and monitoring conditions show why time-aware prediction matters.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creatinine, eGFR, vitals and medication count to predict AKI risk.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https://www.nature.com/articles/s41746-026-02722-2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2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Deep learning models for acute kidney injury prediction: multi-center external validation and evaluation under simulated continuous monitoring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514600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AKI continuous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157,323 admissions across three cohorts.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Compared LSTM-Attention, Masked CNN, ITE-Transformer, XGBoost and logistic regression.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Continuous 12-hour online simulation revealed alert burden, not only AUROC.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evaluate deployment behavior, not only one test-set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time-window labs + vitals → AKI risk every 12h; measure alerts and 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10.1038/s41746-026-02722-2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2 · figura / tabla / plot 1/7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AKI continuous monitoring · página del PDF 2 · DOI: 10.1038/s41746-026-02722-2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ki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157,323 admissions across three cohorts.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2 · figura / tabla / plot 2/7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AKI continuous monitoring · página del PDF 3 · DOI: 10.1038/s41746-026-02722-2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ki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157,323 admissions across three cohorts.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2 · figura / tabla / plot 3/7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AKI continuous monitoring · página del PDF 4 · DOI: 10.1038/s41746-026-02722-2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ki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157,323 admissions across three cohorts.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2 · figura / tabla / plot 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AKI continuous monitoring · página del PDF 5 · DOI: 10.1038/s41746-026-02722-2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ki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157,323 admissions across three cohorts.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2 · figura / tabla / plot 5/7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AKI continuous monitoring · página del PDF 7 · DOI: 10.1038/s41746-026-02722-2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ki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157,323 admissions across three cohorts.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2 · figura / tabla / plot 6/7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AKI continuous monitoring · página del PDF 8 · DOI: 10.1038/s41746-026-02722-2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ki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157,323 admissions across three cohorts.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2 · figura / tabla / plot 7/7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AKI continuous monitoring · página del PDF 9 · DOI: 10.1038/s41746-026-02722-2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ki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157,323 admissions across three cohorts.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3: Sepsis deterioration trajectories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Machine learning predicts sepsis deterioration trajectories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Emergency/ICU deterioration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Predicting trajectories is more clinically useful than a single static label.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Create a deterioration label from vitals and plot risk over time.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https://www.nature.com/articles/s41746-026-02565-x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3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Machine learning predicts sepsis deterioration trajectories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194560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Sepsis trajectories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47,936 ICU patients meeting Sepsis-3 criteria.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Three trajectories: rapid recovery, slow recovery, clinical deterioration.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Median warning time before deterioration: 17.6 hours.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model disease trajectory, not only death/no-death.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dynamic vitals + variability → rapid recovery / slow recovery / deterioration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10.1038/s41746-026-02565-x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3 · figura / tabla / plot 1/9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Sepsis trajectories · página del PDF 2 · DOI: 10.1038/s41746-026-02565-x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psis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47,936 ICU patients meeting Sepsis-3 criteria.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3 · figura / tabla / plot 2/9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Sepsis trajectories · página del PDF 3 · DOI: 10.1038/s41746-026-02565-x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psis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47,936 ICU patients meeting Sepsis-3 criteria.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3 · figura / tabla / plot 3/9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Sepsis trajectories · página del PDF 4 · DOI: 10.1038/s41746-026-02565-x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psis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47,936 ICU patients meeting Sepsis-3 criteria.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3 · figura / tabla / plot 4/9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Sepsis trajectories · página del PDF 5 · DOI: 10.1038/s41746-026-02565-x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psis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47,936 ICU patients meeting Sepsis-3 criteria.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3 · figura / tabla / plot 5/9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Sepsis trajectories · página del PDF 6 · DOI: 10.1038/s41746-026-02565-x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psis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47,936 ICU patients meeting Sepsis-3 criteria.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3 · figura / tabla / plot 6/9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Sepsis trajectories · página del PDF 7 · DOI: 10.1038/s41746-026-02565-x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psis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47,936 ICU patients meeting Sepsis-3 criteria.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3 · figura / tabla / plot 7/9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Sepsis trajectories · página del PDF 8 · DOI: 10.1038/s41746-026-02565-x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psis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47,936 ICU patients meeting Sepsis-3 criteria.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3 · figura / tabla / plot 8/9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Sepsis trajectories · página del PDF 9 · DOI: 10.1038/s41746-026-02565-x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psis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47,936 ICU patients meeting Sepsis-3 criteria.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3 · figura / tabla / plot 9/9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Sepsis trajectories · página del PDF 10 · DOI: 10.1038/s41746-026-02565-x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psis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47,936 ICU patients meeting Sepsis-3 criteria.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4: Tiered early 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AI-powered tiered early warning framework addressing high false alarm rates for in-hospital mortality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Alert fatigue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 tiered strategy can reduce false alarms while still capturing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Compare one threshold vs low/medium/high risk bands.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https://www.nature.com/articles/s41746-026-02522-8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4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Artificial Intelligence-powered tiered early warning framework addressing high false alarm rates for in-hospital mortality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194560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AI-TEW early warning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174,292 ED visits across China and the United States.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Two-stage framework: ML risk model + thresholded tiered alerts.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Improved PPV from 9.8–18.8% to 32.5–40.5% with high NPV.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false alarms are clinical workload, not just statistics.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risk probability + SHAP reasons → low / watch / urgent alert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10.1038/s41746-026-02522-8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4 · figura / tabla / plot 1/8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AI-TEW early warning · página del PDF 2 · DOI: 10.1038/s41746-026-02522-8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tew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174,292 ED visits across China and the United States.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4 · figura / tabla / plot 2/8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AI-TEW early warning · página del PDF 3 · DOI: 10.1038/s41746-026-02522-8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tew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174,292 ED visits across China and the United States.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4 · figura / tabla / plot 3/8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AI-TEW early warning · página del PDF 4 · DOI: 10.1038/s41746-026-02522-8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tew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174,292 ED visits across China and the United States.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4 · figura / tabla / plot 4/8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AI-TEW early warning · página del PDF 6 · DOI: 10.1038/s41746-026-02522-8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tew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174,292 ED visits across China and the United States.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4 · figura / tabla / plot 5/8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AI-TEW early warning · página del PDF 7 · DOI: 10.1038/s41746-026-02522-8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tew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174,292 ED visits across China and the United States.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4 · figura / tabla / plot 6/8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AI-TEW early warning · página del PDF 8 · DOI: 10.1038/s41746-026-02522-8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tew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174,292 ED visits across China and the United States.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4 · figura / tabla / plot 7/8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AI-TEW early warning · página del PDF 10 · DOI: 10.1038/s41746-026-02522-8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tew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174,292 ED visits across China and the United States.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4 · figura / tabla / plot 8/8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AI-TEW early warning · página del PDF 15 · DOI: 10.1038/s41746-026-02522-8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tew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174,292 ED visits across China and the United States.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