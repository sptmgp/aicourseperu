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como la parte práctica que complementa el PPT de evidencia con papers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92824"/>
            <a:ext cx="5577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 · Métricas clínicas de IA · Orange Data Mining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6583680" y="6592824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 de IA y Transformación Digital en Salud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 · Práctica completa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21792" y="114300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clínicas de IA con Orange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&amp; Score · Confusion Matrix · ROC Analysis · Threshold decisions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658368" y="2743200"/>
            <a:ext cx="1417320" cy="292608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min demo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240280" y="2743200"/>
            <a:ext cx="1508760" cy="292608"/>
          </a:xfrm>
          <a:prstGeom prst="rect">
            <a:avLst/>
          </a:prstGeom>
          <a:solidFill>
            <a:srgbClr val="14B8A6"/>
          </a:solidFill>
          <a:ln w="8890">
            <a:solidFill>
              <a:srgbClr val="14B8A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 práctica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913632" y="2743200"/>
            <a:ext cx="1737360" cy="292608"/>
          </a:xfrm>
          <a:prstGeom prst="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 escenarios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806440" y="2743200"/>
            <a:ext cx="1645920" cy="292608"/>
          </a:xfrm>
          <a:prstGeom prst="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discusión + quiz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de clase: cada grupo selecciona un umbral, justifica FP/FN y defiende una decisión clínica.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7543800" y="3703320"/>
            <a:ext cx="3566160" cy="1005840"/>
          </a:xfrm>
          <a:prstGeom prst="rect">
            <a:avLst/>
          </a:prstGeom>
          <a:solidFill>
            <a:srgbClr val="172554"/>
          </a:solidFill>
          <a:ln w="8890">
            <a:solidFill>
              <a:srgbClr val="38BDF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sugerido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UCI Heart Disease + modelos de Session 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aprendizaje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final, el estudiante no solo calcula métricas: las interpreta clínicamente.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clase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291840" cy="1051560"/>
          </a:xfrm>
          <a:prstGeom prst="rect">
            <a:avLst/>
          </a:prstGeom>
          <a:solidFill>
            <a:srgbClr val="EFF6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Medir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Test &amp; Score y reconocer accuracy, precision, recall/sensitivity, F1 y AUC.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4434840" y="1188720"/>
            <a:ext cx="3291840" cy="1051560"/>
          </a:xfrm>
          <a:prstGeom prst="rect">
            <a:avLst/>
          </a:prstGeom>
          <a:solidFill>
            <a:srgbClr val="ECFE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Interpretar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TP, TN, FP y FN a consecuencias clínicas: casos perdidos, falsas alarmas y carga del sistema.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183880" y="1188720"/>
            <a:ext cx="3291840" cy="1051560"/>
          </a:xfrm>
          <a:prstGeom prst="rect">
            <a:avLst/>
          </a:prstGeom>
          <a:solidFill>
            <a:srgbClr val="FFFBEB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Decidir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un threshold según el escenario: screening, confirmación, farmacia, salud pública o triage.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central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529584"/>
            <a:ext cx="104241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métrica no es una respuesta clínica. Una métrica es evidencia para decidir qué error estamos dispuestos a aceptar.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4800600"/>
            <a:ext cx="83210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→ TP/TN/FP/FN → metrics → threshold → clinical action → human decision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práctico dentro de la sesión de 3 horas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material empieza después del PPT de evidencia/figuras 2026.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3200400" cy="613954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3977640" y="1143000"/>
            <a:ext cx="1828800" cy="613954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5806440" y="1143000"/>
            <a:ext cx="5577840" cy="613954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visible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77240" y="1756954"/>
            <a:ext cx="32004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 evidencia 2026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3977640" y="1756954"/>
            <a:ext cx="18288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45–60 min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5806440" y="1756954"/>
            <a:ext cx="557784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las métricas importan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777240" y="2370909"/>
            <a:ext cx="32004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demo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3977640" y="2370909"/>
            <a:ext cx="18288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min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5806440" y="2370909"/>
            <a:ext cx="557784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funcional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77240" y="2984863"/>
            <a:ext cx="32004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practice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3977640" y="2984863"/>
            <a:ext cx="18288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806440" y="2984863"/>
            <a:ext cx="557784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de métricas completada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777240" y="3598817"/>
            <a:ext cx="32004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 clínicos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3977640" y="3598817"/>
            <a:ext cx="18288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806440" y="3598817"/>
            <a:ext cx="557784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defendido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77240" y="4212771"/>
            <a:ext cx="32004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Discusión multidisciplinaria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3977640" y="4212771"/>
            <a:ext cx="18288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15–20 min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806440" y="4212771"/>
            <a:ext cx="557784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por profesión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77240" y="4826726"/>
            <a:ext cx="32004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+ cierre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3977640" y="4826726"/>
            <a:ext cx="182880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15–20 min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5806440" y="4826726"/>
            <a:ext cx="5577840" cy="61395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rápida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822960" y="571500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docente: si el PPT previo dura 60 min, mantenga al menos 120 min de práctica/discusión.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para la práctica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el mismo dataset de Session 4: heart disease / riesgo cardiovascular.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abrir Orange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2834640" cy="1508760"/>
          </a:xfrm>
          <a:prstGeom prst="rect">
            <a:avLst/>
          </a:prstGeom>
          <a:solidFill>
            <a:srgbClr val="FEF2F2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cad_presence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sin CAD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CAD presente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749040" y="1188720"/>
            <a:ext cx="3840480" cy="1508760"/>
          </a:xfrm>
          <a:prstGeom prst="rect">
            <a:avLst/>
          </a:prstGeom>
          <a:solidFill>
            <a:srgbClr val="EFF6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sex, chest pain type, trestbps, cholesterol, fasting glucose, ECG, thalach, exercise angina, oldpeak, slope, ca, thal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7818120" y="1188720"/>
            <a:ext cx="3566160" cy="1508760"/>
          </a:xfrm>
          <a:prstGeom prst="rect">
            <a:avLst/>
          </a:prstGeom>
          <a:solidFill>
            <a:srgbClr val="FFFBEB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hacemos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diagnosticamos automáticamente. No elegimos tratamiento. No ignoramos el contexto clínico.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clínica que guía la práctica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98755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modelo predice alto riesgo, ¿qué acción profesional es razonable y qué error clínico debemos evitar?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489204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sugerido: session4_uci_heart_disease_orange.csv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Orange demo: flujo completo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profesor construye esto en vivo durante 25 minutos.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25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File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1737360" y="1682496"/>
            <a:ext cx="18288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011680" y="1417320"/>
            <a:ext cx="13716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Select Columns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383280" y="1682496"/>
            <a:ext cx="22860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703320" y="1417320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4B8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Impute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937760" y="1682496"/>
            <a:ext cx="13716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66360" y="1417320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4 Learners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400800" y="1682496"/>
            <a:ext cx="13716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629400" y="1417320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Test &amp; Score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863840" y="1682496"/>
            <a:ext cx="2743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0" y="1417320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Confusion Matrix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9464040" y="1682496"/>
            <a:ext cx="45720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012680" y="1417320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ROC Analysis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166360" y="2788920"/>
            <a:ext cx="1554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3341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Predictions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10607040" y="1965960"/>
            <a:ext cx="-4663440" cy="82296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14400" y="4297680"/>
            <a:ext cx="1033272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Narrativa docente: “Primero predecimos. Luego evaluamos. Finalmente decidimos si el error del modelo es clínicamente aceptable.”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Orange demo 1: Test &amp; Score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comparar 4 modelos con las mismas reglas de validación.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25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2651760" cy="1737360"/>
          </a:xfrm>
          <a:prstGeom prst="rect">
            <a:avLst/>
          </a:prstGeom>
          <a:solidFill>
            <a:srgbClr val="EFF6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794760" y="1188720"/>
            <a:ext cx="3108960" cy="1737360"/>
          </a:xfrm>
          <a:prstGeom prst="rect">
            <a:avLst/>
          </a:prstGeom>
          <a:solidFill>
            <a:srgbClr val="ECFE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Cross-validation o train/test. Mantener la misma configuración para todos los modelos.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7269480" y="1188720"/>
            <a:ext cx="3246120" cy="1737360"/>
          </a:xfrm>
          <a:prstGeom prst="rect">
            <a:avLst/>
          </a:prstGeom>
          <a:solidFill>
            <a:srgbClr val="F5F3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AUC, CA/Accuracy, F1, Precision, Recall/Sensitivity.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que debe hacer el profesor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4096512"/>
            <a:ext cx="9875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¿Cuál parece “mejor” si solo vemos accuracy?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¿Cuál parece mejor si nos importa no perder enfermos?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¿Qué métrica usarían para screening?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¿Qué métrica usarían si una falsa alarma produce una prueba invasiva?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Orange demo 2: Confusion Matrix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transformar números en consecuencias clínicas.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25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257800" y="11338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2468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5196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Enfermo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3796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057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-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965960"/>
            <a:ext cx="1600200" cy="658368"/>
          </a:xfrm>
          <a:prstGeom prst="rect">
            <a:avLst/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1600200" cy="658368"/>
          </a:xfrm>
          <a:prstGeom prst="rect">
            <a:avLst/>
          </a:prstGeom>
          <a:solidFill>
            <a:srgbClr val="FEF2F2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51960" y="2971800"/>
            <a:ext cx="1600200" cy="658368"/>
          </a:xfrm>
          <a:prstGeom prst="rect">
            <a:avLst/>
          </a:prstGeom>
          <a:solidFill>
            <a:srgbClr val="FEF2F2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2971800"/>
            <a:ext cx="1600200" cy="658368"/>
          </a:xfrm>
          <a:prstGeom prst="rect">
            <a:avLst/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4617720"/>
            <a:ext cx="103327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clave: ¿cuántos pacientes enfermos estamos perdiendo? → FN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Orange demo 3: ROC Analysis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punto de la curva representa un threshold distinto.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25 min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325880" y="4526280"/>
            <a:ext cx="34747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4526280"/>
            <a:ext cx="0" cy="-29260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371600"/>
            <a:ext cx="3474720" cy="3154680"/>
          </a:xfrm>
          <a:prstGeom prst="arc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4526280"/>
            <a:ext cx="3474720" cy="-2926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4800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1 - Specificity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256032" y="27889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400800" y="1143000"/>
            <a:ext cx="4389120" cy="1417320"/>
          </a:xfrm>
          <a:prstGeom prst="rect">
            <a:avLst/>
          </a:prstGeom>
          <a:solidFill>
            <a:srgbClr val="EFF6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una curva decorativa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comparar todos los thresholds posibles. AUC resume separación, pero no elige el threshold clínico por usted.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4389120" cy="1417320"/>
          </a:xfrm>
          <a:prstGeom prst="rect">
            <a:avLst/>
          </a:prstGeom>
          <a:solidFill>
            <a:srgbClr val="FFFBEB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docente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pondría el threshold si perder un caso es muy peligroso? ¿Y si la falsa alarma conduce a una prueba invasiva?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threshold es una decisión clínica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da probabilidades; el equipo decide cuándo actuar.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 crítico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1234440" cy="566928"/>
          </a:xfrm>
          <a:prstGeom prst="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51760" y="1325880"/>
            <a:ext cx="1234440" cy="566928"/>
          </a:xfrm>
          <a:prstGeom prst="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325880"/>
            <a:ext cx="1234440" cy="566928"/>
          </a:xfrm>
          <a:prstGeom prst="rect">
            <a:avLst/>
          </a:prstGeom>
          <a:solidFill>
            <a:srgbClr val="F1F5F9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0" y="1325880"/>
            <a:ext cx="1234440" cy="566928"/>
          </a:xfrm>
          <a:prstGeom prst="rect">
            <a:avLst/>
          </a:prstGeom>
          <a:solidFill>
            <a:srgbClr val="FEE2E2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26680" y="1325880"/>
            <a:ext cx="1234440" cy="566928"/>
          </a:xfrm>
          <a:prstGeom prst="rect">
            <a:avLst/>
          </a:prstGeom>
          <a:solidFill>
            <a:srgbClr val="FEE2E2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8320" y="1325880"/>
            <a:ext cx="1234440" cy="566928"/>
          </a:xfrm>
          <a:prstGeom prst="rect">
            <a:avLst/>
          </a:prstGeom>
          <a:solidFill>
            <a:srgbClr val="FEE2E2"/>
          </a:solidFill>
          <a:ln w="889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97880" y="1143000"/>
            <a:ext cx="0" cy="109728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1214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= 0.50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3108960" cy="1143000"/>
          </a:xfrm>
          <a:prstGeom prst="rect">
            <a:avLst/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Bajar threshold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positivos → sensibilidad ↑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falsos positivos pueden ↑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108960" cy="1143000"/>
          </a:xfrm>
          <a:prstGeom prst="rect">
            <a:avLst/>
          </a:prstGeom>
          <a:solidFill>
            <a:srgbClr val="FEF2F2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Subir threshold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positivos → especificidad ↑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falsos negativos pueden ↑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138160" y="3291840"/>
            <a:ext cx="3108960" cy="1143000"/>
          </a:xfrm>
          <a:prstGeom prst="rect">
            <a:avLst/>
          </a:prstGeom>
          <a:solidFill>
            <a:srgbClr val="F5F3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oro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existe threshold universal. Depende del objetivo clínico, prevalencia, recursos y daño de cada error.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practice: instrucciones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estudiantes reproducen el flujo y completan una hoja de resultados.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2377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Abrir dataset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474720" y="1188720"/>
            <a:ext cx="2377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4B8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Definir target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263640" y="1188720"/>
            <a:ext cx="2377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Conectar 4 modelos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9052560" y="1188720"/>
            <a:ext cx="2377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Test &amp; Score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377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Confusion Matrix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377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4B8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ROC Analysis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6263640" y="2148840"/>
            <a:ext cx="2377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Predictions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de 35 min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1024128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tabla de métricas + una frase clínica por modelo: “lo usaría/no lo usaría para screening porque…”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 que deben completar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Copiar en papel o completar en grupo.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2194560" cy="585216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690" dirty="0"/>
          </a:p>
        </p:txBody>
      </p:sp>
      <p:sp>
        <p:nvSpPr>
          <p:cNvPr id="6" name="Text 4"/>
          <p:cNvSpPr/>
          <p:nvPr/>
        </p:nvSpPr>
        <p:spPr>
          <a:xfrm>
            <a:off x="2514600" y="1097280"/>
            <a:ext cx="1051560" cy="585216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3566160" y="1097280"/>
            <a:ext cx="1234440" cy="585216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4800600" y="1097280"/>
            <a:ext cx="1234440" cy="585216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Specificity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6035040" y="1097280"/>
            <a:ext cx="1051560" cy="585216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690" dirty="0"/>
          </a:p>
        </p:txBody>
      </p:sp>
      <p:sp>
        <p:nvSpPr>
          <p:cNvPr id="10" name="Text 8"/>
          <p:cNvSpPr/>
          <p:nvPr/>
        </p:nvSpPr>
        <p:spPr>
          <a:xfrm>
            <a:off x="7086600" y="1097280"/>
            <a:ext cx="777240" cy="585216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7863840" y="1097280"/>
            <a:ext cx="777240" cy="585216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8641080" y="1097280"/>
            <a:ext cx="3200400" cy="585216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clínico sugerido</a:t>
            </a:r>
            <a:endParaRPr lang="en-US" sz="690" dirty="0"/>
          </a:p>
        </p:txBody>
      </p:sp>
      <p:sp>
        <p:nvSpPr>
          <p:cNvPr id="13" name="Text 11"/>
          <p:cNvSpPr/>
          <p:nvPr/>
        </p:nvSpPr>
        <p:spPr>
          <a:xfrm>
            <a:off x="320040" y="1682496"/>
            <a:ext cx="2194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2514600" y="1682496"/>
            <a:ext cx="1051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3566160" y="1682496"/>
            <a:ext cx="12344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12344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7" name="Text 15"/>
          <p:cNvSpPr/>
          <p:nvPr/>
        </p:nvSpPr>
        <p:spPr>
          <a:xfrm>
            <a:off x="6035040" y="1682496"/>
            <a:ext cx="1051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7086600" y="1682496"/>
            <a:ext cx="7772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7863840" y="1682496"/>
            <a:ext cx="7772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20" name="Text 18"/>
          <p:cNvSpPr/>
          <p:nvPr/>
        </p:nvSpPr>
        <p:spPr>
          <a:xfrm>
            <a:off x="8641080" y="1682496"/>
            <a:ext cx="320040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320040" y="2267712"/>
            <a:ext cx="2194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690" dirty="0"/>
          </a:p>
        </p:txBody>
      </p:sp>
      <p:sp>
        <p:nvSpPr>
          <p:cNvPr id="22" name="Text 20"/>
          <p:cNvSpPr/>
          <p:nvPr/>
        </p:nvSpPr>
        <p:spPr>
          <a:xfrm>
            <a:off x="2514600" y="2267712"/>
            <a:ext cx="1051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3566160" y="2267712"/>
            <a:ext cx="12344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24" name="Text 22"/>
          <p:cNvSpPr/>
          <p:nvPr/>
        </p:nvSpPr>
        <p:spPr>
          <a:xfrm>
            <a:off x="4800600" y="2267712"/>
            <a:ext cx="12344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25" name="Text 23"/>
          <p:cNvSpPr/>
          <p:nvPr/>
        </p:nvSpPr>
        <p:spPr>
          <a:xfrm>
            <a:off x="6035040" y="2267712"/>
            <a:ext cx="1051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086600" y="2267712"/>
            <a:ext cx="7772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7863840" y="2267712"/>
            <a:ext cx="7772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28" name="Text 26"/>
          <p:cNvSpPr/>
          <p:nvPr/>
        </p:nvSpPr>
        <p:spPr>
          <a:xfrm>
            <a:off x="8641080" y="2267712"/>
            <a:ext cx="320040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320040" y="2852928"/>
            <a:ext cx="2194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690" dirty="0"/>
          </a:p>
        </p:txBody>
      </p:sp>
      <p:sp>
        <p:nvSpPr>
          <p:cNvPr id="30" name="Text 28"/>
          <p:cNvSpPr/>
          <p:nvPr/>
        </p:nvSpPr>
        <p:spPr>
          <a:xfrm>
            <a:off x="2514600" y="2852928"/>
            <a:ext cx="1051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1" name="Text 29"/>
          <p:cNvSpPr/>
          <p:nvPr/>
        </p:nvSpPr>
        <p:spPr>
          <a:xfrm>
            <a:off x="3566160" y="2852928"/>
            <a:ext cx="12344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2" name="Text 30"/>
          <p:cNvSpPr/>
          <p:nvPr/>
        </p:nvSpPr>
        <p:spPr>
          <a:xfrm>
            <a:off x="4800600" y="2852928"/>
            <a:ext cx="12344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6035040" y="2852928"/>
            <a:ext cx="1051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4" name="Text 32"/>
          <p:cNvSpPr/>
          <p:nvPr/>
        </p:nvSpPr>
        <p:spPr>
          <a:xfrm>
            <a:off x="7086600" y="2852928"/>
            <a:ext cx="7772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5" name="Text 33"/>
          <p:cNvSpPr/>
          <p:nvPr/>
        </p:nvSpPr>
        <p:spPr>
          <a:xfrm>
            <a:off x="7863840" y="2852928"/>
            <a:ext cx="7772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6" name="Text 34"/>
          <p:cNvSpPr/>
          <p:nvPr/>
        </p:nvSpPr>
        <p:spPr>
          <a:xfrm>
            <a:off x="8641080" y="2852928"/>
            <a:ext cx="320040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320040" y="3438144"/>
            <a:ext cx="2194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690" dirty="0"/>
          </a:p>
        </p:txBody>
      </p:sp>
      <p:sp>
        <p:nvSpPr>
          <p:cNvPr id="38" name="Text 36"/>
          <p:cNvSpPr/>
          <p:nvPr/>
        </p:nvSpPr>
        <p:spPr>
          <a:xfrm>
            <a:off x="2514600" y="3438144"/>
            <a:ext cx="1051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39" name="Text 37"/>
          <p:cNvSpPr/>
          <p:nvPr/>
        </p:nvSpPr>
        <p:spPr>
          <a:xfrm>
            <a:off x="3566160" y="3438144"/>
            <a:ext cx="12344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40" name="Text 38"/>
          <p:cNvSpPr/>
          <p:nvPr/>
        </p:nvSpPr>
        <p:spPr>
          <a:xfrm>
            <a:off x="4800600" y="3438144"/>
            <a:ext cx="12344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41" name="Text 39"/>
          <p:cNvSpPr/>
          <p:nvPr/>
        </p:nvSpPr>
        <p:spPr>
          <a:xfrm>
            <a:off x="6035040" y="3438144"/>
            <a:ext cx="10515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7086600" y="3438144"/>
            <a:ext cx="7772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43" name="Text 41"/>
          <p:cNvSpPr/>
          <p:nvPr/>
        </p:nvSpPr>
        <p:spPr>
          <a:xfrm>
            <a:off x="7863840" y="3438144"/>
            <a:ext cx="7772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44" name="Text 42"/>
          <p:cNvSpPr/>
          <p:nvPr/>
        </p:nvSpPr>
        <p:spPr>
          <a:xfrm>
            <a:off x="8641080" y="3438144"/>
            <a:ext cx="320040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45" name="Text 43"/>
          <p:cNvSpPr/>
          <p:nvPr/>
        </p:nvSpPr>
        <p:spPr>
          <a:xfrm>
            <a:off x="548640" y="4572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interpretación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594360" y="4956048"/>
            <a:ext cx="107899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¿Cuál detecta más enfermos?  • ¿Cuál genera menos falsas alarmas?  • ¿Cuál tiene mayor AUC?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¿Cuál explicarían mejor a un paciente o a un comité clínico?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practice: errores frecuentes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comparar métricas, revisar estos cuatro puntos.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606040" cy="1463040"/>
          </a:xfrm>
          <a:prstGeom prst="rect">
            <a:avLst/>
          </a:prstGeom>
          <a:solidFill>
            <a:srgbClr val="FEF2F2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Target equivocado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target no es cad_presence, las métricas no responden a la pregunta clínica.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474720" y="1143000"/>
            <a:ext cx="2606040" cy="1463040"/>
          </a:xfrm>
          <a:prstGeom prst="rect">
            <a:avLst/>
          </a:prstGeom>
          <a:solidFill>
            <a:srgbClr val="FFFBEB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ID como feature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identificador puede crear patrones artificiales o leakage.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6309360" y="1143000"/>
            <a:ext cx="2606040" cy="1463040"/>
          </a:xfrm>
          <a:prstGeom prst="rect">
            <a:avLst/>
          </a:prstGeom>
          <a:solidFill>
            <a:srgbClr val="ECFE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Missing ignorado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Orange detecta valores faltantes, usar Impute antes de entrenar.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9144000" y="1143000"/>
            <a:ext cx="2606040" cy="1463040"/>
          </a:xfrm>
          <a:prstGeom prst="rect">
            <a:avLst/>
          </a:prstGeom>
          <a:solidFill>
            <a:srgbClr val="F5F3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Accuracy aislada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puede engañar si los grupos están desbalanceados.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práctica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279392"/>
            <a:ext cx="996696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pueden explicar qué significa un FP o FN en el caso clínico, todavía no han evaluado el modelo.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escenarios clínicos: elegir métrica y threshold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grupo resuelve un escenario y defiende su decisión.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3291840" cy="1097280"/>
          </a:xfrm>
          <a:prstGeom prst="rect">
            <a:avLst/>
          </a:prstGeom>
          <a:solidFill>
            <a:srgbClr val="FEF2F2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Screening cardiovascular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perder enfermos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4480560" y="1234440"/>
            <a:ext cx="3291840" cy="1097280"/>
          </a:xfrm>
          <a:prstGeom prst="rect">
            <a:avLst/>
          </a:prstGeom>
          <a:solidFill>
            <a:srgbClr val="FFFBEB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Prueba invasiva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falsas alarmas costosas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275320" y="1234440"/>
            <a:ext cx="3291840" cy="1097280"/>
          </a:xfrm>
          <a:prstGeom prst="rect">
            <a:avLst/>
          </a:prstGeom>
          <a:solidFill>
            <a:srgbClr val="F5F3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Sepsis / deterioro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puede ser grave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291840" cy="1097280"/>
          </a:xfrm>
          <a:prstGeom prst="rect">
            <a:avLst/>
          </a:prstGeom>
          <a:solidFill>
            <a:srgbClr val="ECFE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Farmacia clínica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 para revisión, no suspensión automática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480560" y="2834640"/>
            <a:ext cx="3291840" cy="1097280"/>
          </a:xfrm>
          <a:prstGeom prst="rect">
            <a:avLst/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Salud pública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recursos vs casos perdidos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85800" y="5074920"/>
            <a:ext cx="107899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de respuesta: “Elegimos threshold ___ porque queremos priorizar ___ y aceptaríamos ___ como costo clínico.”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 1 — Screening cardiovascular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identificar pacientes que podrían necesitar revisión adicional.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029200" cy="1280160"/>
          </a:xfrm>
          <a:prstGeom prst="rect">
            <a:avLst/>
          </a:prstGeom>
          <a:solidFill>
            <a:srgbClr val="FEF2F2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deben decidir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= paciente con CAD clasificado como bajo riesgo. Priorizar sensibilidad/recall.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172200" y="1234440"/>
            <a:ext cx="5029200" cy="1280160"/>
          </a:xfrm>
          <a:prstGeom prst="rect">
            <a:avLst/>
          </a:prstGeom>
          <a:solidFill>
            <a:srgbClr val="FEF2F2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Recomendación razonable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bajo o moderado: más pacientes positivos, menos casos perdidos, pero más carga de confirmación.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para el grupo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10332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¿Qué es TP, FP, FN y TN en este escenario?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¿Qué error es más dañino?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¿Qué métrica debe mandar la decisión?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¿Cómo cambia el threshold?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¿Qué acción humana sigue a la predicción?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 2 — Positivo conduce a prueba invasiva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evitar procedimientos innecesarios.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029200" cy="1280160"/>
          </a:xfrm>
          <a:prstGeom prst="rect">
            <a:avLst/>
          </a:prstGeom>
          <a:solidFill>
            <a:srgbClr val="FFFBEB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deben decidir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 = paciente sano referido a prueba costosa/invasiva. Priorizar especificidad/PPV.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172200" y="1234440"/>
            <a:ext cx="5029200" cy="1280160"/>
          </a:xfrm>
          <a:prstGeom prst="rect">
            <a:avLst/>
          </a:prstGeom>
          <a:solidFill>
            <a:srgbClr val="FFFBEB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Recomendación razonable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más alto: menos falsos positivos, pero vigilar no perder demasiados casos reales.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para el grupo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10332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¿Qué es TP, FP, FN y TN en este escenario?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¿Qué error es más dañino?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¿Qué métrica debe mandar la decisión?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¿Cómo cambia el threshold?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¿Qué acción humana sigue a la predicción?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 3 — Sepsis o deterioro clínico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detectar rápido un paciente que se puede deteriorar.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029200" cy="1280160"/>
          </a:xfrm>
          <a:prstGeom prst="rect">
            <a:avLst/>
          </a:prstGeom>
          <a:solidFill>
            <a:srgbClr val="F5F3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deben decidir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 = tratamiento o vigilancia tardía. Priorizar sensibilidad alta.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172200" y="1234440"/>
            <a:ext cx="5029200" cy="1280160"/>
          </a:xfrm>
          <a:prstGeom prst="rect">
            <a:avLst/>
          </a:prstGeom>
          <a:solidFill>
            <a:srgbClr val="F5F3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Recomendación razonable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bajo: más alertas; se requiere protocolo para manejar alert fatigue.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para el grupo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10332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¿Qué es TP, FP, FN y TN en este escenario?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¿Qué error es más dañino?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¿Qué métrica debe mandar la decisión?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¿Cómo cambia el threshold?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¿Qué acción humana sigue a la predicción?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 4 — Farmacia clínica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priorizar revisión de riesgo farmacológico.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029200" cy="1280160"/>
          </a:xfrm>
          <a:prstGeom prst="rect">
            <a:avLst/>
          </a:prstGeom>
          <a:solidFill>
            <a:srgbClr val="ECFE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deben decidir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 falsa genera fatiga, pero FN puede dejar daño prevenible. Balance PPV + sensibilidad.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172200" y="1234440"/>
            <a:ext cx="5029200" cy="1280160"/>
          </a:xfrm>
          <a:prstGeom prst="rect">
            <a:avLst/>
          </a:prstGeom>
          <a:solidFill>
            <a:srgbClr val="ECFE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Recomendación razonable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recomendada: revisión farmacéutica prioritaria, no cambio automático de medicación.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para el grupo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10332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¿Qué es TP, FP, FN y TN en este escenario?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¿Qué error es más dañino?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¿Qué métrica debe mandar la decisión?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¿Cómo cambia el threshold?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¿Qué acción humana sigue a la predicción?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 5 — Salud pública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decidir a quién enviar a confirmación o seguimiento.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029200" cy="1280160"/>
          </a:xfrm>
          <a:prstGeom prst="rect">
            <a:avLst/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deben decidir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del recurso escaso: perder casos vs saturar servicios. Mirar sensibilidad, especificidad y net benefit.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172200" y="1234440"/>
            <a:ext cx="5029200" cy="1280160"/>
          </a:xfrm>
          <a:prstGeom prst="rect">
            <a:avLst/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Recomendación razonable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es política sanitaria: recursos, prevalencia, equidad y costo de FP/FN.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para el grupo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10332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¿Qué es TP, FP, FN y TN en este escenario?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¿Qué error es más dañino?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¿Qué métrica debe mandar la decisión?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¿Cómo cambia el threshold?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¿Qué acción humana sigue a la predicción?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Discusión multidisciplinaria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resultado del modelo, diferentes acciones profesionales.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15–20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Paciente: 67 años · HTA · diabetes · colesterol alto · dolor torácico · modelo = riesgo 0.72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651760" cy="1051560"/>
          </a:xfrm>
          <a:prstGeom prst="rect">
            <a:avLst/>
          </a:prstGeom>
          <a:solidFill>
            <a:srgbClr val="EFF6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con evaluación clínica, ECG/labs/imágenes según protocolo.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611880" y="1828800"/>
            <a:ext cx="2651760" cy="1051560"/>
          </a:xfrm>
          <a:prstGeom prst="rect">
            <a:avLst/>
          </a:prstGeom>
          <a:solidFill>
            <a:srgbClr val="ECFE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Enfermería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Vigilar signos, síntomas, priorización y educación del paciente.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2651760" cy="1051560"/>
          </a:xfrm>
          <a:prstGeom prst="rect">
            <a:avLst/>
          </a:prstGeom>
          <a:solidFill>
            <a:srgbClr val="F0FDF4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Farmacia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medicación, interacciones, adherencia y factores de riesgo.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9464040" y="1828800"/>
            <a:ext cx="2331720" cy="1051560"/>
          </a:xfrm>
          <a:prstGeom prst="rect">
            <a:avLst/>
          </a:prstGeom>
          <a:solidFill>
            <a:srgbClr val="FFFBEB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Salud pública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Intervención en tabaquismo, dieta, seguimiento y acceso a cuidado.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cierre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104241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¿Quién recibe la alerta?  • ¿Qué acción ocurre en los siguientes 10 minutos?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¿Qué debe documentarse en la HCE?  • ¿Cómo evitamos alert fatigue?  • ¿Cómo sabremos si ayuda?</a:t>
            </a:r>
            <a:endParaRPr lang="en-US" sz="13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gráfico a decisión profesional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grupo debe presentar en 3 minutos.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Discusión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2011680" cy="701040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</a:t>
            </a:r>
            <a:endParaRPr lang="en-US" sz="89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8138160" cy="701040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que deben responder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1005840" y="1844040"/>
            <a:ext cx="201168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3017520" y="1844040"/>
            <a:ext cx="813816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métrica o curva observaron?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1005840" y="2545080"/>
            <a:ext cx="201168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017520" y="2545080"/>
            <a:ext cx="813816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error clínico preocupa más?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201168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3017520" y="3246120"/>
            <a:ext cx="813816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¿Lo bajan, lo suben o lo dejan? ¿Por qué?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1005840" y="3947160"/>
            <a:ext cx="201168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3017520" y="3947160"/>
            <a:ext cx="813816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 el equipo después de la alerta?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1005840" y="4648200"/>
            <a:ext cx="201168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3017520" y="4648200"/>
            <a:ext cx="8138160" cy="7010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control humano evita daño?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cierre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preguntas clínicas. Responder primero individualmente y luego discutir.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15–20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10241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buscamos memorizar fórmulas. Buscamos razonar como equipo clínico que usa IA.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57400" y="2926080"/>
            <a:ext cx="8046720" cy="1143000"/>
          </a:xfrm>
          <a:prstGeom prst="rect">
            <a:avLst/>
          </a:prstGeom>
          <a:solidFill>
            <a:srgbClr val="F5F3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del quiz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respuesta debe incluir una consecuencia clínica: ¿qué pasa con el paciente o el servicio?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1–2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y justificar con consecuencia clínica.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tiene sensibilidad 98%. ¿Qué significa?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217920" y="1143000"/>
            <a:ext cx="4937760" cy="1143000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98% de quienes realmente tienen la condición.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98% pero sensibilidad 20%. ¿Sirve para screening grave?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21792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Probablemente no: pierde muchos casos positivos.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3–4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y justificar con consecuencia clínica.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 tiene CAD pero el modelo dice “no CAD”. ¿Qué es?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217920" y="1143000"/>
            <a:ext cx="4937760" cy="1143000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Negative (FN).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ocurre generalmente al bajar el threshold?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21792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Sube sensibilidad; pueden aumentar falsos positivos.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5–6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y justificar con consecuencia clínica.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positivo conduce a biopsia. ¿Qué error preocupa?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217920" y="1143000"/>
            <a:ext cx="4937760" cy="1143000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 (FP), por procedimiento innecesario.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representa ROC?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21792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sensibilidad/especificidad a diferentes thresholds.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7–8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y justificar con consecuencia clínica.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 = 0.95. ¿Ya tenemos threshold clínico?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217920" y="1143000"/>
            <a:ext cx="4937760" cy="1143000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AUC no selecciona threshold.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PPV cambia entre hospitales?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21792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depende de prevalencia y case-mix.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9–10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y justificar con consecuencia clínica.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 peor, FP o FN?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6217920" y="1143000"/>
            <a:ext cx="4937760" cy="1143000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del contexto y costo clínico.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 · Pregunta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debe seleccionar el threshold final?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217920" y="3291840"/>
            <a:ext cx="49377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esperada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clínico + evidencia + recursos + objetivo de uso.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checklist antes de confiar en un modelo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al final de Session 5.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863840" cy="600891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8961120" y="1005840"/>
            <a:ext cx="2011680" cy="600891"/>
          </a:xfrm>
          <a:prstGeom prst="rect">
            <a:avLst/>
          </a:prstGeom>
          <a:solidFill>
            <a:srgbClr val="2563EB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Sí/No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097280" y="1606731"/>
            <a:ext cx="786384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target corresponde a la decisión clínica?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961120" y="1606731"/>
            <a:ext cx="201168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1097280" y="2207623"/>
            <a:ext cx="786384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¿Miramos sensitivity y specificity, no solo accuracy?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8961120" y="2207623"/>
            <a:ext cx="201168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097280" y="2808514"/>
            <a:ext cx="786384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¿Calculamos o interpretamos FP/FN?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8961120" y="2808514"/>
            <a:ext cx="201168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1097280" y="3409406"/>
            <a:ext cx="786384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¿Elegimos threshold según escenario?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8961120" y="3409406"/>
            <a:ext cx="201168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097280" y="4010297"/>
            <a:ext cx="786384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¿Definimos acción humana posterior?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8961120" y="4010297"/>
            <a:ext cx="201168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1097280" y="4611189"/>
            <a:ext cx="786384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¿Sabemos qué monitorear en implementación?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8961120" y="4611189"/>
            <a:ext cx="2011680" cy="60089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1280160" y="5486400"/>
            <a:ext cx="96926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final: En IA clínica, la métrica es matemática; aceptar o evitar un error es una decisión clínica.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Conexión con las siguientes sesiones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queda integrada al curso completo.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Puente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1488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4B8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S3. Preparar datos confiables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3063240" y="2130552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840480" y="1828800"/>
            <a:ext cx="21488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S4. Construir modelos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989320" y="2130552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766560" y="1828800"/>
            <a:ext cx="21488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S5. Evaluar clínicamente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8915400" y="2130552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692640" y="1828800"/>
            <a:ext cx="21488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S6. Implementar en Python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aprendieron hoy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104241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entrenar un modelo. Hay que demostrar que su error es interpretable, manejable y clínicamente aceptable.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de apoyo para esta práctica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figuras/evidencia principal están en el PPT de lectura; aquí se usan como fundamento de discusión.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1965960" cy="2743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749040" cy="679269"/>
          </a:xfrm>
          <a:prstGeom prst="rect">
            <a:avLst/>
          </a:prstGeom>
          <a:solidFill>
            <a:srgbClr val="0F172A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Artículo 2026</a:t>
            </a:r>
            <a:endParaRPr lang="en-US" sz="770" dirty="0"/>
          </a:p>
        </p:txBody>
      </p:sp>
      <p:sp>
        <p:nvSpPr>
          <p:cNvPr id="6" name="Text 4"/>
          <p:cNvSpPr/>
          <p:nvPr/>
        </p:nvSpPr>
        <p:spPr>
          <a:xfrm>
            <a:off x="4389120" y="1005840"/>
            <a:ext cx="7132320" cy="679269"/>
          </a:xfrm>
          <a:prstGeom prst="rect">
            <a:avLst/>
          </a:prstGeom>
          <a:solidFill>
            <a:srgbClr val="0F172A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en esta sesión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640080" y="1685109"/>
            <a:ext cx="374904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 et al., five-phase evaluation framework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4389120" y="1685109"/>
            <a:ext cx="713232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no bastan; validar interacción, evidencia clínica y uso real.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640080" y="2364377"/>
            <a:ext cx="374904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Chen et al., diabetic retinopathy screening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4389120" y="2364377"/>
            <a:ext cx="713232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Sensibilidad/especificidad, prevalencia, net benefit y threshold.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640080" y="3043646"/>
            <a:ext cx="374904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Killalea et al., AI-ECG + AI-FoCUS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4389120" y="3043646"/>
            <a:ext cx="713232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PPV/NPV y estrategia de dos pasos.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640080" y="3722914"/>
            <a:ext cx="374904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Laiouar-Pedari et al., melanoma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4389120" y="3722914"/>
            <a:ext cx="713232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sensibilidad/especificidad: dermatólogos, IA y dermatólogos + IA.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640080" y="4402183"/>
            <a:ext cx="374904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Wang et al., brain MRI LLM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4389120" y="4402183"/>
            <a:ext cx="713232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AUPRC/AUROC, sensibilidad/especificidad y formato estructurado.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640080" y="5081451"/>
            <a:ext cx="374904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Chen et al., CRLM clinician-AI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4389120" y="5081451"/>
            <a:ext cx="7132320" cy="679269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sobre desempeño humano: AUC, tiempo y confianza.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4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Sesion 5 Practica Orange Metricas Clinicas</dc:title>
  <dc:subject>Practical block for Session 5: clinical AI metrics</dc:subject>
  <dc:creator>OpenAI</dc:creator>
  <cp:lastModifiedBy>OpenAI</cp:lastModifiedBy>
  <cp:revision>1</cp:revision>
  <dcterms:created xsi:type="dcterms:W3CDTF">2026-09-28T01:50:25Z</dcterms:created>
  <dcterms:modified xsi:type="dcterms:W3CDTF">2026-09-28T01:50:25Z</dcterms:modified>
</cp:coreProperties>
</file>