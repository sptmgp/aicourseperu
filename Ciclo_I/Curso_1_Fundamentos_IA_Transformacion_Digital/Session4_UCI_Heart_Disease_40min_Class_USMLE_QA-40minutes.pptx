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Pacientes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CAD</c:v>
                  </c:pt>
                  <c:pt idx="1">
                    <c:v>CAD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</c:v>
                </c:pt>
                <c:pt idx="1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CAD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Edad</c:v>
                  </c:pt>
                  <c:pt idx="1">
                    <c:v>FC máxima</c:v>
                  </c:pt>
                  <c:pt idx="2">
                    <c:v>Oldpeak x100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52.6</c:v>
                </c:pt>
                <c:pt idx="1">
                  <c:v>158.4</c:v>
                </c:pt>
                <c:pt idx="2">
                  <c:v>58.6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CAD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Edad</c:v>
                  </c:pt>
                  <c:pt idx="1">
                    <c:v>FC máxima</c:v>
                  </c:pt>
                  <c:pt idx="2">
                    <c:v>Oldpeak x100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56.6</c:v>
                </c:pt>
                <c:pt idx="1">
                  <c:v>139.3</c:v>
                </c:pt>
                <c:pt idx="2">
                  <c:v>157.4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60196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de IA y Transformación Digital en Salud · Sesión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y predicción clínica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91440"/>
            <a:ext cx="4023360" cy="4023360"/>
          </a:xfrm>
          <a:prstGeom prst="arc">
            <a:avLst/>
          </a:prstGeom>
          <a:noFill/>
          <a:ln w="254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Sesión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Clasificación y predicción clínica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UCI Heart Disease Dataset + Orange Data Mining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Pregunta guía: ¿podemos usar datos previos para estimar riesgo cardíaco en un paciente nuevo?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70332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13048"/>
            <a:ext cx="4754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Producto final: comparar 3–4 clasificadores y decidir cuál tiene sentido clínico.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892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Para medicina · enfermería · farmacia · salud pública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final de estos 40 minutos, el estudiante debe poder…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Objetivos prácticos de la introducción de Sesión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914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Definir target, features y train/test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No memorizar: aplicar.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371600"/>
            <a:ext cx="914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Construir un modelo simple en Orange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Pensar en riesgo, error y seguridad.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00400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Comparar Logistic, Tree, Random Forest y kNN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Usar modelos como apoyo, no diagnóstico automático.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72200" y="320040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200400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Traducir métricas a decisiones clínicas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Preparar camino hacia métricas de Sesión 5.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historia clínica como problema de clasificación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reto no es “usar IA”; es formular una pregunta clínica clara.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Paciente nuevo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97480" y="2240280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40480" y="169164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801368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Datos medidos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Edad · BP · ECG · colesterol · dolor torácico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2240280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63840" y="19202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Modelo entrenado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29800" y="2240280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561320" y="169164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1801368"/>
            <a:ext cx="8229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</a:rPr>
              <a:t>Riesgo / clase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</a:rPr>
              <a:t>CAD sí/no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4572000"/>
            <a:ext cx="1014984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681728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La salida no es “verdad clínica”; es una estimación que debe revisarse con contexto, examen, pruebas confirmatorias y juicio profesional.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UCI Heart Disease: por qué es útil para enseñar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dataset pequeño pero clásico para comprender clasificación clínica.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Origen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4 bases: Cleveland, Hungary, Switzerland y VA Long Beach.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91440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Tarea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Clasificación: distinguir presencia vs ausencia de enfermedad cardíaca.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325880"/>
            <a:ext cx="914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463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Tamaño docente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Cleveland procesado: 303 instancias, 13 features y 1 target.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29718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971800"/>
            <a:ext cx="9144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08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Clinical realism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Incluye datos de edad, dolor torácico, ECG, colesterol, presión, ejercicio y angiografía.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172200" y="29718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971800"/>
            <a:ext cx="9144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08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Advertencia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Es educativo, histórico y pequeño: no se usa para diagnóstico real ni para reemplazar guías clínicas actuales.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Fuente: UCI Machine Learning Repository, Heart Disease Dataset.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target clínico: ¿qué estamos intentando predecir?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 el dataset, “num” resume enfermedad angiográfica.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38528"/>
            <a:ext cx="2651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num = 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&lt;50% narrowing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“no CAD”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938528"/>
            <a:ext cx="2651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</a:rPr>
              <a:t>num = 1–4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</a:rPr>
              <a:t>&gt;50% narrowing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F1D1D"/>
                </a:solidFill>
              </a:rPr>
              <a:t>“CAD present”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938528"/>
            <a:ext cx="2651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Para Orange convertimos este problema en binario: cad_presence = 0 / 1.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160520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270248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Esto enseña supervisión: el modelo aprende de pacientes etiquetados con una respuesta conocida.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UCI variable “num”: angiographic disease status.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variables: datos que un equipo clínico entiende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son “números de computadora”: son mediciones y hallazgos clínicos.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age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edad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23444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34416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sex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sexo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4416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cp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tipo dolor torácico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235440" y="123444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2600" y="134416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trestbps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presión reposo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05740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6712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chol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colesterol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05740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16712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fbs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glucosa ayuno &gt;120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205740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16712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restecg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ECG reposo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35440" y="205740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16712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thalach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FC máxima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28803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exang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angina inducida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0" y="28803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oldpeak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ST depression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28803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slope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pendiente 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35440" y="28803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ca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# vasos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370332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1304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thal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thal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" y="5303520"/>
            <a:ext cx="1024128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413248"/>
            <a:ext cx="9966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8350F"/>
                </a:solidFill>
              </a:rPr>
              <a:t>Discusión: ¿qué variables puede medir enfermería? ¿cuáles farmacéutico? ¿cuáles requieren prueba diagnóstica?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Distribución del target: no es perfectamente balanceado, pero es manejable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Cleveland procesado: 164 sin CAD, 139 con CAD.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07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97280" y="146304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55448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0" y="1554480"/>
            <a:ext cx="9144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691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Pregunta docente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294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Si el dataset tuviera 95% “no CAD” y 5% “CAD”, ¿accuracy sería suficiente?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6400800" y="29718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971800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Respuesta esperada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29400" y="3474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No. En problemas desbalanceados se necesitan sensibilidad, especificidad, PPV/NPV y análisis clínico del error.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Diferencias observadas en el dataset: ¿qué señales parecen útiles?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Promedios por grupo, solo para orientar la exploración.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08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1887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55448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554480"/>
            <a:ext cx="914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Interpretación clínica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0372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El grupo con CAD tiene mayor edad promedio, menor FC máxima y mayor depresión ST inducida por ejercicio.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6675120" y="315468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3154680"/>
            <a:ext cx="9144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3291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Cuidado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0372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Asociación descriptiva no es causalidad, diagnóstico ni recomendación terapéutica.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 = learn. Test = prove.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separación train/test protege contra autoengaño.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38528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Dataset completo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303 pacientes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0" y="2240280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1417320"/>
            <a:ext cx="2103120" cy="1554480"/>
          </a:xfrm>
          <a:prstGeom prst="roundRect">
            <a:avLst>
              <a:gd name="adj" fmla="val 35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527048"/>
            <a:ext cx="18288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TRAIN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80%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El modelo aprende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2103120" cy="1554480"/>
          </a:xfrm>
          <a:prstGeom prst="roundRect">
            <a:avLst>
              <a:gd name="adj" fmla="val 352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527048"/>
            <a:ext cx="18288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TEST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20%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El modelo demuestra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69680" y="2240280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66960" y="182880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04120" y="1938528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</a:rPr>
              <a:t>Performance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</a:rPr>
              <a:t>¿Generaliza?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103327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681728"/>
            <a:ext cx="10058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Mensaje clave: un modelo que recuerda muy bien el entrenamiento puede fallar con pacientes nuevos.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 workflow para esta clase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Sin programación: arrastrar, conectar, comparar e interpretar.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6916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13716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4813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Select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13716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4813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Impute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6916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0920" y="13716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4813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81160" y="16916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13716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14813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35204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97480" y="3200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kNN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5204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0" y="3200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Test &amp; Score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5204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60920" y="3200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35204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92640" y="3200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Predictions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5486400"/>
            <a:ext cx="10515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596128"/>
            <a:ext cx="10241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Cada widget debe responder una pregunta clínica: ¿qué entra?, ¿qué aprende?, ¿qué error comete?, ¿qué haría el equipo profesional?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Regression: riesgo interpretable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Bueno cuando queremos una probabilidad y un modelo relativamente explicable.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38528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Features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age + BP + cholesterol + ECG + thalach + oldpeak…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228600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49240" y="1828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938528"/>
            <a:ext cx="17373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Weighted combination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coeficientes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43800" y="228600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1828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938528"/>
            <a:ext cx="17373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8350F"/>
                </a:solidFill>
              </a:rPr>
              <a:t>Probability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8350F"/>
                </a:solidFill>
              </a:rPr>
              <a:t>CAD = 0.82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023360"/>
            <a:ext cx="9144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1605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Uso clínico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Comunicar riesgo y apoyar triage/seguimiento cuando la interpretabilidad importa.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26480" y="402336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4023360"/>
            <a:ext cx="9144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605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Cuidado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Puede perder relaciones no lineales o interacciones complejas.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Tree: muy visual, pero puede sobreajustar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Útil para enseñar reglas: “si esto, entonces aquello”.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188720" y="13716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cp = asymptomatic?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965960"/>
            <a:ext cx="-1005840" cy="7772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1965960"/>
            <a:ext cx="1097280" cy="7772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78892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98648"/>
            <a:ext cx="1554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YES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oldpeak high?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78892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898648"/>
            <a:ext cx="1645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thalach high?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00200" y="3429000"/>
            <a:ext cx="0" cy="6858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60520" y="3429000"/>
            <a:ext cx="0" cy="68580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41605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7024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</a:rPr>
              <a:t>HIGH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416052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270248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</a:rPr>
              <a:t>LOWER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463040"/>
            <a:ext cx="9144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600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Por qué gusta a médicos/enfermería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La lógica se puede seguir como algoritmo clínico.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400800" y="274320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743200"/>
            <a:ext cx="9144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Riesgo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Un árbol profundo puede aprender ruido específico del dataset.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Forest: muchos árboles votando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Reduce la fragilidad de un solo árbol.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777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Tree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23774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2487168"/>
            <a:ext cx="777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Tree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72768"/>
            <a:ext cx="777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Tree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487168"/>
            <a:ext cx="777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Tree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4630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572768"/>
            <a:ext cx="777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Tree 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3886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995928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Combined vote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CAD = 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0" y="14173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417320"/>
            <a:ext cx="9144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Ventaja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0100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Captura interacciones complejas y suele funcionar bien en datos tabulares.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772400" y="27432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2743200"/>
            <a:ext cx="9144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2880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En artículo NPJ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0100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Random forest detectó eventos adversos endoscópicos desde metadatos con AUC-ROC hasta 0.96 para readmisión.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Wittlinger et al., npj Digital Medicine 2025.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kNN: “pacientes parecidos”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construye reglas complejas: compara con casos similares.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754880" y="219456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8350F"/>
                </a:solidFill>
              </a:rPr>
              <a:t>Paciente nuevo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65D"/>
                </a:solidFill>
              </a:rPr>
              <a:t>No CAD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56032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67004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65D"/>
                </a:solidFill>
              </a:rPr>
              <a:t>No CAD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365760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76732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65D"/>
                </a:solidFill>
              </a:rPr>
              <a:t>No CAD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0" y="457200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468172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65D"/>
                </a:solidFill>
              </a:rPr>
              <a:t>No CAD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0" y="14630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57276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</a:rPr>
              <a:t>CAD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0" y="26517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76148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</a:rPr>
              <a:t>CAD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0" y="37490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385876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</a:rPr>
              <a:t>CAD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0" y="457200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4681728"/>
            <a:ext cx="640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</a:rPr>
              <a:t>CAD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534924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349240"/>
            <a:ext cx="914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486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Idea simple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" y="5852160"/>
            <a:ext cx="4572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Busca los k casos más cercanos y usa mayoría/voto.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126480" y="534924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534924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5486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Cuidado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5852160"/>
            <a:ext cx="4480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Es sensible a escala de variables y a datos ruidosos.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Mismo paciente, diferentes modelos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comparación enseña por qué no hay “modelo mágico”.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72768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86200" y="146304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572768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Salida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146304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57276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Fortaleza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192024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029968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86200" y="192024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029968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0.76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192024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02996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Interpretable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242316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532888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86200" y="242316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532888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High 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242316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53288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Rule path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292608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035808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86200" y="292608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0.84 risk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292608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03580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Robust tabular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342900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3538728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kNN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86200" y="34290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3538728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High risk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75120" y="342900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53872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Similar patients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97280" y="4389120"/>
            <a:ext cx="996696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4498848"/>
            <a:ext cx="9692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8350F"/>
                </a:solidFill>
              </a:rPr>
              <a:t>Pregunta: ¿cuál confiaría para screening, cuál para explicar al paciente y cuál para seguimiento poblacional?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 producir el estudiante al final de la práctica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basta con “corrí un modelo”. Debe justificarlo.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880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Target definido correctamente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554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64208"/>
            <a:ext cx="2880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Features seleccionadas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1554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664208"/>
            <a:ext cx="2880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4 modelos comparados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8346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44368"/>
            <a:ext cx="2880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Métricas interpretadas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28346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44368"/>
            <a:ext cx="2880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Errores clínicamente discutidos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28346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944368"/>
            <a:ext cx="2880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Siguiente acción profesional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Artículo 1: supervised learning en epidemiología clínica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Por qué esta sesión se centra en aprendizaje supervisado.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17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914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Concepto central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Supervised learning aprende de datos etiquetados y luego predice diagnóstico o pronóstico.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463040"/>
            <a:ext cx="9144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Aplicación médica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El artículo destaca diagnósticos, pronósticos y algoritmos como random forests y redes neuronales.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17520"/>
            <a:ext cx="914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1546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Mensaje docente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3520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La combinación de algoritmos y conocimiento humano es clave para aplicar ML exitosamente en medicina.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Ono &amp; Goto, Annals of Clinical Epidemiology 2022.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Artículo 2: Machine Learning in Medicine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Una advertencia útil para estudiantes de salud.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18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81328"/>
            <a:ext cx="4663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F1D1D"/>
                </a:solidFill>
              </a:rPr>
              <a:t>Miles de papers de ML en medicina no han cambiado automáticamente la práctica clínica.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481328"/>
            <a:ext cx="4663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El problema no es solo técnico: datos, pregunta clínica, validación, flujo de trabajo, utilidad y adopción.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93192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31920"/>
            <a:ext cx="914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06908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Frase para clase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44348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Un buen algoritmo sin una buena pregunta clínica se convierte en una demostración bonita, no en una solución sanitaria.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Deo, Circulation 2015.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Artículo 3: predicción de diabetes con clasificadores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Sirve como puente hacia dataset diabetes/cardiovascular.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9144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Problema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Diabetes requiere detección temprana para evitar complicaciones graves.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280160"/>
            <a:ext cx="914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Método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Comparación de SVM, Naive Bayes, kNN y Random Forest usando Pima Indian Diabetes Dataset.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280160"/>
            <a:ext cx="9144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Resultado reportado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SVM 91.5%, RF 90%, kNN 89%, NB 83% en ese estudio.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4400" y="4206240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15968"/>
            <a:ext cx="9784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8350F"/>
                </a:solidFill>
              </a:rPr>
              <a:t>Lección: comparar modelos es obligatorio; elegir “el primero que corre” no es ciencia ni medicina segura.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Ansari et al., Frontiers in Medicine 2025.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Artículo 4: eventos adversos en endoscopia con Random Forest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caso real de datos clínicos estructurados y metadatos.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9144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Problema clínico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Eventos adversos pueden estar subregistrados y aparecer después del procedimiento.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280160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Datos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Metadatos: ICD codes, tiempos de procedimiento, duración de estancia, readmisión.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280160"/>
            <a:ext cx="91440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Resultado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AUC-ROC: perforación 0.90, sangrado 0.84, readmisión 0.96.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07408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Lección: ML no solo diagnostica enfermedades; también mejora calidad, documentación, seguridad y gestión hospitalaria.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Wittlinger et al., npj Digital Medicine 2025.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por profesión: todos tienen algo que hacer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predicción clínica no pertenece solo al programador.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9144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Medicina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define pregunta, confirma diagnóstico y decide manejo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280160"/>
            <a:ext cx="9144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Enfermería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detecta datos faltantes, riesgo, flujo y seguridad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08960"/>
            <a:ext cx="9144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Farmacia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revisa medicamentos, interacciones y riesgo terapéutico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108960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Salud pública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interpreta población, sesgo, recursos y prevención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14984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596128"/>
            <a:ext cx="9875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El modelo predice; el equipo sanitario decide qué hacer responsablemente con la predicción.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clínicos: el falso negativo y el falso positivo no cuestan igual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interpretación depende del contexto.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97280" y="14630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CAD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no CAD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9202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029968"/>
            <a:ext cx="1280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Predice CAD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19202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02996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True positive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9202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02996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False positive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4688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578608"/>
            <a:ext cx="1280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Predice no CAD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51760" y="24688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57860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False negative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24688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57860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True negative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13716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371600"/>
            <a:ext cx="9144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Screening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2084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Puede priorizar sensibilidad: no perder casos.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492240" y="260604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2606040"/>
            <a:ext cx="9144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743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Intervención invasiva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2084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Puede exigir especificidad: evitar daño por falso positivo.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492240" y="384048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3840480"/>
            <a:ext cx="914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Sesión 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208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Aquí entra Confusion Matrix, ROC/AUC y umbral clínico.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 live demo: 25 minutos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profesor construye; los estudiantes predicen qué pasará.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4416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1. Load CSV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2344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4416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2. Set target = cad_presence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9572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3. Impute ca/thal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2860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39572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4. Add 4 learners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3375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5. Test &amp; Score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33375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6. Confusion Matrix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3891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9884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7. Predictions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7280" y="5623560"/>
            <a:ext cx="987552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5733288"/>
            <a:ext cx="9601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</a:rPr>
              <a:t>Regla docente: cada clic debe tener una pregunta clínica.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guiada: 35 minutos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Los estudiantes reproducen el workflow con el CSV.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35608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Entregable rápido: tabla comparativa de 4 modelos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585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Modelo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606040" y="21488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2585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Accuracy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389120" y="21488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2585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Sensitivity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585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Specificity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955280" y="21488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2585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Interpretability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738360" y="21488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22585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Clinical use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22960" y="26060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Logistic Regression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06040" y="26060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89120" y="26060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72200" y="26060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55280" y="26060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738360" y="260604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2960" y="310896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Decision Tree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06040" y="310896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0" y="310896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72200" y="310896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55280" y="310896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738360" y="310896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2960" y="361188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372160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606040" y="361188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372160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89120" y="361188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372160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72200" y="361188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72160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955280" y="361188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92440" y="372160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738360" y="361188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0" y="372160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22960" y="411480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0120" y="422452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kNN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606040" y="411480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422452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89120" y="411480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26280" y="422452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72200" y="411480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22452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955280" y="411480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92440" y="422452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738360" y="4114800"/>
            <a:ext cx="170078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875520" y="4224528"/>
            <a:ext cx="14264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clínico de grupo: riesgo cardíaco en atención primaria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requiere programar; requiere razonar.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35608"/>
            <a:ext cx="48463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</a:rPr>
              <a:t>Paciente: 58 años, dolor torácico con esfuerzo, colesterol elevado, BP alta, ECG anormal, FC máxima baja durante prueba.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937760" cy="2103120"/>
          </a:xfrm>
          <a:prstGeom prst="roundRect">
            <a:avLst>
              <a:gd name="adj" fmla="val 2609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35608"/>
            <a:ext cx="46634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Preguntas del grupo: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1) ¿Cuál es target?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2) ¿Qué features usaría?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3) ¿Qué error es más peligroso?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4) ¿Qué profesional debe revisar?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65D"/>
                </a:solidFill>
              </a:rPr>
              <a:t>5) ¿Qué acción sigue si “alto riesgo”?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138928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Respuesta esperada: predicción → revisión clínica → prueba confirmatoria/derivación → decisión; nunca “AI diagnosis automático”.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errores comunes que los estudiantes deben evitar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Estos errores convierten una demo de IA en riesgo clínico.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35608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Usar Patient_ID como feature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435608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No separar train/test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78608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Elegir por accuracy solamente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578608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Ignorar missing values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21608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Confundir predicción con diagnóstico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Q1: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27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Un paciente tiene dolor torácico atípico, colesterol 290, oldpeak elevado y thalach bajo. El modelo Random Forest predice CAD = alto riesgo. ¿Cuál es la acción más correcta?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Diagnosticar CAD automáticamente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Ignorar porque ML no es clínico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Revisar clínicamente y solicitar/confirmar pruebas apropiadas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Cambiar el target hasta que baje el riesgo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La predicción es apoyo de riesgo. Requiere correlación clínica y confirmación.</a:t>
            </a:r>
            <a:endParaRPr lang="en-US" sz="10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Q2: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28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En Orange, ¿cuál es el target correcto para una clasificación binaria en el dataset UCI?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chol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cad_presence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Patient_ID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cad_presence resume ausencia/presencia de enfermedad para clasificación supervisada.</a:t>
            </a:r>
            <a:endParaRPr lang="en-US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Q3: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El modelo tiene alta accuracy, pero pierde muchos pacientes con CAD. ¿Qué métrica preocupa más para screening?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Sensibilidad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Tamaño del archivo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Nombre del algoritmo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Número de widgets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En screening, falsos negativos son peligrosos; sensibilidad mide detección de positivos.</a:t>
            </a:r>
            <a:endParaRPr lang="en-US" sz="10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Q4: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¿Por qué kNN puede fallar si una variable está en escala muy grande?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Porque nunca usa datos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Porque compara distancias y una escala puede dominar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Porque no acepta variables clínicas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Porque solo funciona con imágenes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kNN depende de distancia; escalas diferentes distorsionan vecinos.</a:t>
            </a:r>
            <a:endParaRPr lang="en-US" sz="10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Q5: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Decision Tree muestra reglas claras, pero funciona peor en test. ¿Qué problema sospecha?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Overfitting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Mejor validación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Menos ruido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Más generalización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Un árbol profundo puede memorizar ruido y perder rendimiento en datos nuevos.</a:t>
            </a:r>
            <a:endParaRPr lang="en-US" sz="10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Q6: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En el dataset faltan algunos valores ca y thal. ¿Cuál es el primer paso profesional?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Borrar todo el dataset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Imputar sin mirar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Identificar patrón y significado clínico de los faltantes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Convertirlos a 999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Missingness puede reflejar proceso clínico, no solo problema técnico.</a:t>
            </a:r>
            <a:endParaRPr lang="en-US" sz="10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Q7: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¿Cuál ejemplo describe feature leakage?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Usar edad antes del diagnóstico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Usar colesterol basal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Usar resultado de angiografía como predictor de CAD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Usar presión de admisión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Si el predictor contiene la respuesta o información posterior, infla desempeño falsamente.</a:t>
            </a:r>
            <a:endParaRPr lang="en-US" sz="10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Q8: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Farmacia quiere usar el resultado del modelo. ¿Cuál uso es más seguro?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Ajustar medicación automáticamente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Priorizar revisión farmacoterapéutica en pacientes de alto riesgo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Suspender fármacos sin médico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Ignorar alergias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El modelo puede priorizar revisión, no reemplazar decisiones terapéuticas.</a:t>
            </a:r>
            <a:endParaRPr lang="en-US" sz="10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Q9: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En salud pública, el dataset contiene sobre todo hombres mayores. ¿Qué problema aparece?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Mejor generalización a mujeres jóvenes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Sesgo/representatividad limitada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Menor necesidad de validación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Diagnóstico automático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La población de entrenamiento limita la aplicabilidad a otros grupos.</a:t>
            </a:r>
            <a:endParaRPr lang="en-US" sz="10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USMLE-style Q10: razonamiento clínico +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Seleccione la mejor respuesta y justifique.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¿Cuál frase resume mejor la sesión?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A. El algoritmo reemplaza al equipo clínico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B. Un modelo predice riesgo; el equipo interpreta y decide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C. Accuracy basta siempre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4728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D. Los datos faltantes no importan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754880"/>
            <a:ext cx="9144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Respuesta: 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La IA clínica segura integra modelo, datos, flujo y juicio humano.</a:t>
            </a:r>
            <a:endParaRPr lang="en-US" sz="10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Mini-quiz rápido de cierre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Para comprobar comprensión antes de pasar a la práctica.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37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4416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¿Qué es target?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34416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¿Qué es feature?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¿Por qué train/test?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¿Qué modelo es más interpretable?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¿Qué modelo usa pacientes similares?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¿Qué error mata más en screening?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lógica del curso: Sesión 3 → Sesión 4 → Sesión 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proyecto continuo, no temas aislados.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38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Sesión 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Clean data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260604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210312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12848"/>
            <a:ext cx="2103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Sesión 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Train classifiers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0" y="260604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38160" y="210312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212848"/>
            <a:ext cx="2286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8350F"/>
                </a:solidFill>
              </a:rPr>
              <a:t>Sesión 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78350F"/>
                </a:solidFill>
              </a:rPr>
              <a:t>Evaluate metrics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681728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Hoy: construir y comparar modelos. Próxima sesión: decidir si sus métricas son clínicamente suficientes.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deben haber aprendido hoy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Take-home messages para profesionales de salud.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Una pregunta clínica debe tener target claro.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252728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Features son datos disponibles antes de la predicción.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50008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Train/test evita autoengaño.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24028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350008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Modelos distintos responden distinto.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47288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Métrica alta no basta: hay que mirar el error.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33756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447288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La predicción no reemplaza juicio clínico.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de clasificar a mejorar decisiones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meta no es “hacer IA”; la meta es mejorar seguridad, flujo y decisiones.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40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64208"/>
            <a:ext cx="2560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Modelo de riesgo clínico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77640" y="1920240"/>
            <a:ext cx="777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92040" y="155448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664208"/>
            <a:ext cx="2560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Revisión profesional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920240"/>
            <a:ext cx="777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69680" y="155448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1664208"/>
            <a:ext cx="2194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8350F"/>
                </a:solidFill>
              </a:rPr>
              <a:t>Mejor acción clínica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3931920"/>
            <a:ext cx="10058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41648"/>
            <a:ext cx="9784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La predicción útil es la que cambia una decisión: priorizar, revisar, confirmar, derivar, educar o prevenir.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2910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Dataset: UCI Heart Disease; supporting articles: Ono &amp; Goto 2022; Deo 2015; Ansari 2025; Wittlinger 2025.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AI Health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— UCI Heart Disease Dataset</dc:title>
  <dc:subject>Session 4: Clinical Classification and Prediction with UCI Heart Disease Dataset</dc:subject>
  <dc:creator>OpenAI</dc:creator>
  <cp:lastModifiedBy>OpenAI</cp:lastModifiedBy>
  <cp:revision>1</cp:revision>
  <dcterms:created xsi:type="dcterms:W3CDTF">2026-09-28T01:09:07Z</dcterms:created>
  <dcterms:modified xsi:type="dcterms:W3CDTF">2026-09-28T01:09:07Z</dcterms:modified>
</cp:coreProperties>
</file>