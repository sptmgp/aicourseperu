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1792"/>
            <a:ext cx="3291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00" b="1">
                <a:solidFill>
                  <a:srgbClr val="008993"/>
                </a:solidFill>
                <a:latin typeface="Aptos"/>
              </a:defRPr>
            </a:pPr>
            <a:r>
              <a:t>SESIÓN 11 · TEMA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715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749"/>
                </a:solidFill>
                <a:latin typeface="Aptos"/>
              </a:defRPr>
            </a:pPr>
            <a:r>
              <a:t>Explicabilidad clínica:</a:t>
            </a:r>
            <a:br/>
            <a:r>
              <a:t>¿podemos entender por qué el modelo marcó riesgo?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852928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730" b="1">
                <a:solidFill>
                  <a:srgbClr val="0E2749"/>
                </a:solidFill>
                <a:latin typeface="Aptos"/>
              </a:defRPr>
            </a:pPr>
            <a:r>
              <a:t>Artículo + figuras + tablas + plots + 30 preguntas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977639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spcAft>
                <a:spcPts val="200"/>
              </a:spcAft>
              <a:defRPr sz="1180">
                <a:solidFill>
                  <a:srgbClr val="212B3A"/>
                </a:solidFill>
                <a:latin typeface="Aptos"/>
              </a:defRPr>
            </a:pPr>
            <a:r>
              <a:t>• Artículo base: Gliner et al., npj Digital Medicine 2025.</a:t>
            </a:r>
          </a:p>
          <a:p>
            <a:pPr>
              <a:spcAft>
                <a:spcPts val="200"/>
              </a:spcAft>
              <a:defRPr sz="1180">
                <a:solidFill>
                  <a:srgbClr val="212B3A"/>
                </a:solidFill>
                <a:latin typeface="Aptos"/>
              </a:defRPr>
            </a:pPr>
            <a:r>
              <a:t>• Método XAI: sensibilidad de matriz Jacobiana por píxel.</a:t>
            </a:r>
          </a:p>
          <a:p>
            <a:pPr>
              <a:spcAft>
                <a:spcPts val="200"/>
              </a:spcAft>
              <a:defRPr sz="1180">
                <a:solidFill>
                  <a:srgbClr val="212B3A"/>
                </a:solidFill>
                <a:latin typeface="Aptos"/>
              </a:defRPr>
            </a:pPr>
            <a:r>
              <a:t>• Producto: auditoría de explicabilidad de un modelo clínico ECG.</a:t>
            </a:r>
          </a:p>
        </p:txBody>
      </p:sp>
      <p:pic>
        <p:nvPicPr>
          <p:cNvPr id="6" name="Picture 5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777240"/>
            <a:ext cx="521208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623560"/>
            <a:ext cx="5532120" cy="502920"/>
          </a:xfrm>
          <a:prstGeom prst="roundRect">
            <a:avLst/>
          </a:prstGeom>
          <a:solidFill>
            <a:srgbClr val="FFF2F5"/>
          </a:solidFill>
          <a:ln w="12700">
            <a:solidFill>
              <a:srgbClr val="E6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40" b="1">
                <a:solidFill>
                  <a:srgbClr val="B93434"/>
                </a:solidFill>
                <a:latin typeface="Aptos"/>
              </a:defRPr>
            </a:pPr>
            <a:r>
              <a:t>Pregunta guía: ¿el mapa de IA señala una característica ECG que un médico reconocería?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Resumen del artículo y por qué encaja con Session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Alta precisión no basta: la clínica necesita explicación verificable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Idea principal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 problema: clasificadores de ECG pueden ser precisos, pero su adopción clínica se limita por falta de justificación.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La propuesta: mapa de sensibilidad por píxel usando Jacobiano del clasificador.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La salida: regiones púrpuras sobre la señal ECG, no sobre el fondo.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La validación: comparación con interpretaciones de 3 electrofisiólogos.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Casos estudiados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Atrial fibrillation.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Atrial flutter.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Sinus bradycardia.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Sinus tachycardia.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Left bundle branch block.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Left ventricular hypertrophy.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Premature ventricular contractions.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Right bundle branch block.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Datos y evidencia cuantitativa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Tamaño de datos + acuerdo con expertos</a:t>
            </a:r>
          </a:p>
        </p:txBody>
      </p:sp>
      <p:pic>
        <p:nvPicPr>
          <p:cNvPr id="4" name="Picture 3" descr="datas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120640" cy="3337560"/>
          </a:xfrm>
          <a:prstGeom prst="rect">
            <a:avLst/>
          </a:prstGeom>
        </p:spPr>
      </p:pic>
      <p:pic>
        <p:nvPicPr>
          <p:cNvPr id="5" name="Picture 4" descr="correla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475488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4800600"/>
            <a:ext cx="10241280" cy="8229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20" b="1">
                <a:solidFill>
                  <a:srgbClr val="0E2749"/>
                </a:solidFill>
                <a:latin typeface="Aptos"/>
              </a:defRPr>
            </a:pPr>
            <a:r>
              <a:t>Interpretación: el artículo combina escala de datos, robustez ante imágenes fotografiadas y validación clínica frente a electrofisiólogos. Esto transforma XAI de “heatmap bonito” a auditoría clínica verificable.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Mapa conceptual: de predicción a explicación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Jacobiano pregunta: ¿qué píxeles cambian la salida del clasificador?</a:t>
            </a:r>
          </a:p>
        </p:txBody>
      </p:sp>
      <p:pic>
        <p:nvPicPr>
          <p:cNvPr id="4" name="Picture 3" descr="xa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8136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4069080"/>
            <a:ext cx="5349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Criterios de calidad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La explicación debe estar sobre la señal, no sobre el fondo.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Debe apuntar a criterios clínicos conocidos.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Debe funcionar con fotos reales, sombras y layout variable.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4069080"/>
            <a:ext cx="5166360" cy="1600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Preguntas del auditor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¿Qué marcó?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¿Dónde lo marcó?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¿Corresponde a criterio médico?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¿Se mantiene si cambia formato o calidad?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 1: diseño experimental DB1–DB4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Cómo el estudio pasa de ECG escaneado perfecto a fotografía clínica</a:t>
            </a:r>
          </a:p>
        </p:txBody>
      </p:sp>
      <p:pic>
        <p:nvPicPr>
          <p:cNvPr id="4" name="Picture 3" descr="fig1_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626364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Cómo explicarla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DB1: ECG escaneados de alta calidad.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DB2: escaneados con sombras/artefactos añadidos.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DB3: imágenes clínicas fotografiadas por smartphone.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DB4: imágenes fotografiadas no etiquetadas para entrenamiento adversarial.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La progresión muestra por qué la explicabilidad debe validarse en datos reales.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 2: explicación clínica en ECG escaneado de alta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marca púrpura resalta características ECG relevantes para ocho condiciones</a:t>
            </a:r>
          </a:p>
        </p:txBody>
      </p:sp>
      <p:pic>
        <p:nvPicPr>
          <p:cNvPr id="4" name="Picture 3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4652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143000"/>
            <a:ext cx="434340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AF: ausencia de P + ritmo irregular.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Flutter: patrón “saw-tooth”.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Bradicardia/taquicardia: intervalos y picos seriados.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LBBB/RBBB: QRS ancho y morfología característica.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LVH/PVC: picos R, ST/T y complejos anómalos.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Esto es clínicamente interpretable, no solo visualmente llamativo.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Figuras 3–4: cuando hay sombras, la red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Jacobiano depende de que el clasificador aprenda la señal correcta</a:t>
            </a:r>
          </a:p>
        </p:txBody>
      </p:sp>
      <p:pic>
        <p:nvPicPr>
          <p:cNvPr id="4" name="Picture 3" descr="fig3_artifacts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94960" cy="3886200"/>
          </a:xfrm>
          <a:prstGeom prst="rect">
            <a:avLst/>
          </a:prstGeom>
        </p:spPr>
      </p:pic>
      <p:pic>
        <p:nvPicPr>
          <p:cNvPr id="5" name="Picture 4" descr="fig4_artifacts_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39496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230368"/>
            <a:ext cx="10744200" cy="5943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Análisis: con artefactos, la interpretabilidad puede perder foco. Al añadir signal decoder, la red aprende mejor la señal ECG y el mapa vuelve a concentrarse en criterios clínicos.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Figuras 5–6: fotografía clínica antes y después de ECG-AIO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práctica clínica exige robustez a fotos inclinadas, sombra y layout variable</a:t>
            </a:r>
          </a:p>
        </p:txBody>
      </p:sp>
      <p:pic>
        <p:nvPicPr>
          <p:cNvPr id="4" name="Picture 3" descr="fig5_mobile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94960" cy="3886200"/>
          </a:xfrm>
          <a:prstGeom prst="rect">
            <a:avLst/>
          </a:prstGeom>
        </p:spPr>
      </p:pic>
      <p:pic>
        <p:nvPicPr>
          <p:cNvPr id="5" name="Picture 4" descr="fig6_mobile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39496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230368"/>
            <a:ext cx="10744200" cy="5943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Análisis: la arquitectura con signal decoder + domain classifier + entrenamiento adversarial logra que la explicación vuelva a mirar la señal y no el fondo.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 7: explicar la ausencia de enfermedad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IA no solo dice “hay AF”; también puede mostrar evidencia de “no hay AF”</a:t>
            </a:r>
          </a:p>
        </p:txBody>
      </p:sp>
      <p:pic>
        <p:nvPicPr>
          <p:cNvPr id="4" name="Picture 3" descr="fig7_absence_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03504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Por qué es importante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 mapa destaca ondas P antes de complejos QRS.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Eso apoya ausencia de fibrilación auricular.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La ausencia explicada aumenta confianza clínica.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Útil para evitar falsos positivos y ansiedad innecesaria.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 8: generalidad con ResNet18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explicación no depende de una única arquitectura</a:t>
            </a:r>
          </a:p>
        </p:txBody>
      </p:sp>
      <p:pic>
        <p:nvPicPr>
          <p:cNvPr id="4" name="Picture 3" descr="fig8_res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63550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143000"/>
            <a:ext cx="4434840" cy="43891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Lectura docente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 encoder cambia a ResNet18.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 mapa sigue resaltando señal relevante.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Esto apoya la idea de herramienta XAI genérica.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Pregunta de auditoría: ¿se mantiene la explicación si cambia el modelo?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 9: comparación algoritmo vs electrofisiólogos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explicación se valida contra criterio experto</a:t>
            </a:r>
          </a:p>
        </p:txBody>
      </p:sp>
      <p:pic>
        <p:nvPicPr>
          <p:cNvPr id="4" name="Picture 3" descr="fig9_clinician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621792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80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Resultado clínico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Marcas rojas: electrofisiólogo.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Marcas púrpuras: algoritmo.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Condiciones comparadas: PVC y atrial flutter.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Correlación media: PVC 0.94 ± 0.03; AFL 0.96 ± 0.1.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Esto convierte XAI en evidencia medible.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Método: Jacobiano + ECG-AIO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explicación se calcula como sensibilidad de la salida respecto a cada píxel</a:t>
            </a:r>
          </a:p>
        </p:txBody>
      </p:sp>
      <p:pic>
        <p:nvPicPr>
          <p:cNvPr id="4" name="Picture 3" descr="methods_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2179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Claves técnicas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Post-hoc: se aplica después de entrenar el modelo.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Pixel-level: máxima resolución en la imagen.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Format-agnostic: puede aplicarse a distintos layouts ECG.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 rendimiento de la explicación depende del clasificador.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La red usa label predictor, signal decoder y domain classifier.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Tabla docente 1: condición ECG → característica clínica → evidencia XAI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Para que el estudiante interprete mapas, no solo los mire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463040" cy="585216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Condición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20" y="1143000"/>
            <a:ext cx="4297680" cy="585216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Criterio clínico esperado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143000"/>
            <a:ext cx="5486400" cy="585216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Qué debe marcar XAI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28216"/>
            <a:ext cx="1463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AF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728216"/>
            <a:ext cx="4297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Ausencia de P + ritmo irregular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28216"/>
            <a:ext cx="5486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Baseline P + R peaks irregulares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13432"/>
            <a:ext cx="146304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Atrial flutter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20" y="2313432"/>
            <a:ext cx="429768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Patrón saw-tooth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313432"/>
            <a:ext cx="548640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Flutter waves II, III, aVF / V1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98648"/>
            <a:ext cx="1463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Bradicardia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20" y="2898648"/>
            <a:ext cx="4297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FC &lt; 60 bpm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898648"/>
            <a:ext cx="5486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Intervalos largos entre picos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83864"/>
            <a:ext cx="146304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Taquicardia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20" y="3483864"/>
            <a:ext cx="429768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FC &gt; 100 bpm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483864"/>
            <a:ext cx="548640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Picos subsecuentes frecuentes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69080"/>
            <a:ext cx="1463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LBBB/RBBB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20" y="4069080"/>
            <a:ext cx="4297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QRS &gt;120 ms + morfología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069080"/>
            <a:ext cx="5486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QRS ancho / RSR′ / S slurred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654296"/>
            <a:ext cx="146304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LVH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20" y="4654296"/>
            <a:ext cx="429768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R alta V4–V6 + strain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654296"/>
            <a:ext cx="5486400" cy="585216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R peaks, ST depression, T inversion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39512"/>
            <a:ext cx="1463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PVC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20" y="5239512"/>
            <a:ext cx="4297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QRS ancho anómalo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39512"/>
            <a:ext cx="5486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19" b="0">
                <a:solidFill>
                  <a:srgbClr val="232D3C"/>
                </a:solidFill>
                <a:latin typeface="Aptos"/>
              </a:defRPr>
            </a:pPr>
            <a:r>
              <a:t>Complejo PVC + ST/T discordante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Tabla docente 2: rúbrica de auditoría de explicabilidad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Producto final de la actividad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92024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Aptos"/>
              </a:defRPr>
            </a:pPr>
            <a:r>
              <a:t>Criterio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188720"/>
            <a:ext cx="420624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Aptos"/>
              </a:defRPr>
            </a:pPr>
            <a:r>
              <a:t>Pregunta de auditoría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399" y="1188720"/>
            <a:ext cx="512064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Aptos"/>
              </a:defRPr>
            </a:pPr>
            <a:r>
              <a:t>Evidencia esperada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Localización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8470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¿Marca la señal o el fondo?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399" y="1847088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Overlay sobre trazo ECG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05456"/>
            <a:ext cx="1920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Relevancia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505456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¿Coincide con criterio clínico?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399" y="2505456"/>
            <a:ext cx="51206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Revisión cardiológica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63824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Robustez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1638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¿Resiste sombra/foto/layout?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399" y="3163824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DB2/DB3/DB4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22191"/>
            <a:ext cx="1920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Consistencia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822191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¿Funciona con otra arquitectura?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399" y="3822191"/>
            <a:ext cx="51206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ResNet18 / ECG-AIO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80559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Ausencia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4480559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¿Puede explicar descarte?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399" y="4480559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P waves para ausencia AF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38928"/>
            <a:ext cx="1920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Validación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5138928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¿Coincide con expertos?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399" y="5138928"/>
            <a:ext cx="51206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Correlación PVC/AFL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Mini-investigación para estudiantes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Comparar predicción → explicación visual → criterio médico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Pasos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Elegir 4 ECG: AF, flutter, taquicardia y bloqueo.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Obtener predicción del modelo o revisar ejemplo del paper.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Identificar qué regiones marcó el mapa.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Comparar con criterio clínico esperado.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Clasificar explicación: correcta, parcial, engañosa o no interpretable.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Proponer qué haría un clínico antes de confiar.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051560"/>
            <a:ext cx="5166360" cy="46177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Entregable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Figura con ECG + overlay.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Tabla condición–criterio–mapa–decisión.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Comentario de seguridad.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Recomendación: usar/no usar/revisar humano.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Pregunta final: ¿este XAI aumenta o reduce confianza?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30 preguntas con respuestas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Explicabilidad clínica de IA para ECG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Cómo usarlas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Nivel: estudiantes clínicos y profesionales de salud.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Enfoque: razonamiento interpretativo, no matemática pesada.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Cada pregunta conecta la figura o resultado con seguridad clínica.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Duración sugerida: 25–35 minutos.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Conceptos cubiertos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Black box.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Grad-CAM vs Jacobiano.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Píxel-level explanation.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ECG image artifacts.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Clinical feature alignment.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Expert agreement.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Audit of explainability.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Un modelo ECG predice fibrilación auricular con alta probabilidad. ¿Qué debe revisar el clínico en la explicación?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Si el mapa es bonito</a:t>
            </a:r>
            <a:br/>
            <a:r>
              <a:t>B. Si resalta ausencia de ondas P y ritmo irregular</a:t>
            </a:r>
            <a:br/>
            <a:r>
              <a:t>C. Si marca el borde del papel</a:t>
            </a:r>
            <a:br/>
            <a:r>
              <a:t>D. Si cubre toda la imagen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explicación debe coincidir con criterios clínicos, no solo colorear la imagen.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¿Cuál es la idea central del método basado en Jacobiano?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Medir sensibilidad de la salida del modelo respecto a cada píxel</a:t>
            </a:r>
            <a:br/>
            <a:r>
              <a:t>B. Generar texto libre</a:t>
            </a:r>
            <a:br/>
            <a:r>
              <a:t>C. Eliminar el ECG</a:t>
            </a:r>
            <a:br/>
            <a:r>
              <a:t>D. Cambiar el diagnóstico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Jacobiano indica qué píxeles influyen más en la salida del clasificador.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3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¿Por qué Grad-CAM puede ser insuficiente en ECG?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Nunca produce heatmaps</a:t>
            </a:r>
            <a:br/>
            <a:r>
              <a:t>B. Puede marcar fondo o regiones poco específicas y perder señales pequeñas</a:t>
            </a:r>
            <a:br/>
            <a:r>
              <a:t>C. Solo sirve para texto</a:t>
            </a:r>
            <a:br/>
            <a:r>
              <a:t>D. No usa redes neuronales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critica que Grad-CAM puede no alinearse con criterios diagnósticos y puede perder rasgos pequeños.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4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En atrial flutter, ¿qué patrón debería resaltar la explicación?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Saw-tooth flutter waves</a:t>
            </a:r>
            <a:br/>
            <a:r>
              <a:t>B. Solo el nombre del paciente</a:t>
            </a:r>
            <a:br/>
            <a:r>
              <a:t>C. Fondo cuadriculado</a:t>
            </a:r>
            <a:br/>
            <a:r>
              <a:t>D. Ritmo completamente plano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flutter se asocia con ondas en diente de sierra, especialmente en derivaciones inferiores.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5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En bradicardia sinusal, ¿qué señal sería clínicamente razonable?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Intervalos largos entre picos</a:t>
            </a:r>
            <a:br/>
            <a:r>
              <a:t>B. ST elevation</a:t>
            </a:r>
            <a:br/>
            <a:r>
              <a:t>C. Delta wave</a:t>
            </a:r>
            <a:br/>
            <a:r>
              <a:t>D. Ruido de fondo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bradicardia se define por frecuencia baja, visible como separación prolongada entre complejos.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6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En taquicardia sinusal, ¿qué debe mostrar el mapa?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Complejos frecuentes con intervalos cortos</a:t>
            </a:r>
            <a:br/>
            <a:r>
              <a:t>B. Ausencia total de QRS</a:t>
            </a:r>
            <a:br/>
            <a:r>
              <a:t>C. Solo esquinas de imagen</a:t>
            </a:r>
            <a:br/>
            <a:r>
              <a:t>D. Datos del hospital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taquicardia implica FC &gt;100 bpm y complejos repetidos de forma cercana.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7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representa Fig. 1 del artículo?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Pipeline de experimentos DB1–DB4</a:t>
            </a:r>
            <a:br/>
            <a:r>
              <a:t>B. Una lista de fármacos</a:t>
            </a:r>
            <a:br/>
            <a:r>
              <a:t>C. Consentimiento informado</a:t>
            </a:r>
            <a:br/>
            <a:r>
              <a:t>D. Un flujo de facturación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figura muestra cómo se entrenó/probó el sistema en escaneos, artefactos y fotografías clínicas.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8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¿Por qué se agrega un signal decoder?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Para obligar a la red a reconstruir/extractar señal y resistir sombras</a:t>
            </a:r>
            <a:br/>
            <a:r>
              <a:t>B. Para borrar todas las señales</a:t>
            </a:r>
            <a:br/>
            <a:r>
              <a:t>C. Para generar PDF</a:t>
            </a:r>
            <a:br/>
            <a:r>
              <a:t>D. Para reemplazar al cardiólogo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signal decoder ayuda al modelo a enfocarse en la señal ECG, incluso en zonas con artefactos.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9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¿Cuál fue el problema de Fig. 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La explicación en fotos clínicas podía aparecer en el fondo y carecer de resolución</a:t>
            </a:r>
            <a:br/>
            <a:r>
              <a:t>B. Era demasiado perfecta</a:t>
            </a:r>
            <a:br/>
            <a:r>
              <a:t>C. No tenía ECG</a:t>
            </a:r>
            <a:br/>
            <a:r>
              <a:t>D. No existían artefactos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red sin mejora no interpretó bien fotografías clínicas con variación de formato y artefactos.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10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mejora se observa en Fig. 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La explicación vuelve a centrarse en la señal relevante</a:t>
            </a:r>
            <a:br/>
            <a:r>
              <a:t>B. El modelo deja de usar ECG</a:t>
            </a:r>
            <a:br/>
            <a:r>
              <a:t>C. Se oculta el trazado</a:t>
            </a:r>
            <a:br/>
            <a:r>
              <a:t>D. Se elimina la necesidad de validación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ECG-AIO mejora robustez en fotografías, resaltando características clínicas.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11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demuestra Fig. 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La explicación puede apoyar la ausencia de fibrilación auricular</a:t>
            </a:r>
            <a:br/>
            <a:r>
              <a:t>B. Solo detecta enfermedades presentes</a:t>
            </a:r>
            <a:br/>
            <a:r>
              <a:t>C. No reconoce ondas P</a:t>
            </a:r>
            <a:br/>
            <a:r>
              <a:t>D. El fondo es diagnóstico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mapa resalta ondas P antes de QRS, apoyando ausencia de AF.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12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¿Por qué es importante explicar la ausencia de una condición?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Porque ayuda a descartar y reducir falsos positivos</a:t>
            </a:r>
            <a:br/>
            <a:r>
              <a:t>B. Porque elimina todo riesgo</a:t>
            </a:r>
            <a:br/>
            <a:r>
              <a:t>C. Porque sustituye al médico</a:t>
            </a:r>
            <a:br/>
            <a:r>
              <a:t>D. Porque no requiere ECG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Explicar el descarte puede aumentar confianza y seguridad clínica.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13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demuestra Fig. 8 con ResNet18?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La herramienta puede generalizar a otra arquitectura</a:t>
            </a:r>
            <a:br/>
            <a:r>
              <a:t>B. Solo funciona con una red</a:t>
            </a:r>
            <a:br/>
            <a:r>
              <a:t>C. No usa imágenes</a:t>
            </a:r>
            <a:br/>
            <a:r>
              <a:t>D. No requiere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explicación mantiene características similares al cambiar el encoder.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14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En PVC, ¿qué rasgo debe resaltar el mapa?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Complejo QRS ancho/anómalo y cambios ST/T discordantes</a:t>
            </a:r>
            <a:br/>
            <a:r>
              <a:t>B. Ondas P normales solamente</a:t>
            </a:r>
            <a:br/>
            <a:r>
              <a:t>C. Texto impreso</a:t>
            </a:r>
            <a:br/>
            <a:r>
              <a:t>D. La leyenda del papel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Los PVC tienen complejos anchos con morfología anómala.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15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En LBBB/RBBB, ¿qué rasgo es relevante?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QRS ancho y morfología característica</a:t>
            </a:r>
            <a:br/>
            <a:r>
              <a:t>B. Solo frecuencia cardíaca</a:t>
            </a:r>
            <a:br/>
            <a:r>
              <a:t>C. Color de la imagen</a:t>
            </a:r>
            <a:br/>
            <a:r>
              <a:t>D. Nombre del hospital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Los bloqueos de rama se reconocen por QRS prolongado y morfologías específicas.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16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¿Cuál es el riesgo si el mapa XAI marca el fondo cuadriculado?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Puede indicar shortcut no clínico</a:t>
            </a:r>
            <a:br/>
            <a:r>
              <a:t>B. Siempre es mejor</a:t>
            </a:r>
            <a:br/>
            <a:r>
              <a:t>C. Es criterio ECG</a:t>
            </a:r>
            <a:br/>
            <a:r>
              <a:t>D. No importa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Una explicación sobre fondo o artefacto sugiere que el modelo puede estar usando señales espurias.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17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significa que la correlación con expertos sea 0.94–0.96?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Alto acuerdo entre mapa algorítmico y marcas clínicas</a:t>
            </a:r>
            <a:br/>
            <a:r>
              <a:t>B. Modelo inútil</a:t>
            </a:r>
            <a:br/>
            <a:r>
              <a:t>C. No hay expertos</a:t>
            </a:r>
            <a:br/>
            <a:r>
              <a:t>D. El mapa es aleatorio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Valores cercanos a 1 indican fuerte coincidencia con interpretaciones de electrofisiólogos.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18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¿Por qué la explicación depende de la precisión del clasificador?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Si el modelo aprende mal, el Jacobiano también explica mal</a:t>
            </a:r>
            <a:br/>
            <a:r>
              <a:t>B. Porque el ECG no importa</a:t>
            </a:r>
            <a:br/>
            <a:r>
              <a:t>C. Porque el mapa es independiente de la salida</a:t>
            </a:r>
            <a:br/>
            <a:r>
              <a:t>D. Porque no hay gradientes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Jacobiano deriva la salida; si la salida es errónea o basada en artefactos, la explicación también falla.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19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es post-hoc interpretability?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Explicación aplicada después del entrenamiento</a:t>
            </a:r>
            <a:br/>
            <a:r>
              <a:t>B. Modelo diseñado sin datos</a:t>
            </a:r>
            <a:br/>
            <a:r>
              <a:t>C. Consentimiento de paciente</a:t>
            </a:r>
            <a:br/>
            <a:r>
              <a:t>D. Entrenamiento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método trata al clasificador como caja negra después de entrenarlo.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20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significa model-agnostic en este contexto?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Puede aplicarse sin rediseñar una arquitectura específica</a:t>
            </a:r>
            <a:br/>
            <a:r>
              <a:t>B. Solo funciona en ECG-AIO</a:t>
            </a:r>
            <a:br/>
            <a:r>
              <a:t>C. No usa modelos</a:t>
            </a:r>
            <a:br/>
            <a:r>
              <a:t>D. No necesita entrada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artículo señala que el método no requiere adaptación específica por arquitectura.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21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¿Por qué las fotografías por smartphone son importantes clínicamente?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En muchos lugares los ECG están en papel o imagen y se fotografían</a:t>
            </a:r>
            <a:br/>
            <a:r>
              <a:t>B. Porque son siempre perfectas</a:t>
            </a:r>
            <a:br/>
            <a:r>
              <a:t>C. Porque reemplazan ECG</a:t>
            </a:r>
            <a:br/>
            <a:r>
              <a:t>D. Porque no tienen sombras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artículo destaca que en recursos limitados o teleconsulta se comparten ECG como fotos.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22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debe hacer un estudiante ante una explicación parcial?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Revisar criterio clínico y pedir confirmación humana</a:t>
            </a:r>
            <a:br/>
            <a:r>
              <a:t>B. Aceptar automáticamente</a:t>
            </a:r>
            <a:br/>
            <a:r>
              <a:t>C. Ignorar el ECG</a:t>
            </a:r>
            <a:br/>
            <a:r>
              <a:t>D. Cambiar diagnóstico sin razón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explicación parcial debe activar revisión clínica, no confianza ciega.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23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diferencia hay entre explicación visual y explicación clínicamente significativa?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La clínica debe corresponder a rasgos diagnósticos reconocibles</a:t>
            </a:r>
            <a:br/>
            <a:r>
              <a:t>B. Son idénticas siempre</a:t>
            </a:r>
            <a:br/>
            <a:r>
              <a:t>C. La visual solo necesita color</a:t>
            </a:r>
            <a:br/>
            <a:r>
              <a:t>D. La clínica no requiere expertos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Un mapa útil debe apuntar a características que el profesional reconoce y valida.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24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¿Cuál es una limitación técnica del Jacobiano?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Puede ser costoso computacionalmente en entradas grandes</a:t>
            </a:r>
            <a:br/>
            <a:r>
              <a:t>B. No calcula gradientes</a:t>
            </a:r>
            <a:br/>
            <a:r>
              <a:t>C. No puede marcar píxeles</a:t>
            </a:r>
            <a:br/>
            <a:r>
              <a:t>D. No depende del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artículo discute costo de derivadas parciales en entradas de alta dimensión.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25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condición puede requerir granularidad de pocos píxeles?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Trastornos con ondas P sutiles o PR interval</a:t>
            </a:r>
            <a:br/>
            <a:r>
              <a:t>B. Solo imágenes de piel</a:t>
            </a:r>
            <a:br/>
            <a:r>
              <a:t>C. Solo presión arterial</a:t>
            </a:r>
            <a:br/>
            <a:r>
              <a:t>D. Ninguna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paper menciona señales finas como P waves/PR interval en condiciones sutiles.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26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¿Por qué comparar contra electrofisiólogos es mejor que solo mostrar heatmaps?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Porque valida si el mapa coincide con conocimiento experto</a:t>
            </a:r>
            <a:br/>
            <a:r>
              <a:t>B. Porque los expertos eliminan IA</a:t>
            </a:r>
            <a:br/>
            <a:r>
              <a:t>C. Porque no necesita datos</a:t>
            </a:r>
            <a:br/>
            <a:r>
              <a:t>D. Porque hace el mapa más colorido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comparación con especialistas convierte XAI en evidencia cuantitativa.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27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¿Qué debe contener una auditoría de explicabilidad?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Predicción, mapa, criterio clínico, revisión humana y limitación</a:t>
            </a:r>
            <a:br/>
            <a:r>
              <a:t>B. Solo probabilidad</a:t>
            </a:r>
            <a:br/>
            <a:r>
              <a:t>C. Solo nombre del modelo</a:t>
            </a:r>
            <a:br/>
            <a:r>
              <a:t>D. Solo AUC promedio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La auditoría debe conectar salida algorítmica con razonamiento clínico.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28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Si el modelo marca QRS anchos para RBBB, ¿qué indica?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Coincidencia plausible con criterio médico</a:t>
            </a:r>
            <a:br/>
            <a:r>
              <a:t>B. Error seguro</a:t>
            </a:r>
            <a:br/>
            <a:r>
              <a:t>C. Sesgo de privacidad</a:t>
            </a:r>
            <a:br/>
            <a:r>
              <a:t>D. Consentimiento insuficiente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QRS ancho y patrón RSR′ son criterios de RBBB.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29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¿Cuál es la mejor conclusión del artículo para Session 11?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Explicabilidad debe ser clínicamente verificable, robusta y auditada</a:t>
            </a:r>
            <a:br/>
            <a:r>
              <a:t>B. Basta con accuracy alta</a:t>
            </a:r>
            <a:br/>
            <a:r>
              <a:t>C. El médico no es necesario</a:t>
            </a:r>
            <a:br/>
            <a:r>
              <a:t>D. Todos los heatmaps son iguales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foco de ética/validación es que la explicación ayude a detectar errores y aumentar confianza responsable.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Pregunta 30 · Explicabilidad clínica ECG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¿La zona marcada por IA corresponde a una característica clínica conocida?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90" b="1">
                <a:solidFill>
                  <a:srgbClr val="0E2749"/>
                </a:solidFill>
                <a:latin typeface="Aptos"/>
              </a:defRPr>
            </a:pPr>
            <a:r>
              <a:t>Producto final de la actividad: ¿qué deben entregar los estudiantes?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222D3C"/>
                </a:solidFill>
                <a:latin typeface="Aptos"/>
              </a:defRPr>
            </a:pPr>
            <a:r>
              <a:t>A. Auditoría de explicabilidad con figura ECG, tabla criterio–mapa y decisión clínica</a:t>
            </a:r>
            <a:br/>
            <a:r>
              <a:t>B. Solo una definición</a:t>
            </a:r>
            <a:br/>
            <a:r>
              <a:t>C. Un logo</a:t>
            </a:r>
            <a:br/>
            <a:r>
              <a:t>D. Una receta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4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producto es una auditoría práctica: predicción, explicación visual, criterio experto y recomendación.</a:t>
            </a:r>
          </a:p>
        </p:txBody>
      </p:sp>
      <p:pic>
        <p:nvPicPr>
          <p:cNvPr id="7" name="Picture 6" descr="fig2_high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63440"/>
            <a:ext cx="3246120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18304"/>
            <a:ext cx="7452360" cy="105156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40" b="0">
                <a:solidFill>
                  <a:srgbClr val="495668"/>
                </a:solidFill>
                <a:latin typeface="Aptos"/>
              </a:defRPr>
            </a:pPr>
            <a:r>
              <a:t>Conexión con el artículo: cada respuesta debe vincular predicción, mapa visual y criterio clínico revisable por un profesional.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Cierre: explicación útil = explicación auditada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Tema 5 · Auditoría de explicabilidad de un modelo clínico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492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Conclusiones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 mapa debe marcar la señal, no el fondo.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Debe coincidir con criterios clínicos reconocibles.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Debe funcionar en imágenes reales, no solo perfectas.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Debe compararse con juicio experto.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Debe ayudar a detectar error, no solo a aumentar confianza.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097280"/>
            <a:ext cx="5166360" cy="46177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50" b="1">
                <a:solidFill>
                  <a:srgbClr val="0E2749"/>
                </a:solidFill>
                <a:latin typeface="Aptos"/>
              </a:defRPr>
            </a:pPr>
            <a:r>
              <a:t>Actividad final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Elegir un ejemplo ECG.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Identificar predicción IA.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Anotar criterio clínico esperado.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Evaluar mapa XAI.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Clasificar explicación: correcta/parcial/engañoso/no útil.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Proponer acción clínica segura.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779008"/>
            <a:ext cx="10561320" cy="384048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60" b="1">
                <a:solidFill>
                  <a:srgbClr val="0E2749"/>
                </a:solidFill>
                <a:latin typeface="Aptos"/>
              </a:defRPr>
            </a:pPr>
            <a:r>
              <a:t>Frase final: “Un mapa de calor no es explicación clínica hasta que un profesional pueda relacionarlo con un criterio diagnóstico.”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>
                <a:solidFill>
                  <a:srgbClr val="697382"/>
                </a:solidFill>
                <a:latin typeface="Aptos"/>
              </a:defRPr>
            </a:pPr>
            <a:r>
              <a:t>Gliner et al. · “Clinically meaningful interpretability of an AI model for ECG classification” · npj Digital Medicine 2025 · DOI: 10.1038/s41746-025-01467-8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