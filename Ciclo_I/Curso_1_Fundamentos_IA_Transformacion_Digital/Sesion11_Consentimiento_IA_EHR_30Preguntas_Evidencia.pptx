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1792"/>
            <a:ext cx="3291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00" b="1">
                <a:solidFill>
                  <a:srgbClr val="008993"/>
                </a:solidFill>
                <a:latin typeface="Aptos"/>
              </a:defRPr>
            </a:pPr>
            <a:r>
              <a:t>SESIÓN 11 · TEMA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56235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749"/>
                </a:solidFill>
                <a:latin typeface="Aptos"/>
              </a:defRPr>
            </a:pPr>
            <a:r>
              <a:t>Consentimiento en IA clínica:</a:t>
            </a:r>
            <a:br/>
            <a:r>
              <a:t>¿el paciente sabe que IA participa?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788920"/>
            <a:ext cx="5532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750" b="1">
                <a:solidFill>
                  <a:srgbClr val="0E2749"/>
                </a:solidFill>
                <a:latin typeface="Aptos"/>
              </a:defRPr>
            </a:pPr>
            <a:r>
              <a:t>Artículo + tabla + texto clave + 30 preguntas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977639"/>
            <a:ext cx="5532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Artículo base: Comeau, Bitterman &amp; Celi, npj Digital Medicine 2025.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Tema central: transparencia, accountability y consentimiento en LLM integrados al EHR.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Producto: aviso/formulario de uso de IA para pacientes.</a:t>
            </a:r>
          </a:p>
        </p:txBody>
      </p:sp>
      <p:pic>
        <p:nvPicPr>
          <p:cNvPr id="6" name="Picture 5" descr="page1_title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777240"/>
            <a:ext cx="521208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5650992"/>
            <a:ext cx="5532120" cy="502920"/>
          </a:xfrm>
          <a:prstGeom prst="roundRect">
            <a:avLst/>
          </a:prstGeom>
          <a:solidFill>
            <a:srgbClr val="FFF2F5"/>
          </a:solidFill>
          <a:ln w="12700">
            <a:solidFill>
              <a:srgbClr val="E6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50" b="1">
                <a:solidFill>
                  <a:srgbClr val="B93434"/>
                </a:solidFill>
                <a:latin typeface="Aptos"/>
              </a:defRPr>
            </a:pPr>
            <a:r>
              <a:t>Pregunta guía: si la IA influye en la atención, ¿quién informa, quién consiente y quién responde?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Artículo base: problema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Integrar LLMs en EHR puede crear uso no consentido, falta de gobernanza y dudas de responsabilidad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Qué dice el artículo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Los LLMs en EHR prometen eficiencia y reducción de carga clínica.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Pero también crean riesgos: uso no consentido de datos, opacidad, alucinaciones, sesgo y reutilización de datos.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El artículo enfatiza transparencia, accountability y liderazgo clínico.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La pregunta de la sesión: ¿el paciente y el clínico saben cuándo la IA participa?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Zonas grises de consentimiento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Uso asistencial directo.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Quality improvement / operaciones.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Desarrollo de producto.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Investigación.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Procesamiento por aseguradoras.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Monitoreo de profesionales.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Tabla original: roles y responsabilidades de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Tabla 1 · gobernanza de LLM en salud</a:t>
            </a:r>
          </a:p>
        </p:txBody>
      </p:sp>
      <p:pic>
        <p:nvPicPr>
          <p:cNvPr id="4" name="Picture 3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2688"/>
            <a:ext cx="658368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097280"/>
            <a:ext cx="4343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Cómo interpretarla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Healthcare providers: usar IA éticamente y prevenir daño.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Vendors: aumentar transparencia y minimizar sesgo.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Hospitals: desarrollar gobernanza y proteger privacidad.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Government agencies: regular seguridad y accountability.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Patients/caregivers: exigir transparencia y consentimiento.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Ethics boards: evaluar impacto social e inclusión.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Tabla docente 1: responsabilidades para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Versión resumida para estudiantes clínicos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2011680" cy="713232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6040" y="1234440"/>
            <a:ext cx="4846320" cy="713232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Responsabilidad clave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234440"/>
            <a:ext cx="4297680" cy="713232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Riesgo si falla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47672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Clínico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947672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Explicar rol de IA y revisar salida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947672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Automation bias / error clínico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60904"/>
            <a:ext cx="201168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Hospital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660904"/>
            <a:ext cx="484632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Política, auditoría y consentimiento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660904"/>
            <a:ext cx="429768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Uso oculto o no gobernado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374136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Proveedor IA/EHR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3374136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Modelo, validación, límites y seguridad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3374136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Opacidad y trust erosion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87368"/>
            <a:ext cx="201168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Paciente/cuidador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4087368"/>
            <a:ext cx="484632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Derecho a saber y preguntar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4087368"/>
            <a:ext cx="429768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Explotación o pérdida de confianza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800600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Regulador/IRB/ESR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4800600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Supervisión y accountability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4800600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00" b="0">
                <a:solidFill>
                  <a:srgbClr val="232D3C"/>
                </a:solidFill>
                <a:latin typeface="Aptos"/>
              </a:defRPr>
            </a:pPr>
            <a:r>
              <a:t>Brechas éticas y daño social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561320" cy="5029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00" b="1">
                <a:solidFill>
                  <a:srgbClr val="0E2749"/>
                </a:solidFill>
                <a:latin typeface="Aptos"/>
              </a:defRPr>
            </a:pPr>
            <a:r>
              <a:t>Idea: consentimiento significativo necesita roles claros; no puede recaer solo en el médico al final del flujo.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Texto clave del artículo: consentimiento no está resuelto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El artículo explica que no existe un requisito uniforme para disclosure/consent en IA médica rutinaria</a:t>
            </a:r>
          </a:p>
        </p:txBody>
      </p:sp>
      <p:pic>
        <p:nvPicPr>
          <p:cNvPr id="4" name="Picture 3" descr="page3_consent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5806440" cy="3063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29400" y="1143000"/>
            <a:ext cx="4617720" cy="416052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Interpretación clínica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El consentimiento en investigación suele ser explícito.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En quality programs y operaciones, puede depender de políticas institucionales.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No hay acuerdo uniforme sobre disclosure de IA para consentimiento informado.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El artículo pide disclosures detallados sobre datos, propósito, gestión y compartición.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663440"/>
            <a:ext cx="10424160" cy="7772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50" b="1">
                <a:solidFill>
                  <a:srgbClr val="0E2749"/>
                </a:solidFill>
                <a:latin typeface="Aptos"/>
              </a:defRPr>
            </a:pPr>
            <a:r>
              <a:t>Punto para discutir: una IA que resume, prioriza, recomienda o documenta puede influir en la atención aunque no “decida” formalmente.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Texto clave del artículo: seguridad, vigilancia y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Riesgos: prompt injection, memorization, code execution, falta de revisión post-despliegue</a:t>
            </a:r>
          </a:p>
        </p:txBody>
      </p:sp>
      <p:pic>
        <p:nvPicPr>
          <p:cNvPr id="4" name="Picture 3" descr="page4_security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806440" cy="3794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29400" y="1143000"/>
            <a:ext cx="46177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La IA integrada a EHR introduce riesgos técnicos y legales.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Menos del 30% de herramientas AI revisadas tuvo escrutinio profundo de performance/efectividad según el artículo.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Se requieren controles de acceso, audit trails, transparencia y cifrado.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El consentimiento también protege al clínico: sus acciones pueden ser monitoreadas.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Texto clave: gobernanza, educación y liderazgo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No basta con comprar IA; se necesita una estructura local de responsabilidad</a:t>
            </a:r>
          </a:p>
        </p:txBody>
      </p:sp>
      <p:pic>
        <p:nvPicPr>
          <p:cNvPr id="4" name="Picture 3" descr="page4_governanc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76072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29400" y="1143000"/>
            <a:ext cx="4617720" cy="425196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Mensaje final del paper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El artículo pide protocolos y disclosures claros de vendors/EHR.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Los clinicians deben guiar integración ética de IA.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Pacientes y proveedores deben poder educarse y optar por salir cuando no haya transparencia suficiente.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La gobernanza debe incluir vendors, instituciones, IRBs, gobierno y pacientes.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Tabla docente 2: niveles de aviso/consentimiento según uso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Propuesta didáctica para convertir el artículo en práctica hospitalaria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2011680" cy="658368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30" b="1">
                <a:solidFill>
                  <a:srgbClr val="FFFFFF"/>
                </a:solidFill>
                <a:latin typeface="Aptos"/>
              </a:defRPr>
            </a:pPr>
            <a:r>
              <a:t>Uso de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143000"/>
            <a:ext cx="2743200" cy="658368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30" b="1">
                <a:solidFill>
                  <a:srgbClr val="FFFFFF"/>
                </a:solidFill>
                <a:latin typeface="Aptos"/>
              </a:defRPr>
            </a:pPr>
            <a:r>
              <a:t>Ejemplo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166360" y="1143000"/>
            <a:ext cx="3611880" cy="658368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30" b="1">
                <a:solidFill>
                  <a:srgbClr val="FFFFFF"/>
                </a:solidFill>
                <a:latin typeface="Aptos"/>
              </a:defRPr>
            </a:pPr>
            <a:r>
              <a:t>Nivel de transparencia recomendado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143000"/>
            <a:ext cx="3154680" cy="658368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30" b="1">
                <a:solidFill>
                  <a:srgbClr val="FFFFFF"/>
                </a:solidFill>
                <a:latin typeface="Aptos"/>
              </a:defRPr>
            </a:pPr>
            <a:r>
              <a:t>Acción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01368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Administrativo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80136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coding/billing, scheduling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801368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Aviso general + política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801368"/>
            <a:ext cx="3154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Auditoría y derecho a preguntar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459736"/>
            <a:ext cx="201168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Documentación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459736"/>
            <a:ext cx="274320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resumen de nota / ambient scribe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2459736"/>
            <a:ext cx="361188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Aviso específico en atención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459736"/>
            <a:ext cx="315468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Validación humana y registro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118104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CDSS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118104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sugerencia diagnóstica/tratamiento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3118104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Disclosure claro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3118104"/>
            <a:ext cx="3154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Human-in-the-loop obligatorio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76472"/>
            <a:ext cx="201168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Investigación/producto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3776472"/>
            <a:ext cx="274320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entrenar/validar modelo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0" y="3776472"/>
            <a:ext cx="361188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Consentimiento/IRB según riesgo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776472"/>
            <a:ext cx="315468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Control de uso secundario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43484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Aseguradora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443484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claims denial/prior 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360" y="4434840"/>
            <a:ext cx="3611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Transparencia alta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4434840"/>
            <a:ext cx="3154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30" b="0">
                <a:solidFill>
                  <a:srgbClr val="232D3C"/>
                </a:solidFill>
                <a:latin typeface="Aptos"/>
              </a:defRPr>
            </a:pPr>
            <a:r>
              <a:t>Apelación humana y regulación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Producto de clase: aviso/formulario de consentimiento para uso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Debe ser entendible para pacientes y útil para auditoría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Elementos mínimos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Qué herramienta de IA se usará.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Para qué se usará: resumen, priorización, apoyo diagnóstico, investigación, etc.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Qué datos se procesan.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Quién revisa la salida.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Qué decisiones NO toma la IA.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Riesgos: error, sesgo, privacidad, alucinación.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Opciones: preguntar, revisar, optar por no participar cuando sea posible.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097280"/>
            <a:ext cx="5166360" cy="45262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Texto simple sugerido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“La IA puede ayudar al profesional, pero no reemplaza su juicio.”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“Sus datos serán protegidos según políticas institucionales.”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“Puede solicitar explicación sobre cuándo se utilizó IA.”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“Los resultados de IA serán revisados por personal autorizado.”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Mini-investigación: consentimiento real vs consentimiento simbólico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Actividad para estudiantes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Pasos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Elegir un caso: LLM resume nota, prioriza pacientes, traduce instrucciones, responde mensajes o sugiere tratamiento.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Identificar: datos usados, propósito, responsable, riesgo y grado de influencia clínica.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Clasificar: aviso general, aviso específico, consentimiento explícito o revisión ética.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Diseñar un formulario/aviso de 1 página.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Preguntas de auditoría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¿El paciente sabe que IA participó?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¿Puede pedir revisión humana?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¿Quién responde si hay error?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¿La salida se guarda en EHR?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¿Se usa para entrenar otro modelo?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¿Hay opt-out razonable?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30 preguntas con respuestas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Consentimiento, transparencia y GenAI clínica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Uso docente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Formato: pregunta clínica tipo razonamiento aplicado.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Objetivo: que el estudiante diseñe consentimiento y gobernanza, no solo memorice definiciones.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Cada pregunta conecta el artículo con un caso práctico de EHR + LLM.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Duración sugerida: 25–35 minutos.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Conceptos cubiertos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Consentimiento informado.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Transparencia.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Accountability.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EHR + LLM.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Governance.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IRB/QI/research.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Paciente/cuidador.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Vendor/hospital/clinician liability.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1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Un hospital integra un LLM al EHR para resumir consultas y generar borradores de notas. El paciente no recibe ninguna información. ¿Cuál es el problema ético principal?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No hay problema porque es solo eficiencia</a:t>
            </a:r>
            <a:br/>
            <a:r>
              <a:t>B. Falta de transparencia sobre participación de IA en la atención</a:t>
            </a:r>
            <a:br/>
            <a:r>
              <a:t>C. El LLM siempre es dispositivo médico aprobado</a:t>
            </a:r>
            <a:br/>
            <a:r>
              <a:t>D. El paciente no tiene interés en documentación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advierte que los LLM en EHR permiten usos amplios de datos y decisiones sin claridad suficiente para pacientes y clínicos.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2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¿Qué distingue transparencia de consentimiento?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Son idénticos</a:t>
            </a:r>
            <a:br/>
            <a:r>
              <a:t>B. Transparencia informa; consentimiento autoriza un uso específico</a:t>
            </a:r>
            <a:br/>
            <a:r>
              <a:t>C. Consentimiento solo aplica a computadoras</a:t>
            </a:r>
            <a:br/>
            <a:r>
              <a:t>D. Transparencia elimina todo riesgo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Un aviso claro puede ser necesario incluso cuando no se exige consentimiento explícito; consentimiento implica autorización más activa.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3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Un LLM se usa para traducir instrucciones de alta. ¿Qué debe saber el paciente?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Nada, porque la traducción es administrativa</a:t>
            </a:r>
            <a:br/>
            <a:r>
              <a:t>B. Que IA ayudó, que el texto fue revisado y que puede pedir aclaración humana</a:t>
            </a:r>
            <a:br/>
            <a:r>
              <a:t>C. Solo el nombre del software</a:t>
            </a:r>
            <a:br/>
            <a:r>
              <a:t>D. Que la IA decide el alta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disclosure debe explicar rol, revisión humana y límites de la IA.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4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Un hospital usa EHR para entrenar un producto comercial de IA sin informar a pacientes. ¿Qué riesgo enfatiza el artículo?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Uso no consentido de datos privados</a:t>
            </a:r>
            <a:br/>
            <a:r>
              <a:t>B. Menor uso de computadoras</a:t>
            </a:r>
            <a:br/>
            <a:r>
              <a:t>C. Exceso de consentimiento</a:t>
            </a:r>
            <a:br/>
            <a:r>
              <a:t>D. Mejor transparencia automática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artículo señala el problema de recolección y utilización no consentida de datos derivados del cuidado.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5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¿Cuál actor de la Tabla 1 debe desarrollar gobernanza institucional y asegurar transparencia?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Paciente solamente</a:t>
            </a:r>
            <a:br/>
            <a:r>
              <a:t>B. Hospitales/instituciones</a:t>
            </a:r>
            <a:br/>
            <a:r>
              <a:t>C. Solo aseguradoras</a:t>
            </a:r>
            <a:br/>
            <a:r>
              <a:t>D. Solo IRB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tabla asigna a hospitales/instituciones la integración de IA y la obligación de gobernanza y transparencia.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6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¿Cuál actor de la Tabla 1 debe minimizar sesgo y clarificar decisiones de 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Vendors/desarrolladores de IA</a:t>
            </a:r>
            <a:br/>
            <a:r>
              <a:t>B. Pacientes</a:t>
            </a:r>
            <a:br/>
            <a:r>
              <a:t>C. Recepción</a:t>
            </a:r>
            <a:br/>
            <a:r>
              <a:t>D. Familiares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Los desarrolladores controlan diseño, validación, documentación y límites del sistema.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7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¿Por qué no basta con que el médico “firme” una nota generada por 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Porque la IA no escribe texto</a:t>
            </a:r>
            <a:br/>
            <a:r>
              <a:t>B. Porque puede haber automation bias y el profesional necesita evidencia y revisión real</a:t>
            </a:r>
            <a:br/>
            <a:r>
              <a:t>C. Porque el paciente siempre revisa la nota</a:t>
            </a:r>
            <a:br/>
            <a:r>
              <a:t>D. Porque el EHR bloquea errores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firma simbólica no equivale a human-in-the-loop efectivo.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8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Según el artículo, ¿qué ocurre si no se distingue IA para atención, QI, operaciones o producto?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Mejora consentimiento</a:t>
            </a:r>
            <a:br/>
            <a:r>
              <a:t>B. Se vuelve difícil entender propósito, supervisión y derechos del paciente</a:t>
            </a:r>
            <a:br/>
            <a:r>
              <a:t>C. El modelo se vuelve interpretable</a:t>
            </a:r>
            <a:br/>
            <a:r>
              <a:t>D. Disminuye toda responsabilidad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ambigüedad impide que stakeholders sepan para qué se usa la IA.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9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Un LLM sugiere pruebas más costosas en ciertos grupos. ¿Qué riesgo aparece?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Mayor equidad automática</a:t>
            </a:r>
            <a:br/>
            <a:r>
              <a:t>B. Sesgo y aumento de disparidades/costos</a:t>
            </a:r>
            <a:br/>
            <a:r>
              <a:t>C. Mejor consentimiento</a:t>
            </a:r>
            <a:br/>
            <a:r>
              <a:t>D. Menor necesidad de auditoría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menciona que outputs de LLM pueden ser sesgados por datos demográficos y afectar equidad/costos.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10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¿Qué es sycophancy en LLM clínicos?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El modelo contradice siempre al usuario</a:t>
            </a:r>
            <a:br/>
            <a:r>
              <a:t>B. El modelo tiende a complacer o reforzar lo que el usuario espera</a:t>
            </a:r>
            <a:br/>
            <a:r>
              <a:t>C. Un método de cifrado</a:t>
            </a:r>
            <a:br/>
            <a:r>
              <a:t>D. Un tipo de consentimiento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Sycophancy puede amplificar errores si el modelo adapta respuestas a expectativas del usuario.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11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¿Qué debe incluir un aviso de IA para pacientes?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Solo “usamos tecnología”</a:t>
            </a:r>
            <a:br/>
            <a:r>
              <a:t>B. Propósito, datos usados, revisión humana, riesgos, límites y contacto para preguntas</a:t>
            </a:r>
            <a:br/>
            <a:r>
              <a:t>C. Solo logotipo del proveedor</a:t>
            </a:r>
            <a:br/>
            <a:r>
              <a:t>D. Solo duración de consulta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transparencia requiere detalles prácticos sobre uso y gestión de datos.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12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Un LLM se usa para contestar mensajes de pacientes. ¿Cuál control es indispensable?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Que ningún humano lo revise nunca</a:t>
            </a:r>
            <a:br/>
            <a:r>
              <a:t>B. Revisión humana y límites claros sobre diagnóstico/urgencias</a:t>
            </a:r>
            <a:br/>
            <a:r>
              <a:t>C. Eliminar historial clínico</a:t>
            </a:r>
            <a:br/>
            <a:r>
              <a:t>D. Ocultar que se usó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IA puede influir en decisiones; debe existir revisión y escalamiento.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13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El artículo menciona SOUP. ¿Qué significa en este contexto?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Software of Unknown Provenance</a:t>
            </a:r>
            <a:br/>
            <a:r>
              <a:t>B. Servicio obligatorio universal</a:t>
            </a:r>
            <a:br/>
            <a:r>
              <a:t>C. Sistema óptimo universal predictivo</a:t>
            </a:r>
            <a:br/>
            <a:r>
              <a:t>D. Summary output user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Muchos sistemas comerciales no revelan datos, metodología o validación suficiente.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14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¿Por qué la opacidad comercial afecta el consentimiento?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Porque impide explicar riesgos, datos y límites del sistema</a:t>
            </a:r>
            <a:br/>
            <a:r>
              <a:t>B. Porque mejora comprensión</a:t>
            </a:r>
            <a:br/>
            <a:r>
              <a:t>C. Porque elimina sesgos</a:t>
            </a:r>
            <a:br/>
            <a:r>
              <a:t>D. Porque vuelve opcional el disclosure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Si no se sabe cómo fue entrenado/validado, es difícil informar adecuadamente al paciente.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15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Un paciente pregunta: “¿La IA tomó mi decisión de tratamiento?” ¿Cuál respuesta institucional es adecuada?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No responda detalles</a:t>
            </a:r>
            <a:br/>
            <a:r>
              <a:t>B. Explicar qué hizo la IA, quién revisó, qué decisión humana final ocurrió y dónde queda registro</a:t>
            </a:r>
            <a:br/>
            <a:r>
              <a:t>C. Decir que la IA nunca participa aunque sí participó</a:t>
            </a:r>
            <a:br/>
            <a:r>
              <a:t>D. Culpar al proveedor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Transparencia y accountability exigen trazabilidad clara.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16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¿Cuál situación exige mayor nivel de disclosure?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IA corrige ortografía interna</a:t>
            </a:r>
            <a:br/>
            <a:r>
              <a:t>B. IA sugiere diagnóstico o tratamiento</a:t>
            </a:r>
            <a:br/>
            <a:r>
              <a:t>C. IA cambia color del portal</a:t>
            </a:r>
            <a:br/>
            <a:r>
              <a:t>D. IA ordena alfabéticamente citas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A mayor influencia clínica, mayor necesidad de transparencia, supervisión y posible consentimiento.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17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Si un algoritmo predice “no-show” y cambia la programación de citas de ciertos pacientes, ¿qué problema surge?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Solo eficiencia</a:t>
            </a:r>
            <a:br/>
            <a:r>
              <a:t>B. Bias, fairness y falta de visibilidad para pacientes/proveedores</a:t>
            </a:r>
            <a:br/>
            <a:r>
              <a:t>C. No se relaciona con IA</a:t>
            </a:r>
            <a:br/>
            <a:r>
              <a:t>D. No afecta acceso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usa modelos de no-show como ejemplo de decisiones AI que pueden exacerbar desigualdades.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18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¿Qué debe ocurrir si el paciente no desea uso de IA cuando la validación es poco transparente?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Ignorarlo</a:t>
            </a:r>
            <a:br/>
            <a:r>
              <a:t>B. Ofrecer opt-out cuando sea posible y explicar alternativas</a:t>
            </a:r>
            <a:br/>
            <a:r>
              <a:t>C. Excluirlo de toda atención</a:t>
            </a:r>
            <a:br/>
            <a:r>
              <a:t>D. Enviar sus datos a investigación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apoya educación y opción de opt-out cuando falta transparencia suficiente.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19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¿Qué responsabilidad tiene el clínico según el artículo?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Aceptar toda salida del modelo</a:t>
            </a:r>
            <a:br/>
            <a:r>
              <a:t>B. Liderar integración ética, defender transparencia y proteger paciente</a:t>
            </a:r>
            <a:br/>
            <a:r>
              <a:t>C. No involucrarse en gobernanza</a:t>
            </a:r>
            <a:br/>
            <a:r>
              <a:t>D. Ocultar uso de IA para evitar ansiedad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Los clínicos son stewards del cuidado y deben guiar integración ética.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20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¿Qué responsabilidad tiene el gobierno/regulador?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Evitar cualquier estándar</a:t>
            </a:r>
            <a:br/>
            <a:r>
              <a:t>B. Establecer regulación, accountability y seguridad</a:t>
            </a:r>
            <a:br/>
            <a:r>
              <a:t>C. Vender modelos</a:t>
            </a:r>
            <a:br/>
            <a:r>
              <a:t>D. Firmar notas clínicas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Tabla 1 asigna a agencias la regulación y protección de seguridad pública.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21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¿Qué riesgo aparece cuando aseguradoras usan IA para claims?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Mejor atención siempre</a:t>
            </a:r>
            <a:br/>
            <a:r>
              <a:t>B. Denegación injusta o decisiones motivadas por costos</a:t>
            </a:r>
            <a:br/>
            <a:r>
              <a:t>C. Consentimiento perfecto</a:t>
            </a:r>
            <a:br/>
            <a:r>
              <a:t>D. Eliminación de conflicto de interés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discute demandas y conflictos cuando IA se usa para reducir pagos.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22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¿Qué significa accountability en IA clínica?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Que nadie responde</a:t>
            </a:r>
            <a:br/>
            <a:r>
              <a:t>B. Que hay cadena clara de responsabilidad por diseño, uso, error y monitoreo</a:t>
            </a:r>
            <a:br/>
            <a:r>
              <a:t>C. Que el paciente siempre se equivoca</a:t>
            </a:r>
            <a:br/>
            <a:r>
              <a:t>D. Que el modelo es secreto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Accountability exige roles, registros, revisión y distribución de responsabilidad.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23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¿Por qué los audit trails son importantes?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Para decorar el EHR</a:t>
            </a:r>
            <a:br/>
            <a:r>
              <a:t>B. Para saber quién accedió, qué IA se usó, qué salida produjo y quién la aceptó</a:t>
            </a:r>
            <a:br/>
            <a:r>
              <a:t>C. Para borrar evidencia</a:t>
            </a:r>
            <a:br/>
            <a:r>
              <a:t>D. Para entrenar sin consentimiento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menciona audit trails como parte de controles necesarios.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24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¿Qué debe pasar después de desplegar una IA en EHR?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Nada: el despliegue termina la evaluación</a:t>
            </a:r>
            <a:br/>
            <a:r>
              <a:t>B. Monitoreo continuo, validación y revisión de outcomes</a:t>
            </a:r>
            <a:br/>
            <a:r>
              <a:t>C. Borrar métricas</a:t>
            </a:r>
            <a:br/>
            <a:r>
              <a:t>D. Evitar reportar errores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critica la falta de revisión post-deployment y pide monitoreo.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25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¿Qué pregunta debe hacer un IRB o Ethics/Society Review Board?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Solo si el software es bonito</a:t>
            </a:r>
            <a:br/>
            <a:r>
              <a:t>B. Impacto clínico, social, privacidad, sesgo, consentimiento y gobernanza</a:t>
            </a:r>
            <a:br/>
            <a:r>
              <a:t>C. Solo costo mensual</a:t>
            </a:r>
            <a:br/>
            <a:r>
              <a:t>D. Solo rapidez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propone ampliar revisión para impactos sociales y éticos.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26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Un vendor no informa datos de entrenamiento ni validación. ¿Qué debe hacer el hospital?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Aceptar por contrato comercial</a:t>
            </a:r>
            <a:br/>
            <a:r>
              <a:t>B. Exigir documentación, model cards/bias cards o limitar uso</a:t>
            </a:r>
            <a:br/>
            <a:r>
              <a:t>C. Usar en alto riesgo de inmediato</a:t>
            </a:r>
            <a:br/>
            <a:r>
              <a:t>D. Decir que no importa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transparencia del vendor es necesaria para evaluar riesgo y consentimiento.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27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¿Cuál es una señal de consentimiento simbólico, no real?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Paciente recibe explicación clara y opción</a:t>
            </a:r>
            <a:br/>
            <a:r>
              <a:t>B. Texto largo genérico que no dice dónde ni cómo se usa IA</a:t>
            </a:r>
            <a:br/>
            <a:r>
              <a:t>C. Revisión humana documentada</a:t>
            </a:r>
            <a:br/>
            <a:r>
              <a:t>D. Contacto para preguntas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Un consentimiento real debe ser comprensible, específico y accionable.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28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¿Cuál es el mejor producto final para esta sección de Session 11?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Una lista de modelos famosos</a:t>
            </a:r>
            <a:br/>
            <a:r>
              <a:t>B. Aviso/formulario de IA + flujo de disclosure + responsable de revisión</a:t>
            </a:r>
            <a:br/>
            <a:r>
              <a:t>C. Solo un examen de memoria</a:t>
            </a:r>
            <a:br/>
            <a:r>
              <a:t>D. Un dashboard sin pacientes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producto debe traducir ética en una herramienta concreta de implementación.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29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Si la IA solo apoya al médico, ¿se debe informar siempre de la misma forma que una cirugía?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Sí, siempre idéntico</a:t>
            </a:r>
            <a:br/>
            <a:r>
              <a:t>B. No necesariamente; el nivel de disclosure depende de riesgo, influencia clínica y uso de datos</a:t>
            </a:r>
            <a:br/>
            <a:r>
              <a:t>C. Nunca se informa</a:t>
            </a:r>
            <a:br/>
            <a:r>
              <a:t>D. Solo si hay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permite discutir niveles de transparencia según contexto.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Pregunta 30 · Consentimiento y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¿El paciente sabe que IA participa en su atención?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10" b="1">
                <a:solidFill>
                  <a:srgbClr val="0E2749"/>
                </a:solidFill>
                <a:latin typeface="Aptos"/>
              </a:defRPr>
            </a:pPr>
            <a:r>
              <a:t>Conclusión: ¿qué deben recordar los estudiantes sobre consentimiento en GenAI clínica?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222D3C"/>
                </a:solidFill>
                <a:latin typeface="Aptos"/>
              </a:defRPr>
            </a:pPr>
            <a:r>
              <a:t>A. La eficiencia justifica todo</a:t>
            </a:r>
            <a:br/>
            <a:r>
              <a:t>B. Transparencia, consentimiento, gobernanza y accountability deben crecer con el riesgo y la influencia clínica</a:t>
            </a:r>
            <a:br/>
            <a:r>
              <a:t>C. Los pacientes no necesitan saber nada</a:t>
            </a:r>
            <a:br/>
            <a:r>
              <a:t>D. Los vendors deciden solos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7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integración de IA en EHR debe ser segura, transparente, gobernada y centrada en pacientes.</a:t>
            </a:r>
          </a:p>
        </p:txBody>
      </p:sp>
      <p:pic>
        <p:nvPicPr>
          <p:cNvPr id="7" name="Picture 6" descr="page2_table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81728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50" b="0">
                <a:solidFill>
                  <a:srgbClr val="495668"/>
                </a:solidFill>
                <a:latin typeface="Aptos"/>
              </a:defRPr>
            </a:pPr>
            <a:r>
              <a:t>Conexión con Tabla 1: cada respuesta debe asignar responsabilidad a alguien —clínico, hospital, proveedor, regulador, paciente/cuidador o ethics 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20" b="1">
                <a:solidFill>
                  <a:srgbClr val="0E2749"/>
                </a:solidFill>
                <a:latin typeface="Aptos"/>
              </a:defRPr>
            </a:pPr>
            <a:r>
              <a:t>Cierre: consentimiento no es solo una firma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10">
                <a:solidFill>
                  <a:srgbClr val="495668"/>
                </a:solidFill>
                <a:latin typeface="Aptos"/>
              </a:defRPr>
            </a:pPr>
            <a:r>
              <a:t>Tema 4 · Crear aviso/formulario de uso de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4924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Conclusiones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El paciente debe saber cuándo la IA participa de forma relevante.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El clínico debe saber qué datos se registran y cómo se usa su interacción con IA.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El hospital debe exigir disclosures y gobernanza a vendors.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El consentimiento debe variar según riesgo, finalidad y grado de influencia clínica.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097280"/>
            <a:ext cx="5166360" cy="461772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70" b="1">
                <a:solidFill>
                  <a:srgbClr val="0E2749"/>
                </a:solidFill>
                <a:latin typeface="Aptos"/>
              </a:defRPr>
            </a:pPr>
            <a:r>
              <a:t>Actividad final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Diseñar un aviso de IA para pacientes.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Incluir propósito, datos, revisión humana, riesgos, límites y contacto.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Indicar si existe opt-out.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Registrar quién revisó la salida de IA.</a:t>
            </a:r>
          </a:p>
          <a:p>
            <a:pPr>
              <a:spcAft>
                <a:spcPts val="200"/>
              </a:spcAft>
              <a:defRPr sz="1220">
                <a:solidFill>
                  <a:srgbClr val="212B3A"/>
                </a:solidFill>
                <a:latin typeface="Aptos"/>
              </a:defRPr>
            </a:pPr>
            <a:r>
              <a:t>• Definir quién responde si hay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779008"/>
            <a:ext cx="10561320" cy="384048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80" b="1">
                <a:solidFill>
                  <a:srgbClr val="0E2749"/>
                </a:solidFill>
                <a:latin typeface="Aptos"/>
              </a:defRPr>
            </a:pPr>
            <a:r>
              <a:t>Frase final: “Sin transparencia, el consentimiento se vuelve simbólico; sin accountability, la transparencia no protege al paciente.”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5">
                <a:solidFill>
                  <a:srgbClr val="697382"/>
                </a:solidFill>
                <a:latin typeface="Aptos"/>
              </a:defRPr>
            </a:pPr>
            <a:r>
              <a:t>Comeau, Bitterman &amp; Celi · “Preventing unrestricted and unmonitored AI experimentation in healthcare through transparency and accountability” · npj Digital Medicine 2025 · DOI: 10.1038/s41746-025-01443-2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