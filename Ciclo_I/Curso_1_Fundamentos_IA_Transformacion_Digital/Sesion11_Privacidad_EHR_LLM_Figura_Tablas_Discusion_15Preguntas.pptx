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94360" y="621792"/>
            <a:ext cx="3291840" cy="3657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EE6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00" b="1">
                <a:solidFill>
                  <a:srgbClr val="008993"/>
                </a:solidFill>
                <a:latin typeface="Aptos"/>
              </a:defRPr>
            </a:pPr>
            <a:r>
              <a:t>SESIÓN 11 · TEMA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1097280"/>
            <a:ext cx="562356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E2749"/>
                </a:solidFill>
                <a:latin typeface="Aptos"/>
              </a:defRPr>
            </a:pPr>
            <a:r>
              <a:t>Privacidad en IA clínica:</a:t>
            </a:r>
            <a:br/>
            <a:r>
              <a:t>EHR → LLM sin exponer pacientes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2788920"/>
            <a:ext cx="553212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750" b="1">
                <a:solidFill>
                  <a:srgbClr val="0E2749"/>
                </a:solidFill>
                <a:latin typeface="Aptos"/>
              </a:defRPr>
            </a:pPr>
            <a:r>
              <a:t>Figura + tablas explicativas + 15 preguntas con respuestas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3977639"/>
            <a:ext cx="5532120" cy="1371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Artículo base: Jonnagaddala &amp; Wong, npj Digital Medicine 2025.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Tema central: proteger EHR estructurados y no estructurados cuando se usan LLM.</a:t>
            </a:r>
          </a:p>
          <a:p>
            <a:pPr>
              <a:spcAft>
                <a:spcPts val="200"/>
              </a:spcAft>
              <a:defRPr sz="1200">
                <a:solidFill>
                  <a:srgbClr val="212B3A"/>
                </a:solidFill>
                <a:latin typeface="Aptos"/>
              </a:defRPr>
            </a:pPr>
            <a:r>
              <a:t>• Producto: diseño de flujo seguro EHR → IA.</a:t>
            </a:r>
          </a:p>
        </p:txBody>
      </p:sp>
      <p:pic>
        <p:nvPicPr>
          <p:cNvPr id="6" name="Picture 5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777240"/>
            <a:ext cx="5212080" cy="44805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94360" y="5650992"/>
            <a:ext cx="5532120" cy="502920"/>
          </a:xfrm>
          <a:prstGeom prst="roundRect">
            <a:avLst/>
          </a:prstGeom>
          <a:solidFill>
            <a:srgbClr val="FFF2F5"/>
          </a:solidFill>
          <a:ln w="12700">
            <a:solidFill>
              <a:srgbClr val="E6B4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50" b="1">
                <a:solidFill>
                  <a:srgbClr val="B93434"/>
                </a:solidFill>
                <a:latin typeface="Aptos"/>
              </a:defRPr>
            </a:pPr>
            <a:r>
              <a:t>Pregunta guía: ¿cómo usamos IA clínica sin filtrar datos identificables?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Artículo base: qué problema resuelve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El uso secundario de EHR con LLM crea nuevos riesgos de privacidad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0352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Mensaje del artículo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EHR se usan para documentación, resumen, extracción de información, investigación, educación y reportes.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Contienen sensitive health information en datos estructurados y notas clínicas no estructuradas.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Regulaciones como HIPAA y GDPR ayudan, pero no bastan para GenAI.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El artículo propone estrategias técnicas y organizacionales según contexto.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Mensaje para estudiantes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Privacidad no es solo borrar el nombre.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combinación de fechas, diagnóstico, tratamientos y ubicación puede reidentificar.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estrategia depende de tarea, tipo de dato e infraestructura.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Debe combinarse regulación + políticas + técnicas.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Figura original del artículo: estrategias contextuales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Fig. 1 · Context-aware privacy-preserving strategies for secondary usage of EHRs</a:t>
            </a:r>
          </a:p>
        </p:txBody>
      </p:sp>
      <p:pic>
        <p:nvPicPr>
          <p:cNvPr id="4" name="Picture 3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24128"/>
            <a:ext cx="5715000" cy="47548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629400" y="1143000"/>
            <a:ext cx="4617720" cy="4389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Cómo explicar la figura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protección empieza por regulaciones y políticas institucionales.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Luego se aplican estrategias contextuales: desidentificación, federated learning, generación de sustitutos, privacidad diferencial y datos sintéticos.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selección depende de tarea del LLM, tipo de dato y capacidad computacional.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No existe una sola técnica universal.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Tabla docente 1: estrategias de privacidad y cuándo usarlas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Tabla construida a partir de la discusión del artículo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43000"/>
            <a:ext cx="1920240" cy="621792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69" b="1">
                <a:solidFill>
                  <a:srgbClr val="FFFFFF"/>
                </a:solidFill>
                <a:latin typeface="Aptos"/>
              </a:defRPr>
            </a:pPr>
            <a:r>
              <a:t>Estrategia</a:t>
            </a:r>
          </a:p>
        </p:txBody>
      </p:sp>
      <p:sp>
        <p:nvSpPr>
          <p:cNvPr id="5" name="Rectangle 4"/>
          <p:cNvSpPr/>
          <p:nvPr/>
        </p:nvSpPr>
        <p:spPr>
          <a:xfrm>
            <a:off x="2423160" y="1143000"/>
            <a:ext cx="2743200" cy="621792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69" b="1">
                <a:solidFill>
                  <a:srgbClr val="FFFFFF"/>
                </a:solidFill>
                <a:latin typeface="Aptos"/>
              </a:defRPr>
            </a:pPr>
            <a:r>
              <a:t>Qué hace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5166359" y="1143000"/>
            <a:ext cx="2743200" cy="621792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69" b="1">
                <a:solidFill>
                  <a:srgbClr val="FFFFFF"/>
                </a:solidFill>
                <a:latin typeface="Aptos"/>
              </a:defRPr>
            </a:pPr>
            <a:r>
              <a:t>Uso típico</a:t>
            </a:r>
          </a:p>
        </p:txBody>
      </p:sp>
      <p:sp>
        <p:nvSpPr>
          <p:cNvPr id="7" name="Rectangle 6"/>
          <p:cNvSpPr/>
          <p:nvPr/>
        </p:nvSpPr>
        <p:spPr>
          <a:xfrm>
            <a:off x="7909560" y="1143000"/>
            <a:ext cx="3566160" cy="621792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69" b="1">
                <a:solidFill>
                  <a:srgbClr val="FFFFFF"/>
                </a:solidFill>
                <a:latin typeface="Aptos"/>
              </a:defRPr>
            </a:pPr>
            <a:r>
              <a:t>Riesgo / límite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764792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Desidentificación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2423160" y="1764792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Remueve SHI/identificadores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166359" y="1764792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Notas clínicas, reportes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909560" y="1764792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No elimina todo riesgo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386584"/>
            <a:ext cx="192024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Surrogación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2386584"/>
            <a:ext cx="274320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Reemplaza por datos ficticios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66359" y="2386584"/>
            <a:ext cx="274320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Texto clínico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09560" y="2386584"/>
            <a:ext cx="356616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Puede alterar utilidad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00837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Privacidad diferencial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423160" y="3008376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Agrega ruido calibrado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166359" y="3008376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Consultas/estadística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909560" y="3008376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Reduce precisión si es agresiva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630168"/>
            <a:ext cx="192024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Federated learning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423160" y="3630168"/>
            <a:ext cx="274320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Entrena sin mover datos crudos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66359" y="3630168"/>
            <a:ext cx="274320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Multi-hospital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09560" y="3630168"/>
            <a:ext cx="356616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Complejidad técnica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251960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Datos sintéticos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423160" y="425196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Genera datos artificiales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166359" y="4251960"/>
            <a:ext cx="27432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Entrenar/evaluar modelos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09560" y="4251960"/>
            <a:ext cx="356616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Riesgo de alucinación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873752"/>
            <a:ext cx="192024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LLM local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423160" y="4873752"/>
            <a:ext cx="274320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Procesa dentro del hospital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166359" y="4873752"/>
            <a:ext cx="274320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EHR sensible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09560" y="4873752"/>
            <a:ext cx="3566160" cy="62179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9" b="0">
                <a:solidFill>
                  <a:srgbClr val="232D3C"/>
                </a:solidFill>
                <a:latin typeface="Aptos"/>
              </a:defRPr>
            </a:pPr>
            <a:r>
              <a:t>Costo computacional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Tabla docente 2: dato estructurado vs no estructurado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El artículo insiste en que ambos tipos requieren protección, pero tienen retos distintos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1280160"/>
            <a:ext cx="2011680" cy="713232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80" b="1">
                <a:solidFill>
                  <a:srgbClr val="FFFFFF"/>
                </a:solidFill>
                <a:latin typeface="Aptos"/>
              </a:defRPr>
            </a:pPr>
            <a:r>
              <a:t>Tipo de dato</a:t>
            </a:r>
          </a:p>
        </p:txBody>
      </p:sp>
      <p:sp>
        <p:nvSpPr>
          <p:cNvPr id="5" name="Rectangle 4"/>
          <p:cNvSpPr/>
          <p:nvPr/>
        </p:nvSpPr>
        <p:spPr>
          <a:xfrm>
            <a:off x="2606040" y="1280160"/>
            <a:ext cx="2743200" cy="713232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80" b="1">
                <a:solidFill>
                  <a:srgbClr val="FFFFFF"/>
                </a:solidFill>
                <a:latin typeface="Aptos"/>
              </a:defRPr>
            </a:pPr>
            <a:r>
              <a:t>Ejemplos</a:t>
            </a:r>
          </a:p>
        </p:txBody>
      </p:sp>
      <p:sp>
        <p:nvSpPr>
          <p:cNvPr id="6" name="Rectangle 5"/>
          <p:cNvSpPr/>
          <p:nvPr/>
        </p:nvSpPr>
        <p:spPr>
          <a:xfrm>
            <a:off x="5349240" y="1280160"/>
            <a:ext cx="3337560" cy="713232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80" b="1">
                <a:solidFill>
                  <a:srgbClr val="FFFFFF"/>
                </a:solidFill>
                <a:latin typeface="Aptos"/>
              </a:defRPr>
            </a:pPr>
            <a:r>
              <a:t>Riesgo principal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686800" y="1280160"/>
            <a:ext cx="3154680" cy="713232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80" b="1">
                <a:solidFill>
                  <a:srgbClr val="FFFFFF"/>
                </a:solidFill>
                <a:latin typeface="Aptos"/>
              </a:defRPr>
            </a:pPr>
            <a:r>
              <a:t>Estrategias útiles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93391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Estructurado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993391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Edad, códigos, labs, diagnósticos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49240" y="1993391"/>
            <a:ext cx="3337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Combinación de variables reidentificable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0" y="1993391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DP, FL, cifrado, control de acceso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" y="2706624"/>
            <a:ext cx="201168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No estructurado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06040" y="2706624"/>
            <a:ext cx="274320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Notas clínicas, informes, alta médica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349240" y="2706624"/>
            <a:ext cx="333756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Nombres, fechas, lugares ocultos en texto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0" y="2706624"/>
            <a:ext cx="315468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Deidentificación, NER, surrogación, LLM local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3419856"/>
            <a:ext cx="2011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Imagen/omics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06040" y="3419856"/>
            <a:ext cx="2743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Radiología, patología, genética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349240" y="3419856"/>
            <a:ext cx="3337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Datos únicos o vinculables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686800" y="3419856"/>
            <a:ext cx="315468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Gobernanza, minimización, infraestructura segura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4133087"/>
            <a:ext cx="201168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Temporal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606040" y="4133087"/>
            <a:ext cx="274320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Trayectoria clínica longitudinal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349240" y="4133087"/>
            <a:ext cx="333756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Patrón único de enfermedad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0" y="4133087"/>
            <a:ext cx="3154680" cy="713232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80" b="0">
                <a:solidFill>
                  <a:srgbClr val="232D3C"/>
                </a:solidFill>
                <a:latin typeface="Aptos"/>
              </a:defRPr>
            </a:pPr>
            <a:r>
              <a:t>Surrogación temporal y reglas contextuales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" y="5394960"/>
            <a:ext cx="10515600" cy="5486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50" b="1">
                <a:solidFill>
                  <a:srgbClr val="0E2749"/>
                </a:solidFill>
                <a:latin typeface="Aptos"/>
              </a:defRPr>
            </a:pPr>
            <a:r>
              <a:t>Idea clave: los datos no estructurados son difíciles porque el identificador puede estar escondido dentro del lenguaje clínico.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Tabla docente 3: arquitecturas EHR →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Comparación práctica para hospitales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188720"/>
            <a:ext cx="2468880" cy="685800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60" b="1">
                <a:solidFill>
                  <a:srgbClr val="FFFFFF"/>
                </a:solidFill>
                <a:latin typeface="Aptos"/>
              </a:defRPr>
            </a:pPr>
            <a:r>
              <a:t>Arquitectura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2971800" y="1188720"/>
            <a:ext cx="2834640" cy="685800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60" b="1">
                <a:solidFill>
                  <a:srgbClr val="FFFFFF"/>
                </a:solidFill>
                <a:latin typeface="Aptos"/>
              </a:defRPr>
            </a:pPr>
            <a:r>
              <a:t>Ventaja</a:t>
            </a:r>
          </a:p>
        </p:txBody>
      </p:sp>
      <p:sp>
        <p:nvSpPr>
          <p:cNvPr id="6" name="Rectangle 5"/>
          <p:cNvSpPr/>
          <p:nvPr/>
        </p:nvSpPr>
        <p:spPr>
          <a:xfrm>
            <a:off x="5806440" y="1188720"/>
            <a:ext cx="2743200" cy="685800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60" b="1">
                <a:solidFill>
                  <a:srgbClr val="FFFFFF"/>
                </a:solidFill>
                <a:latin typeface="Aptos"/>
              </a:defRPr>
            </a:pPr>
            <a:r>
              <a:t>Riesgo</a:t>
            </a:r>
          </a:p>
        </p:txBody>
      </p:sp>
      <p:sp>
        <p:nvSpPr>
          <p:cNvPr id="7" name="Rectangle 6"/>
          <p:cNvSpPr/>
          <p:nvPr/>
        </p:nvSpPr>
        <p:spPr>
          <a:xfrm>
            <a:off x="8549640" y="1188720"/>
            <a:ext cx="3200400" cy="685800"/>
          </a:xfrm>
          <a:prstGeom prst="rect">
            <a:avLst/>
          </a:prstGeom>
          <a:solidFill>
            <a:srgbClr val="0E2749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960" b="1">
                <a:solidFill>
                  <a:srgbClr val="FFFFFF"/>
                </a:solidFill>
                <a:latin typeface="Aptos"/>
              </a:defRPr>
            </a:pPr>
            <a:r>
              <a:t>Cuándo usar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1874519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EHR completo → LLM externo</a:t>
            </a:r>
          </a:p>
        </p:txBody>
      </p:sp>
      <p:sp>
        <p:nvSpPr>
          <p:cNvPr id="9" name="Rectangle 8"/>
          <p:cNvSpPr/>
          <p:nvPr/>
        </p:nvSpPr>
        <p:spPr>
          <a:xfrm>
            <a:off x="2971800" y="1874519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Rápido y simple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06440" y="1874519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Muy alto: transferencia de SHI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49640" y="1874519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Evitar salvo contrato/controles fuertes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2560320"/>
            <a:ext cx="246888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EHR desidentificado → LLM externo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71800" y="2560320"/>
            <a:ext cx="283464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Reduce exposición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06440" y="2560320"/>
            <a:ext cx="274320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Reidentificación residual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549640" y="2560320"/>
            <a:ext cx="320040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Tareas de resumen/investigación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3246120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EHR → LLM local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971800" y="3246120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Datos no salen del hospital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806440" y="324612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Costo e infraestructura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549640" y="3246120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Datos altamente sensibles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3931920"/>
            <a:ext cx="246888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FL multi-hospital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971800" y="3931920"/>
            <a:ext cx="283464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Aprende de varios sitios sin compartir raw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806440" y="3931920"/>
            <a:ext cx="274320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Coordinación compleja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931920"/>
            <a:ext cx="3200400" cy="685800"/>
          </a:xfrm>
          <a:prstGeom prst="rect">
            <a:avLst/>
          </a:prstGeom>
          <a:solidFill>
            <a:srgbClr val="F5F9FC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Modelos multicéntricos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4617720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Synthetic data → LLM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971800" y="4617720"/>
            <a:ext cx="283464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Menos dato real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06440" y="4617720"/>
            <a:ext cx="27432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Misinformation/hallucination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549640" y="4617720"/>
            <a:ext cx="320040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860" b="0">
                <a:solidFill>
                  <a:srgbClr val="232D3C"/>
                </a:solidFill>
                <a:latin typeface="Aptos"/>
              </a:defRPr>
            </a:pPr>
            <a:r>
              <a:t>Entrenamiento y pruebas preliminares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Flujo seguro propuesto: EHR → 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Diseño práctico para la actividad de estudiantes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463040"/>
            <a:ext cx="621792" cy="548640"/>
          </a:xfrm>
          <a:prstGeom prst="roundRect">
            <a:avLst/>
          </a:prstGeom>
          <a:solidFill>
            <a:srgbClr val="008993"/>
          </a:solidFill>
          <a:ln w="12700">
            <a:solidFill>
              <a:srgbClr val="00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" y="2194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20" b="1">
                <a:solidFill>
                  <a:srgbClr val="0E2749"/>
                </a:solidFill>
                <a:latin typeface="Aptos"/>
              </a:defRPr>
            </a:pPr>
            <a:r>
              <a:t>Definir tarea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23160" y="1463040"/>
            <a:ext cx="621792" cy="548640"/>
          </a:xfrm>
          <a:prstGeom prst="roundRect">
            <a:avLst/>
          </a:prstGeom>
          <a:solidFill>
            <a:srgbClr val="008993"/>
          </a:solidFill>
          <a:ln w="12700">
            <a:solidFill>
              <a:srgbClr val="00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67128" y="2194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20" b="1">
                <a:solidFill>
                  <a:srgbClr val="0E2749"/>
                </a:solidFill>
                <a:latin typeface="Aptos"/>
              </a:defRPr>
            </a:pPr>
            <a:r>
              <a:t>Minimizar datos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43400" y="1463040"/>
            <a:ext cx="621792" cy="548640"/>
          </a:xfrm>
          <a:prstGeom prst="roundRect">
            <a:avLst/>
          </a:prstGeom>
          <a:solidFill>
            <a:srgbClr val="008993"/>
          </a:solidFill>
          <a:ln w="12700">
            <a:solidFill>
              <a:srgbClr val="00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087368" y="2194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20" b="1">
                <a:solidFill>
                  <a:srgbClr val="0E2749"/>
                </a:solidFill>
                <a:latin typeface="Aptos"/>
              </a:defRPr>
            </a:pPr>
            <a:r>
              <a:t>Desidentificar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63040"/>
            <a:ext cx="621792" cy="548640"/>
          </a:xfrm>
          <a:prstGeom prst="roundRect">
            <a:avLst/>
          </a:prstGeom>
          <a:solidFill>
            <a:srgbClr val="008993"/>
          </a:solidFill>
          <a:ln w="12700">
            <a:solidFill>
              <a:srgbClr val="00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07608" y="2194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20" b="1">
                <a:solidFill>
                  <a:srgbClr val="0E2749"/>
                </a:solidFill>
                <a:latin typeface="Aptos"/>
              </a:defRPr>
            </a:pPr>
            <a:r>
              <a:t>Surrogar / DP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83880" y="1463040"/>
            <a:ext cx="621792" cy="548640"/>
          </a:xfrm>
          <a:prstGeom prst="roundRect">
            <a:avLst/>
          </a:prstGeom>
          <a:solidFill>
            <a:srgbClr val="008993"/>
          </a:solidFill>
          <a:ln w="12700">
            <a:solidFill>
              <a:srgbClr val="00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27848" y="2194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20" b="1">
                <a:solidFill>
                  <a:srgbClr val="0E2749"/>
                </a:solidFill>
                <a:latin typeface="Aptos"/>
              </a:defRPr>
            </a:pPr>
            <a:r>
              <a:t>Elegir LLM local o cloud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104120" y="1463040"/>
            <a:ext cx="621792" cy="548640"/>
          </a:xfrm>
          <a:prstGeom prst="roundRect">
            <a:avLst/>
          </a:prstGeom>
          <a:solidFill>
            <a:srgbClr val="008993"/>
          </a:solidFill>
          <a:ln w="12700">
            <a:solidFill>
              <a:srgbClr val="00899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848088" y="2194560"/>
            <a:ext cx="114300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120" b="1">
                <a:solidFill>
                  <a:srgbClr val="0E2749"/>
                </a:solidFill>
                <a:latin typeface="Aptos"/>
              </a:defRPr>
            </a:pPr>
            <a:r>
              <a:t>Auditar acceso y salida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" y="3977639"/>
            <a:ext cx="5212080" cy="164592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Reglas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El dato mínimo necesario reduce riesgo desde el inicio.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salida del LLM también puede contener información sensible.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Cada acceso debe quedar registrado.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3977639"/>
            <a:ext cx="4983480" cy="16459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Errores comunes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No enviar notas completas si basta un resumen.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No usar cloud externo sin contrato y evaluación.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No asumir que desidentificar = anonimizar perfecto.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El trade-off central: privacidad vs utilidad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Más protección puede reducir valor analítico si se aplica sin contexto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88720"/>
            <a:ext cx="5257800" cy="4206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Riesgos de proteger demasiado mal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Desidentificación agresiva puede borrar información clínica importante.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Surrogación puede afectar análisis de lugar o tiempo.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Privacidad diferencial puede introducir ruido útil para privacidad, pero perjudicial para precisión.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Datos sintéticos pueden reducir exposición, pero también introducir alucinaciones o patrones falsos.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63640" y="1188720"/>
            <a:ext cx="5257800" cy="42062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Decisión responsable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estrategia depende de la pregunta clínica.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Diferenciar cuidado directo, investigación y educación.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Evaluar riesgo de reidentificación y pérdida de utilidad.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Documentar decisión y responsables.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Gobernanza: no es solo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El artículo propone combinar regulaciones, políticas e infraestructura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Controles organizacionales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Política de acceso por rol.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Registro de prompts y salidas.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Contrato con proveedores.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Revisión de métodos de desidentificación.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Evaluación periódica de reidentificación.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Plan de respuesta ante brecha de datos.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8056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Preguntas de auditoría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Quién puede usar EHR con LLM.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Qué datos puede enviar.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Qué modelo puede usar.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Dónde se almacena la salida.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Cómo se elimina o archiva.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Quién audita.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15 preguntas para evaluación rápida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Tema 3 · Privacidad: EHR, LLM y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Uso en clase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Formato: pregunta clínica → opciones → respuesta → justificación.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Nivel: médicos, enfermería, psicología, fisioterapia, farmacia y aliados.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Objetivo: decidir qué arquitectura y controles reducen el riesgo.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Enfatizar que privacidad es diseño operativo, no solo cumplimiento legal.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Conceptos cubiertos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EHR estructurado/no estructurado.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Reidentificación.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Deidentificación y surrogación.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Privacidad diferencial.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Federated learning.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LLM local vs cloud.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Gobernanza y auditoría.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1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¿Por qué un EHR usado con un LLM puede crear riesgo de privacidad?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Porque solo contiene números anónimos</a:t>
            </a:r>
            <a:br/>
            <a:r>
              <a:t>B. Porque combina datos clínicos, fechas, notas e identificadores que pueden revelar al paciente</a:t>
            </a:r>
            <a:br/>
            <a:r>
              <a:t>C. Porque los LLM no leen texto</a:t>
            </a:r>
            <a:br/>
            <a:r>
              <a:t>D. Porque HIPAA elimina todo riesgo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Los EHR contienen sensitive health information en formatos estructurados y no estructurados; combinaciones de variables pueden reidentificar.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2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¿Cuál es un ejemplo de uso secundario de EHR?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Atender directamente al paciente durante consulta</a:t>
            </a:r>
            <a:br/>
            <a:r>
              <a:t>B. Investigación clínica, vigilancia, mejora de calidad o educación</a:t>
            </a:r>
            <a:br/>
            <a:r>
              <a:t>C. Medir presión arterial</a:t>
            </a:r>
            <a:br/>
            <a:r>
              <a:t>D. Firmar consentimiento quirúrgico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define uso secundario como uso más allá de la intención original de cuidado directo.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3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¿Qué significa minimización de datos en EHR → IA?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Enviar toda la historia clínica</a:t>
            </a:r>
            <a:br/>
            <a:r>
              <a:t>B. Usar solo la información necesaria para la tarea específica</a:t>
            </a:r>
            <a:br/>
            <a:r>
              <a:t>C. Eliminar todos los datos clínicos</a:t>
            </a:r>
            <a:br/>
            <a:r>
              <a:t>D. Usar datos duplicados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privacidad empieza reduciendo la cantidad y granularidad de datos expuestos.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4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¿Qué es reidentificación?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Convertir datos en imagen</a:t>
            </a:r>
            <a:br/>
            <a:r>
              <a:t>B. Vincular un registro desidentificado con una persona o grupo identificable</a:t>
            </a:r>
            <a:br/>
            <a:r>
              <a:t>C. Entrenar un modelo local</a:t>
            </a:r>
            <a:br/>
            <a:r>
              <a:t>D. Agregar ruido estadístico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distingue riesgo de reidentificación única y de grupo.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5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¿Qué técnica agrega ruido calibrado para limitar la identificación de un individuo?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Surrogación</a:t>
            </a:r>
            <a:br/>
            <a:r>
              <a:t>B. Privacidad diferencial</a:t>
            </a:r>
            <a:br/>
            <a:r>
              <a:t>C. OCR</a:t>
            </a:r>
            <a:br/>
            <a:r>
              <a:t>D. Grad-CAM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privacidad diferencial dificulta saber si un paciente específico está en una base de datos.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6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¿Qué ventaja tiene federated learning?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Los datos crudos se comparten públicamente</a:t>
            </a:r>
            <a:br/>
            <a:r>
              <a:t>B. Varios sitios entrenan sin compartir datos crudos</a:t>
            </a:r>
            <a:br/>
            <a:r>
              <a:t>C. Elimina toda necesidad de gobernanza</a:t>
            </a:r>
            <a:br/>
            <a:r>
              <a:t>D. Solo funciona en imágenes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FL permite colaboración entre instituciones manteniendo los datos localizados.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7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¿Qué hace la desidentificación?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Quita o transforma información sensible identificable</a:t>
            </a:r>
            <a:br/>
            <a:r>
              <a:t>B. Mejora automáticamente el diagnóstico</a:t>
            </a:r>
            <a:br/>
            <a:r>
              <a:t>C. Cifra el monitor</a:t>
            </a:r>
            <a:br/>
            <a:r>
              <a:t>D. Reduce el tamaño del hospital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Busca detectar y remover identificadores directos o indirectos, especialmente en texto clínico.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8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¿Qué es surrogación?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Reemplazar identificadores por sustitutos ficticios preservando estructura</a:t>
            </a:r>
            <a:br/>
            <a:r>
              <a:t>B. Enviar datos al proveedor sin control</a:t>
            </a:r>
            <a:br/>
            <a:r>
              <a:t>C. Bloquear todo acceso clínico</a:t>
            </a:r>
            <a:br/>
            <a:r>
              <a:t>D. Hacer una biopsia digital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Ejemplo: cambiar un nombre real por un nombre sintético para mantener forma del texto.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9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¿Cuál es un límite de la surrogación?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Siempre destruye todos los datos</a:t>
            </a:r>
            <a:br/>
            <a:r>
              <a:t>B. Puede afectar utilidad cuando lugar, tiempo o identidad son relevantes para análisis</a:t>
            </a:r>
            <a:br/>
            <a:r>
              <a:t>C. Nunca reduce riesgo</a:t>
            </a:r>
            <a:br/>
            <a:r>
              <a:t>D. Solo sirve para imágenes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El artículo explica que el impacto depende del nivel de granularidad y la tarea posterior.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10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¿Por qué un LLM local puede ser preferible en datos altamente sensibles?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Porque los datos pueden permanecer dentro del entorno del hospital</a:t>
            </a:r>
            <a:br/>
            <a:r>
              <a:t>B. Porque no necesita seguridad</a:t>
            </a:r>
            <a:br/>
            <a:r>
              <a:t>C. Porque no cuesta recursos</a:t>
            </a:r>
            <a:br/>
            <a:r>
              <a:t>D. Porque no procesa texto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despliegue local reduce exposición a servicios externos, aunque requiere infraestructura.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11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¿Qué riesgo tiene usar datos sintéticos?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Puede introducir misinformation o hallucinations</a:t>
            </a:r>
            <a:br/>
            <a:r>
              <a:t>B. Siempre identifica pacientes reales</a:t>
            </a:r>
            <a:br/>
            <a:r>
              <a:t>C. No sirve para pruebas</a:t>
            </a:r>
            <a:br/>
            <a:r>
              <a:t>D. Solo funciona en Japón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artículo advierte que los datos sintéticos pueden ayudar, pero también introducir errores o alucinaciones.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12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¿Qué arquitectura es más riesgosa?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EHR completo → LLM externo sin controles</a:t>
            </a:r>
            <a:br/>
            <a:r>
              <a:t>B. EHR minimizado → LLM local</a:t>
            </a:r>
            <a:br/>
            <a:r>
              <a:t>C. Texto desidentificado → revisión institucional</a:t>
            </a:r>
            <a:br/>
            <a:r>
              <a:t>D. FL sin compartir raw data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Enviar EHR completo a un tercero expone SHI y requiere contratos, seguridad y justificación muy fuertes.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13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¿Por qué el dato no estructurado es difícil de proteger?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Porque nunca contiene identificadores</a:t>
            </a:r>
            <a:br/>
            <a:r>
              <a:t>B. Porque nombres, fechas, lugares e historias pueden estar escondidos en texto libre</a:t>
            </a:r>
            <a:br/>
            <a:r>
              <a:t>C. Porque no puede usarse con LLM</a:t>
            </a:r>
            <a:br/>
            <a:r>
              <a:t>D. Porque no existe en EHR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Las notas clínicas contienen identificadores en lenguaje natural y requieren extracción robusta.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14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¿Qué debe auditar un hospital cuando usa LLM con EHR?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Solo número de diapositivas</a:t>
            </a:r>
            <a:br/>
            <a:r>
              <a:t>B. Quién accede, qué datos se envían, qué salida se genera, dónde se almacena y bajo qué modelo</a:t>
            </a:r>
            <a:br/>
            <a:r>
              <a:t>C. Solo color de interfaz</a:t>
            </a:r>
            <a:br/>
            <a:r>
              <a:t>D. Solo velocidad del internet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B</a:t>
            </a:r>
            <a:br/>
            <a:br/>
            <a:r>
              <a:t>La gobernanza requiere trazabilidad de acceso, procesamiento y salida.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Pregunta 15 · Privacidad EHR → LLM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Diseñar un flujo seguro para datos identificables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" y="1051560"/>
            <a:ext cx="11018520" cy="86868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A6CD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440" b="1">
                <a:solidFill>
                  <a:srgbClr val="0E2749"/>
                </a:solidFill>
                <a:latin typeface="Aptos"/>
              </a:defRPr>
            </a:pPr>
            <a:r>
              <a:t>Conclusión práctica: antes de conectar EHR con LLM, ¿qué debe definir el hospital?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57400"/>
            <a:ext cx="5212080" cy="2423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222D3C"/>
                </a:solidFill>
                <a:latin typeface="Aptos"/>
              </a:defRPr>
            </a:pPr>
            <a:r>
              <a:t>A. La tarea, datos mínimos, estrategia de privacidad, arquitectura, responsables y monitoreo</a:t>
            </a:r>
            <a:br/>
            <a:r>
              <a:t>B. Solo comprar la herramienta más moderna</a:t>
            </a:r>
            <a:br/>
            <a:r>
              <a:t>C. Eliminar a los profesionales</a:t>
            </a:r>
            <a:br/>
            <a:r>
              <a:t>D. Enviar todo a la nube por defecto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63640" y="2057400"/>
            <a:ext cx="5257800" cy="2423160"/>
          </a:xfrm>
          <a:prstGeom prst="roundRect">
            <a:avLst/>
          </a:prstGeom>
          <a:solidFill>
            <a:srgbClr val="F0FFF7"/>
          </a:solidFill>
          <a:ln w="12700">
            <a:solidFill>
              <a:srgbClr val="AEE1C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200" b="0">
                <a:solidFill>
                  <a:srgbClr val="192D37"/>
                </a:solidFill>
                <a:latin typeface="Aptos"/>
              </a:defRPr>
            </a:pPr>
            <a:r>
              <a:t>Respuesta: A</a:t>
            </a:r>
            <a:br/>
            <a:br/>
            <a:r>
              <a:t>El enfoque context-aware del artículo exige decidir según tarea, dato e infraestructura.</a:t>
            </a:r>
          </a:p>
        </p:txBody>
      </p:sp>
      <p:pic>
        <p:nvPicPr>
          <p:cNvPr id="7" name="Picture 6" descr="figure1_privacy_strateg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4709160"/>
            <a:ext cx="3246120" cy="14173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069080" y="4736592"/>
            <a:ext cx="7452360" cy="100584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070" b="0">
                <a:solidFill>
                  <a:srgbClr val="495668"/>
                </a:solidFill>
                <a:latin typeface="Aptos"/>
              </a:defRPr>
            </a:pPr>
            <a:r>
              <a:t>Conexión con Fig. 1: cualquier respuesta debe elegir una estrategia según regulación, política institucional, tarea del LLM, tipo de dato e infraestructura.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01400" cy="530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50" b="1">
                <a:solidFill>
                  <a:srgbClr val="0E2749"/>
                </a:solidFill>
                <a:latin typeface="Aptos"/>
              </a:defRPr>
            </a:pPr>
            <a:r>
              <a:t>Cierre: privacidad no es solo quitar el nombre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106424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20">
                <a:solidFill>
                  <a:srgbClr val="495668"/>
                </a:solidFill>
                <a:latin typeface="Aptos"/>
              </a:defRPr>
            </a:pPr>
            <a:r>
              <a:t>Tema 3 · Diseñar EHR → IA con minimización, desidentificación, cifrado y control de acceso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143000"/>
            <a:ext cx="5349240" cy="4434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Conclusiones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Un EHR contiene información sensible estructurada y no estructurada.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desidentificación reduce riesgo, pero no lo elimina.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estrategia debe elegirse según tarea, dato, modelo e infraestructura.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La salida del LLM también debe considerarse información clínica sensible.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55080" y="1143000"/>
            <a:ext cx="5166360" cy="4434840"/>
          </a:xfrm>
          <a:prstGeom prst="roundRect">
            <a:avLst/>
          </a:prstGeom>
          <a:solidFill>
            <a:srgbClr val="EBF6FF"/>
          </a:solidFill>
          <a:ln w="12700">
            <a:solidFill>
              <a:srgbClr val="D6E0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rIns="146304" tIns="91440" bIns="54864">
            <a:normAutofit/>
          </a:bodyPr>
          <a:lstStyle/>
          <a:p>
            <a:pPr algn="ctr">
              <a:defRPr sz="1500" b="1">
                <a:solidFill>
                  <a:srgbClr val="0E2749"/>
                </a:solidFill>
                <a:latin typeface="Aptos"/>
              </a:defRPr>
            </a:pPr>
            <a:r>
              <a:t>Checklist hospitalario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Minimizar datos antes de enviar.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Desidentificar y surrogar cuando sea posible.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Usar DP/FL/datos sintéticos según necesidad.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Preferir local/on-premise para datos altamente sensibles.</a:t>
            </a:r>
          </a:p>
          <a:p>
            <a:pPr>
              <a:spcAft>
                <a:spcPts val="200"/>
              </a:spcAft>
              <a:defRPr sz="1250">
                <a:solidFill>
                  <a:srgbClr val="212B3A"/>
                </a:solidFill>
                <a:latin typeface="Aptos"/>
              </a:defRPr>
            </a:pPr>
            <a:r>
              <a:t>• Auditar accesos, prompts, outputs y proveedores.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5669280"/>
            <a:ext cx="10561320" cy="502920"/>
          </a:xfrm>
          <a:prstGeom prst="roundRect">
            <a:avLst/>
          </a:prstGeom>
          <a:solidFill>
            <a:srgbClr val="FFF6EB"/>
          </a:solidFill>
          <a:ln w="12700">
            <a:solidFill>
              <a:srgbClr val="E6C8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 tIns="73152" bIns="54864">
            <a:normAutofit/>
          </a:bodyPr>
          <a:lstStyle/>
          <a:p>
            <a:pPr algn="ctr">
              <a:defRPr sz="1320" b="1">
                <a:solidFill>
                  <a:srgbClr val="0E2749"/>
                </a:solidFill>
                <a:latin typeface="Aptos"/>
              </a:defRPr>
            </a:pPr>
            <a:r>
              <a:t>Frase final: “La pregunta no es si la IA puede leer el EHR; la pregunta es cuánto EHR necesita ver y bajo qué controles.”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6336792"/>
            <a:ext cx="11201400" cy="9144"/>
          </a:xfrm>
          <a:prstGeom prst="rect">
            <a:avLst/>
          </a:prstGeom>
          <a:solidFill>
            <a:srgbClr val="D5DF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6428232"/>
            <a:ext cx="11201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750">
                <a:solidFill>
                  <a:srgbClr val="697382"/>
                </a:solidFill>
                <a:latin typeface="Aptos"/>
              </a:defRPr>
            </a:pPr>
            <a:r>
              <a:t>Jonnagaddala &amp; Wong · “Privacy preserving strategies for electronic health records in the era of large language models” · npj Digital Medicine 2025 · DOI: 10.1038/s41746-025-01429-0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