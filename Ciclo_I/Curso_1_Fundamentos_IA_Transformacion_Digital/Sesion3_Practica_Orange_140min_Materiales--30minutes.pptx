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Presente que este bloque completa la Sesión 3 después del PPT teórico de 40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Use esta diapositiva como contrato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min. Abra Orange y muestre la pantalla vacía antes de construir el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 min. Subraye que el significado de la fila es esencial: no es lo mismo paciente que visita.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Explique leakage/identificadores como un error frecuente.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Compare mean vs median para glucosa o BMI.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8 min. Muestre age/glucose/spo2 y luego haga Box Plot por readmission_30d o triage_priority.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min. Seleccione un outlier en Box Plot y abra Data Table para que vean la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Dé instrucciones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Introduzca data leakage de manera intuitiva.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 min. Cierre práctica guiada.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min. Explique dinámica.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Establezca formato de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10 min. Grupos trabajan y preparan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8 min. Use para retroalimentar presentaciones.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Respuestas: 1C, 2C, 3B, 4B.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12700">
            <a:solidFill>
              <a:srgbClr val="D8E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 · Datos clínicos y preparación de datos · Orange Data Mining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69680" y="6510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IA y Transformación Digital en Salud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 · Práctica Orange Data Mining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Del dato clínico crudo al dato confiable para IA médica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140 minutos prácticos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Live demo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97480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7208" y="164592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7556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Práctica guiada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10328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0056" y="164592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7556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5 problemas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23176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2904" y="164592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17556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Interpretación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36024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45752" y="164592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17556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Quiz + cierre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2743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852928"/>
            <a:ext cx="338328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Objetivo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Construir un flujo clínico de preparación de datos en Orange y justificar decisiones profesionales antes de entrenar IA.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274320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52928"/>
            <a:ext cx="274320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Software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Orange Data Mining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CSV clínico simulado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Pipeline visual No-Code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09560" y="2743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852928"/>
            <a:ext cx="320040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Pipeline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File → Select Columns → Impute → Distributions → Box Plot → Data Table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 práctica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Qué hará el profesor y qué harán los estudiantes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452628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2743200"/>
                <a:gridCol w="2743200"/>
                <a:gridCol w="306324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Bloque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Min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Profesor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Estudiantes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Resultado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Live Orange Demo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25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Construye workflow en pantalla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Observan y replican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Primer pipeline funcional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Guided Practice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35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Da misiones paso a paso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Trabajan con CSV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Dataset inspeccionado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5 problemas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40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Presenta casos clínicos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Aplican Orange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Decisiones basadas en datos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Interpretación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20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Cuestiona conclusiones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Defienden decisión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Gráfico → decisión clínica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Quiz + cierre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20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Evalúa y resume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Responden y corrigen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365D"/>
                          </a:solidFill>
                        </a:rPr>
                        <a:t>Preparación para Sesión 4</a:t>
                      </a:r>
                      <a:endParaRPr lang="en-US" sz="94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806440"/>
            <a:ext cx="10607040" cy="457200"/>
          </a:xfrm>
          <a:prstGeom prst="roundRect">
            <a:avLst>
              <a:gd name="adj" fmla="val 20000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916168"/>
            <a:ext cx="10332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Idea central: antes de Machine Learning, los datos deben ser completos, válidos, consistentes e interpretables.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3/30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Orange Demo · 25 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Construya el pipeline completo en vivo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del profesor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File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89632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9936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508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Select Columns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3192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292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864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Impute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16752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Distributions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30312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4004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576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Box Plot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43872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53600" y="1645920"/>
            <a:ext cx="1722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9320" y="1755648"/>
            <a:ext cx="163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Data Table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7365D"/>
                </a:solidFill>
              </a:rPr>
              <a:t>No es solo “hacer clic”: cada widget responde una pregunta clínica.</a:t>
            </a:r>
            <a:endParaRPr lang="en-US" sz="1600" dirty="0"/>
          </a:p>
          <a:p>
            <a:r>
              <a:rPr lang="en-US" sz="1600" dirty="0">
                <a:solidFill>
                  <a:srgbClr val="17365D"/>
                </a:solidFill>
              </a:rPr>
              <a:t>El estudiante debe ver cómo un gráfico lleva a revisar un registro individual.</a:t>
            </a:r>
            <a:endParaRPr lang="en-US" sz="1600" dirty="0"/>
          </a:p>
          <a:p>
            <a:r>
              <a:rPr lang="en-US" sz="1600" dirty="0">
                <a:solidFill>
                  <a:srgbClr val="17365D"/>
                </a:solidFill>
              </a:rPr>
              <a:t>La demo termina con una decisión: ¿el dataset está listo para ML?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4846320" cy="2148840"/>
          </a:xfrm>
          <a:prstGeom prst="roundRect">
            <a:avLst>
              <a:gd name="adj" fmla="val 4255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41448"/>
            <a:ext cx="4572000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Ciclo profesional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Visualizar → detectar anomalía → localizar registro → interpretar → decidir qué hacer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4/30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1: File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Pregunta clínica: ¿qué representa cada fila?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265176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Acción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Cargar clinical_public_health_orange_dataset.csv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298448"/>
            <a:ext cx="310896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Verificar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Nº de registros, columnas y tipos de variables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52360" y="118872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298448"/>
            <a:ext cx="356616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Pregunta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¿Una fila es paciente, visita, evento o medición?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43200"/>
          <a:ext cx="1056132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64465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Columnas esperadas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Interpretación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patient_id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Identificador; debe ser meta, no predictor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age, bmi, glucose, spo2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Variables numéricas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sex, district, insurance_status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Variables categóricas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readmission_30d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Outcome/target futuro</a:t>
                      </a:r>
                      <a:endParaRPr lang="en-US" sz="11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5/30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2: Select Columns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Separar features, target y metadata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2926080" cy="3712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FEATURES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bmi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glucose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spo2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temperature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visits_last_year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wait_time_min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298448"/>
            <a:ext cx="2468880" cy="3712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TARGET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readmission_30d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 para análisis descriptivo: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triage_priority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118872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98448"/>
            <a:ext cx="2926080" cy="3712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META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patient_id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No usar como predictor. Sirve para auditoría y trazabilidad.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5486400"/>
            <a:ext cx="10332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596128"/>
            <a:ext cx="1005840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Pregunta al grupo: ¿qué pasa si Patient_ID entra al modelo como variable predictora?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6/30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3: Impute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Manejar datos faltantes sin inventar medicina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Missing value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353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52928" y="123444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3441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¿Por qué falta?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56048" y="1353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776" y="123444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13441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Estrategia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68896" y="1353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78624" y="123444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3441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Impute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81744" y="1353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91472" y="1234440"/>
            <a:ext cx="2121408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7192" y="13441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Revisar impacto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2240280"/>
            <a:ext cx="54864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7365D"/>
                </a:solidFill>
              </a:rPr>
              <a:t>Media: útil cuando distribución es aproximadamente simétrica.</a:t>
            </a:r>
            <a:endParaRPr lang="en-US" sz="1600" dirty="0"/>
          </a:p>
          <a:p>
            <a:r>
              <a:rPr lang="en-US" sz="1600" dirty="0">
                <a:solidFill>
                  <a:srgbClr val="17365D"/>
                </a:solidFill>
              </a:rPr>
              <a:t>Mediana: más robusta cuando hay outliers.</a:t>
            </a:r>
            <a:endParaRPr lang="en-US" sz="1600" dirty="0"/>
          </a:p>
          <a:p>
            <a:r>
              <a:rPr lang="en-US" sz="1600" dirty="0">
                <a:solidFill>
                  <a:srgbClr val="17365D"/>
                </a:solidFill>
              </a:rPr>
              <a:t>Moda: útil para categorías.</a:t>
            </a:r>
            <a:endParaRPr lang="en-US" sz="1600" dirty="0"/>
          </a:p>
          <a:p>
            <a:r>
              <a:rPr lang="en-US" sz="1600" dirty="0">
                <a:solidFill>
                  <a:srgbClr val="17365D"/>
                </a:solidFill>
              </a:rPr>
              <a:t>No imputar automáticamente variables críticas sin revisar contexto clínico.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2286000"/>
            <a:ext cx="4434840" cy="2148840"/>
          </a:xfrm>
          <a:prstGeom prst="roundRect">
            <a:avLst>
              <a:gd name="adj" fmla="val 4255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395728"/>
            <a:ext cx="4160520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Caso de discusión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BP y temperatura faltan solo en turno nocturno.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¿Es un problema matemático o de flujo asistencial?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7/30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Widgets 4–5: Distributions + Box Plot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Pasar de tabla a patrón clínico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502920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Distributions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Úselo para ver: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prevalencia de categorías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distribución de edad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balance de riesgo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sesgo de muestra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Pregunta: ¿la población representada se parece a nuestra realidad clínica?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98448"/>
            <a:ext cx="480060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Box Plot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Úselo para comparar grupos y detectar: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valores extremos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diferencias entre riesgo alto/bajo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posibles errores de unidad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• pacientes clínicamente críticos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365D"/>
                </a:solidFill>
              </a:rPr>
              <a:t>Pregunta: ¿outlier real o error?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8/30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6: Data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La visualización siempre debe volver al registro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347472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365D"/>
                </a:solidFill>
              </a:rPr>
              <a:t>Por qué importa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365D"/>
                </a:solidFill>
              </a:rPr>
              <a:t>• Auditar filas sospechosas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365D"/>
                </a:solidFill>
              </a:rPr>
              <a:t>• Confirmar valores imposibles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365D"/>
                </a:solidFill>
              </a:rPr>
              <a:t>• Encontrar registros duplicados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365D"/>
                </a:solidFill>
              </a:rPr>
              <a:t>• Ver contexto completo del paciente/visita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52728"/>
            <a:ext cx="246888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Ejemplos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SpO₂ = 132%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Temp = 48°C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BMI =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Glucose = 500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BP = 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18120" y="1143000"/>
            <a:ext cx="3337560" cy="4206240"/>
          </a:xfrm>
          <a:prstGeom prst="roundRect">
            <a:avLst>
              <a:gd name="adj" fmla="val 2740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52728"/>
            <a:ext cx="306324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Decisión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No elimine automáticamente.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Verifique fuente, unidad, sensor, digitación y contexto clínico.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9/30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Practice · 35 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El estudiante reproduce el pipeline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Práctica guiada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17365D"/>
                </a:solidFill>
              </a:rPr>
              <a:t>Trabajo individual o parejas.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El profesor avanza por misiones, no por “clics sueltos”.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Cada estudiante debe responder en su guía de trabajo.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Objetivo: terminar con un dataset inspeccionado y una decisión defendible.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48463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481328"/>
            <a:ext cx="4572000" cy="3255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Entrega al final de esta práctica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1. Captura del workflow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2. 3 hallazgos de datos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3. 1 valor sospechoso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4. Decisión: listo/no listo para ML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10/30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1 — Importación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Cargar y reconocer el dataset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338328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Tarea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1. Abra Orange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2. Arrastre File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3. Cargue el CSV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4. Observe filas y columnas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5. Revise tipos de variable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2926080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52728"/>
            <a:ext cx="265176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Anote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Nº registros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Nº variables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Numéricas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Categóricas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Variable objetivo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09560" y="1143000"/>
            <a:ext cx="3200400" cy="4114800"/>
          </a:xfrm>
          <a:prstGeom prst="roundRect">
            <a:avLst>
              <a:gd name="adj" fmla="val 2857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52728"/>
            <a:ext cx="292608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Pregunta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¿Qué representa una fila?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¿Paciente?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¿Visita?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¿Medición?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¿Evento?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11/30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2 — Roles de columnas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Feature, Target, Meta o Ignore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  <a:gridCol w="45720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Rol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Ejemplo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Decisión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age, bmi, glucose, spo2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Usar para análisis/modelo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readmission_30d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Resultado a predecir en Sesión 4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patient_id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Trazabilidad, no predictor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Ignore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variable contaminante o post-evento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Excluir si genera leakage</a:t>
                      </a:r>
                      <a:endParaRPr lang="en-US" sz="14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572000"/>
            <a:ext cx="10287000" cy="640080"/>
          </a:xfrm>
          <a:prstGeom prst="roundRect">
            <a:avLst>
              <a:gd name="adj" fmla="val 14286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681728"/>
            <a:ext cx="10012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Pregunta avanzada: ¿qué variable solo existe después del alta y no debería usarse para predecir antes del alta?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12/30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3 — Missing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¿Falta por azar o por un problema del proceso?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44168"/>
            <a:ext cx="338328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Tarea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Conecte Impute.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Identifique columnas con valores faltantes.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Compare estrategias de imputación.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2926080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44168"/>
            <a:ext cx="265176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Responder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¿Qué variable tiene más missing?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¿Es seguro imputar?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¿Qué método eligió?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¿Por qué?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0" y="1234440"/>
            <a:ext cx="3246120" cy="4114800"/>
          </a:xfrm>
          <a:prstGeom prst="roundRect">
            <a:avLst>
              <a:gd name="adj" fmla="val 2817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344168"/>
            <a:ext cx="297180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Riesgo clínico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Imputar signos vitales críticos puede esconder deterioro real o problemas de workflow.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13/30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4 — Distributions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Entender la población antes de modelar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840480" cy="42976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356616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Variables a explorar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age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sex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district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glucose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triage_priority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• readmission_30d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98448"/>
            <a:ext cx="246888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Preguntas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¿Hay desbalance?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¿La población es representativa?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¿Hay grupos muy pequeños?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09560" y="118872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98448"/>
            <a:ext cx="297180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Salud pública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Si 80% de datos son urbanos, el modelo puede fallar en población rural.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14/30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5 — Box Plot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Buscar diferencias y valores extremos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62890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glucose vs risk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641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06140" y="1280160"/>
            <a:ext cx="26289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1860" y="1389888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spo2 vs triage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1675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2890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389888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age vs readmission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3709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46820" y="1280160"/>
            <a:ext cx="26289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2540" y="1389888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wait_time vs district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50292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17365D"/>
                </a:solidFill>
              </a:rPr>
              <a:t>Identifique al menos 3 valores sospechosos.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Marque si parecen errores o casos clínicos extremos.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No elimine nada antes de revisar Data Table.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Escriba cuál variable separa mejor a los grupos.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55080" y="224028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350008"/>
            <a:ext cx="448056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Regla de oro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Statistical anomaly ≠ clinical error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Un valor extremo puede ser el paciente más importante.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15/30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6 — Data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Auditar registros sospechosos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329184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Qué hacer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1. Seleccione outlier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2. Abra Data Table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3. Mire toda la fila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4. Determine hipótesis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5. Decida acción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297180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252728"/>
            <a:ext cx="269748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Hipótesis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enfermedad extrema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error de sensor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error de digitación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unidad incorrecta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• registro duplicado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0" y="11430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252728"/>
            <a:ext cx="301752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Acción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Verificar fuente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Corregir si procede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Documentar decisión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No borrar sin justificar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16/30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7 — Decisión final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¿Está listo para Machine Learning?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CE4E4"/>
          </a:solidFill>
          <a:ln w="12700">
            <a:solidFill>
              <a:srgbClr val="F5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98448"/>
            <a:ext cx="301752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Respuesta NO aceptada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“Sí, porque Orange no dio error.”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98448"/>
            <a:ext cx="301752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Respuesta aceptada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“Sí/no, porque revisamos missing, outliers, roles, distribución y leakage.”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38160" y="1188720"/>
            <a:ext cx="3017520" cy="42062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298448"/>
            <a:ext cx="2743200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Checklist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Completo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Válido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Consistente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Representativo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Sin leakage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17/30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problemas clínicos y de salud pública · 40 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Cada grupo resuelve uno o rota por estaciones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Trabajo por grupos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48640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17365D"/>
                </a:solidFill>
              </a:rPr>
              <a:t>Cada problema obliga a usar al menos 2 widgets de Orange.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El objetivo no es “encontrar el gráfico bonito”.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El objetivo es decidir qué hacer con el dato y qué riesgo clínico evita.</a:t>
            </a:r>
            <a:endParaRPr lang="en-US" sz="1700" dirty="0"/>
          </a:p>
          <a:p>
            <a:r>
              <a:rPr lang="en-US" sz="1700" dirty="0">
                <a:solidFill>
                  <a:srgbClr val="17365D"/>
                </a:solidFill>
              </a:rPr>
              <a:t>Al final cada grupo presenta 3 minutos.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1463040"/>
            <a:ext cx="4572000" cy="2880360"/>
          </a:xfrm>
          <a:prstGeom prst="roundRect">
            <a:avLst>
              <a:gd name="adj" fmla="val 3175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572768"/>
            <a:ext cx="4297680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Material por grupo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dataset CSV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Orange workflow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plantilla de respuesta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1 problema asignado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18/30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1 — Enfermería: SpO₂ imposible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Validez de datos y seguridad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CE4E4"/>
          </a:solidFill>
          <a:ln w="12700">
            <a:solidFill>
              <a:srgbClr val="F5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320040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Situación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Aparece SpO₂ = 132%.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El sistema lo permite, pero fisiológicamente no es válido.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2926080" cy="4114800"/>
          </a:xfrm>
          <a:prstGeom prst="roundRect">
            <a:avLst>
              <a:gd name="adj" fmla="val 3125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98448"/>
            <a:ext cx="265176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Orange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Box Plot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Data Table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Select Columns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18120" y="118872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98448"/>
            <a:ext cx="306324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Decidir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¿error de sensor?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¿error de digitación?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¿unidad incorrecta?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¿Qué haría enfermería?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19/30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2 — Urgencias: signos vitales faltantes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Missing data no siempre es azar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338328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Caso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Paciente con HR 124, SpO₂ 89%, pero BP y temperatura faltan.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¿Imputar con media?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2971800" cy="4297680"/>
          </a:xfrm>
          <a:prstGeom prst="roundRect">
            <a:avLst>
              <a:gd name="adj" fmla="val 3077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52728"/>
            <a:ext cx="269748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Orange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Impute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Distributions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Data Table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09560" y="114300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52728"/>
            <a:ext cx="297180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Discusión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El dato faltante puede señalar problema de proceso asistencial, no solo problema estadístico.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20/30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3 — Diabetes: glucosa extrema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Outlier clínicamente válido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315468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Hallazgo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Glucose = 480–500 mg/dL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Box Plot lo marca como extremo.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2926080" cy="4160520"/>
          </a:xfrm>
          <a:prstGeom prst="roundRect">
            <a:avLst>
              <a:gd name="adj" fmla="val 3125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298448"/>
            <a:ext cx="265176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Orange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Distributions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Box Plot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Data Table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0" y="118872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298448"/>
            <a:ext cx="320040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Pregunta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¿Lo eliminamos?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No necesariamente: puede ser el paciente con mayor necesidad clínica.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21/30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4 — Salud pública: muestra no representativa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Bias e inequidad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65760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3383280" cy="384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Caso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80% datos urbanos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20% datos rurales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¿El modelo servirá igual para todos?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2788920" cy="4069080"/>
          </a:xfrm>
          <a:prstGeom prst="roundRect">
            <a:avLst>
              <a:gd name="adj" fmla="val 3279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98448"/>
            <a:ext cx="2514600" cy="384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Orange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Distributions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Select Columns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Box Plot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18120" y="1188720"/>
            <a:ext cx="3291840" cy="4069080"/>
          </a:xfrm>
          <a:prstGeom prst="roundRect">
            <a:avLst>
              <a:gd name="adj" fmla="val 2778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98448"/>
            <a:ext cx="3017520" cy="384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Impacto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Una base no representativa puede producir decisiones injustas y peor atención en población rural.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22/30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5 — Preparar reingreso hospitalario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Evitar data leakage antes de Sesión 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320040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Objetivo futuro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Predecir readmission_30d.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Pero hoy solo preparamos datos.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3017520" cy="43891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252728"/>
            <a:ext cx="274320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Decidir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Target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Features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Meta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Ignore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18120" y="1143000"/>
            <a:ext cx="3337560" cy="4389120"/>
          </a:xfrm>
          <a:prstGeom prst="roundRect">
            <a:avLst>
              <a:gd name="adj" fmla="val 2740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52728"/>
            <a:ext cx="3063240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Pregunta clave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¿Qué pasa si usamos una variable conocida solo después del alta?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→ Leakage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23/30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 por grupos · 20 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De “el gráfico muestra” a “yo decido clínicamente”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Presentación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868680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Min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Contenido obligatorio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0:00–0:30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Qué problema analizaron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0:30–1:15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Qué encontraron en Orange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1:15–2:00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Cómo lo interpretan clínicamente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2:00–2:40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Qué harían profesionalmente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2:40–3:00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65D"/>
                          </a:solidFill>
                        </a:rPr>
                        <a:t>Qué riesgo evita o qué beneficio produce</a:t>
                      </a:r>
                      <a:endParaRPr lang="en-US" sz="16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24/30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Plantilla de respuesta del grupo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Completar antes de presentar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835640" cy="4480560"/>
        </p:xfrm>
        <a:graphic>
          <a:graphicData uri="http://schemas.openxmlformats.org/drawingml/2006/table">
            <a:tbl>
              <a:tblPr/>
              <a:tblGrid>
                <a:gridCol w="4754880"/>
                <a:gridCol w="608076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Pregunta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Respuesta del grupo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1. ¿Qué dato/problema encontraron?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2. ¿Qué widget lo mostró?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3. ¿Es error, caso extremo o problema de proceso?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4. ¿Qué acción tomarían?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5. ¿Qué beneficio profesional produce?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Tiempo ↓ / error ↓ / seguridad ↑ / carga ↓ / costo ↓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25/30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juzgar una conclusión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No basta con mostrar un gráfico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FCE4E4"/>
          </a:solidFill>
          <a:ln w="12700">
            <a:solidFill>
              <a:srgbClr val="F5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301752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Débil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“Hay un outlier.”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“Faltan datos.”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“La glucosa está alta.”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298448"/>
            <a:ext cx="310896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Fuerte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“El outlier podría ser clínicamente válido; verificaremos fuente antes de eliminar.”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83880" y="1188720"/>
            <a:ext cx="2926080" cy="4114800"/>
          </a:xfrm>
          <a:prstGeom prst="roundRect">
            <a:avLst>
              <a:gd name="adj" fmla="val 3125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298448"/>
            <a:ext cx="2651760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Excelente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“Si lo ignoramos, el modelo puede aprender un patrón falso y afectar seguridad.”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26/30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· 20 min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Preguntas 1–4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663440"/>
        </p:xfrm>
        <a:graphic>
          <a:graphicData uri="http://schemas.openxmlformats.org/drawingml/2006/table">
            <a:tbl>
              <a:tblPr/>
              <a:tblGrid>
                <a:gridCol w="4572000"/>
                <a:gridCol w="626364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Pregunta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Opciones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1. SpO₂ = 145% es…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A normal · B válido extremo · C inválido · D normalización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2. ¿Cuál es categórica?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A age · B BMI · C smoking status · D glucose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3. ¿Qué widget maneja missing values?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A File · B Impute · C Box Plot · D Data Table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4. ¿Patient_ID debe ser predictor?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65D"/>
                          </a:solidFill>
                        </a:rPr>
                        <a:t>A sí · B no · C solo si es texto · D depende del color</a:t>
                      </a:r>
                      <a:endParaRPr lang="en-US" sz="135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27/30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Preguntas 5–8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663440"/>
        </p:xfrm>
        <a:graphic>
          <a:graphicData uri="http://schemas.openxmlformats.org/drawingml/2006/table">
            <a:tbl>
              <a:tblPr/>
              <a:tblGrid>
                <a:gridCol w="4572000"/>
                <a:gridCol w="626364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Pregunta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Respuesta esperada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5. ¿Un outlier se elimina automáticamente?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No. Primero se verifica contexto clínico y fuente.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6. BP falta solo de noche. ¿Qué puede significar?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Problema de workflow/proceso, no solo estadístico.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7. ¿Normalización corrige errores de digitación?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No. Solo cambia escala; no valida fisiología.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8. ¿Qué widget permite auditar registros individuales?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365D"/>
                          </a:solidFill>
                        </a:rPr>
                        <a:t>Data Table.</a:t>
                      </a:r>
                      <a:endParaRPr lang="en-US" sz="14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28/30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Preguntas 9–10 + discusión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4846320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9. Glucose = 500 mg/dL aparece como outlier. ¿Qué demuestra?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Respuesta: puede ser clínicamente real; no eliminar automáticamente.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1430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52728"/>
            <a:ext cx="4800600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10. ¿Por qué Data Table es tan importante si ya hay gráficos?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Respuesta: permite revisar la fila y tomar una decisión verificable.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3977640"/>
            <a:ext cx="9601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4087368"/>
            <a:ext cx="932688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Pregunta de cierre: ¿qué riesgo clínico evita una buena preparación de datos?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29/30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del dato crudo al dato confiable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La preparación de datos es una intervención de seguridad clínica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Raw clinical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050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4023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595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Completeness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925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6898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470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Validity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8800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773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345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Consistency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1675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Outliers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4550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5523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095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Representation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7425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8398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970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No leakage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03002" y="1399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412730" y="1280160"/>
            <a:ext cx="133731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B9D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8450" y="1389888"/>
            <a:ext cx="124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Ready for ML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246888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2578608"/>
            <a:ext cx="4846320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Frase clave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Un algoritmo sofisticado no puede rescatar datos clínicos deficientes.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400800" y="2468880"/>
            <a:ext cx="4572000" cy="2423160"/>
          </a:xfrm>
          <a:prstGeom prst="roundRect">
            <a:avLst>
              <a:gd name="adj" fmla="val 3774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578608"/>
            <a:ext cx="4297680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Sesión 4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Con estos datos limpios construiremos clasificación y predicción clínica en Orange.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99"/>
                </a:solidFill>
              </a:rPr>
              <a:t>30/30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Materiales para estudiantes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955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</a:rPr>
              <a:t>Qué deben guardar al final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154680" cy="4297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52728"/>
            <a:ext cx="288036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Archivos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PPT práctico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Guía del estudiante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CSV clínico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• Captura workflow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60520" y="114300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EAF4FF"/>
          </a:solidFill>
          <a:ln w="12700">
            <a:solidFill>
              <a:srgbClr val="D8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252728"/>
            <a:ext cx="329184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Entrega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3 slides: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1. Problema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2. Workflow + hallazgo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3. Decisión profesional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1143000"/>
            <a:ext cx="3154680" cy="4297680"/>
          </a:xfrm>
          <a:prstGeom prst="roundRect">
            <a:avLst>
              <a:gd name="adj" fmla="val 2899"/>
            </a:avLst>
          </a:prstGeom>
          <a:solidFill>
            <a:srgbClr val="FFF3CD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252728"/>
            <a:ext cx="2880360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Competencia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Preparar datos clínicos antes de IA para ahorrar tiempo, reducir errores y proteger pacientes.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3 - Practica Orange Data Mining</dc:title>
  <dc:subject>Sesion 3 practica Orange Data Mining</dc:subject>
  <dc:creator>OpenAI</dc:creator>
  <cp:lastModifiedBy>OpenAI</cp:lastModifiedBy>
  <cp:revision>1</cp:revision>
  <dcterms:created xsi:type="dcterms:W3CDTF">2026-09-28T00:18:35Z</dcterms:created>
  <dcterms:modified xsi:type="dcterms:W3CDTF">2026-09-28T00:18:35Z</dcterms:modified>
</cp:coreProperties>
</file>