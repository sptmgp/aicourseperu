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HCE / EHR: EL CORAZÓN DEL HOSPITAL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9CDDC"/>
                </a:solidFill>
                <a:latin typeface="Aptos"/>
              </a:rPr>
              <a:t>10 diapositivas • 10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486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De la carpeta clínica aislada a un ecosistema conectado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600200" cy="685800"/>
          </a:xfrm>
          <a:prstGeom prst="roundRect">
            <a:avLst/>
          </a:prstGeom>
          <a:solidFill>
            <a:srgbClr val="20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600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DATOS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42032" y="3136392"/>
            <a:ext cx="3383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2788920"/>
            <a:ext cx="1600200" cy="685800"/>
          </a:xfrm>
          <a:prstGeom prst="roundRect">
            <a:avLst/>
          </a:prstGeom>
          <a:solidFill>
            <a:srgbClr val="35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788920"/>
            <a:ext cx="1600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FLUJO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53712" y="3136392"/>
            <a:ext cx="3383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37760" y="2788920"/>
            <a:ext cx="1600200" cy="685800"/>
          </a:xfrm>
          <a:prstGeom prst="roundRect">
            <a:avLst/>
          </a:prstGeom>
          <a:solidFill>
            <a:srgbClr val="DA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788920"/>
            <a:ext cx="1600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65392" y="3136392"/>
            <a:ext cx="33832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49440" y="2788920"/>
            <a:ext cx="1600200" cy="685800"/>
          </a:xfrm>
          <a:prstGeom prst="roundRect">
            <a:avLst/>
          </a:prstGeom>
          <a:solidFill>
            <a:srgbClr val="22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788920"/>
            <a:ext cx="1600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INTEROPERABILIDAD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148840"/>
            <a:ext cx="2103120" cy="1965960"/>
          </a:xfrm>
          <a:prstGeom prst="roundRect">
            <a:avLst/>
          </a:prstGeom>
          <a:solidFill>
            <a:srgbClr val="19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42316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DA9F43"/>
                </a:solidFill>
                <a:latin typeface="Aptos"/>
              </a:rPr>
              <a:t>OBJETIVO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880360"/>
            <a:ext cx="1645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Información correcta
para la persona correcta
en el momento correcto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8296A5"/>
                </a:solidFill>
                <a:latin typeface="Aptos"/>
              </a:rPr>
              <a:t>ISO EHR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2823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6AAB9"/>
                </a:solidFill>
                <a:latin typeface="Aptos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D1C30"/>
                </a:solidFill>
                <a:latin typeface="Aptos"/>
              </a:rPr>
              <a:t>¿QUÉ ES UNA HCE / EHR?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749039" cy="4480560"/>
          </a:xfrm>
          <a:prstGeom prst="roundRect">
            <a:avLst/>
          </a:prstGeom>
          <a:solidFill>
            <a:srgbClr val="20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50876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HCE / EHR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310896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Repositorio digital longitudinal del paciente:
• diagnósticos
• medicamentos
• vacunas
• laboratorio
• imágenes
• notas clínicas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417320"/>
            <a:ext cx="6126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0D1C30"/>
                </a:solidFill>
                <a:latin typeface="Aptos"/>
              </a:rPr>
              <a:t>No es simplemente “papel convertido en PDF”.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331720"/>
            <a:ext cx="5852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E2630"/>
                </a:solidFill>
                <a:latin typeface="Aptos"/>
              </a:rPr>
              <a:t>La información puede acompañar al paciente y ser consultada por distintos profesionales y entornos asistenciales.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886200"/>
            <a:ext cx="5852160" cy="1234440"/>
          </a:xfrm>
          <a:prstGeom prst="roundRect">
            <a:avLst/>
          </a:prstGeom>
          <a:solidFill>
            <a:srgbClr val="E2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4096512"/>
            <a:ext cx="5303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070AA"/>
                </a:solidFill>
                <a:latin typeface="Aptos"/>
              </a:rPr>
              <a:t>Paciente → consulta → laboratorio → especialista → hospital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8296A5"/>
                </a:solidFill>
                <a:latin typeface="Aptos"/>
              </a:rPr>
              <a:t>ISO: definición y alcance de EHR/HCE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6AAB9"/>
                </a:solidFill>
                <a:latin typeface="Aptos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EMR ≠ EHR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9CDDC"/>
                </a:solidFill>
                <a:latin typeface="Aptos"/>
              </a:rPr>
              <a:t>Una diferencia pequeña en palabras, grande en arquitectura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983480" cy="4206240"/>
          </a:xfrm>
          <a:prstGeom prst="roundRect">
            <a:avLst/>
          </a:prstGeom>
          <a:solidFill>
            <a:srgbClr val="21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434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A9F43"/>
                </a:solidFill>
                <a:latin typeface="Aptos"/>
              </a:rPr>
              <a:t>EMR / HME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425196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• Historia digital de una institución
• Se parece a la ficha clínica electrónica local
• Enfoque: consulta / clínica / proveedor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417320"/>
            <a:ext cx="4983480" cy="4206240"/>
          </a:xfrm>
          <a:prstGeom prst="roundRect">
            <a:avLst/>
          </a:prstGeom>
          <a:solidFill>
            <a:srgbClr val="1B5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691640"/>
            <a:ext cx="4434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A9F43"/>
                </a:solidFill>
                <a:latin typeface="Aptos"/>
              </a:rPr>
              <a:t>EHR / HCE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331720"/>
            <a:ext cx="425196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• Vista longitudinal del paciente
• Cruza múltiples entornos
• Facilita coordinación entre profesionales
• Diseñada para intercambio de información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897880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AEBE"/>
                </a:solidFill>
                <a:latin typeface="Aptos"/>
              </a:rPr>
              <a:t>LOCAL  →  LONGITUDINAL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8296A5"/>
                </a:solidFill>
                <a:latin typeface="Aptos"/>
              </a:rPr>
              <a:t>ISO: diferencia EMR vs EHR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2823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6AAB9"/>
                </a:solidFill>
                <a:latin typeface="Aptos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D1C30"/>
                </a:solidFill>
                <a:latin typeface="Aptos"/>
              </a:rPr>
              <a:t>¿QUÉ CONTIENE UNA HCE MODERNA?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37560" cy="1417320"/>
          </a:xfrm>
          <a:prstGeom prst="roundRect">
            <a:avLst/>
          </a:prstGeom>
          <a:solidFill>
            <a:srgbClr val="20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2971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DATOS CLÍNICOS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47672"/>
            <a:ext cx="2880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Historia, diagnósticos, medicación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371600"/>
            <a:ext cx="3337560" cy="1417320"/>
          </a:xfrm>
          <a:prstGeom prst="roundRect">
            <a:avLst/>
          </a:prstGeom>
          <a:solidFill>
            <a:srgbClr val="35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36192"/>
            <a:ext cx="2971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ÓRDENES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1947672"/>
            <a:ext cx="2880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Pruebas, tratamientos, prescripción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337560" cy="1417320"/>
          </a:xfrm>
          <a:prstGeom prst="roundRect">
            <a:avLst/>
          </a:prstGeom>
          <a:solidFill>
            <a:srgbClr val="DA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36192"/>
            <a:ext cx="2971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APOYO A DECISIÓN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947672"/>
            <a:ext cx="2880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Alertas y recomendaciones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3337560" cy="1417320"/>
          </a:xfrm>
          <a:prstGeom prst="roundRect">
            <a:avLst/>
          </a:prstGeom>
          <a:solidFill>
            <a:srgbClr val="B74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56432"/>
            <a:ext cx="2971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SEGURIDAD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867912"/>
            <a:ext cx="2880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Acceso autorizado y trazabilidad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291840"/>
            <a:ext cx="3337560" cy="1417320"/>
          </a:xfrm>
          <a:prstGeom prst="roundRect">
            <a:avLst/>
          </a:prstGeom>
          <a:solidFill>
            <a:srgbClr val="22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456432"/>
            <a:ext cx="2971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COMUNICACIÓN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867912"/>
            <a:ext cx="2880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Clínico ↔ laboratorio ↔ farmacia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669280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D1C30"/>
                </a:solidFill>
                <a:latin typeface="Aptos"/>
              </a:rPr>
              <a:t>La HCE es una RED de funciones, no una sola pantalla.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8296A5"/>
                </a:solidFill>
                <a:latin typeface="Aptos"/>
              </a:rPr>
              <a:t>ISO: componentes clave de un sistema EHR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2823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6AAB9"/>
                </a:solidFill>
                <a:latin typeface="Aptos"/>
              </a:rPr>
              <a:t>4/10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1051560"/>
            <a:ext cx="11155680" cy="52578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143000"/>
            <a:ext cx="10881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D1C30"/>
                </a:solidFill>
                <a:latin typeface="Aptos"/>
              </a:rPr>
              <a:t>Ejemplos reales de EHR / EMR de código abierto</a:t>
            </a:r>
          </a:p>
        </p:txBody>
      </p:sp>
      <p:pic>
        <p:nvPicPr>
          <p:cNvPr id="24" name="Picture 23" descr="_crop_image(20260926-22270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3383280" cy="15727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5800" y="3273552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1C30"/>
                </a:solidFill>
                <a:latin typeface="Aptos"/>
              </a:rPr>
              <a:t>Ottehr</a:t>
            </a:r>
          </a:p>
        </p:txBody>
      </p:sp>
      <p:pic>
        <p:nvPicPr>
          <p:cNvPr id="26" name="Picture 25" descr="_crop_image(20260926-2227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691640"/>
            <a:ext cx="3383280" cy="15727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480560" y="3273552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1C30"/>
                </a:solidFill>
                <a:latin typeface="Aptos"/>
              </a:rPr>
              <a:t>OpenEMR</a:t>
            </a:r>
          </a:p>
        </p:txBody>
      </p:sp>
      <p:pic>
        <p:nvPicPr>
          <p:cNvPr id="28" name="Picture 27" descr="_crop_image(20260926-222719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691640"/>
            <a:ext cx="3383280" cy="15727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75320" y="3273552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1C30"/>
                </a:solidFill>
                <a:latin typeface="Aptos"/>
              </a:rPr>
              <a:t>OpenMRS</a:t>
            </a:r>
          </a:p>
        </p:txBody>
      </p:sp>
      <p:pic>
        <p:nvPicPr>
          <p:cNvPr id="30" name="Picture 29" descr="_crop_image(20260926-222727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40480"/>
            <a:ext cx="3383280" cy="15727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5800" y="5422392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1C30"/>
                </a:solidFill>
                <a:latin typeface="Aptos"/>
              </a:rPr>
              <a:t>Bahmni</a:t>
            </a:r>
          </a:p>
        </p:txBody>
      </p:sp>
      <p:pic>
        <p:nvPicPr>
          <p:cNvPr id="32" name="Picture 31" descr="_crop_image(20260926-222737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3840480"/>
            <a:ext cx="3383280" cy="15727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480560" y="5422392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1C30"/>
                </a:solidFill>
                <a:latin typeface="Aptos"/>
              </a:rPr>
              <a:t>WorldVistA</a:t>
            </a:r>
          </a:p>
        </p:txBody>
      </p:sp>
      <p:pic>
        <p:nvPicPr>
          <p:cNvPr id="34" name="Picture 33" descr="_crop_image(20260926-222745)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840480"/>
            <a:ext cx="3383280" cy="157276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275320" y="5422392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1C30"/>
                </a:solidFill>
                <a:latin typeface="Aptos"/>
              </a:rPr>
              <a:t>GNU Health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053328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C6976"/>
                </a:solidFill>
                <a:latin typeface="Aptos"/>
              </a:rPr>
              <a:t>Mensaje docente: “EHR” no es un único producto; existen arquitecturas para clínicas, hospitales, salud pública y telemedicina.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285232"/>
            <a:ext cx="11155680" cy="987552"/>
          </a:xfrm>
          <a:prstGeom prst="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358384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D1C30"/>
                </a:solidFill>
                <a:latin typeface="Aptos"/>
              </a:rPr>
              <a:t>2026: ¿PARA QUIÉN?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5321808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070AA"/>
                </a:solidFill>
                <a:latin typeface="Aptos"/>
              </a:rPr>
              <a:t>OpenEMR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577840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A6976"/>
                </a:solidFill>
                <a:latin typeface="Aptos"/>
              </a:rPr>
              <a:t>multi-especialidad + TI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9431" y="5321808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070AA"/>
                </a:solidFill>
                <a:latin typeface="Aptos"/>
              </a:rPr>
              <a:t>OpenMRS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9431" y="5577840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A6976"/>
                </a:solidFill>
                <a:latin typeface="Aptos"/>
              </a:rPr>
              <a:t>salud comunitaria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67144" y="5321808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070AA"/>
                </a:solidFill>
                <a:latin typeface="Aptos"/>
              </a:rPr>
              <a:t>Ottehr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67144" y="5577840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A6976"/>
                </a:solidFill>
                <a:latin typeface="Aptos"/>
              </a:rPr>
              <a:t>equipo desarrollador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855" y="5321808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070AA"/>
                </a:solidFill>
                <a:latin typeface="Aptos"/>
              </a:rPr>
              <a:t>Oscar EMR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34855" y="5577840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A6976"/>
                </a:solidFill>
                <a:latin typeface="Aptos"/>
              </a:rPr>
              <a:t>atención primaria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998464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A6976"/>
                </a:solidFill>
                <a:latin typeface="Aptos"/>
              </a:rPr>
              <a:t>Fuente docente: Commure Scribe Team, “Top 10 Free EHR Software for 2026” (5 Jun 2026).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HIS: EL SISTEMA NERVIOSO DIGITAL DEL HOSPITAL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83480" y="2697480"/>
            <a:ext cx="2194560" cy="1234440"/>
          </a:xfrm>
          <a:prstGeom prst="roundRect">
            <a:avLst/>
          </a:prstGeom>
          <a:solidFill>
            <a:srgbClr val="23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83480" y="2816352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80" y="3182112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A9F43"/>
                </a:solidFill>
                <a:latin typeface="Aptos"/>
              </a:rPr>
              <a:t>coordina el ecosistema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2240280" cy="731520"/>
          </a:xfrm>
          <a:prstGeom prst="roundRect">
            <a:avLst/>
          </a:prstGeom>
          <a:solidFill>
            <a:srgbClr val="20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2240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ADMISIÓN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1828800"/>
            <a:ext cx="4069080" cy="1508760"/>
          </a:xfrm>
          <a:prstGeom prst="line">
            <a:avLst/>
          </a:prstGeom>
          <a:ln w="25400">
            <a:solidFill>
              <a:srgbClr val="9B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83480" y="1234440"/>
            <a:ext cx="2240280" cy="731520"/>
          </a:xfrm>
          <a:prstGeom prst="roundRect">
            <a:avLst/>
          </a:prstGeom>
          <a:solidFill>
            <a:srgbClr val="35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234440"/>
            <a:ext cx="2240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1600200"/>
            <a:ext cx="0" cy="1737360"/>
          </a:xfrm>
          <a:prstGeom prst="line">
            <a:avLst/>
          </a:prstGeom>
          <a:ln w="25400">
            <a:solidFill>
              <a:srgbClr val="9B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961120" y="1463040"/>
            <a:ext cx="2240280" cy="731520"/>
          </a:xfrm>
          <a:prstGeom prst="roundRect">
            <a:avLst/>
          </a:prstGeom>
          <a:solidFill>
            <a:srgbClr val="DA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463040"/>
            <a:ext cx="2240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LAB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080760" y="1828800"/>
            <a:ext cx="3977640" cy="1508760"/>
          </a:xfrm>
          <a:prstGeom prst="line">
            <a:avLst/>
          </a:prstGeom>
          <a:ln w="25400">
            <a:solidFill>
              <a:srgbClr val="9B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572000"/>
            <a:ext cx="2240280" cy="731520"/>
          </a:xfrm>
          <a:prstGeom prst="roundRect">
            <a:avLst/>
          </a:prstGeom>
          <a:solidFill>
            <a:srgbClr val="22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2240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RIS/PACS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011680" y="3337560"/>
            <a:ext cx="4069080" cy="1600200"/>
          </a:xfrm>
          <a:prstGeom prst="line">
            <a:avLst/>
          </a:prstGeom>
          <a:ln w="25400">
            <a:solidFill>
              <a:srgbClr val="9B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983480" y="4800600"/>
            <a:ext cx="2240280" cy="731520"/>
          </a:xfrm>
          <a:prstGeom prst="roundRect">
            <a:avLst/>
          </a:prstGeom>
          <a:solidFill>
            <a:srgbClr val="B74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4800600"/>
            <a:ext cx="2240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FARMACIA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080760" y="3337560"/>
            <a:ext cx="0" cy="1828800"/>
          </a:xfrm>
          <a:prstGeom prst="line">
            <a:avLst/>
          </a:prstGeom>
          <a:ln w="25400">
            <a:solidFill>
              <a:srgbClr val="9B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61120" y="4572000"/>
            <a:ext cx="2240280" cy="731520"/>
          </a:xfrm>
          <a:prstGeom prst="roundRect">
            <a:avLst/>
          </a:prstGeom>
          <a:solidFill>
            <a:srgbClr val="745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4572000"/>
            <a:ext cx="2240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FACTURACIÓN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6080760" y="3337560"/>
            <a:ext cx="3977640" cy="1600200"/>
          </a:xfrm>
          <a:prstGeom prst="line">
            <a:avLst/>
          </a:prstGeom>
          <a:ln w="25400">
            <a:solidFill>
              <a:srgbClr val="9B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473952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8296A5"/>
                </a:solidFill>
                <a:latin typeface="Aptos"/>
              </a:rPr>
              <a:t>Conceptual hospital information-system 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2823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6AAB9"/>
                </a:solidFill>
                <a:latin typeface="Aptos"/>
              </a:rPr>
              <a:t>5/10</a:t>
            </a:r>
          </a:p>
        </p:txBody>
      </p:sp>
      <p:pic>
        <p:nvPicPr>
          <p:cNvPr id="27" name="Picture 26" descr="_crop_image(20260926-22272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983480"/>
            <a:ext cx="2514600" cy="10789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" y="6053328"/>
            <a:ext cx="2514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Bahmni</a:t>
            </a:r>
          </a:p>
        </p:txBody>
      </p:sp>
      <p:pic>
        <p:nvPicPr>
          <p:cNvPr id="29" name="Picture 28" descr="_crop_image(20260926-22274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983480"/>
            <a:ext cx="2514600" cy="10789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474720" y="6053328"/>
            <a:ext cx="2514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GNU Health</a:t>
            </a:r>
          </a:p>
        </p:txBody>
      </p:sp>
      <p:pic>
        <p:nvPicPr>
          <p:cNvPr id="31" name="Picture 30" descr="_crop_image(20260926-222807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983480"/>
            <a:ext cx="2514600" cy="10789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55080" y="6053328"/>
            <a:ext cx="2514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OpenClinic GA</a:t>
            </a:r>
          </a:p>
        </p:txBody>
      </p:sp>
      <p:pic>
        <p:nvPicPr>
          <p:cNvPr id="33" name="Picture 32" descr="_crop_image(20260926-222737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4983480"/>
            <a:ext cx="2514600" cy="107899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235440" y="6053328"/>
            <a:ext cx="2514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WorldVistA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D1C30"/>
                </a:solidFill>
                <a:latin typeface="Aptos"/>
              </a:rPr>
              <a:t>INTEROPERABILIDAD: ¿PUEDEN LOS SISTEMAS ENTENDERSE?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828800" cy="731520"/>
          </a:xfrm>
          <a:prstGeom prst="roundRect">
            <a:avLst/>
          </a:prstGeom>
          <a:solidFill>
            <a:srgbClr val="20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61488" y="1783080"/>
            <a:ext cx="850392" cy="0"/>
          </a:xfrm>
          <a:prstGeom prst="line">
            <a:avLst/>
          </a:prstGeom>
          <a:ln w="25400">
            <a:solidFill>
              <a:srgbClr val="0D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57600" y="1417320"/>
            <a:ext cx="1828800" cy="731520"/>
          </a:xfrm>
          <a:prstGeom prst="roundRect">
            <a:avLst/>
          </a:prstGeom>
          <a:solidFill>
            <a:srgbClr val="35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41732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LAB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04688" y="1783080"/>
            <a:ext cx="850392" cy="0"/>
          </a:xfrm>
          <a:prstGeom prst="line">
            <a:avLst/>
          </a:prstGeom>
          <a:ln w="25400">
            <a:solidFill>
              <a:srgbClr val="0D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1417320"/>
            <a:ext cx="1828800" cy="731520"/>
          </a:xfrm>
          <a:prstGeom prst="roundRect">
            <a:avLst/>
          </a:prstGeom>
          <a:solidFill>
            <a:srgbClr val="DA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IMAGEN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47888" y="1783080"/>
            <a:ext cx="850392" cy="0"/>
          </a:xfrm>
          <a:prstGeom prst="line">
            <a:avLst/>
          </a:prstGeom>
          <a:ln w="25400">
            <a:solidFill>
              <a:srgbClr val="0D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0" y="1417320"/>
            <a:ext cx="1828800" cy="731520"/>
          </a:xfrm>
          <a:prstGeom prst="roundRect">
            <a:avLst/>
          </a:prstGeom>
          <a:solidFill>
            <a:srgbClr val="B74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41732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FARMACIA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971800"/>
            <a:ext cx="10058400" cy="1188720"/>
          </a:xfrm>
          <a:prstGeom prst="roundRect">
            <a:avLst/>
          </a:prstGeom>
          <a:solidFill>
            <a:srgbClr val="E2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182112"/>
            <a:ext cx="9601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070AA"/>
                </a:solidFill>
                <a:latin typeface="Aptos"/>
              </a:rPr>
              <a:t>INTEROPERABILIDAD = intercambio + significado compartido + uso seguro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63440"/>
            <a:ext cx="9692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1E2630"/>
                </a:solidFill>
                <a:latin typeface="Aptos"/>
              </a:rPr>
              <a:t>ISO 13606 fue desarrollado para facilitar el intercambio seguro y fluido de información entre sistemas EHR o repositorios centralizados.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8296A5"/>
                </a:solidFill>
                <a:latin typeface="Aptos"/>
              </a:rPr>
              <a:t>ISO: interoperabilidad e ISO 13606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2823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6AAB9"/>
                </a:solidFill>
                <a:latin typeface="Aptos"/>
              </a:rPr>
              <a:t>6/10</a:t>
            </a:r>
          </a:p>
        </p:txBody>
      </p:sp>
      <p:pic>
        <p:nvPicPr>
          <p:cNvPr id="20" name="Picture 19" descr="_crop_image(20260926-22291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343400"/>
            <a:ext cx="3246120" cy="1417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18120" y="5760720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D1C30"/>
                </a:solidFill>
                <a:latin typeface="Aptos"/>
              </a:rPr>
              <a:t>Comparar ≠ solo precio:
interoperabilidad, soporte y contexto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12080"/>
            <a:ext cx="6537960" cy="749808"/>
          </a:xfrm>
          <a:prstGeom prst="roundRect">
            <a:avLst/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321808"/>
            <a:ext cx="6172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D1C30"/>
                </a:solidFill>
                <a:latin typeface="Aptos"/>
              </a:rPr>
              <a:t>PORTABILIDAD: exportar datos estructurados en HL7 FHIR o CCDA — no depender solo de PDF.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016752"/>
            <a:ext cx="65836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5A6976"/>
                </a:solidFill>
                <a:latin typeface="Aptos"/>
              </a:rPr>
              <a:t>Criterio de evaluación destacado en la guía EHR 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SILOS DE DATOS: CUANDO EL HOSPITAL ES DIGITAL… PERO DESCONECTADO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2194560" cy="1005840"/>
          </a:xfrm>
          <a:prstGeom prst="roundRect">
            <a:avLst/>
          </a:prstGeom>
          <a:solidFill>
            <a:srgbClr val="20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3127248" y="1325880"/>
            <a:ext cx="146304" cy="1280160"/>
          </a:xfrm>
          <a:prstGeom prst="rect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79" y="1463040"/>
            <a:ext cx="2194560" cy="1005840"/>
          </a:xfrm>
          <a:prstGeom prst="roundRect">
            <a:avLst/>
          </a:prstGeom>
          <a:solidFill>
            <a:srgbClr val="35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46304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HCE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16168" y="1325880"/>
            <a:ext cx="146304" cy="1280160"/>
          </a:xfrm>
          <a:prstGeom prst="rect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2194560" cy="1005840"/>
          </a:xfrm>
          <a:prstGeom prst="roundRect">
            <a:avLst/>
          </a:prstGeom>
          <a:solidFill>
            <a:srgbClr val="DA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PACS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05088" y="1325880"/>
            <a:ext cx="146304" cy="1280160"/>
          </a:xfrm>
          <a:prstGeom prst="rect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9719" y="1463040"/>
            <a:ext cx="2194560" cy="1005840"/>
          </a:xfrm>
          <a:prstGeom prst="roundRect">
            <a:avLst/>
          </a:prstGeom>
          <a:solidFill>
            <a:srgbClr val="B74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19" y="146304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FARMACIA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94007" y="1325880"/>
            <a:ext cx="146304" cy="1280160"/>
          </a:xfrm>
          <a:prstGeom prst="rect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10607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B7483E"/>
                </a:solidFill>
                <a:latin typeface="Aptos"/>
              </a:rPr>
              <a:t>Duplicación • información incompleta • retrasos • errores • mala coordinación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251960"/>
            <a:ext cx="8503920" cy="1143000"/>
          </a:xfrm>
          <a:prstGeom prst="roundRect">
            <a:avLst/>
          </a:prstGeom>
          <a:solidFill>
            <a:srgbClr val="1B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4462272"/>
            <a:ext cx="8046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Un hospital puede tener muchos sistemas digitales y seguir sin ser un hospital digital integrado.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8296A5"/>
                </a:solidFill>
                <a:latin typeface="Aptos"/>
              </a:rPr>
              <a:t>ISO: la falta de interoperabilidad puede interrumpir la atención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2823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6AAB9"/>
                </a:solidFill>
                <a:latin typeface="Aptos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D1C30"/>
                </a:solidFill>
                <a:latin typeface="Aptos"/>
              </a:rPr>
              <a:t>FLUJO CLÍNICO DIGITAL: UN PACIENTE, MUCHOS SISTEMAS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554480" cy="1143000"/>
          </a:xfrm>
          <a:prstGeom prst="roundRect">
            <a:avLst/>
          </a:prstGeom>
          <a:solidFill>
            <a:srgbClr val="20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51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ADMISIÓN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75688" y="2395728"/>
            <a:ext cx="274320" cy="0"/>
          </a:xfrm>
          <a:prstGeom prst="line">
            <a:avLst/>
          </a:prstGeom>
          <a:ln w="25400">
            <a:solidFill>
              <a:srgbClr val="0D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04872" y="1828800"/>
            <a:ext cx="1554480" cy="1143000"/>
          </a:xfrm>
          <a:prstGeom prst="roundRect">
            <a:avLst/>
          </a:prstGeom>
          <a:solidFill>
            <a:srgbClr val="35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312" y="192024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1965960"/>
            <a:ext cx="1051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CONSULTA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77639" y="2395728"/>
            <a:ext cx="274321" cy="0"/>
          </a:xfrm>
          <a:prstGeom prst="line">
            <a:avLst/>
          </a:prstGeom>
          <a:ln w="25400">
            <a:solidFill>
              <a:srgbClr val="0D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06824" y="1828800"/>
            <a:ext cx="1554480" cy="1143000"/>
          </a:xfrm>
          <a:prstGeom prst="roundRect">
            <a:avLst/>
          </a:prstGeom>
          <a:solidFill>
            <a:srgbClr val="DA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92024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1965960"/>
            <a:ext cx="1051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ÓRDENES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79592" y="2395728"/>
            <a:ext cx="274320" cy="0"/>
          </a:xfrm>
          <a:prstGeom prst="line">
            <a:avLst/>
          </a:prstGeom>
          <a:ln w="25400">
            <a:solidFill>
              <a:srgbClr val="0D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08776" y="1828800"/>
            <a:ext cx="1554480" cy="1143000"/>
          </a:xfrm>
          <a:prstGeom prst="roundRect">
            <a:avLst/>
          </a:prstGeom>
          <a:solidFill>
            <a:srgbClr val="22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92024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1965960"/>
            <a:ext cx="1051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LAB / IMAGEN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81544" y="2395728"/>
            <a:ext cx="274320" cy="0"/>
          </a:xfrm>
          <a:prstGeom prst="line">
            <a:avLst/>
          </a:prstGeom>
          <a:ln w="25400">
            <a:solidFill>
              <a:srgbClr val="0D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10728" y="1828800"/>
            <a:ext cx="1554480" cy="1143000"/>
          </a:xfrm>
          <a:prstGeom prst="roundRect">
            <a:avLst/>
          </a:prstGeom>
          <a:solidFill>
            <a:srgbClr val="B74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192024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1965960"/>
            <a:ext cx="1051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83496" y="2395728"/>
            <a:ext cx="274320" cy="0"/>
          </a:xfrm>
          <a:prstGeom prst="line">
            <a:avLst/>
          </a:prstGeom>
          <a:ln w="25400">
            <a:solidFill>
              <a:srgbClr val="0D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12680" y="1828800"/>
            <a:ext cx="1554480" cy="1143000"/>
          </a:xfrm>
          <a:prstGeom prst="roundRect">
            <a:avLst/>
          </a:prstGeom>
          <a:solidFill>
            <a:srgbClr val="745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1920240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1965960"/>
            <a:ext cx="1051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ALTA / SEGUIMIENTO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931920"/>
            <a:ext cx="10241280" cy="1188720"/>
          </a:xfrm>
          <a:prstGeom prst="roundRect">
            <a:avLst/>
          </a:prstGeom>
          <a:solidFill>
            <a:srgbClr val="E2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133087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D1C30"/>
                </a:solidFill>
                <a:latin typeface="Aptos"/>
              </a:rPr>
              <a:t>La transformación digital no consiste en comprar software: consiste en rediseñar el flujo para que los datos acompañen la atención.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8296A5"/>
                </a:solidFill>
                <a:latin typeface="Aptos"/>
              </a:rPr>
              <a:t>ISO: EHR supports coordinated, patient-centred care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2823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6AAB9"/>
                </a:solidFill>
                <a:latin typeface="Aptos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SEGURIDAD Y CALIDAD: DIGITAL NO SIGNIFICA AUTOMÁTICAMENTE SEGURO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2331720" cy="1828800"/>
          </a:xfrm>
          <a:prstGeom prst="roundRect">
            <a:avLst/>
          </a:prstGeom>
          <a:solidFill>
            <a:srgbClr val="B74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BRECHAS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965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privacidad y ciberseguridad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508760"/>
            <a:ext cx="2331720" cy="1828800"/>
          </a:xfrm>
          <a:prstGeom prst="roundRect">
            <a:avLst/>
          </a:prstGeom>
          <a:solidFill>
            <a:srgbClr val="DA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9" y="1737360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INCONSISTENCIAS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286000"/>
            <a:ext cx="1965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errores / datos obsoletos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08760"/>
            <a:ext cx="2331720" cy="1828800"/>
          </a:xfrm>
          <a:prstGeom prst="roundRect">
            <a:avLst/>
          </a:prstGeom>
          <a:solidFill>
            <a:srgbClr val="20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ALMACENAMIENTO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1965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escala e integridad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508760"/>
            <a:ext cx="2331720" cy="1828800"/>
          </a:xfrm>
          <a:prstGeom prst="roundRect">
            <a:avLst/>
          </a:prstGeom>
          <a:solidFill>
            <a:srgbClr val="35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737360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FORMACIÓN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2286000"/>
            <a:ext cx="1965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usuarios y cambio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0520"/>
            <a:ext cx="9875520" cy="1234440"/>
          </a:xfrm>
          <a:prstGeom prst="roundRect">
            <a:avLst/>
          </a:prstGeom>
          <a:solidFill>
            <a:srgbClr val="1A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370832"/>
            <a:ext cx="9326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Controles clave: cifrado • acceso por roles • registros de auditoría • actualización • capacitación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8296A5"/>
                </a:solidFill>
                <a:latin typeface="Aptos"/>
              </a:rPr>
              <a:t>ISO: challenges to EHR deployment; security/access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2823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6AAB9"/>
                </a:solidFill>
                <a:latin typeface="Aptos"/>
              </a:rPr>
              <a:t>9/10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440680"/>
            <a:ext cx="10835640" cy="713232"/>
          </a:xfrm>
          <a:prstGeom prst="roundRect">
            <a:avLst/>
          </a:prstGeom>
          <a:solidFill>
            <a:srgbClr val="F5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51383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B7483E"/>
                </a:solidFill>
                <a:latin typeface="Aptos"/>
              </a:rPr>
              <a:t>“GRATIS” ≠ COSTO CERO: hosting + TI + mantenimiento + capacitación + rediseño del flujo clínico.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99632"/>
            <a:ext cx="10698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>
                <a:solidFill>
                  <a:srgbClr val="96A5AF"/>
                </a:solidFill>
                <a:latin typeface="Aptos"/>
              </a:rPr>
              <a:t>La fuente 2026 también enfatiza cifrado, acceso por roles, auditoría, parches y formación del personal.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D1C30"/>
                </a:solidFill>
                <a:latin typeface="Aptos"/>
              </a:rPr>
              <a:t>DEL HOSPITAL DIGITAL A LA IA CLÍNICA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1874519" cy="914400"/>
          </a:xfrm>
          <a:prstGeom prst="roundRect">
            <a:avLst/>
          </a:prstGeom>
          <a:solidFill>
            <a:srgbClr val="20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HCE / EHR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95728" y="2011680"/>
            <a:ext cx="365760" cy="0"/>
          </a:xfrm>
          <a:prstGeom prst="line">
            <a:avLst/>
          </a:prstGeom>
          <a:ln w="25400">
            <a:solidFill>
              <a:srgbClr val="0D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07208" y="1554480"/>
            <a:ext cx="1874519" cy="914400"/>
          </a:xfrm>
          <a:prstGeom prst="roundRect">
            <a:avLst/>
          </a:prstGeom>
          <a:solidFill>
            <a:srgbClr val="35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7208" y="155448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DATOS CONECTADOS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0016" y="2011680"/>
            <a:ext cx="365760" cy="0"/>
          </a:xfrm>
          <a:prstGeom prst="line">
            <a:avLst/>
          </a:prstGeom>
          <a:ln w="25400">
            <a:solidFill>
              <a:srgbClr val="0D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11496" y="1554480"/>
            <a:ext cx="1874519" cy="914400"/>
          </a:xfrm>
          <a:prstGeom prst="roundRect">
            <a:avLst/>
          </a:prstGeom>
          <a:solidFill>
            <a:srgbClr val="DA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1496" y="155448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DATOS DE CALIDAD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04304" y="2011680"/>
            <a:ext cx="365760" cy="0"/>
          </a:xfrm>
          <a:prstGeom prst="line">
            <a:avLst/>
          </a:prstGeom>
          <a:ln w="25400">
            <a:solidFill>
              <a:srgbClr val="0D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15784" y="1554480"/>
            <a:ext cx="1874519" cy="914400"/>
          </a:xfrm>
          <a:prstGeom prst="roundRect">
            <a:avLst/>
          </a:prstGeom>
          <a:solidFill>
            <a:srgbClr val="B74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5784" y="155448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IA / ML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08592" y="2011680"/>
            <a:ext cx="365760" cy="0"/>
          </a:xfrm>
          <a:prstGeom prst="line">
            <a:avLst/>
          </a:prstGeom>
          <a:ln w="25400">
            <a:solidFill>
              <a:srgbClr val="0D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20072" y="1554480"/>
            <a:ext cx="1874519" cy="914400"/>
          </a:xfrm>
          <a:prstGeom prst="roundRect">
            <a:avLst/>
          </a:prstGeom>
          <a:solidFill>
            <a:srgbClr val="22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1554480"/>
            <a:ext cx="187451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DECISIÓN CLÍNICA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54680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D1C30"/>
                </a:solidFill>
                <a:latin typeface="Aptos"/>
              </a:rPr>
              <a:t>SIN DATOS DIGITALES, INTEROPERABLES Y CONFIABLES → NO HAY IA CLÍNICA ROBUSTA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160520"/>
            <a:ext cx="8503920" cy="1234440"/>
          </a:xfrm>
          <a:prstGeom prst="roundRect">
            <a:avLst/>
          </a:prstGeom>
          <a:solidFill>
            <a:srgbClr val="E2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4361688"/>
            <a:ext cx="7955279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2070AA"/>
                </a:solidFill>
                <a:latin typeface="Aptos"/>
              </a:rPr>
              <a:t>Puente a Session 2:
Fundamentos de IA • ML • DL • GenAI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B7483E"/>
                </a:solidFill>
                <a:latin typeface="Aptos"/>
              </a:rPr>
              <a:t>Pregunta final: ¿Qué dato de su hospital todavía vive en un silo?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8296A5"/>
                </a:solidFill>
                <a:latin typeface="Aptos"/>
              </a:rPr>
              <a:t>ISO EHR source + class synthesis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28232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96AAB9"/>
                </a:solidFill>
                <a:latin typeface="Aptos"/>
              </a:rPr>
              <a:t>10/10</a:t>
            </a:r>
          </a:p>
        </p:txBody>
      </p:sp>
      <p:pic>
        <p:nvPicPr>
          <p:cNvPr id="24" name="Picture 23" descr="_crop_image(20260926-22270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74920"/>
            <a:ext cx="2468880" cy="960120"/>
          </a:xfrm>
          <a:prstGeom prst="rect">
            <a:avLst/>
          </a:prstGeom>
        </p:spPr>
      </p:pic>
      <p:pic>
        <p:nvPicPr>
          <p:cNvPr id="25" name="Picture 24" descr="_crop_image(20260926-2227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5074920"/>
            <a:ext cx="2468880" cy="9601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429000" y="5257800"/>
            <a:ext cx="4846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D1C30"/>
                </a:solidFill>
                <a:latin typeface="Aptos"/>
              </a:rPr>
              <a:t>Ejemplos actuales muestran la transición hacia EHR abiertos,
FHIR y funciones asistidas por 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4892040"/>
            <a:ext cx="5440680" cy="1097280"/>
          </a:xfrm>
          <a:prstGeom prst="roundRect">
            <a:avLst/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5010912"/>
            <a:ext cx="50749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D1C30"/>
                </a:solidFill>
                <a:latin typeface="Aptos"/>
              </a:rPr>
              <a:t>EHR + IA: capa asistiva, no sustituto del clínico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376672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2630"/>
                </a:solidFill>
                <a:latin typeface="Aptos"/>
              </a:rPr>
              <a:t>Ejemplo 2026: un AI scribe puede generar un borrador; el profesional revisa, edita y finaliza antes de incorporarlo a la HCE.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6071616"/>
            <a:ext cx="5166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>
                <a:solidFill>
                  <a:srgbClr val="5A6976"/>
                </a:solidFill>
                <a:latin typeface="Aptos"/>
              </a:rPr>
              <a:t>Fuente: Commure Scribe Team (2026).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