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docente: abrir la clase con un caso real de transformación digital. Preguntar a los estudiantes: ¿qué problemas han visto en hospitales con fichas físicas o sistemas que no se comunican?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 que este no es un ejemplo abstracto: es un piloto hospitalario con alcance, actores, costos, sistemas y lecciones aprendidas.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Dinámica: pedir a los estudiantes que dibujen el flujo de un paciente desde admisión hasta consulta. Luego marcar dónde aparece demora, duplicación o pérdida de información.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números permiten convertir una discusión abstracta en problema operacional: volumen, espacio, tiempo, trazabilidad y seguridad.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la analogía: cada sistema hospitalario puede hablar un idioma diferente; los estándares y una plataforma de interoperabilidad funcionan como reglas compartidas.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Diferenciar digitalización de interoperabilidad: digitalizar es convertir o capturar datos; interoperar es permitir que los sistemas compartan y entiendan datos para uso clínico.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Actividad rápida: pedir a cada grupo que escriba qué tareas haría en la etapa de análisis antes de tocar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Punto docente: un hospital puede tener laboratorio, imagen, banco de sangre, radioterapia, urgencias y sistemas históricos. Conectar todo contra todo no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del bloque conceptual: preguntar qué beneficio se relaciona más con seguridad del paciente, cuál con administración y cuál con costo.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Evaluación sugerida: claridad del mapa, identificación de sistemas, realismo de indicadores, atención al cambio organizacional y seguridad del paciente.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futuristic_high_tech_hospital_m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40080" y="640080"/>
            <a:ext cx="2834640" cy="310896"/>
          </a:xfrm>
          <a:prstGeom prst="roundRect">
            <a:avLst>
              <a:gd name="adj" fmla="val 23529"/>
            </a:avLst>
          </a:prstGeom>
          <a:solidFill>
            <a:srgbClr val="1276C8"/>
          </a:solidFill>
          <a:ln w="12700">
            <a:solidFill>
              <a:srgbClr val="1276C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70408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Módulo · Transformación digital en salud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40080" y="13258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1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Hospital tradicional → hospital digital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58368" y="27432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</a:rPr>
              <a:t>Material de clase basado en el caso INCAN: interoperabilidad de sistemas, historia clínica, gestión documental y cambio organizacional.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58368" y="4069080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9E6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8368" y="4069080"/>
            <a:ext cx="64008" cy="914400"/>
          </a:xfrm>
          <a:prstGeom prst="rect">
            <a:avLst/>
          </a:prstGeom>
          <a:solidFill>
            <a:srgbClr val="00A6C8"/>
          </a:solidFill>
          <a:ln w="12700">
            <a:solidFill>
              <a:srgbClr val="00A6C8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" y="4233672"/>
            <a:ext cx="39776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Pregunta guía: ¿qué cambia cuando la información clínica deja de vivir en papel y en sistemas aislados?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7E1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6519672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3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base: BID, Hospital Digital Paraguay — INCAN.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76C8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21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de estudio: INCAN Paraguay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0467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37083"/>
                </a:solidFill>
              </a:rPr>
              <a:t>Piloto de interoperabilidad para conectar información clínica dispersa.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21792" y="1216152"/>
            <a:ext cx="2596896" cy="4242816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</p:sp>
      <p:pic>
        <p:nvPicPr>
          <p:cNvPr id="5" name="Image 0" descr="/mnt/data/ai1_pages/page_1.png">    </p:cNvPr>
          <p:cNvPicPr>
            <a:picLocks noChangeAspect="1"/>
          </p:cNvPicPr>
          <p:nvPr/>
        </p:nvPicPr>
        <p:blipFill>
          <a:blip r:embed="rId1"/>
          <a:srcRect l="10614" r="10614" t="0" b="0"/>
          <a:stretch/>
        </p:blipFill>
        <p:spPr>
          <a:xfrm>
            <a:off x="640080" y="1234440"/>
            <a:ext cx="2560320" cy="4206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5111496"/>
            <a:ext cx="2560320" cy="329184"/>
          </a:xfrm>
          <a:prstGeom prst="rect">
            <a:avLst/>
          </a:prstGeom>
          <a:solidFill>
            <a:srgbClr val="0B214A">
              <a:alpha val="95000"/>
            </a:srgbClr>
          </a:solidFill>
          <a:ln w="12700">
            <a:solidFill>
              <a:srgbClr val="0B214A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5193792"/>
            <a:ext cx="2414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Artículo base BID / INCAN</a:t>
            </a:r>
            <a:endParaRPr lang="en-US" sz="780" dirty="0"/>
          </a:p>
        </p:txBody>
      </p:sp>
      <p:sp>
        <p:nvSpPr>
          <p:cNvPr id="8" name="Shape 5"/>
          <p:cNvSpPr/>
          <p:nvPr/>
        </p:nvSpPr>
        <p:spPr>
          <a:xfrm>
            <a:off x="3657600" y="1234440"/>
            <a:ext cx="7772400" cy="1010412"/>
          </a:xfrm>
          <a:prstGeom prst="roundRect">
            <a:avLst>
              <a:gd name="adj" fmla="val 5430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803904" y="1353312"/>
            <a:ext cx="274320" cy="27432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06240" y="1316736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14A"/>
                </a:solidFill>
              </a:rPr>
              <a:t>Problema central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206240" y="167335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37083"/>
                </a:solidFill>
              </a:rPr>
              <a:t>Información médica distribuida entre papel y sistemas separados: difícil acceso, continuidad limitada y riesgo de pérdida.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657600" y="2354580"/>
            <a:ext cx="7772400" cy="1010412"/>
          </a:xfrm>
          <a:prstGeom prst="roundRect">
            <a:avLst>
              <a:gd name="adj" fmla="val 5430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803904" y="2473452"/>
            <a:ext cx="274320" cy="274320"/>
          </a:xfrm>
          <a:prstGeom prst="ellipse">
            <a:avLst/>
          </a:prstGeom>
          <a:solidFill>
            <a:srgbClr val="1276C8"/>
          </a:solidFill>
          <a:ln w="12700">
            <a:solidFill>
              <a:srgbClr val="1276C8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06240" y="2436876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14A"/>
                </a:solidFill>
              </a:rPr>
              <a:t>Solución propuesta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206240" y="279349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37083"/>
                </a:solidFill>
              </a:rPr>
              <a:t>Plataforma de intercambio/interoperabilidad para consolidar datos clínicos dentro del hospital.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657600" y="3474720"/>
            <a:ext cx="7772400" cy="1010412"/>
          </a:xfrm>
          <a:prstGeom prst="roundRect">
            <a:avLst>
              <a:gd name="adj" fmla="val 5430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803904" y="3593592"/>
            <a:ext cx="274320" cy="274320"/>
          </a:xfrm>
          <a:prstGeom prst="ellipse">
            <a:avLst/>
          </a:prstGeom>
          <a:solidFill>
            <a:srgbClr val="17B890"/>
          </a:solidFill>
          <a:ln w="12700">
            <a:solidFill>
              <a:srgbClr val="17B890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06240" y="3557016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14A"/>
                </a:solidFill>
              </a:rPr>
              <a:t>Resultado inicial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206240" y="391363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37083"/>
                </a:solidFill>
              </a:rPr>
              <a:t>Piloto de 18 meses; el informe reporta 8752 documentos compartidos durante tres meses.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657600" y="4594860"/>
            <a:ext cx="7772400" cy="1010412"/>
          </a:xfrm>
          <a:prstGeom prst="roundRect">
            <a:avLst>
              <a:gd name="adj" fmla="val 5430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803904" y="4713732"/>
            <a:ext cx="274320" cy="274320"/>
          </a:xfrm>
          <a:prstGeom prst="ellipse">
            <a:avLst/>
          </a:prstGeom>
          <a:solidFill>
            <a:srgbClr val="E9842C"/>
          </a:solidFill>
          <a:ln w="12700">
            <a:solidFill>
              <a:srgbClr val="E9842C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206240" y="4677156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14A"/>
                </a:solidFill>
              </a:rPr>
              <a:t>Valor educativo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206240" y="503377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37083"/>
                </a:solidFill>
              </a:rPr>
              <a:t>Permite mapear el antes y después de un hospital digital desde procesos, datos, tecnología y personas.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7E1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4360" y="6519672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3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artículo, introducción y datos del proyecto, pp. 7 y 15.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76C8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21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Punto de partida: hospital tradicional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0467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37083"/>
                </a:solidFill>
              </a:rPr>
              <a:t>La transformación digital comienza identificando fricciones clínicas y administrativas.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14A"/>
                </a:solidFill>
              </a:rPr>
              <a:t>Flujo tradicional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103120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14A"/>
                </a:solidFill>
              </a:rPr>
              <a:t>Paciente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2423160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637083"/>
                </a:solidFill>
              </a:rPr>
              <a:t>Admisión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3127248" y="2212848"/>
            <a:ext cx="502920" cy="384048"/>
          </a:xfrm>
          <a:prstGeom prst="rightArrow">
            <a:avLst/>
          </a:prstGeom>
          <a:solidFill>
            <a:srgbClr val="F6C143"/>
          </a:solidFill>
          <a:ln w="12700">
            <a:solidFill>
              <a:srgbClr val="F6C14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1874520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85032" y="2103120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14A"/>
                </a:solidFill>
              </a:rPr>
              <a:t>Archivo físico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85032" y="2423160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637083"/>
                </a:solidFill>
              </a:rPr>
              <a:t>Búsqueda manual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916168" y="2212848"/>
            <a:ext cx="502920" cy="384048"/>
          </a:xfrm>
          <a:prstGeom prst="rightArrow">
            <a:avLst/>
          </a:prstGeom>
          <a:solidFill>
            <a:srgbClr val="F6C143"/>
          </a:solidFill>
          <a:ln w="12700">
            <a:solidFill>
              <a:srgbClr val="F6C14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874520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3952" y="2103120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14A"/>
                </a:solidFill>
              </a:rPr>
              <a:t>Consulta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73952" y="2423160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637083"/>
                </a:solidFill>
              </a:rPr>
              <a:t>Médico espera ficha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8705088" y="2212848"/>
            <a:ext cx="502920" cy="384048"/>
          </a:xfrm>
          <a:prstGeom prst="rightArrow">
            <a:avLst/>
          </a:prstGeom>
          <a:solidFill>
            <a:srgbClr val="F6C143"/>
          </a:solidFill>
          <a:ln w="12700">
            <a:solidFill>
              <a:srgbClr val="F6C14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98280" y="1874520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62872" y="2103120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14A"/>
                </a:solidFill>
              </a:rPr>
              <a:t>Servicios separados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62872" y="2423160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637083"/>
                </a:solidFill>
              </a:rPr>
              <a:t>Lab / imagen / urgencia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777240" y="3794760"/>
            <a:ext cx="10698480" cy="393192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3544" y="3913632"/>
            <a:ext cx="274320" cy="27432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25880" y="3877056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14A"/>
                </a:solidFill>
              </a:rPr>
              <a:t>Fragmentación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25880" y="423367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37083"/>
                </a:solidFill>
              </a:rPr>
              <a:t>Sistemas y proveedores no conectados.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77240" y="4297680"/>
            <a:ext cx="10698480" cy="393192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3544" y="4416552"/>
            <a:ext cx="274320" cy="274320"/>
          </a:xfrm>
          <a:prstGeom prst="ellipse">
            <a:avLst/>
          </a:prstGeom>
          <a:solidFill>
            <a:srgbClr val="E9842C"/>
          </a:solidFill>
          <a:ln w="12700">
            <a:solidFill>
              <a:srgbClr val="E9842C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25880" y="4379976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14A"/>
                </a:solidFill>
              </a:rPr>
              <a:t>Papel vulnerable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25880" y="473659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37083"/>
                </a:solidFill>
              </a:rPr>
              <a:t>Fichas deterioradas, extravíos y espacio físico limitado.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77240" y="4800600"/>
            <a:ext cx="10698480" cy="393192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23544" y="4919472"/>
            <a:ext cx="274320" cy="274320"/>
          </a:xfrm>
          <a:prstGeom prst="ellipse">
            <a:avLst/>
          </a:prstGeom>
          <a:solidFill>
            <a:srgbClr val="F6C143"/>
          </a:solidFill>
          <a:ln w="12700">
            <a:solidFill>
              <a:srgbClr val="F6C14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25880" y="4882896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14A"/>
                </a:solidFill>
              </a:rPr>
              <a:t>Demora clínica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325880" y="523951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37083"/>
                </a:solidFill>
              </a:rPr>
              <a:t>Búsqueda física de documentos, especialmente crítica en urgencias.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77240" y="5303520"/>
            <a:ext cx="10698480" cy="393192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23544" y="5422392"/>
            <a:ext cx="274320" cy="274320"/>
          </a:xfrm>
          <a:prstGeom prst="ellipse">
            <a:avLst/>
          </a:prstGeom>
          <a:solidFill>
            <a:srgbClr val="1276C8"/>
          </a:solidFill>
          <a:ln w="12700">
            <a:solidFill>
              <a:srgbClr val="1276C8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25880" y="5385816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14A"/>
                </a:solidFill>
              </a:rPr>
              <a:t>Estadística lenta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325880" y="574243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37083"/>
                </a:solidFill>
              </a:rPr>
              <a:t>Procesamiento manual de reportes para métricas hospitalarias.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7E1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6519672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3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desafíos identificados, pp. 12–13.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76C8"/>
                </a:solidFill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21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Evidencia del problema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0467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37083"/>
                </a:solidFill>
              </a:rPr>
              <a:t>Del caso INCAN: volumen, papel, pérdida documental y sistemas no conectados.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028432" y="941832"/>
            <a:ext cx="3282696" cy="4791456"/>
          </a:xfrm>
          <a:prstGeom prst="roundRect">
            <a:avLst>
              <a:gd name="adj" fmla="val 2228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</p:sp>
      <p:pic>
        <p:nvPicPr>
          <p:cNvPr id="5" name="Image 0" descr="/mnt/data/ai1_pages/page_12.png">    </p:cNvPr>
          <p:cNvPicPr>
            <a:picLocks noChangeAspect="1"/>
          </p:cNvPicPr>
          <p:nvPr/>
        </p:nvPicPr>
        <p:blipFill>
          <a:blip r:embed="rId1"/>
          <a:srcRect l="5826" r="5826" t="0" b="0"/>
          <a:stretch/>
        </p:blipFill>
        <p:spPr>
          <a:xfrm>
            <a:off x="8046720" y="960120"/>
            <a:ext cx="324612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46720" y="5385816"/>
            <a:ext cx="3246120" cy="329184"/>
          </a:xfrm>
          <a:prstGeom prst="rect">
            <a:avLst/>
          </a:prstGeom>
          <a:solidFill>
            <a:srgbClr val="0B214A">
              <a:alpha val="95000"/>
            </a:srgbClr>
          </a:solidFill>
          <a:ln w="12700">
            <a:solidFill>
              <a:srgbClr val="0B214A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19872" y="5468112"/>
            <a:ext cx="3099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Página 12: desafíos</a:t>
            </a:r>
            <a:endParaRPr lang="en-US" sz="780" dirty="0"/>
          </a:p>
        </p:txBody>
      </p:sp>
      <p:sp>
        <p:nvSpPr>
          <p:cNvPr id="8" name="Shape 5"/>
          <p:cNvSpPr/>
          <p:nvPr/>
        </p:nvSpPr>
        <p:spPr>
          <a:xfrm>
            <a:off x="777240" y="1234440"/>
            <a:ext cx="306324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FFE0A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136245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64550"/>
                </a:solidFill>
              </a:rPr>
              <a:t>&gt;100 mil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1005840" y="180136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</a:rPr>
              <a:t>consultas médicas registradas por año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4251960" y="1234440"/>
            <a:ext cx="306324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FFE0A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0560" y="136245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9842C"/>
                </a:solidFill>
              </a:rPr>
              <a:t>~1 millón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4480560" y="180136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</a:rPr>
              <a:t>fichas impresas almacenadas en Archivo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777240" y="2651760"/>
            <a:ext cx="306324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FFE0A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277977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76C8"/>
                </a:solidFill>
              </a:rPr>
              <a:t>7+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1005840" y="321868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</a:rPr>
              <a:t>sistemas de información identificados</a:t>
            </a:r>
            <a:endParaRPr lang="en-US" sz="1220" dirty="0"/>
          </a:p>
        </p:txBody>
      </p:sp>
      <p:sp>
        <p:nvSpPr>
          <p:cNvPr id="17" name="Shape 14"/>
          <p:cNvSpPr/>
          <p:nvPr/>
        </p:nvSpPr>
        <p:spPr>
          <a:xfrm>
            <a:off x="4251960" y="2651760"/>
            <a:ext cx="306324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FFE0A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80560" y="277977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B890"/>
                </a:solidFill>
              </a:rPr>
              <a:t>24/7</a:t>
            </a:r>
            <a:endParaRPr lang="en-US" sz="2500" dirty="0"/>
          </a:p>
        </p:txBody>
      </p:sp>
      <p:sp>
        <p:nvSpPr>
          <p:cNvPr id="19" name="Text 16"/>
          <p:cNvSpPr/>
          <p:nvPr/>
        </p:nvSpPr>
        <p:spPr>
          <a:xfrm>
            <a:off x="4480560" y="321868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</a:rPr>
              <a:t>necesidad de acceso clínico en urgencias</a:t>
            </a:r>
            <a:endParaRPr lang="en-US" sz="1220" dirty="0"/>
          </a:p>
        </p:txBody>
      </p:sp>
      <p:sp>
        <p:nvSpPr>
          <p:cNvPr id="20" name="Shape 17"/>
          <p:cNvSpPr/>
          <p:nvPr/>
        </p:nvSpPr>
        <p:spPr>
          <a:xfrm>
            <a:off x="822960" y="4572000"/>
            <a:ext cx="649224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9E6F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22960" y="4572000"/>
            <a:ext cx="64008" cy="822960"/>
          </a:xfrm>
          <a:prstGeom prst="rect">
            <a:avLst/>
          </a:prstGeom>
          <a:solidFill>
            <a:srgbClr val="E9842C"/>
          </a:solidFill>
          <a:ln w="12700">
            <a:solidFill>
              <a:srgbClr val="E9842C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24128" y="4736592"/>
            <a:ext cx="61722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Idea para clase: los datos clínicos no son valiosos si no están disponibles en el momento de decisión.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7E1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6519672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3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datos y desafíos INCAN, pp. 12–13.</a:t>
            </a:r>
            <a:endParaRPr lang="en-US" sz="720" dirty="0"/>
          </a:p>
        </p:txBody>
      </p:sp>
      <p:sp>
        <p:nvSpPr>
          <p:cNvPr id="25" name="Text 22"/>
          <p:cNvSpPr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76C8"/>
                </a:solidFill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21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Interoperabilidad: el “lenguaje común” del hospital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0467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37083"/>
                </a:solidFill>
              </a:rPr>
              <a:t>El artículo usa la analogía del fútbol para explicar sistemas que se entienden entre sí.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58952" y="1078992"/>
            <a:ext cx="3282696" cy="4974336"/>
          </a:xfrm>
          <a:prstGeom prst="roundRect">
            <a:avLst>
              <a:gd name="adj" fmla="val 2228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</p:sp>
      <p:pic>
        <p:nvPicPr>
          <p:cNvPr id="5" name="Image 0" descr="/mnt/data/ai1_pages/page_8.png">    </p:cNvPr>
          <p:cNvPicPr>
            <a:picLocks noChangeAspect="1"/>
          </p:cNvPicPr>
          <p:nvPr/>
        </p:nvPicPr>
        <p:blipFill>
          <a:blip r:embed="rId1"/>
          <a:srcRect l="7462" r="7462" t="0" b="0"/>
          <a:stretch/>
        </p:blipFill>
        <p:spPr>
          <a:xfrm>
            <a:off x="777240" y="1097280"/>
            <a:ext cx="3246120" cy="4937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" y="5705856"/>
            <a:ext cx="3246120" cy="329184"/>
          </a:xfrm>
          <a:prstGeom prst="rect">
            <a:avLst/>
          </a:prstGeom>
          <a:solidFill>
            <a:srgbClr val="0B214A">
              <a:alpha val="95000"/>
            </a:srgbClr>
          </a:solidFill>
          <a:ln w="12700">
            <a:solidFill>
              <a:srgbClr val="0B214A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" y="5788152"/>
            <a:ext cx="3099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Página 8: interoperabilidad</a:t>
            </a:r>
            <a:endParaRPr lang="en-US" sz="780" dirty="0"/>
          </a:p>
        </p:txBody>
      </p:sp>
      <p:sp>
        <p:nvSpPr>
          <p:cNvPr id="8" name="Shape 5"/>
          <p:cNvSpPr/>
          <p:nvPr/>
        </p:nvSpPr>
        <p:spPr>
          <a:xfrm>
            <a:off x="4389120" y="1143000"/>
            <a:ext cx="6949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FEAF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17720" y="135331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14A"/>
                </a:solidFill>
              </a:rPr>
              <a:t>Analogía docente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629400" y="126187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Como en un equipo de fútbol: jugadores diferentes pueden coordinarse si comparten reglas y lenguaje.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4434840" y="2560320"/>
            <a:ext cx="324612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36008" y="270662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76C8"/>
                </a:solidFill>
              </a:rPr>
              <a:t>Mejor atención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636008" y="299923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37083"/>
                </a:solidFill>
              </a:rPr>
              <a:t>El médico accede a información previa y decide con contexto.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7955280" y="2560320"/>
            <a:ext cx="324612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56448" y="270662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76C8"/>
                </a:solidFill>
              </a:rPr>
              <a:t>Ahorro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156448" y="299923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37083"/>
                </a:solidFill>
              </a:rPr>
              <a:t>Evita repetir pruebas cuando los datos ya existen.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4434840" y="3977640"/>
            <a:ext cx="324612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36008" y="412394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76C8"/>
                </a:solidFill>
              </a:rPr>
              <a:t>Investigación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636008" y="441655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37083"/>
                </a:solidFill>
              </a:rPr>
              <a:t>Datos compartidos permiten analizar resultados y tratamientos.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7955280" y="3977640"/>
            <a:ext cx="324612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156448" y="412394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76C8"/>
                </a:solidFill>
              </a:rPr>
              <a:t>Menos errores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8156448" y="441655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37083"/>
                </a:solidFill>
              </a:rPr>
              <a:t>Alergias, antecedentes y estudios son visibles para personal autorizado.</a:t>
            </a:r>
            <a:endParaRPr lang="en-US" sz="1020" dirty="0"/>
          </a:p>
        </p:txBody>
      </p:sp>
      <p:sp>
        <p:nvSpPr>
          <p:cNvPr id="23" name="Shape 20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7E1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6519672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3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explicación de interoperabilidad, p. 8.</a:t>
            </a:r>
            <a:endParaRPr lang="en-US" sz="720" dirty="0"/>
          </a:p>
        </p:txBody>
      </p:sp>
      <p:sp>
        <p:nvSpPr>
          <p:cNvPr id="25" name="Text 22"/>
          <p:cNvSpPr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76C8"/>
                </a:solidFill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21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objetivo: del dato aislado al dato disponible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0467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37083"/>
                </a:solidFill>
              </a:rPr>
              <a:t>La plataforma crea un canal común sin eliminar la especialización de cada sistema.</a:t>
            </a:r>
            <a:endParaRPr lang="en-US" sz="1150" dirty="0"/>
          </a:p>
        </p:txBody>
      </p:sp>
      <p:pic>
        <p:nvPicPr>
          <p:cNvPr id="4" name="Image 0" descr="/mnt/data/wide_infographic_illustration_on_a_white_light_bac.png">    </p:cNvPr>
          <p:cNvPicPr>
            <a:picLocks noChangeAspect="1"/>
          </p:cNvPicPr>
          <p:nvPr/>
        </p:nvPicPr>
        <p:blipFill>
          <a:blip r:embed="rId1"/>
          <a:srcRect l="0" r="0" t="1541" b="1541"/>
          <a:stretch/>
        </p:blipFill>
        <p:spPr>
          <a:xfrm>
            <a:off x="365760" y="1051560"/>
            <a:ext cx="5029200" cy="2743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60720" y="1143000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33872" y="1216152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B214A"/>
                </a:solidFill>
              </a:rPr>
              <a:t>HIS</a:t>
            </a:r>
            <a:endParaRPr lang="en-US" sz="920" dirty="0"/>
          </a:p>
        </p:txBody>
      </p:sp>
      <p:sp>
        <p:nvSpPr>
          <p:cNvPr id="7" name="Text 4"/>
          <p:cNvSpPr/>
          <p:nvPr/>
        </p:nvSpPr>
        <p:spPr>
          <a:xfrm>
            <a:off x="6547104" y="1216152"/>
            <a:ext cx="896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37083"/>
                </a:solidFill>
              </a:rPr>
              <a:t>Ambulatorio</a:t>
            </a:r>
            <a:endParaRPr lang="en-US" sz="760" dirty="0"/>
          </a:p>
        </p:txBody>
      </p:sp>
      <p:sp>
        <p:nvSpPr>
          <p:cNvPr id="8" name="Shape 5"/>
          <p:cNvSpPr/>
          <p:nvPr/>
        </p:nvSpPr>
        <p:spPr>
          <a:xfrm>
            <a:off x="7818120" y="1143000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91272" y="1216152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B214A"/>
                </a:solidFill>
              </a:rPr>
              <a:t>SAA</a:t>
            </a:r>
            <a:endParaRPr lang="en-US" sz="920" dirty="0"/>
          </a:p>
        </p:txBody>
      </p:sp>
      <p:sp>
        <p:nvSpPr>
          <p:cNvPr id="10" name="Text 7"/>
          <p:cNvSpPr/>
          <p:nvPr/>
        </p:nvSpPr>
        <p:spPr>
          <a:xfrm>
            <a:off x="8604504" y="1216152"/>
            <a:ext cx="896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37083"/>
                </a:solidFill>
              </a:rPr>
              <a:t>Histórico</a:t>
            </a:r>
            <a:endParaRPr lang="en-US" sz="760" dirty="0"/>
          </a:p>
        </p:txBody>
      </p:sp>
      <p:sp>
        <p:nvSpPr>
          <p:cNvPr id="11" name="Shape 8"/>
          <p:cNvSpPr/>
          <p:nvPr/>
        </p:nvSpPr>
        <p:spPr>
          <a:xfrm>
            <a:off x="5760720" y="1828800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33872" y="1901952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B214A"/>
                </a:solidFill>
              </a:rPr>
              <a:t>ARIA</a:t>
            </a:r>
            <a:endParaRPr lang="en-US" sz="920" dirty="0"/>
          </a:p>
        </p:txBody>
      </p:sp>
      <p:sp>
        <p:nvSpPr>
          <p:cNvPr id="13" name="Text 10"/>
          <p:cNvSpPr/>
          <p:nvPr/>
        </p:nvSpPr>
        <p:spPr>
          <a:xfrm>
            <a:off x="6547104" y="1901952"/>
            <a:ext cx="896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37083"/>
                </a:solidFill>
              </a:rPr>
              <a:t>Radioterapia</a:t>
            </a:r>
            <a:endParaRPr lang="en-US" sz="760" dirty="0"/>
          </a:p>
        </p:txBody>
      </p:sp>
      <p:sp>
        <p:nvSpPr>
          <p:cNvPr id="14" name="Shape 11"/>
          <p:cNvSpPr/>
          <p:nvPr/>
        </p:nvSpPr>
        <p:spPr>
          <a:xfrm>
            <a:off x="7818120" y="1828800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91272" y="1901952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B214A"/>
                </a:solidFill>
              </a:rPr>
              <a:t>GESLAB</a:t>
            </a:r>
            <a:endParaRPr lang="en-US" sz="920" dirty="0"/>
          </a:p>
        </p:txBody>
      </p:sp>
      <p:sp>
        <p:nvSpPr>
          <p:cNvPr id="16" name="Text 13"/>
          <p:cNvSpPr/>
          <p:nvPr/>
        </p:nvSpPr>
        <p:spPr>
          <a:xfrm>
            <a:off x="8604504" y="1901952"/>
            <a:ext cx="896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37083"/>
                </a:solidFill>
              </a:rPr>
              <a:t>Laboratorio</a:t>
            </a:r>
            <a:endParaRPr lang="en-US" sz="760" dirty="0"/>
          </a:p>
        </p:txBody>
      </p:sp>
      <p:sp>
        <p:nvSpPr>
          <p:cNvPr id="17" name="Shape 14"/>
          <p:cNvSpPr/>
          <p:nvPr/>
        </p:nvSpPr>
        <p:spPr>
          <a:xfrm>
            <a:off x="5760720" y="2514600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33872" y="2587752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B214A"/>
                </a:solidFill>
              </a:rPr>
              <a:t>SISSAN</a:t>
            </a:r>
            <a:endParaRPr lang="en-US" sz="920" dirty="0"/>
          </a:p>
        </p:txBody>
      </p:sp>
      <p:sp>
        <p:nvSpPr>
          <p:cNvPr id="19" name="Text 16"/>
          <p:cNvSpPr/>
          <p:nvPr/>
        </p:nvSpPr>
        <p:spPr>
          <a:xfrm>
            <a:off x="6547104" y="2587752"/>
            <a:ext cx="896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37083"/>
                </a:solidFill>
              </a:rPr>
              <a:t>Banco de sangre</a:t>
            </a:r>
            <a:endParaRPr lang="en-US" sz="760" dirty="0"/>
          </a:p>
        </p:txBody>
      </p:sp>
      <p:sp>
        <p:nvSpPr>
          <p:cNvPr id="20" name="Shape 17"/>
          <p:cNvSpPr/>
          <p:nvPr/>
        </p:nvSpPr>
        <p:spPr>
          <a:xfrm>
            <a:off x="7818120" y="2514600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91272" y="2587752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B214A"/>
                </a:solidFill>
              </a:rPr>
              <a:t>DATA SCAN</a:t>
            </a:r>
            <a:endParaRPr lang="en-US" sz="920" dirty="0"/>
          </a:p>
        </p:txBody>
      </p:sp>
      <p:sp>
        <p:nvSpPr>
          <p:cNvPr id="22" name="Text 19"/>
          <p:cNvSpPr/>
          <p:nvPr/>
        </p:nvSpPr>
        <p:spPr>
          <a:xfrm>
            <a:off x="8604504" y="2587752"/>
            <a:ext cx="896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37083"/>
                </a:solidFill>
              </a:rPr>
              <a:t>Papel digitalizado</a:t>
            </a:r>
            <a:endParaRPr lang="en-US" sz="760" dirty="0"/>
          </a:p>
        </p:txBody>
      </p:sp>
      <p:sp>
        <p:nvSpPr>
          <p:cNvPr id="23" name="Shape 20"/>
          <p:cNvSpPr/>
          <p:nvPr/>
        </p:nvSpPr>
        <p:spPr>
          <a:xfrm>
            <a:off x="7406640" y="3401568"/>
            <a:ext cx="411480" cy="502920"/>
          </a:xfrm>
          <a:prstGeom prst="downArrow">
            <a:avLst/>
          </a:prstGeom>
          <a:solidFill>
            <a:srgbClr val="1276C8"/>
          </a:solidFill>
          <a:ln w="12700">
            <a:solidFill>
              <a:srgbClr val="1276C8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989320" y="397764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0B214A"/>
          </a:solidFill>
          <a:ln w="12700">
            <a:solidFill>
              <a:srgbClr val="0B214A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72200" y="422452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</a:rPr>
              <a:t>Plataforma Hospital Digital: visor + gestor documental + interoperabilidad</a:t>
            </a:r>
            <a:endParaRPr lang="en-US" sz="1180" dirty="0"/>
          </a:p>
        </p:txBody>
      </p:sp>
      <p:sp>
        <p:nvSpPr>
          <p:cNvPr id="26" name="Shape 23"/>
          <p:cNvSpPr/>
          <p:nvPr/>
        </p:nvSpPr>
        <p:spPr>
          <a:xfrm>
            <a:off x="7406640" y="4892040"/>
            <a:ext cx="411480" cy="502920"/>
          </a:xfrm>
          <a:prstGeom prst="downArrow">
            <a:avLst/>
          </a:prstGeom>
          <a:solidFill>
            <a:srgbClr val="17B890"/>
          </a:solidFill>
          <a:ln w="12700">
            <a:solidFill>
              <a:srgbClr val="17B890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89320" y="5486400"/>
            <a:ext cx="4937760" cy="530352"/>
          </a:xfrm>
          <a:prstGeom prst="roundRect">
            <a:avLst>
              <a:gd name="adj" fmla="val 13793"/>
            </a:avLst>
          </a:prstGeom>
          <a:solidFill>
            <a:srgbClr val="E8FFF5"/>
          </a:solidFill>
          <a:ln w="12700">
            <a:solidFill>
              <a:srgbClr val="BAEED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172200" y="5650992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72033"/>
                </a:solidFill>
              </a:rPr>
              <a:t>Profesional tratante: información accesible desde cualquier lugar y momento</a:t>
            </a:r>
            <a:endParaRPr lang="en-US" sz="1080" dirty="0"/>
          </a:p>
        </p:txBody>
      </p:sp>
      <p:sp>
        <p:nvSpPr>
          <p:cNvPr id="29" name="Shape 2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7E1E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360" y="6519672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3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solución implementada y sistemas interoperados, pp. 15–17.</a:t>
            </a:r>
            <a:endParaRPr lang="en-US" sz="720" dirty="0"/>
          </a:p>
        </p:txBody>
      </p:sp>
      <p:sp>
        <p:nvSpPr>
          <p:cNvPr id="31" name="Text 28"/>
          <p:cNvSpPr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76C8"/>
                </a:solidFill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21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 se implementó: tres etapas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0467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37083"/>
                </a:solidFill>
              </a:rPr>
              <a:t>El caso permite enseñar gestión de proyectos de salud digital.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3246120" cy="329184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1581912"/>
            <a:ext cx="457200" cy="457200"/>
          </a:xfrm>
          <a:prstGeom prst="ellipse">
            <a:avLst/>
          </a:prstGeom>
          <a:solidFill>
            <a:srgbClr val="1276C8"/>
          </a:solidFill>
          <a:ln w="12700">
            <a:solidFill>
              <a:srgbClr val="1276C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691640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00200" y="15819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14A"/>
                </a:solidFill>
              </a:rPr>
              <a:t>Análisis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51560" y="2167128"/>
            <a:ext cx="278892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033"/>
                </a:solidFill>
              </a:rPr>
              <a:t>Relevar sistemas, tecnologías, proveedores, posibilidades de interoperabilidad y estrategia de conexión.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480560" y="1417320"/>
            <a:ext cx="3246120" cy="329184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81728" y="1581912"/>
            <a:ext cx="457200" cy="457200"/>
          </a:xfrm>
          <a:prstGeom prst="ellipse">
            <a:avLst/>
          </a:prstGeom>
          <a:solidFill>
            <a:srgbClr val="17B890"/>
          </a:solidFill>
          <a:ln w="12700">
            <a:solidFill>
              <a:srgbClr val="17B89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1691640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57800" y="15819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14A"/>
                </a:solidFill>
              </a:rPr>
              <a:t>Implementación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709160" y="2167128"/>
            <a:ext cx="278892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033"/>
                </a:solidFill>
              </a:rPr>
              <a:t>Adaptar la plataforma, construir el gestor documental e incluir sectores clínicos sin sistema informático.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138160" y="1417320"/>
            <a:ext cx="3246120" cy="329184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9328" y="1581912"/>
            <a:ext cx="457200" cy="457200"/>
          </a:xfrm>
          <a:prstGeom prst="ellipse">
            <a:avLst/>
          </a:prstGeom>
          <a:solidFill>
            <a:srgbClr val="66A53D"/>
          </a:solidFill>
          <a:ln w="12700">
            <a:solidFill>
              <a:srgbClr val="66A53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9328" y="1691640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15400" y="15819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14A"/>
                </a:solidFill>
              </a:rPr>
              <a:t>Evaluación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66760" y="2167128"/>
            <a:ext cx="278892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033"/>
                </a:solidFill>
              </a:rPr>
              <a:t>Medir uso de plataforma, documentos enviados, accesos al visor y entrevistas a personal administrativo, técnico y médico.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4151376" y="2697480"/>
            <a:ext cx="274320" cy="292608"/>
          </a:xfrm>
          <a:prstGeom prst="rightArrow">
            <a:avLst/>
          </a:prstGeom>
          <a:solidFill>
            <a:srgbClr val="9ECBEA"/>
          </a:solidFill>
          <a:ln w="12700">
            <a:solidFill>
              <a:srgbClr val="9ECBEA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08976" y="2697480"/>
            <a:ext cx="274320" cy="292608"/>
          </a:xfrm>
          <a:prstGeom prst="rightArrow">
            <a:avLst/>
          </a:prstGeom>
          <a:solidFill>
            <a:srgbClr val="9ECBEA"/>
          </a:solidFill>
          <a:ln w="12700">
            <a:solidFill>
              <a:srgbClr val="9ECBEA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7280" y="5349240"/>
            <a:ext cx="10012680" cy="594360"/>
          </a:xfrm>
          <a:prstGeom prst="roundRect">
            <a:avLst>
              <a:gd name="adj" fmla="val 12308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9E6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7280" y="5349240"/>
            <a:ext cx="64008" cy="594360"/>
          </a:xfrm>
          <a:prstGeom prst="rect">
            <a:avLst/>
          </a:prstGeom>
          <a:solidFill>
            <a:srgbClr val="66A53D"/>
          </a:solidFill>
          <a:ln w="12700">
            <a:solidFill>
              <a:srgbClr val="66A53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98448" y="5513832"/>
            <a:ext cx="96926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Mensaje clave: no se trata solo de comprar software; se requiere análisis, adaptación, evaluación y cambio organizacional.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7E1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519672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3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etapas del proyecto, p. 16.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76C8"/>
                </a:solidFill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21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Sistemas interoperados: evitar el “punto a punto”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0467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37083"/>
                </a:solidFill>
              </a:rPr>
              <a:t>Con muchos sistemas heterogéneos, conectar todo contra todo se vuelve costoso y poco viable.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13232" y="1033272"/>
            <a:ext cx="3054096" cy="4791456"/>
          </a:xfrm>
          <a:prstGeom prst="roundRect">
            <a:avLst>
              <a:gd name="adj" fmla="val 2395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</p:sp>
      <p:pic>
        <p:nvPicPr>
          <p:cNvPr id="5" name="Image 0" descr="/mnt/data/ai1_pages/page_17.png">    </p:cNvPr>
          <p:cNvPicPr>
            <a:picLocks noChangeAspect="1"/>
          </p:cNvPicPr>
          <p:nvPr/>
        </p:nvPicPr>
        <p:blipFill>
          <a:blip r:embed="rId1"/>
          <a:srcRect l="8937" r="8937" t="0" b="0"/>
          <a:stretch/>
        </p:blipFill>
        <p:spPr>
          <a:xfrm>
            <a:off x="731520" y="1051560"/>
            <a:ext cx="301752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5477256"/>
            <a:ext cx="3017520" cy="329184"/>
          </a:xfrm>
          <a:prstGeom prst="rect">
            <a:avLst/>
          </a:prstGeom>
          <a:solidFill>
            <a:srgbClr val="0B214A">
              <a:alpha val="95000"/>
            </a:srgbClr>
          </a:solidFill>
          <a:ln w="12700">
            <a:solidFill>
              <a:srgbClr val="0B214A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" y="5559552"/>
            <a:ext cx="2871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Página 17: sistemas</a:t>
            </a:r>
            <a:endParaRPr lang="en-US" sz="780" dirty="0"/>
          </a:p>
        </p:txBody>
      </p:sp>
      <p:sp>
        <p:nvSpPr>
          <p:cNvPr id="8" name="Shape 5"/>
          <p:cNvSpPr/>
          <p:nvPr/>
        </p:nvSpPr>
        <p:spPr>
          <a:xfrm>
            <a:off x="4206240" y="1143000"/>
            <a:ext cx="2743200" cy="42976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9DDB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26280" y="14173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50"/>
                </a:solidFill>
              </a:rPr>
              <a:t>Modelo frágil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65776" y="2276856"/>
            <a:ext cx="1188720" cy="0"/>
          </a:xfrm>
          <a:prstGeom prst="line">
            <a:avLst/>
          </a:prstGeom>
          <a:noFill/>
          <a:ln w="12700">
            <a:solidFill>
              <a:srgbClr val="F4A2A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65776" y="2276856"/>
            <a:ext cx="0" cy="960120"/>
          </a:xfrm>
          <a:prstGeom prst="line">
            <a:avLst/>
          </a:prstGeom>
          <a:noFill/>
          <a:ln w="12700">
            <a:solidFill>
              <a:srgbClr val="F4A2A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65776" y="2276856"/>
            <a:ext cx="1188720" cy="960120"/>
          </a:xfrm>
          <a:prstGeom prst="line">
            <a:avLst/>
          </a:prstGeom>
          <a:noFill/>
          <a:ln w="12700">
            <a:solidFill>
              <a:srgbClr val="F4A2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54496" y="2276856"/>
            <a:ext cx="-1188720" cy="960120"/>
          </a:xfrm>
          <a:prstGeom prst="line">
            <a:avLst/>
          </a:prstGeom>
          <a:noFill/>
          <a:ln w="12700">
            <a:solidFill>
              <a:srgbClr val="F4A2A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54496" y="2276856"/>
            <a:ext cx="0" cy="960120"/>
          </a:xfrm>
          <a:prstGeom prst="line">
            <a:avLst/>
          </a:prstGeom>
          <a:noFill/>
          <a:ln w="12700">
            <a:solidFill>
              <a:srgbClr val="F4A2A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65776" y="3236976"/>
            <a:ext cx="1188720" cy="0"/>
          </a:xfrm>
          <a:prstGeom prst="line">
            <a:avLst/>
          </a:prstGeom>
          <a:noFill/>
          <a:ln w="12700">
            <a:solidFill>
              <a:srgbClr val="F4A2A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65776" y="3236976"/>
            <a:ext cx="594360" cy="914400"/>
          </a:xfrm>
          <a:prstGeom prst="line">
            <a:avLst/>
          </a:prstGeom>
          <a:noFill/>
          <a:ln w="12700">
            <a:solidFill>
              <a:srgbClr val="F4A2A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54496" y="3236976"/>
            <a:ext cx="-594360" cy="914400"/>
          </a:xfrm>
          <a:prstGeom prst="line">
            <a:avLst/>
          </a:prstGeom>
          <a:noFill/>
          <a:ln w="12700">
            <a:solidFill>
              <a:srgbClr val="F4A2A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00600" y="2011680"/>
            <a:ext cx="530352" cy="530352"/>
          </a:xfrm>
          <a:prstGeom prst="ellipse">
            <a:avLst/>
          </a:prstGeom>
          <a:solidFill>
            <a:srgbClr val="FFF1F2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00600" y="2185416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64550"/>
                </a:solidFill>
              </a:rPr>
              <a:t>HIS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5989320" y="2011680"/>
            <a:ext cx="530352" cy="530352"/>
          </a:xfrm>
          <a:prstGeom prst="ellipse">
            <a:avLst/>
          </a:prstGeom>
          <a:solidFill>
            <a:srgbClr val="FFF1F2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89320" y="2185416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64550"/>
                </a:solidFill>
              </a:rPr>
              <a:t>SAA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4800600" y="2971800"/>
            <a:ext cx="530352" cy="530352"/>
          </a:xfrm>
          <a:prstGeom prst="ellipse">
            <a:avLst/>
          </a:prstGeom>
          <a:solidFill>
            <a:srgbClr val="FFF1F2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00600" y="3145536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64550"/>
                </a:solidFill>
              </a:rPr>
              <a:t>LAB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5989320" y="2971800"/>
            <a:ext cx="530352" cy="530352"/>
          </a:xfrm>
          <a:prstGeom prst="ellipse">
            <a:avLst/>
          </a:prstGeom>
          <a:solidFill>
            <a:srgbClr val="FFF1F2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89320" y="3145536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64550"/>
                </a:solidFill>
              </a:rPr>
              <a:t>RAD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5394960" y="3886200"/>
            <a:ext cx="530352" cy="530352"/>
          </a:xfrm>
          <a:prstGeom prst="ellipse">
            <a:avLst/>
          </a:prstGeom>
          <a:solidFill>
            <a:srgbClr val="FFF1F2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94960" y="4059936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64550"/>
                </a:solidFill>
              </a:rPr>
              <a:t>URG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4526280" y="48920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37083"/>
                </a:solidFill>
              </a:rPr>
              <a:t>Muchas conexiones = complejidad</a:t>
            </a:r>
            <a:endParaRPr lang="en-US" sz="1020" dirty="0"/>
          </a:p>
        </p:txBody>
      </p:sp>
      <p:sp>
        <p:nvSpPr>
          <p:cNvPr id="29" name="Shape 26"/>
          <p:cNvSpPr/>
          <p:nvPr/>
        </p:nvSpPr>
        <p:spPr>
          <a:xfrm>
            <a:off x="7452360" y="1143000"/>
            <a:ext cx="3383280" cy="42976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9DDB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818120" y="14173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76C8"/>
                </a:solidFill>
              </a:rPr>
              <a:t>Modelo de plataforma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8238744" y="2249424"/>
            <a:ext cx="1069848" cy="1069848"/>
          </a:xfrm>
          <a:prstGeom prst="line">
            <a:avLst/>
          </a:prstGeom>
          <a:noFill/>
          <a:ln w="16510">
            <a:solidFill>
              <a:srgbClr val="8EC3E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113264" y="2249424"/>
            <a:ext cx="-804672" cy="1069848"/>
          </a:xfrm>
          <a:prstGeom prst="line">
            <a:avLst/>
          </a:prstGeom>
          <a:noFill/>
          <a:ln w="16510">
            <a:solidFill>
              <a:srgbClr val="8EC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238744" y="4123944"/>
            <a:ext cx="1069848" cy="-804672"/>
          </a:xfrm>
          <a:prstGeom prst="line">
            <a:avLst/>
          </a:prstGeom>
          <a:noFill/>
          <a:ln w="16510">
            <a:solidFill>
              <a:srgbClr val="8EC3E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0113264" y="4123944"/>
            <a:ext cx="-804672" cy="-804672"/>
          </a:xfrm>
          <a:prstGeom prst="line">
            <a:avLst/>
          </a:prstGeom>
          <a:noFill/>
          <a:ln w="16510">
            <a:solidFill>
              <a:srgbClr val="8EC3E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869680" y="2880360"/>
            <a:ext cx="868680" cy="868680"/>
          </a:xfrm>
          <a:prstGeom prst="ellipse">
            <a:avLst/>
          </a:prstGeom>
          <a:solidFill>
            <a:srgbClr val="0B214A"/>
          </a:solidFill>
          <a:ln w="12700">
            <a:solidFill>
              <a:srgbClr val="0B214A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869680" y="3163824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HD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7955280" y="1965960"/>
            <a:ext cx="566928" cy="566928"/>
          </a:xfrm>
          <a:prstGeom prst="ellipse">
            <a:avLst/>
          </a:prstGeom>
          <a:solidFill>
            <a:srgbClr val="EAF4FF"/>
          </a:solidFill>
          <a:ln w="12700">
            <a:solidFill>
              <a:srgbClr val="1276C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955280" y="2157984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276C8"/>
                </a:solidFill>
              </a:rPr>
              <a:t>HIS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9829800" y="1965960"/>
            <a:ext cx="566928" cy="566928"/>
          </a:xfrm>
          <a:prstGeom prst="ellipse">
            <a:avLst/>
          </a:prstGeom>
          <a:solidFill>
            <a:srgbClr val="EAF4FF"/>
          </a:solidFill>
          <a:ln w="12700">
            <a:solidFill>
              <a:srgbClr val="1276C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829800" y="2157984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276C8"/>
                </a:solidFill>
              </a:rPr>
              <a:t>SAA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7955280" y="3840480"/>
            <a:ext cx="566928" cy="566928"/>
          </a:xfrm>
          <a:prstGeom prst="ellipse">
            <a:avLst/>
          </a:prstGeom>
          <a:solidFill>
            <a:srgbClr val="EAF4FF"/>
          </a:solidFill>
          <a:ln w="12700">
            <a:solidFill>
              <a:srgbClr val="1276C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955280" y="4032504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276C8"/>
                </a:solidFill>
              </a:rPr>
              <a:t>LAB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9829800" y="3840480"/>
            <a:ext cx="566928" cy="566928"/>
          </a:xfrm>
          <a:prstGeom prst="ellipse">
            <a:avLst/>
          </a:prstGeom>
          <a:solidFill>
            <a:srgbClr val="EAF4FF"/>
          </a:solidFill>
          <a:ln w="12700">
            <a:solidFill>
              <a:srgbClr val="1276C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829800" y="4032504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276C8"/>
                </a:solidFill>
              </a:rPr>
              <a:t>RAD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7909560" y="4892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37083"/>
                </a:solidFill>
              </a:rPr>
              <a:t>Un canal común = escalabilidad</a:t>
            </a:r>
            <a:endParaRPr lang="en-US" sz="1020" dirty="0"/>
          </a:p>
        </p:txBody>
      </p:sp>
      <p:sp>
        <p:nvSpPr>
          <p:cNvPr id="46" name="Shape 43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7E1E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94360" y="6519672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3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sistemas interoperados y decisión de arquitectura, p. 17.</a:t>
            </a:r>
            <a:endParaRPr lang="en-US" sz="720" dirty="0"/>
          </a:p>
        </p:txBody>
      </p:sp>
      <p:sp>
        <p:nvSpPr>
          <p:cNvPr id="48" name="Text 45"/>
          <p:cNvSpPr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76C8"/>
                </a:solidFill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21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Beneficios esperados del hospital digital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0467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37083"/>
                </a:solidFill>
              </a:rPr>
              <a:t>Los beneficios se expresan en atención, gestión, seguridad y continuidad clínica.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982712" y="1033272"/>
            <a:ext cx="3328416" cy="4791456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</p:sp>
      <p:pic>
        <p:nvPicPr>
          <p:cNvPr id="5" name="Image 0" descr="/mnt/data/ai1_pages/page_20.png">    </p:cNvPr>
          <p:cNvPicPr>
            <a:picLocks noChangeAspect="1"/>
          </p:cNvPicPr>
          <p:nvPr/>
        </p:nvPicPr>
        <p:blipFill>
          <a:blip r:embed="rId1"/>
          <a:srcRect l="5204" r="5204" t="0" b="0"/>
          <a:stretch/>
        </p:blipFill>
        <p:spPr>
          <a:xfrm>
            <a:off x="8001000" y="1051560"/>
            <a:ext cx="329184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01000" y="5477256"/>
            <a:ext cx="3291840" cy="329184"/>
          </a:xfrm>
          <a:prstGeom prst="rect">
            <a:avLst/>
          </a:prstGeom>
          <a:solidFill>
            <a:srgbClr val="0B214A">
              <a:alpha val="95000"/>
            </a:srgbClr>
          </a:solidFill>
          <a:ln w="12700">
            <a:solidFill>
              <a:srgbClr val="0B214A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74152" y="5559552"/>
            <a:ext cx="3145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Página 20: beneficios</a:t>
            </a:r>
            <a:endParaRPr lang="en-US" sz="780" dirty="0"/>
          </a:p>
        </p:txBody>
      </p:sp>
      <p:sp>
        <p:nvSpPr>
          <p:cNvPr id="8" name="Shape 5"/>
          <p:cNvSpPr/>
          <p:nvPr/>
        </p:nvSpPr>
        <p:spPr>
          <a:xfrm>
            <a:off x="777240" y="1161288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41832" y="1316736"/>
            <a:ext cx="219456" cy="109728"/>
          </a:xfrm>
          <a:prstGeom prst="rect">
            <a:avLst/>
          </a:prstGeom>
          <a:solidFill>
            <a:srgbClr val="1276C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850392" y="1271016"/>
            <a:ext cx="301752" cy="301752"/>
          </a:xfrm>
          <a:prstGeom prst="ellipse">
            <a:avLst/>
          </a:prstGeom>
          <a:solidFill>
            <a:srgbClr val="1276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25880" y="127101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14A"/>
                </a:solidFill>
              </a:rPr>
              <a:t>Agilidad en atención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337560" y="127101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7083"/>
                </a:solidFill>
              </a:rPr>
              <a:t>Acceso más rápido a informes y datos del paciente.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77240" y="196596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41832" y="2121408"/>
            <a:ext cx="219456" cy="109728"/>
          </a:xfrm>
          <a:prstGeom prst="rect">
            <a:avLst/>
          </a:prstGeom>
          <a:solidFill>
            <a:srgbClr val="1276C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50392" y="2075688"/>
            <a:ext cx="301752" cy="301752"/>
          </a:xfrm>
          <a:prstGeom prst="ellipse">
            <a:avLst/>
          </a:prstGeom>
          <a:solidFill>
            <a:srgbClr val="17B8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325880" y="207568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14A"/>
                </a:solidFill>
              </a:rPr>
              <a:t>Gestión hospitalaria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337560" y="207568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7083"/>
                </a:solidFill>
              </a:rPr>
              <a:t>Menos espacio físico, menos búsqueda manual y mejores estadísticas.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77240" y="2770632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41832" y="2926080"/>
            <a:ext cx="219456" cy="109728"/>
          </a:xfrm>
          <a:prstGeom prst="rect">
            <a:avLst/>
          </a:prstGeom>
          <a:solidFill>
            <a:srgbClr val="1276C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850392" y="2880360"/>
            <a:ext cx="301752" cy="301752"/>
          </a:xfrm>
          <a:prstGeom prst="ellipse">
            <a:avLst/>
          </a:prstGeom>
          <a:solidFill>
            <a:srgbClr val="E984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325880" y="288036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14A"/>
                </a:solidFill>
              </a:rPr>
              <a:t>Centralización clínica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337560" y="28803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7083"/>
                </a:solidFill>
              </a:rPr>
              <a:t>Registros completos e históricos en un solo canal.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77240" y="3575304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41832" y="3730752"/>
            <a:ext cx="219456" cy="109728"/>
          </a:xfrm>
          <a:prstGeom prst="rect">
            <a:avLst/>
          </a:prstGeom>
          <a:solidFill>
            <a:srgbClr val="1276C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50392" y="3685032"/>
            <a:ext cx="301752" cy="301752"/>
          </a:xfrm>
          <a:prstGeom prst="ellipse">
            <a:avLst/>
          </a:prstGeom>
          <a:solidFill>
            <a:srgbClr val="D645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325880" y="368503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14A"/>
                </a:solidFill>
              </a:rPr>
              <a:t>Continuidad 24/7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337560" y="368503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7083"/>
                </a:solidFill>
              </a:rPr>
              <a:t>Urgencias puede consultar información aun fuera del horario de Archivo.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77240" y="4379976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41832" y="4535424"/>
            <a:ext cx="219456" cy="109728"/>
          </a:xfrm>
          <a:prstGeom prst="rect">
            <a:avLst/>
          </a:prstGeom>
          <a:solidFill>
            <a:srgbClr val="1276C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0392" y="4489704"/>
            <a:ext cx="301752" cy="301752"/>
          </a:xfrm>
          <a:prstGeom prst="ellipse">
            <a:avLst/>
          </a:prstGeom>
          <a:solidFill>
            <a:srgbClr val="66A5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325880" y="448970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14A"/>
                </a:solidFill>
              </a:rPr>
              <a:t>Toma de decisiones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3337560" y="44897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7083"/>
                </a:solidFill>
              </a:rPr>
              <a:t>Médicos informados, menos duplicación de estudios y reducción de errores.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868680" y="5394960"/>
            <a:ext cx="6583680" cy="594360"/>
          </a:xfrm>
          <a:prstGeom prst="roundRect">
            <a:avLst>
              <a:gd name="adj" fmla="val 12308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9E6F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68680" y="5394960"/>
            <a:ext cx="64008" cy="594360"/>
          </a:xfrm>
          <a:prstGeom prst="rect">
            <a:avLst/>
          </a:prstGeom>
          <a:solidFill>
            <a:srgbClr val="1276C8"/>
          </a:solidFill>
          <a:ln w="12700">
            <a:solidFill>
              <a:srgbClr val="1276C8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69848" y="5559552"/>
            <a:ext cx="62636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Frase para discutir: “La digitalización no es una meta deseable solamente; puede ser una necesidad operacional en medicina.”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7E1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94360" y="6519672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3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beneficios esperados y entrevistas, pp. 19–21.</a:t>
            </a:r>
            <a:endParaRPr lang="en-US" sz="720" dirty="0"/>
          </a:p>
        </p:txBody>
      </p:sp>
      <p:sp>
        <p:nvSpPr>
          <p:cNvPr id="38" name="Text 35"/>
          <p:cNvSpPr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76C8"/>
                </a:solidFill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21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Actividad práctica: mapear un hospital tradicional → digital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0467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37083"/>
                </a:solidFill>
              </a:rPr>
              <a:t>Trabajo en grupos para convertir el caso en una propuesta operativa.</a:t>
            </a:r>
            <a:endParaRPr lang="en-US" sz="1150" dirty="0"/>
          </a:p>
        </p:txBody>
      </p:sp>
      <p:pic>
        <p:nvPicPr>
          <p:cNvPr id="4" name="Image 0" descr="/mnt/data/a_wide_cinematic_modern_office_lab_education_set.png">    </p:cNvPr>
          <p:cNvPicPr>
            <a:picLocks noChangeAspect="1"/>
          </p:cNvPicPr>
          <p:nvPr/>
        </p:nvPicPr>
        <p:blipFill>
          <a:blip r:embed="rId1"/>
          <a:srcRect l="5842" r="5842" t="0" b="0"/>
          <a:stretch/>
        </p:blipFill>
        <p:spPr>
          <a:xfrm>
            <a:off x="7040880" y="731520"/>
            <a:ext cx="4663440" cy="2971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1124712"/>
            <a:ext cx="5715000" cy="557784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7EAD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32688" y="1234440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66A53D"/>
                </a:solidFill>
              </a:rPr>
              <a:t>1. Diagnóstico</a:t>
            </a:r>
            <a:endParaRPr lang="en-US" sz="1120" dirty="0"/>
          </a:p>
        </p:txBody>
      </p:sp>
      <p:sp>
        <p:nvSpPr>
          <p:cNvPr id="7" name="Text 4"/>
          <p:cNvSpPr/>
          <p:nvPr/>
        </p:nvSpPr>
        <p:spPr>
          <a:xfrm>
            <a:off x="2468880" y="1216152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72033"/>
                </a:solidFill>
              </a:rPr>
              <a:t>Liste 5 problemas del hospital tradicional: papel, demoras, sistemas aislados, duplicación, métricas.</a:t>
            </a:r>
            <a:endParaRPr lang="en-US" sz="910" dirty="0"/>
          </a:p>
        </p:txBody>
      </p:sp>
      <p:sp>
        <p:nvSpPr>
          <p:cNvPr id="8" name="Shape 5"/>
          <p:cNvSpPr/>
          <p:nvPr/>
        </p:nvSpPr>
        <p:spPr>
          <a:xfrm>
            <a:off x="731520" y="1883664"/>
            <a:ext cx="5715000" cy="557784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7EA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2688" y="1993392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66A53D"/>
                </a:solidFill>
              </a:rPr>
              <a:t>2. Mapa de datos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2468880" y="1975104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72033"/>
                </a:solidFill>
              </a:rPr>
              <a:t>Identifique fuentes: admisión, HIS, laboratorio, imagen, urgencias, archivo físico.</a:t>
            </a:r>
            <a:endParaRPr lang="en-US" sz="910" dirty="0"/>
          </a:p>
        </p:txBody>
      </p:sp>
      <p:sp>
        <p:nvSpPr>
          <p:cNvPr id="11" name="Shape 8"/>
          <p:cNvSpPr/>
          <p:nvPr/>
        </p:nvSpPr>
        <p:spPr>
          <a:xfrm>
            <a:off x="731520" y="2642616"/>
            <a:ext cx="5715000" cy="557784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7EA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2688" y="2752344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66A53D"/>
                </a:solidFill>
              </a:rPr>
              <a:t>3. Plataforma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2468880" y="2734056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72033"/>
                </a:solidFill>
              </a:rPr>
              <a:t>Diseñe un canal común: visor clínico, gestor documental, estándares, seguridad y roles.</a:t>
            </a:r>
            <a:endParaRPr lang="en-US" sz="910" dirty="0"/>
          </a:p>
        </p:txBody>
      </p:sp>
      <p:sp>
        <p:nvSpPr>
          <p:cNvPr id="14" name="Shape 11"/>
          <p:cNvSpPr/>
          <p:nvPr/>
        </p:nvSpPr>
        <p:spPr>
          <a:xfrm>
            <a:off x="731520" y="3401568"/>
            <a:ext cx="5715000" cy="557784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7EAD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2688" y="3511296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66A53D"/>
                </a:solidFill>
              </a:rPr>
              <a:t>4. Indicadores</a:t>
            </a:r>
            <a:endParaRPr lang="en-US" sz="1120" dirty="0"/>
          </a:p>
        </p:txBody>
      </p:sp>
      <p:sp>
        <p:nvSpPr>
          <p:cNvPr id="16" name="Text 13"/>
          <p:cNvSpPr/>
          <p:nvPr/>
        </p:nvSpPr>
        <p:spPr>
          <a:xfrm>
            <a:off x="2468880" y="3493008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72033"/>
                </a:solidFill>
              </a:rPr>
              <a:t>Defina métricas: tiempo de acceso, documentos disponibles, errores, satisfacción, uso del visor.</a:t>
            </a:r>
            <a:endParaRPr lang="en-US" sz="910" dirty="0"/>
          </a:p>
        </p:txBody>
      </p:sp>
      <p:sp>
        <p:nvSpPr>
          <p:cNvPr id="17" name="Shape 14"/>
          <p:cNvSpPr/>
          <p:nvPr/>
        </p:nvSpPr>
        <p:spPr>
          <a:xfrm>
            <a:off x="731520" y="4160520"/>
            <a:ext cx="5715000" cy="557784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7EAD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32688" y="4270248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66A53D"/>
                </a:solidFill>
              </a:rPr>
              <a:t>5. Cambio</a:t>
            </a:r>
            <a:endParaRPr lang="en-US" sz="1120" dirty="0"/>
          </a:p>
        </p:txBody>
      </p:sp>
      <p:sp>
        <p:nvSpPr>
          <p:cNvPr id="19" name="Text 16"/>
          <p:cNvSpPr/>
          <p:nvPr/>
        </p:nvSpPr>
        <p:spPr>
          <a:xfrm>
            <a:off x="2468880" y="4251960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72033"/>
                </a:solidFill>
              </a:rPr>
              <a:t>Proponga capacitación, comunicación, adopción clínica y reducción de resistencia.</a:t>
            </a:r>
            <a:endParaRPr lang="en-US" sz="910" dirty="0"/>
          </a:p>
        </p:txBody>
      </p:sp>
      <p:sp>
        <p:nvSpPr>
          <p:cNvPr id="20" name="Shape 17"/>
          <p:cNvSpPr/>
          <p:nvPr/>
        </p:nvSpPr>
        <p:spPr>
          <a:xfrm>
            <a:off x="7086600" y="3977640"/>
            <a:ext cx="45720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E8D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60920" y="42519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14A"/>
                </a:solidFill>
              </a:rPr>
              <a:t>Producto del grupo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360920" y="460857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</a:rPr>
              <a:t>Una diapositiva con: mapa “antes/después”, arquitectura mínima, 3 beneficios y 3 riesgos de adopción.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7E1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6519672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3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lecciones aprendidas sobre gestión del cambio, costos e integración total, pp. 23–24.</a:t>
            </a:r>
            <a:endParaRPr lang="en-US" sz="720" dirty="0"/>
          </a:p>
        </p:txBody>
      </p:sp>
      <p:sp>
        <p:nvSpPr>
          <p:cNvPr id="25" name="Text 22"/>
          <p:cNvSpPr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76C8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Curso: Fundamentos de IA y Transformación Digital en Salud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Transformación digital en salud — Hospital tradicional a hospital digital</dc:title>
  <dc:subject>Transformación digital en salud</dc:subject>
  <dc:creator>OpenAI</dc:creator>
  <cp:lastModifiedBy>OpenAI</cp:lastModifiedBy>
  <cp:revision>1</cp:revision>
  <dcterms:created xsi:type="dcterms:W3CDTF">2026-09-26T18:18:31Z</dcterms:created>
  <dcterms:modified xsi:type="dcterms:W3CDTF">2026-09-26T18:18:31Z</dcterms:modified>
</cp:coreProperties>
</file>