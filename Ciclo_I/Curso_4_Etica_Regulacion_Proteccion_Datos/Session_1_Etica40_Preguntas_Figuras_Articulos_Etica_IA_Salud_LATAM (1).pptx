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E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0E2642"/>
                </a:solidFill>
                <a:latin typeface="Aptos"/>
              </a:rPr>
              <a:t>40 preguntas visuales · Ética y Gobernanza de IA en Salud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789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569B0"/>
                </a:solidFill>
                <a:latin typeface="Aptos"/>
              </a:rPr>
              <a:t>Figuras y tablas de los artículos de la sesión · pregunta + respuesta + relevancia clínica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700" b="1">
                <a:solidFill>
                  <a:srgbClr val="0E2642"/>
                </a:solidFill>
                <a:latin typeface="Aptos"/>
              </a:rPr>
              <a:t>Aprender a leer evidencia, no solo a memorizar principios.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743200"/>
            <a:ext cx="3108960" cy="1325880"/>
          </a:xfrm>
          <a:prstGeom prst="roundRect">
            <a:avLst/>
          </a:prstGeom>
          <a:solidFill>
            <a:srgbClr val="F6F9FB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834640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1">
                <a:solidFill>
                  <a:srgbClr val="2569B0"/>
                </a:solidFill>
                <a:latin typeface="Aptos"/>
              </a:rPr>
              <a:t>40 PREGUNTAS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136392"/>
            <a:ext cx="2834640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63039"/>
                </a:solidFill>
                <a:latin typeface="Aptos"/>
              </a:rPr>
              <a:t>10 por cada artículo principal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2743200"/>
            <a:ext cx="3108960" cy="1325880"/>
          </a:xfrm>
          <a:prstGeom prst="roundRect">
            <a:avLst/>
          </a:prstGeom>
          <a:solidFill>
            <a:srgbClr val="F6F9FB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9160" y="2834640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1">
                <a:solidFill>
                  <a:srgbClr val="1791A5"/>
                </a:solidFill>
                <a:latin typeface="Aptos"/>
              </a:rPr>
              <a:t>FORMATO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3136392"/>
            <a:ext cx="2834640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63039"/>
                </a:solidFill>
                <a:latin typeface="Aptos"/>
              </a:rPr>
              <a:t>Figura → pregunta → respuesta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2743200"/>
            <a:ext cx="3108960" cy="1325880"/>
          </a:xfrm>
          <a:prstGeom prst="roundRect">
            <a:avLst/>
          </a:prstGeom>
          <a:solidFill>
            <a:srgbClr val="F6F9FB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2834640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1">
                <a:solidFill>
                  <a:srgbClr val="674C9D"/>
                </a:solidFill>
                <a:latin typeface="Aptos"/>
              </a:rPr>
              <a:t>NIVEL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3136392"/>
            <a:ext cx="2834640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63039"/>
                </a:solidFill>
                <a:latin typeface="Aptos"/>
              </a:rPr>
              <a:t>Clínico + ético + regulatorio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80060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B8373F"/>
                </a:solidFill>
                <a:latin typeface="Aptos"/>
              </a:rPr>
              <a:t>Úselo como discusión oral, quiz, examen o journal club.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5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0E2642"/>
                </a:solidFill>
                <a:latin typeface="Aptos"/>
              </a:rPr>
              <a:t>Pregunta 1 · Alegre et al. · Salud digital LATAM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789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569B0"/>
                </a:solidFill>
                <a:latin typeface="Aptos"/>
              </a:rPr>
              <a:t>Observe primero la figura / tabla. Después responda.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256032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2569B0"/>
                </a:solidFill>
                <a:latin typeface="Aptos"/>
              </a:rPr>
              <a:t>1</a:t>
            </a:r>
          </a:p>
        </p:txBody>
      </p:sp>
      <p:pic>
        <p:nvPicPr>
          <p:cNvPr id="6" name="Picture 5" descr="paho_tabl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83461"/>
            <a:ext cx="5623560" cy="3793997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355080" y="1170432"/>
            <a:ext cx="5257800" cy="1572768"/>
          </a:xfrm>
          <a:prstGeom prst="roundRect">
            <a:avLst/>
          </a:prstGeom>
          <a:solidFill>
            <a:srgbClr val="F6F9FB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261872"/>
            <a:ext cx="4983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1">
                <a:solidFill>
                  <a:srgbClr val="2569B0"/>
                </a:solidFill>
                <a:latin typeface="Aptos"/>
              </a:rPr>
              <a:t>PREGUNTA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563624"/>
            <a:ext cx="4983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263039"/>
                </a:solidFill>
                <a:latin typeface="Aptos"/>
              </a:rPr>
              <a:t>La tabla muestra que Ecuador registra telesalud desde 2010 y HCE desde 2001. ¿Qué NO puede concluirse únicamente a partir de esta tabla?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2944368"/>
            <a:ext cx="5257800" cy="1417320"/>
          </a:xfrm>
          <a:prstGeom prst="roundRect">
            <a:avLst/>
          </a:prstGeom>
          <a:solidFill>
            <a:srgbClr val="F6F9FB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3035808"/>
            <a:ext cx="4983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1">
                <a:solidFill>
                  <a:srgbClr val="2A885B"/>
                </a:solidFill>
                <a:latin typeface="Aptos"/>
              </a:rPr>
              <a:t>RESPUESTA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3337560"/>
            <a:ext cx="4983480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70" b="0">
                <a:solidFill>
                  <a:srgbClr val="263039"/>
                </a:solidFill>
                <a:latin typeface="Aptos"/>
              </a:rPr>
              <a:t>No puede concluirse que Ecuador tenga mayor calidad, interoperabilidad o protección efectiva de datos que otro país.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4590288"/>
            <a:ext cx="5257800" cy="1078992"/>
          </a:xfrm>
          <a:prstGeom prst="roundRect">
            <a:avLst/>
          </a:prstGeom>
          <a:solidFill>
            <a:srgbClr val="F6F9FB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4681727"/>
            <a:ext cx="4983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1">
                <a:solidFill>
                  <a:srgbClr val="E5862B"/>
                </a:solidFill>
                <a:latin typeface="Aptos"/>
              </a:rPr>
              <a:t>POR QUÉ IMPORTA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4983479"/>
            <a:ext cx="498348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63039"/>
                </a:solidFill>
                <a:latin typeface="Aptos"/>
              </a:rPr>
              <a:t>La existencia/año de una norma no mide implementación, cumplimiento ni resultados clínicos.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73952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>
                <a:solidFill>
                  <a:srgbClr val="646E78"/>
                </a:solidFill>
                <a:latin typeface="Aptos"/>
              </a:rPr>
              <a:t>Rev Panam Salud Publica. 2024;48:e40 · Cuadro 1, p.3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5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0E2642"/>
                </a:solidFill>
                <a:latin typeface="Aptos"/>
              </a:rPr>
              <a:t>Pregunta 2 · Alegre et al. · Salud digital LATAM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789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569B0"/>
                </a:solidFill>
                <a:latin typeface="Aptos"/>
              </a:rPr>
              <a:t>Observe primero la figura / tabla. Después responda.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256032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2569B0"/>
                </a:solidFill>
                <a:latin typeface="Aptos"/>
              </a:rPr>
              <a:t>2</a:t>
            </a:r>
          </a:p>
        </p:txBody>
      </p:sp>
      <p:pic>
        <p:nvPicPr>
          <p:cNvPr id="6" name="Picture 5" descr="paho_tabl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83461"/>
            <a:ext cx="5623560" cy="3793997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355080" y="1170432"/>
            <a:ext cx="5257800" cy="1572768"/>
          </a:xfrm>
          <a:prstGeom prst="roundRect">
            <a:avLst/>
          </a:prstGeom>
          <a:solidFill>
            <a:srgbClr val="F6F9FB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261872"/>
            <a:ext cx="4983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1">
                <a:solidFill>
                  <a:srgbClr val="2569B0"/>
                </a:solidFill>
                <a:latin typeface="Aptos"/>
              </a:rPr>
              <a:t>PREGUNTA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563624"/>
            <a:ext cx="4983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263039"/>
                </a:solidFill>
                <a:latin typeface="Aptos"/>
              </a:rPr>
              <a:t>¿Qué país aparece como el más temprano en regulación de telesalud dentro de la tabla?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2944368"/>
            <a:ext cx="5257800" cy="1417320"/>
          </a:xfrm>
          <a:prstGeom prst="roundRect">
            <a:avLst/>
          </a:prstGeom>
          <a:solidFill>
            <a:srgbClr val="F6F9FB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3035808"/>
            <a:ext cx="4983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1">
                <a:solidFill>
                  <a:srgbClr val="2A885B"/>
                </a:solidFill>
                <a:latin typeface="Aptos"/>
              </a:rPr>
              <a:t>RESPUESTA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3337560"/>
            <a:ext cx="4983480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70" b="0">
                <a:solidFill>
                  <a:srgbClr val="263039"/>
                </a:solidFill>
                <a:latin typeface="Aptos"/>
              </a:rPr>
              <a:t>Cuba, con 1970.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4590288"/>
            <a:ext cx="5257800" cy="1078992"/>
          </a:xfrm>
          <a:prstGeom prst="roundRect">
            <a:avLst/>
          </a:prstGeom>
          <a:solidFill>
            <a:srgbClr val="F6F9FB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4681727"/>
            <a:ext cx="4983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1">
                <a:solidFill>
                  <a:srgbClr val="E5862B"/>
                </a:solidFill>
                <a:latin typeface="Aptos"/>
              </a:rPr>
              <a:t>POR QUÉ IMPORTA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4983479"/>
            <a:ext cx="498348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63039"/>
                </a:solidFill>
                <a:latin typeface="Aptos"/>
              </a:rPr>
              <a:t>Permite discutir que 'telesalud' precede a la videollamada moderna y que el concepto regulatorio puede ser histórico.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73952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>
                <a:solidFill>
                  <a:srgbClr val="646E78"/>
                </a:solidFill>
                <a:latin typeface="Aptos"/>
              </a:rPr>
              <a:t>Rev Panam Salud Publica. 2024;48:e40 · Cuadro 1, p.3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5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0E2642"/>
                </a:solidFill>
                <a:latin typeface="Aptos"/>
              </a:rPr>
              <a:t>Pregunta 3 · Alegre et al. · Salud digital LATAM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789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569B0"/>
                </a:solidFill>
                <a:latin typeface="Aptos"/>
              </a:rPr>
              <a:t>Observe primero la figura / tabla. Después responda.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256032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2569B0"/>
                </a:solidFill>
                <a:latin typeface="Aptos"/>
              </a:rPr>
              <a:t>3</a:t>
            </a:r>
          </a:p>
        </p:txBody>
      </p:sp>
      <p:pic>
        <p:nvPicPr>
          <p:cNvPr id="6" name="Picture 5" descr="paho_tabl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83461"/>
            <a:ext cx="5623560" cy="3793997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355080" y="1170432"/>
            <a:ext cx="5257800" cy="1572768"/>
          </a:xfrm>
          <a:prstGeom prst="roundRect">
            <a:avLst/>
          </a:prstGeom>
          <a:solidFill>
            <a:srgbClr val="F6F9FB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261872"/>
            <a:ext cx="4983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1">
                <a:solidFill>
                  <a:srgbClr val="2569B0"/>
                </a:solidFill>
                <a:latin typeface="Aptos"/>
              </a:rPr>
              <a:t>PREGUNTA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563624"/>
            <a:ext cx="4983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263039"/>
                </a:solidFill>
                <a:latin typeface="Aptos"/>
              </a:rPr>
              <a:t>¿Qué diferencia metodológica existe entre 'sin información disponible en medios oficiales digitales' y 'sin legislación'?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2944368"/>
            <a:ext cx="5257800" cy="1417320"/>
          </a:xfrm>
          <a:prstGeom prst="roundRect">
            <a:avLst/>
          </a:prstGeom>
          <a:solidFill>
            <a:srgbClr val="F6F9FB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3035808"/>
            <a:ext cx="4983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1">
                <a:solidFill>
                  <a:srgbClr val="2A885B"/>
                </a:solidFill>
                <a:latin typeface="Aptos"/>
              </a:rPr>
              <a:t>RESPUESTA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3337560"/>
            <a:ext cx="4983480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70" b="0">
                <a:solidFill>
                  <a:srgbClr val="263039"/>
                </a:solidFill>
                <a:latin typeface="Aptos"/>
              </a:rPr>
              <a:t>No son equivalentes. El estudio solo informa que no localizó información oficial digital; no demuestra ausencia absoluta de normativa.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4590288"/>
            <a:ext cx="5257800" cy="1078992"/>
          </a:xfrm>
          <a:prstGeom prst="roundRect">
            <a:avLst/>
          </a:prstGeom>
          <a:solidFill>
            <a:srgbClr val="F6F9FB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4681727"/>
            <a:ext cx="4983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1">
                <a:solidFill>
                  <a:srgbClr val="E5862B"/>
                </a:solidFill>
                <a:latin typeface="Aptos"/>
              </a:rPr>
              <a:t>POR QUÉ IMPORTA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4983479"/>
            <a:ext cx="498348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63039"/>
                </a:solidFill>
                <a:latin typeface="Aptos"/>
              </a:rPr>
              <a:t>Evita convertir ausencia de evidencia recuperada en evidencia de ausencia.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73952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>
                <a:solidFill>
                  <a:srgbClr val="646E78"/>
                </a:solidFill>
                <a:latin typeface="Aptos"/>
              </a:rPr>
              <a:t>Rev Panam Salud Publica. 2024;48:e40 · Cuadro 1, p.3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5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0E2642"/>
                </a:solidFill>
                <a:latin typeface="Aptos"/>
              </a:rPr>
              <a:t>Pregunta 4 · Alegre et al. · Salud digital LATAM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789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569B0"/>
                </a:solidFill>
                <a:latin typeface="Aptos"/>
              </a:rPr>
              <a:t>Observe primero la figura / tabla. Después responda.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256032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2569B0"/>
                </a:solidFill>
                <a:latin typeface="Aptos"/>
              </a:rPr>
              <a:t>4</a:t>
            </a:r>
          </a:p>
        </p:txBody>
      </p:sp>
      <p:pic>
        <p:nvPicPr>
          <p:cNvPr id="6" name="Picture 5" descr="paho_tabl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83461"/>
            <a:ext cx="5623560" cy="3793997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355080" y="1170432"/>
            <a:ext cx="5257800" cy="1572768"/>
          </a:xfrm>
          <a:prstGeom prst="roundRect">
            <a:avLst/>
          </a:prstGeom>
          <a:solidFill>
            <a:srgbClr val="F6F9FB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261872"/>
            <a:ext cx="4983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1">
                <a:solidFill>
                  <a:srgbClr val="2569B0"/>
                </a:solidFill>
                <a:latin typeface="Aptos"/>
              </a:rPr>
              <a:t>PREGUNTA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563624"/>
            <a:ext cx="4983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263039"/>
                </a:solidFill>
                <a:latin typeface="Aptos"/>
              </a:rPr>
              <a:t>16 de 21 países tenían regulación de HCE y 19 de 21 de telesalud. ¿Cuál era la cobertura porcentual reportada?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2944368"/>
            <a:ext cx="5257800" cy="1417320"/>
          </a:xfrm>
          <a:prstGeom prst="roundRect">
            <a:avLst/>
          </a:prstGeom>
          <a:solidFill>
            <a:srgbClr val="F6F9FB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3035808"/>
            <a:ext cx="4983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1">
                <a:solidFill>
                  <a:srgbClr val="2A885B"/>
                </a:solidFill>
                <a:latin typeface="Aptos"/>
              </a:rPr>
              <a:t>RESPUESTA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3337560"/>
            <a:ext cx="4983480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70" b="0">
                <a:solidFill>
                  <a:srgbClr val="263039"/>
                </a:solidFill>
                <a:latin typeface="Aptos"/>
              </a:rPr>
              <a:t>HCE: 76.2%. Telesalud: 90.5%.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4590288"/>
            <a:ext cx="5257800" cy="1078992"/>
          </a:xfrm>
          <a:prstGeom prst="roundRect">
            <a:avLst/>
          </a:prstGeom>
          <a:solidFill>
            <a:srgbClr val="F6F9FB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4681727"/>
            <a:ext cx="4983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1">
                <a:solidFill>
                  <a:srgbClr val="E5862B"/>
                </a:solidFill>
                <a:latin typeface="Aptos"/>
              </a:rPr>
              <a:t>POR QUÉ IMPORTA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4983479"/>
            <a:ext cx="498348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63039"/>
                </a:solidFill>
                <a:latin typeface="Aptos"/>
              </a:rPr>
              <a:t>Obliga a leer el denominador y distingue adopción normativa de madurez digital.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73952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>
                <a:solidFill>
                  <a:srgbClr val="646E78"/>
                </a:solidFill>
                <a:latin typeface="Aptos"/>
              </a:rPr>
              <a:t>Rev Panam Salud Publica. 2024;48:e40 · Resultados, p.3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5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0E2642"/>
                </a:solidFill>
                <a:latin typeface="Aptos"/>
              </a:rPr>
              <a:t>Pregunta 5 · Alegre et al. · Salud digital LATAM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789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569B0"/>
                </a:solidFill>
                <a:latin typeface="Aptos"/>
              </a:rPr>
              <a:t>Observe primero la figura / tabla. Después responda.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256032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2569B0"/>
                </a:solidFill>
                <a:latin typeface="Aptos"/>
              </a:rPr>
              <a:t>5</a:t>
            </a:r>
          </a:p>
        </p:txBody>
      </p:sp>
      <p:pic>
        <p:nvPicPr>
          <p:cNvPr id="6" name="Picture 5" descr="paho_tabl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83461"/>
            <a:ext cx="5623560" cy="3793997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355080" y="1170432"/>
            <a:ext cx="5257800" cy="1572768"/>
          </a:xfrm>
          <a:prstGeom prst="roundRect">
            <a:avLst/>
          </a:prstGeom>
          <a:solidFill>
            <a:srgbClr val="F6F9FB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261872"/>
            <a:ext cx="4983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1">
                <a:solidFill>
                  <a:srgbClr val="2569B0"/>
                </a:solidFill>
                <a:latin typeface="Aptos"/>
              </a:rPr>
              <a:t>PREGUNTA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563624"/>
            <a:ext cx="4983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263039"/>
                </a:solidFill>
                <a:latin typeface="Aptos"/>
              </a:rPr>
              <a:t>¿Por qué sería incorrecto interpretar 90.5% de regulación de telesalud como 90.5% de acceso efectivo a telesalud?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2944368"/>
            <a:ext cx="5257800" cy="1417320"/>
          </a:xfrm>
          <a:prstGeom prst="roundRect">
            <a:avLst/>
          </a:prstGeom>
          <a:solidFill>
            <a:srgbClr val="F6F9FB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3035808"/>
            <a:ext cx="4983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1">
                <a:solidFill>
                  <a:srgbClr val="2A885B"/>
                </a:solidFill>
                <a:latin typeface="Aptos"/>
              </a:rPr>
              <a:t>RESPUESTA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3337560"/>
            <a:ext cx="4983480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70" b="0">
                <a:solidFill>
                  <a:srgbClr val="263039"/>
                </a:solidFill>
                <a:latin typeface="Aptos"/>
              </a:rPr>
              <a:t>Porque la variable medida es existencia de normativa, no cobertura, uso, calidad, conectividad ni acceso del paciente.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4590288"/>
            <a:ext cx="5257800" cy="1078992"/>
          </a:xfrm>
          <a:prstGeom prst="roundRect">
            <a:avLst/>
          </a:prstGeom>
          <a:solidFill>
            <a:srgbClr val="F6F9FB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4681727"/>
            <a:ext cx="4983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1">
                <a:solidFill>
                  <a:srgbClr val="E5862B"/>
                </a:solidFill>
                <a:latin typeface="Aptos"/>
              </a:rPr>
              <a:t>POR QUÉ IMPORTA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4983479"/>
            <a:ext cx="498348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63039"/>
                </a:solidFill>
                <a:latin typeface="Aptos"/>
              </a:rPr>
              <a:t>Es una diferencia esencial entre indicador jurídico e indicador sanitario.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73952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>
                <a:solidFill>
                  <a:srgbClr val="646E78"/>
                </a:solidFill>
                <a:latin typeface="Aptos"/>
              </a:rPr>
              <a:t>Rev Panam Salud Publica. 2024;48:e40 · Resultados, p.3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5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0E2642"/>
                </a:solidFill>
                <a:latin typeface="Aptos"/>
              </a:rPr>
              <a:t>Pregunta 6 · Alegre et al. · Confidencialidad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789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569B0"/>
                </a:solidFill>
                <a:latin typeface="Aptos"/>
              </a:rPr>
              <a:t>Observe primero la figura / tabla. Después responda.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256032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2569B0"/>
                </a:solidFill>
                <a:latin typeface="Aptos"/>
              </a:rPr>
              <a:t>6</a:t>
            </a:r>
          </a:p>
        </p:txBody>
      </p:sp>
      <p:pic>
        <p:nvPicPr>
          <p:cNvPr id="6" name="Picture 5" descr="paho_table2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0713" y="1143000"/>
            <a:ext cx="4287972" cy="5074919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355080" y="1170432"/>
            <a:ext cx="5257800" cy="1572768"/>
          </a:xfrm>
          <a:prstGeom prst="roundRect">
            <a:avLst/>
          </a:prstGeom>
          <a:solidFill>
            <a:srgbClr val="F6F9FB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261872"/>
            <a:ext cx="4983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1">
                <a:solidFill>
                  <a:srgbClr val="2569B0"/>
                </a:solidFill>
                <a:latin typeface="Aptos"/>
              </a:rPr>
              <a:t>PREGUNTA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563624"/>
            <a:ext cx="4983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263039"/>
                </a:solidFill>
                <a:latin typeface="Aptos"/>
              </a:rPr>
              <a:t>En la fila de Colombia, ¿qué condición aparece para conocer informes de la historia clínica?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2944368"/>
            <a:ext cx="5257800" cy="1417320"/>
          </a:xfrm>
          <a:prstGeom prst="roundRect">
            <a:avLst/>
          </a:prstGeom>
          <a:solidFill>
            <a:srgbClr val="F6F9FB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3035808"/>
            <a:ext cx="4983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1">
                <a:solidFill>
                  <a:srgbClr val="2A885B"/>
                </a:solidFill>
                <a:latin typeface="Aptos"/>
              </a:rPr>
              <a:t>RESPUESTA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3337560"/>
            <a:ext cx="4983480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70" b="0">
                <a:solidFill>
                  <a:srgbClr val="263039"/>
                </a:solidFill>
                <a:latin typeface="Aptos"/>
              </a:rPr>
              <a:t>Autorización del paciente, según el texto resumido en la tabla.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4590288"/>
            <a:ext cx="5257800" cy="1078992"/>
          </a:xfrm>
          <a:prstGeom prst="roundRect">
            <a:avLst/>
          </a:prstGeom>
          <a:solidFill>
            <a:srgbClr val="F6F9FB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4681727"/>
            <a:ext cx="4983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1">
                <a:solidFill>
                  <a:srgbClr val="E5862B"/>
                </a:solidFill>
                <a:latin typeface="Aptos"/>
              </a:rPr>
              <a:t>POR QUÉ IMPORTA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4983479"/>
            <a:ext cx="498348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63039"/>
                </a:solidFill>
                <a:latin typeface="Aptos"/>
              </a:rPr>
              <a:t>Conecta autonomía/confidencialidad con acceso a HCE.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73952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>
                <a:solidFill>
                  <a:srgbClr val="646E78"/>
                </a:solidFill>
                <a:latin typeface="Aptos"/>
              </a:rPr>
              <a:t>Rev Panam Salud Publica. 2024;48:e40 · Cuadro 2, p.4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5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0E2642"/>
                </a:solidFill>
                <a:latin typeface="Aptos"/>
              </a:rPr>
              <a:t>Pregunta 7 · Alegre et al. · Confidencialidad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789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569B0"/>
                </a:solidFill>
                <a:latin typeface="Aptos"/>
              </a:rPr>
              <a:t>Observe primero la figura / tabla. Después responda.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256032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2569B0"/>
                </a:solidFill>
                <a:latin typeface="Aptos"/>
              </a:rPr>
              <a:t>7</a:t>
            </a:r>
          </a:p>
        </p:txBody>
      </p:sp>
      <p:pic>
        <p:nvPicPr>
          <p:cNvPr id="6" name="Picture 5" descr="paho_table2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0713" y="1143000"/>
            <a:ext cx="4287972" cy="5074919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355080" y="1170432"/>
            <a:ext cx="5257800" cy="1572768"/>
          </a:xfrm>
          <a:prstGeom prst="roundRect">
            <a:avLst/>
          </a:prstGeom>
          <a:solidFill>
            <a:srgbClr val="F6F9FB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261872"/>
            <a:ext cx="4983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1">
                <a:solidFill>
                  <a:srgbClr val="2569B0"/>
                </a:solidFill>
                <a:latin typeface="Aptos"/>
              </a:rPr>
              <a:t>PREGUNTA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563624"/>
            <a:ext cx="4983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263039"/>
                </a:solidFill>
                <a:latin typeface="Aptos"/>
              </a:rPr>
              <a:t>¿Qué principio práctico ilustra Costa Rica al extender el deber de confidencialidad después de finalizar la relación con la base de datos?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2944368"/>
            <a:ext cx="5257800" cy="1417320"/>
          </a:xfrm>
          <a:prstGeom prst="roundRect">
            <a:avLst/>
          </a:prstGeom>
          <a:solidFill>
            <a:srgbClr val="F6F9FB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3035808"/>
            <a:ext cx="4983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1">
                <a:solidFill>
                  <a:srgbClr val="2A885B"/>
                </a:solidFill>
                <a:latin typeface="Aptos"/>
              </a:rPr>
              <a:t>RESPUESTA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3337560"/>
            <a:ext cx="4983480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70" b="0">
                <a:solidFill>
                  <a:srgbClr val="263039"/>
                </a:solidFill>
                <a:latin typeface="Aptos"/>
              </a:rPr>
              <a:t>Que la obligación de confidencialidad puede persistir más allá de la relación operativa inmediata.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4590288"/>
            <a:ext cx="5257800" cy="1078992"/>
          </a:xfrm>
          <a:prstGeom prst="roundRect">
            <a:avLst/>
          </a:prstGeom>
          <a:solidFill>
            <a:srgbClr val="F6F9FB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4681727"/>
            <a:ext cx="4983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1">
                <a:solidFill>
                  <a:srgbClr val="E5862B"/>
                </a:solidFill>
                <a:latin typeface="Aptos"/>
              </a:rPr>
              <a:t>POR QUÉ IMPORTA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4983479"/>
            <a:ext cx="498348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63039"/>
                </a:solidFill>
                <a:latin typeface="Aptos"/>
              </a:rPr>
              <a:t>Es relevante para ex-empleados, proveedores, proyectos de IA terminados y retención de datos.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73952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>
                <a:solidFill>
                  <a:srgbClr val="646E78"/>
                </a:solidFill>
                <a:latin typeface="Aptos"/>
              </a:rPr>
              <a:t>Rev Panam Salud Publica. 2024;48:e40 · Cuadro 2, p.4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5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0E2642"/>
                </a:solidFill>
                <a:latin typeface="Aptos"/>
              </a:rPr>
              <a:t>Pregunta 8 · Alegre et al. · Confidencialidad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789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569B0"/>
                </a:solidFill>
                <a:latin typeface="Aptos"/>
              </a:rPr>
              <a:t>Observe primero la figura / tabla. Después responda.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256032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2569B0"/>
                </a:solidFill>
                <a:latin typeface="Aptos"/>
              </a:rPr>
              <a:t>8</a:t>
            </a:r>
          </a:p>
        </p:txBody>
      </p:sp>
      <p:pic>
        <p:nvPicPr>
          <p:cNvPr id="6" name="Picture 5" descr="paho_table2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0713" y="1143000"/>
            <a:ext cx="4287972" cy="5074919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355080" y="1170432"/>
            <a:ext cx="5257800" cy="1572768"/>
          </a:xfrm>
          <a:prstGeom prst="roundRect">
            <a:avLst/>
          </a:prstGeom>
          <a:solidFill>
            <a:srgbClr val="F6F9FB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261872"/>
            <a:ext cx="4983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1">
                <a:solidFill>
                  <a:srgbClr val="2569B0"/>
                </a:solidFill>
                <a:latin typeface="Aptos"/>
              </a:rPr>
              <a:t>PREGUNTA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563624"/>
            <a:ext cx="4983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263039"/>
                </a:solidFill>
                <a:latin typeface="Aptos"/>
              </a:rPr>
              <a:t>La tabla distingue 'confidencialidad' de 'secreto profesional'. ¿Por qué importa esa separación en un sistema de IA?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2944368"/>
            <a:ext cx="5257800" cy="1417320"/>
          </a:xfrm>
          <a:prstGeom prst="roundRect">
            <a:avLst/>
          </a:prstGeom>
          <a:solidFill>
            <a:srgbClr val="F6F9FB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3035808"/>
            <a:ext cx="4983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1">
                <a:solidFill>
                  <a:srgbClr val="2A885B"/>
                </a:solidFill>
                <a:latin typeface="Aptos"/>
              </a:rPr>
              <a:t>RESPUESTA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3337560"/>
            <a:ext cx="4983480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70" b="0">
                <a:solidFill>
                  <a:srgbClr val="263039"/>
                </a:solidFill>
                <a:latin typeface="Aptos"/>
              </a:rPr>
              <a:t>Porque la protección del dato y el deber profesional son capas relacionadas pero no idénticas; pueden involucrar actores y obligaciones distintas.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4590288"/>
            <a:ext cx="5257800" cy="1078992"/>
          </a:xfrm>
          <a:prstGeom prst="roundRect">
            <a:avLst/>
          </a:prstGeom>
          <a:solidFill>
            <a:srgbClr val="F6F9FB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4681727"/>
            <a:ext cx="4983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1">
                <a:solidFill>
                  <a:srgbClr val="E5862B"/>
                </a:solidFill>
                <a:latin typeface="Aptos"/>
              </a:rPr>
              <a:t>POR QUÉ IMPORTA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4983479"/>
            <a:ext cx="498348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63039"/>
                </a:solidFill>
                <a:latin typeface="Aptos"/>
              </a:rPr>
              <a:t>Una plataforma puede ser técnicamente segura y aun así existir una violación profesional, o viceversa.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73952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>
                <a:solidFill>
                  <a:srgbClr val="646E78"/>
                </a:solidFill>
                <a:latin typeface="Aptos"/>
              </a:rPr>
              <a:t>Rev Panam Salud Publica. 2024;48:e40 · Cuadro 2, p.4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5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0E2642"/>
                </a:solidFill>
                <a:latin typeface="Aptos"/>
              </a:rPr>
              <a:t>Pregunta 9 · Alegre et al. · Confidencialidad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789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569B0"/>
                </a:solidFill>
                <a:latin typeface="Aptos"/>
              </a:rPr>
              <a:t>Observe primero la figura / tabla. Después responda.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256032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2569B0"/>
                </a:solidFill>
                <a:latin typeface="Aptos"/>
              </a:rPr>
              <a:t>9</a:t>
            </a:r>
          </a:p>
        </p:txBody>
      </p:sp>
      <p:pic>
        <p:nvPicPr>
          <p:cNvPr id="6" name="Picture 5" descr="paho_table2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957" y="1143000"/>
            <a:ext cx="5505484" cy="50749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355080" y="1170432"/>
            <a:ext cx="5257800" cy="1572768"/>
          </a:xfrm>
          <a:prstGeom prst="roundRect">
            <a:avLst/>
          </a:prstGeom>
          <a:solidFill>
            <a:srgbClr val="F6F9FB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261872"/>
            <a:ext cx="4983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1">
                <a:solidFill>
                  <a:srgbClr val="2569B0"/>
                </a:solidFill>
                <a:latin typeface="Aptos"/>
              </a:rPr>
              <a:t>PREGUNTA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563624"/>
            <a:ext cx="4983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263039"/>
                </a:solidFill>
                <a:latin typeface="Aptos"/>
              </a:rPr>
              <a:t>El artículo reporta confidencialidad específica en HCE en 9 países y en telesalud en 11. ¿Qué brecha señala esto?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2944368"/>
            <a:ext cx="5257800" cy="1417320"/>
          </a:xfrm>
          <a:prstGeom prst="roundRect">
            <a:avLst/>
          </a:prstGeom>
          <a:solidFill>
            <a:srgbClr val="F6F9FB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3035808"/>
            <a:ext cx="4983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1">
                <a:solidFill>
                  <a:srgbClr val="2A885B"/>
                </a:solidFill>
                <a:latin typeface="Aptos"/>
              </a:rPr>
              <a:t>RESPUESTA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3337560"/>
            <a:ext cx="4983480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70" b="0">
                <a:solidFill>
                  <a:srgbClr val="263039"/>
                </a:solidFill>
                <a:latin typeface="Aptos"/>
              </a:rPr>
              <a:t>Que la protección general existe, pero su explicitación en contextos digitales específicos es desigual.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4590288"/>
            <a:ext cx="5257800" cy="1078992"/>
          </a:xfrm>
          <a:prstGeom prst="roundRect">
            <a:avLst/>
          </a:prstGeom>
          <a:solidFill>
            <a:srgbClr val="F6F9FB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4681727"/>
            <a:ext cx="4983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1">
                <a:solidFill>
                  <a:srgbClr val="E5862B"/>
                </a:solidFill>
                <a:latin typeface="Aptos"/>
              </a:rPr>
              <a:t>POR QUÉ IMPORTA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4983479"/>
            <a:ext cx="498348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63039"/>
                </a:solidFill>
                <a:latin typeface="Aptos"/>
              </a:rPr>
              <a:t>Digitalizar un proceso crea contextos de uso que pueden requerir reglas más explícitas.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73952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>
                <a:solidFill>
                  <a:srgbClr val="646E78"/>
                </a:solidFill>
                <a:latin typeface="Aptos"/>
              </a:rPr>
              <a:t>Rev Panam Salud Publica. 2024;48:e40 · Resultados, p.3–5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5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0E2642"/>
                </a:solidFill>
                <a:latin typeface="Aptos"/>
              </a:rPr>
              <a:t>Pregunta 10 · Alegre et al. · Confidencialidad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789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569B0"/>
                </a:solidFill>
                <a:latin typeface="Aptos"/>
              </a:rPr>
              <a:t>Observe primero la figura / tabla. Después responda.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256032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2569B0"/>
                </a:solidFill>
                <a:latin typeface="Aptos"/>
              </a:rPr>
              <a:t>10</a:t>
            </a:r>
          </a:p>
        </p:txBody>
      </p:sp>
      <p:pic>
        <p:nvPicPr>
          <p:cNvPr id="6" name="Picture 5" descr="paho_table2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957" y="1143000"/>
            <a:ext cx="5505484" cy="50749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355080" y="1170432"/>
            <a:ext cx="5257800" cy="1572768"/>
          </a:xfrm>
          <a:prstGeom prst="roundRect">
            <a:avLst/>
          </a:prstGeom>
          <a:solidFill>
            <a:srgbClr val="F6F9FB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261872"/>
            <a:ext cx="4983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1">
                <a:solidFill>
                  <a:srgbClr val="2569B0"/>
                </a:solidFill>
                <a:latin typeface="Aptos"/>
              </a:rPr>
              <a:t>PREGUNTA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563624"/>
            <a:ext cx="4983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263039"/>
                </a:solidFill>
                <a:latin typeface="Aptos"/>
              </a:rPr>
              <a:t>Si un hospital introduce un LLM conectado a HCE, ¿la tabla basta para determinar legalidad del uso?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2944368"/>
            <a:ext cx="5257800" cy="1417320"/>
          </a:xfrm>
          <a:prstGeom prst="roundRect">
            <a:avLst/>
          </a:prstGeom>
          <a:solidFill>
            <a:srgbClr val="F6F9FB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3035808"/>
            <a:ext cx="4983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1">
                <a:solidFill>
                  <a:srgbClr val="2A885B"/>
                </a:solidFill>
                <a:latin typeface="Aptos"/>
              </a:rPr>
              <a:t>RESPUESTA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3337560"/>
            <a:ext cx="4983480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70" b="0">
                <a:solidFill>
                  <a:srgbClr val="263039"/>
                </a:solidFill>
                <a:latin typeface="Aptos"/>
              </a:rPr>
              <a:t>No. La tabla ofrece un panorama normativo regional; se necesita revisar normativa vigente específica, finalidad, consentimiento/base legal, seguridad, terceros y flujo de datos.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4590288"/>
            <a:ext cx="5257800" cy="1078992"/>
          </a:xfrm>
          <a:prstGeom prst="roundRect">
            <a:avLst/>
          </a:prstGeom>
          <a:solidFill>
            <a:srgbClr val="F6F9FB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4681727"/>
            <a:ext cx="4983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1">
                <a:solidFill>
                  <a:srgbClr val="E5862B"/>
                </a:solidFill>
                <a:latin typeface="Aptos"/>
              </a:rPr>
              <a:t>POR QUÉ IMPORTA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4983479"/>
            <a:ext cx="498348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63039"/>
                </a:solidFill>
                <a:latin typeface="Aptos"/>
              </a:rPr>
              <a:t>Transformar evidencia comparativa en decisión local requiere análisis jurídico y de gobernanza adicional.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73952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>
                <a:solidFill>
                  <a:srgbClr val="646E78"/>
                </a:solidFill>
                <a:latin typeface="Aptos"/>
              </a:rPr>
              <a:t>Rev Panam Salud Publica. 2024;48:e40 · Cuadro 2, p.5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5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0E2642"/>
                </a:solidFill>
                <a:latin typeface="Aptos"/>
              </a:rPr>
              <a:t>Pregunta 11 · Sierra-Castillo et al. · IA como encrucijada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789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569B0"/>
                </a:solidFill>
                <a:latin typeface="Aptos"/>
              </a:rPr>
              <a:t>Observe primero la figura / tabla. Después responda.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256032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2569B0"/>
                </a:solidFill>
                <a:latin typeface="Aptos"/>
              </a:rPr>
              <a:t>11</a:t>
            </a:r>
          </a:p>
        </p:txBody>
      </p:sp>
      <p:pic>
        <p:nvPicPr>
          <p:cNvPr id="6" name="Picture 5" descr="cuid_fi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10203"/>
            <a:ext cx="5623560" cy="394051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355080" y="1170432"/>
            <a:ext cx="5257800" cy="1572768"/>
          </a:xfrm>
          <a:prstGeom prst="roundRect">
            <a:avLst/>
          </a:prstGeom>
          <a:solidFill>
            <a:srgbClr val="F6F9FB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261872"/>
            <a:ext cx="4983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1">
                <a:solidFill>
                  <a:srgbClr val="2569B0"/>
                </a:solidFill>
                <a:latin typeface="Aptos"/>
              </a:rPr>
              <a:t>PREGUNTA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563624"/>
            <a:ext cx="4983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263039"/>
                </a:solidFill>
                <a:latin typeface="Aptos"/>
              </a:rPr>
              <a:t>Según la Figura 1, ¿cuáles son las cinco brechas estructurales mostradas antes de introducir IA?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2944368"/>
            <a:ext cx="5257800" cy="1417320"/>
          </a:xfrm>
          <a:prstGeom prst="roundRect">
            <a:avLst/>
          </a:prstGeom>
          <a:solidFill>
            <a:srgbClr val="F6F9FB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3035808"/>
            <a:ext cx="4983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1">
                <a:solidFill>
                  <a:srgbClr val="2A885B"/>
                </a:solidFill>
                <a:latin typeface="Aptos"/>
              </a:rPr>
              <a:t>RESPUESTA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3337560"/>
            <a:ext cx="4983480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70" b="0">
                <a:solidFill>
                  <a:srgbClr val="263039"/>
                </a:solidFill>
                <a:latin typeface="Aptos"/>
              </a:rPr>
              <a:t>Acceso limitado; déficit de talento humano; fragmentación e interoperabilidad; calidad de datos insuficiente; desigualdades regulatorias.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4590288"/>
            <a:ext cx="5257800" cy="1078992"/>
          </a:xfrm>
          <a:prstGeom prst="roundRect">
            <a:avLst/>
          </a:prstGeom>
          <a:solidFill>
            <a:srgbClr val="F6F9FB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4681727"/>
            <a:ext cx="4983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1">
                <a:solidFill>
                  <a:srgbClr val="E5862B"/>
                </a:solidFill>
                <a:latin typeface="Aptos"/>
              </a:rPr>
              <a:t>POR QUÉ IMPORTA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4983479"/>
            <a:ext cx="498348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63039"/>
                </a:solidFill>
                <a:latin typeface="Aptos"/>
              </a:rPr>
              <a:t>La figura obliga a comenzar por el problema del sistema, no por el algoritmo.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73952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>
                <a:solidFill>
                  <a:srgbClr val="646E78"/>
                </a:solidFill>
                <a:latin typeface="Aptos"/>
              </a:rPr>
              <a:t>Rev Cuidarte. 2026;17(2):e6342 · Figura 1, p.3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5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0E2642"/>
                </a:solidFill>
                <a:latin typeface="Aptos"/>
              </a:rPr>
              <a:t>Pregunta 12 · Sierra-Castillo et al. · IA como encrucijada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789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569B0"/>
                </a:solidFill>
                <a:latin typeface="Aptos"/>
              </a:rPr>
              <a:t>Observe primero la figura / tabla. Después responda.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256032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2569B0"/>
                </a:solidFill>
                <a:latin typeface="Aptos"/>
              </a:rPr>
              <a:t>12</a:t>
            </a:r>
          </a:p>
        </p:txBody>
      </p:sp>
      <p:pic>
        <p:nvPicPr>
          <p:cNvPr id="6" name="Picture 5" descr="cuid_fi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10203"/>
            <a:ext cx="5623560" cy="394051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355080" y="1170432"/>
            <a:ext cx="5257800" cy="1572768"/>
          </a:xfrm>
          <a:prstGeom prst="roundRect">
            <a:avLst/>
          </a:prstGeom>
          <a:solidFill>
            <a:srgbClr val="F6F9FB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261872"/>
            <a:ext cx="4983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1">
                <a:solidFill>
                  <a:srgbClr val="2569B0"/>
                </a:solidFill>
                <a:latin typeface="Aptos"/>
              </a:rPr>
              <a:t>PREGUNTA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563624"/>
            <a:ext cx="4983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263039"/>
                </a:solidFill>
                <a:latin typeface="Aptos"/>
              </a:rPr>
              <a:t>¿Qué cuatro usos de IA aparecen alrededor del núcleo central?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2944368"/>
            <a:ext cx="5257800" cy="1417320"/>
          </a:xfrm>
          <a:prstGeom prst="roundRect">
            <a:avLst/>
          </a:prstGeom>
          <a:solidFill>
            <a:srgbClr val="F6F9FB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3035808"/>
            <a:ext cx="4983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1">
                <a:solidFill>
                  <a:srgbClr val="2A885B"/>
                </a:solidFill>
                <a:latin typeface="Aptos"/>
              </a:rPr>
              <a:t>RESPUESTA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3337560"/>
            <a:ext cx="4983480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70" b="0">
                <a:solidFill>
                  <a:srgbClr val="263039"/>
                </a:solidFill>
                <a:latin typeface="Aptos"/>
              </a:rPr>
              <a:t>IA generativa; apoyo a decisiones clínicas; análisis predictivo; optimización de procesos.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4590288"/>
            <a:ext cx="5257800" cy="1078992"/>
          </a:xfrm>
          <a:prstGeom prst="roundRect">
            <a:avLst/>
          </a:prstGeom>
          <a:solidFill>
            <a:srgbClr val="F6F9FB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4681727"/>
            <a:ext cx="4983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1">
                <a:solidFill>
                  <a:srgbClr val="E5862B"/>
                </a:solidFill>
                <a:latin typeface="Aptos"/>
              </a:rPr>
              <a:t>POR QUÉ IMPORTA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4983479"/>
            <a:ext cx="498348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63039"/>
                </a:solidFill>
                <a:latin typeface="Aptos"/>
              </a:rPr>
              <a:t>Diferentes usos tienen perfiles de riesgo distintos y no deben gobernarse como si fueran uno solo.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73952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>
                <a:solidFill>
                  <a:srgbClr val="646E78"/>
                </a:solidFill>
                <a:latin typeface="Aptos"/>
              </a:rPr>
              <a:t>Rev Cuidarte. 2026;17(2):e6342 · Figura 1, p.3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5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0E2642"/>
                </a:solidFill>
                <a:latin typeface="Aptos"/>
              </a:rPr>
              <a:t>Pregunta 13 · Sierra-Castillo et al. · IA como encrucijada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789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569B0"/>
                </a:solidFill>
                <a:latin typeface="Aptos"/>
              </a:rPr>
              <a:t>Observe primero la figura / tabla. Después responda.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256032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2569B0"/>
                </a:solidFill>
                <a:latin typeface="Aptos"/>
              </a:rPr>
              <a:t>13</a:t>
            </a:r>
          </a:p>
        </p:txBody>
      </p:sp>
      <p:pic>
        <p:nvPicPr>
          <p:cNvPr id="6" name="Picture 5" descr="cuid_fi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10203"/>
            <a:ext cx="5623560" cy="394051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355080" y="1170432"/>
            <a:ext cx="5257800" cy="1572768"/>
          </a:xfrm>
          <a:prstGeom prst="roundRect">
            <a:avLst/>
          </a:prstGeom>
          <a:solidFill>
            <a:srgbClr val="F6F9FB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261872"/>
            <a:ext cx="4983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1">
                <a:solidFill>
                  <a:srgbClr val="2569B0"/>
                </a:solidFill>
                <a:latin typeface="Aptos"/>
              </a:rPr>
              <a:t>PREGUNTA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563624"/>
            <a:ext cx="4983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263039"/>
                </a:solidFill>
                <a:latin typeface="Aptos"/>
              </a:rPr>
              <a:t>¿Cuáles son las condiciones habilitadoras mostradas para una implementación responsable?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2944368"/>
            <a:ext cx="5257800" cy="1417320"/>
          </a:xfrm>
          <a:prstGeom prst="roundRect">
            <a:avLst/>
          </a:prstGeom>
          <a:solidFill>
            <a:srgbClr val="F6F9FB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3035808"/>
            <a:ext cx="4983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1">
                <a:solidFill>
                  <a:srgbClr val="2A885B"/>
                </a:solidFill>
                <a:latin typeface="Aptos"/>
              </a:rPr>
              <a:t>RESPUESTA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3337560"/>
            <a:ext cx="4983480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70" b="0">
                <a:solidFill>
                  <a:srgbClr val="263039"/>
                </a:solidFill>
                <a:latin typeface="Aptos"/>
              </a:rPr>
              <a:t>Gobernanza de datos, regulación, talento humano y validación local; el pie de figura también enfatiza ética.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4590288"/>
            <a:ext cx="5257800" cy="1078992"/>
          </a:xfrm>
          <a:prstGeom prst="roundRect">
            <a:avLst/>
          </a:prstGeom>
          <a:solidFill>
            <a:srgbClr val="F6F9FB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4681727"/>
            <a:ext cx="4983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1">
                <a:solidFill>
                  <a:srgbClr val="E5862B"/>
                </a:solidFill>
                <a:latin typeface="Aptos"/>
              </a:rPr>
              <a:t>POR QUÉ IMPORTA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4983479"/>
            <a:ext cx="498348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63039"/>
                </a:solidFill>
                <a:latin typeface="Aptos"/>
              </a:rPr>
              <a:t>La figura presenta la gobernanza como condición de funcionamiento, no como decoración posterior.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73952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>
                <a:solidFill>
                  <a:srgbClr val="646E78"/>
                </a:solidFill>
                <a:latin typeface="Aptos"/>
              </a:rPr>
              <a:t>Rev Cuidarte. 2026;17(2):e6342 · Figura 1, p.3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5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0E2642"/>
                </a:solidFill>
                <a:latin typeface="Aptos"/>
              </a:rPr>
              <a:t>Pregunta 14 · Sierra-Castillo et al. · IA como encrucijada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789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569B0"/>
                </a:solidFill>
                <a:latin typeface="Aptos"/>
              </a:rPr>
              <a:t>Observe primero la figura / tabla. Después responda.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256032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2569B0"/>
                </a:solidFill>
                <a:latin typeface="Aptos"/>
              </a:rPr>
              <a:t>14</a:t>
            </a:r>
          </a:p>
        </p:txBody>
      </p:sp>
      <p:pic>
        <p:nvPicPr>
          <p:cNvPr id="6" name="Picture 5" descr="cuid_fi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10203"/>
            <a:ext cx="5623560" cy="394051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355080" y="1170432"/>
            <a:ext cx="5257800" cy="1572768"/>
          </a:xfrm>
          <a:prstGeom prst="roundRect">
            <a:avLst/>
          </a:prstGeom>
          <a:solidFill>
            <a:srgbClr val="F6F9FB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261872"/>
            <a:ext cx="4983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1">
                <a:solidFill>
                  <a:srgbClr val="2569B0"/>
                </a:solidFill>
                <a:latin typeface="Aptos"/>
              </a:rPr>
              <a:t>PREGUNTA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563624"/>
            <a:ext cx="4983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263039"/>
                </a:solidFill>
                <a:latin typeface="Aptos"/>
              </a:rPr>
              <a:t>¿Qué tres riesgos aparecen explícitamente en el bloque rojo?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2944368"/>
            <a:ext cx="5257800" cy="1417320"/>
          </a:xfrm>
          <a:prstGeom prst="roundRect">
            <a:avLst/>
          </a:prstGeom>
          <a:solidFill>
            <a:srgbClr val="F6F9FB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3035808"/>
            <a:ext cx="4983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1">
                <a:solidFill>
                  <a:srgbClr val="2A885B"/>
                </a:solidFill>
                <a:latin typeface="Aptos"/>
              </a:rPr>
              <a:t>RESPUESTA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3337560"/>
            <a:ext cx="4983480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70" b="0">
                <a:solidFill>
                  <a:srgbClr val="263039"/>
                </a:solidFill>
                <a:latin typeface="Aptos"/>
              </a:rPr>
              <a:t>Sesgos algorítmicos, exclusión de poblaciones y uso inadecuado de datos.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4590288"/>
            <a:ext cx="5257800" cy="1078992"/>
          </a:xfrm>
          <a:prstGeom prst="roundRect">
            <a:avLst/>
          </a:prstGeom>
          <a:solidFill>
            <a:srgbClr val="F6F9FB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4681727"/>
            <a:ext cx="4983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1">
                <a:solidFill>
                  <a:srgbClr val="E5862B"/>
                </a:solidFill>
                <a:latin typeface="Aptos"/>
              </a:rPr>
              <a:t>POR QUÉ IMPORTA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4983479"/>
            <a:ext cx="498348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63039"/>
                </a:solidFill>
                <a:latin typeface="Aptos"/>
              </a:rPr>
              <a:t>Son tres vías diferentes de daño: modelo, acceso y gobernanza de información.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73952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>
                <a:solidFill>
                  <a:srgbClr val="646E78"/>
                </a:solidFill>
                <a:latin typeface="Aptos"/>
              </a:rPr>
              <a:t>Rev Cuidarte. 2026;17(2):e6342 · Figura 1, p.3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5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0E2642"/>
                </a:solidFill>
                <a:latin typeface="Aptos"/>
              </a:rPr>
              <a:t>Pregunta 15 · Sierra-Castillo et al. · IA como encrucijada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789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569B0"/>
                </a:solidFill>
                <a:latin typeface="Aptos"/>
              </a:rPr>
              <a:t>Observe primero la figura / tabla. Después responda.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256032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2569B0"/>
                </a:solidFill>
                <a:latin typeface="Aptos"/>
              </a:rPr>
              <a:t>15</a:t>
            </a:r>
          </a:p>
        </p:txBody>
      </p:sp>
      <p:pic>
        <p:nvPicPr>
          <p:cNvPr id="6" name="Picture 5" descr="cuid_fi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10203"/>
            <a:ext cx="5623560" cy="394051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355080" y="1170432"/>
            <a:ext cx="5257800" cy="1572768"/>
          </a:xfrm>
          <a:prstGeom prst="roundRect">
            <a:avLst/>
          </a:prstGeom>
          <a:solidFill>
            <a:srgbClr val="F6F9FB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261872"/>
            <a:ext cx="4983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1">
                <a:solidFill>
                  <a:srgbClr val="2569B0"/>
                </a:solidFill>
                <a:latin typeface="Aptos"/>
              </a:rPr>
              <a:t>PREGUNTA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563624"/>
            <a:ext cx="4983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263039"/>
                </a:solidFill>
                <a:latin typeface="Aptos"/>
              </a:rPr>
              <a:t>¿Qué resultados potenciales positivos enumera la figura?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2944368"/>
            <a:ext cx="5257800" cy="1417320"/>
          </a:xfrm>
          <a:prstGeom prst="roundRect">
            <a:avLst/>
          </a:prstGeom>
          <a:solidFill>
            <a:srgbClr val="F6F9FB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3035808"/>
            <a:ext cx="4983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1">
                <a:solidFill>
                  <a:srgbClr val="2A885B"/>
                </a:solidFill>
                <a:latin typeface="Aptos"/>
              </a:rPr>
              <a:t>RESPUESTA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3337560"/>
            <a:ext cx="4983480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70" b="0">
                <a:solidFill>
                  <a:srgbClr val="263039"/>
                </a:solidFill>
                <a:latin typeface="Aptos"/>
              </a:rPr>
              <a:t>Mayor acceso y oportunidad; mejor calidad y seguridad; mayor eficiencia y uso óptimo de recursos; reducción de inequidades.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4590288"/>
            <a:ext cx="5257800" cy="1078992"/>
          </a:xfrm>
          <a:prstGeom prst="roundRect">
            <a:avLst/>
          </a:prstGeom>
          <a:solidFill>
            <a:srgbClr val="F6F9FB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4681727"/>
            <a:ext cx="4983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1">
                <a:solidFill>
                  <a:srgbClr val="E5862B"/>
                </a:solidFill>
                <a:latin typeface="Aptos"/>
              </a:rPr>
              <a:t>POR QUÉ IMPORTA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4983479"/>
            <a:ext cx="498348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63039"/>
                </a:solidFill>
                <a:latin typeface="Aptos"/>
              </a:rPr>
              <a:t>Permite convertir promesas generales en outcomes que deberían medirse.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73952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>
                <a:solidFill>
                  <a:srgbClr val="646E78"/>
                </a:solidFill>
                <a:latin typeface="Aptos"/>
              </a:rPr>
              <a:t>Rev Cuidarte. 2026;17(2):e6342 · Figura 1, p.3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5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0E2642"/>
                </a:solidFill>
                <a:latin typeface="Aptos"/>
              </a:rPr>
              <a:t>Pregunta 16 · Sierra-Castillo et al. · IA como encrucijada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789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569B0"/>
                </a:solidFill>
                <a:latin typeface="Aptos"/>
              </a:rPr>
              <a:t>Observe primero la figura / tabla. Después responda.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256032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2569B0"/>
                </a:solidFill>
                <a:latin typeface="Aptos"/>
              </a:rPr>
              <a:t>16</a:t>
            </a:r>
          </a:p>
        </p:txBody>
      </p:sp>
      <p:pic>
        <p:nvPicPr>
          <p:cNvPr id="6" name="Picture 5" descr="cuid_fi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10203"/>
            <a:ext cx="5623560" cy="394051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355080" y="1170432"/>
            <a:ext cx="5257800" cy="1572768"/>
          </a:xfrm>
          <a:prstGeom prst="roundRect">
            <a:avLst/>
          </a:prstGeom>
          <a:solidFill>
            <a:srgbClr val="F6F9FB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261872"/>
            <a:ext cx="4983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1">
                <a:solidFill>
                  <a:srgbClr val="2569B0"/>
                </a:solidFill>
                <a:latin typeface="Aptos"/>
              </a:rPr>
              <a:t>PREGUNTA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563624"/>
            <a:ext cx="4983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263039"/>
                </a:solidFill>
                <a:latin typeface="Aptos"/>
              </a:rPr>
              <a:t>Si un modelo fue validado en EE.UU. pero se desplegará en Colombia, ¿qué condición de la figura se vuelve crítica?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2944368"/>
            <a:ext cx="5257800" cy="1417320"/>
          </a:xfrm>
          <a:prstGeom prst="roundRect">
            <a:avLst/>
          </a:prstGeom>
          <a:solidFill>
            <a:srgbClr val="F6F9FB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3035808"/>
            <a:ext cx="4983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1">
                <a:solidFill>
                  <a:srgbClr val="2A885B"/>
                </a:solidFill>
                <a:latin typeface="Aptos"/>
              </a:rPr>
              <a:t>RESPUESTA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3337560"/>
            <a:ext cx="4983480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70" b="0">
                <a:solidFill>
                  <a:srgbClr val="263039"/>
                </a:solidFill>
                <a:latin typeface="Aptos"/>
              </a:rPr>
              <a:t>Validación local.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4590288"/>
            <a:ext cx="5257800" cy="1078992"/>
          </a:xfrm>
          <a:prstGeom prst="roundRect">
            <a:avLst/>
          </a:prstGeom>
          <a:solidFill>
            <a:srgbClr val="F6F9FB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4681727"/>
            <a:ext cx="4983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1">
                <a:solidFill>
                  <a:srgbClr val="E5862B"/>
                </a:solidFill>
                <a:latin typeface="Aptos"/>
              </a:rPr>
              <a:t>POR QUÉ IMPORTA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4983479"/>
            <a:ext cx="498348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63039"/>
                </a:solidFill>
                <a:latin typeface="Aptos"/>
              </a:rPr>
              <a:t>El propio artículo cuestiona la validez externa de desarrollos generados fuera de América Latina.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73952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>
                <a:solidFill>
                  <a:srgbClr val="646E78"/>
                </a:solidFill>
                <a:latin typeface="Aptos"/>
              </a:rPr>
              <a:t>Rev Cuidarte. 2026;17(2):e6342 · pp.2–3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5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0E2642"/>
                </a:solidFill>
                <a:latin typeface="Aptos"/>
              </a:rPr>
              <a:t>Pregunta 17 · Sierra-Castillo et al. · IA como encrucijada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789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569B0"/>
                </a:solidFill>
                <a:latin typeface="Aptos"/>
              </a:rPr>
              <a:t>Observe primero la figura / tabla. Después responda.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256032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2569B0"/>
                </a:solidFill>
                <a:latin typeface="Aptos"/>
              </a:rPr>
              <a:t>17</a:t>
            </a:r>
          </a:p>
        </p:txBody>
      </p:sp>
      <p:pic>
        <p:nvPicPr>
          <p:cNvPr id="6" name="Picture 5" descr="cuid_fi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10203"/>
            <a:ext cx="5623560" cy="394051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355080" y="1170432"/>
            <a:ext cx="5257800" cy="1572768"/>
          </a:xfrm>
          <a:prstGeom prst="roundRect">
            <a:avLst/>
          </a:prstGeom>
          <a:solidFill>
            <a:srgbClr val="F6F9FB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261872"/>
            <a:ext cx="4983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1">
                <a:solidFill>
                  <a:srgbClr val="2569B0"/>
                </a:solidFill>
                <a:latin typeface="Aptos"/>
              </a:rPr>
              <a:t>PREGUNTA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563624"/>
            <a:ext cx="4983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263039"/>
                </a:solidFill>
                <a:latin typeface="Aptos"/>
              </a:rPr>
              <a:t>¿Por qué 'calidad de datos insuficiente' no se resuelve simplemente entrenando un modelo más grande?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2944368"/>
            <a:ext cx="5257800" cy="1417320"/>
          </a:xfrm>
          <a:prstGeom prst="roundRect">
            <a:avLst/>
          </a:prstGeom>
          <a:solidFill>
            <a:srgbClr val="F6F9FB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3035808"/>
            <a:ext cx="4983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1">
                <a:solidFill>
                  <a:srgbClr val="2A885B"/>
                </a:solidFill>
                <a:latin typeface="Aptos"/>
              </a:rPr>
              <a:t>RESPUESTA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3337560"/>
            <a:ext cx="4983480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70" b="0">
                <a:solidFill>
                  <a:srgbClr val="263039"/>
                </a:solidFill>
                <a:latin typeface="Aptos"/>
              </a:rPr>
              <a:t>Porque el problema está en la información de entrada: incompletitud, representatividad y contexto no desaparecen por aumentar capacidad del modelo.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4590288"/>
            <a:ext cx="5257800" cy="1078992"/>
          </a:xfrm>
          <a:prstGeom prst="roundRect">
            <a:avLst/>
          </a:prstGeom>
          <a:solidFill>
            <a:srgbClr val="F6F9FB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4681727"/>
            <a:ext cx="4983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1">
                <a:solidFill>
                  <a:srgbClr val="E5862B"/>
                </a:solidFill>
                <a:latin typeface="Aptos"/>
              </a:rPr>
              <a:t>POR QUÉ IMPORTA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4983479"/>
            <a:ext cx="498348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63039"/>
                </a:solidFill>
                <a:latin typeface="Aptos"/>
              </a:rPr>
              <a:t>Escala computacional no sustituye gobernanza ni calidad del dato.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73952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>
                <a:solidFill>
                  <a:srgbClr val="646E78"/>
                </a:solidFill>
                <a:latin typeface="Aptos"/>
              </a:rPr>
              <a:t>Rev Cuidarte. 2026;17(2):e6342 · pp.2–3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5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0E2642"/>
                </a:solidFill>
                <a:latin typeface="Aptos"/>
              </a:rPr>
              <a:t>Pregunta 18 · Sierra-Castillo et al. · IA como encrucijada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789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569B0"/>
                </a:solidFill>
                <a:latin typeface="Aptos"/>
              </a:rPr>
              <a:t>Observe primero la figura / tabla. Después responda.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256032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2569B0"/>
                </a:solidFill>
                <a:latin typeface="Aptos"/>
              </a:rPr>
              <a:t>18</a:t>
            </a:r>
          </a:p>
        </p:txBody>
      </p:sp>
      <p:pic>
        <p:nvPicPr>
          <p:cNvPr id="6" name="Picture 5" descr="cuid_fi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10203"/>
            <a:ext cx="5623560" cy="394051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355080" y="1170432"/>
            <a:ext cx="5257800" cy="1572768"/>
          </a:xfrm>
          <a:prstGeom prst="roundRect">
            <a:avLst/>
          </a:prstGeom>
          <a:solidFill>
            <a:srgbClr val="F6F9FB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261872"/>
            <a:ext cx="4983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1">
                <a:solidFill>
                  <a:srgbClr val="2569B0"/>
                </a:solidFill>
                <a:latin typeface="Aptos"/>
              </a:rPr>
              <a:t>PREGUNTA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563624"/>
            <a:ext cx="4983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263039"/>
                </a:solidFill>
                <a:latin typeface="Aptos"/>
              </a:rPr>
              <a:t>¿Qué paradoja visual expresa la bifurcación roja/verde?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2944368"/>
            <a:ext cx="5257800" cy="1417320"/>
          </a:xfrm>
          <a:prstGeom prst="roundRect">
            <a:avLst/>
          </a:prstGeom>
          <a:solidFill>
            <a:srgbClr val="F6F9FB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3035808"/>
            <a:ext cx="4983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1">
                <a:solidFill>
                  <a:srgbClr val="2A885B"/>
                </a:solidFill>
                <a:latin typeface="Aptos"/>
              </a:rPr>
              <a:t>RESPUESTA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3337560"/>
            <a:ext cx="4983480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70" b="0">
                <a:solidFill>
                  <a:srgbClr val="263039"/>
                </a:solidFill>
                <a:latin typeface="Aptos"/>
              </a:rPr>
              <a:t>La misma tecnología puede ampliar brechas o contribuir a cerrarlas dependiendo de las condiciones de implementación.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4590288"/>
            <a:ext cx="5257800" cy="1078992"/>
          </a:xfrm>
          <a:prstGeom prst="roundRect">
            <a:avLst/>
          </a:prstGeom>
          <a:solidFill>
            <a:srgbClr val="F6F9FB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4681727"/>
            <a:ext cx="4983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1">
                <a:solidFill>
                  <a:srgbClr val="E5862B"/>
                </a:solidFill>
                <a:latin typeface="Aptos"/>
              </a:rPr>
              <a:t>POR QUÉ IMPORTA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4983479"/>
            <a:ext cx="498348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63039"/>
                </a:solidFill>
                <a:latin typeface="Aptos"/>
              </a:rPr>
              <a:t>El efecto ético no es propiedad intrínseca del algoritmo; emerge del sistema sociotécnico.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73952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>
                <a:solidFill>
                  <a:srgbClr val="646E78"/>
                </a:solidFill>
                <a:latin typeface="Aptos"/>
              </a:rPr>
              <a:t>Rev Cuidarte. 2026;17(2):e6342 · Figura 1, p.3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5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0E2642"/>
                </a:solidFill>
                <a:latin typeface="Aptos"/>
              </a:rPr>
              <a:t>Pregunta 19 · Sierra-Castillo et al. · Agenda regional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789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569B0"/>
                </a:solidFill>
                <a:latin typeface="Aptos"/>
              </a:rPr>
              <a:t>Observe primero la figura / tabla. Después responda.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256032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2569B0"/>
                </a:solidFill>
                <a:latin typeface="Aptos"/>
              </a:rPr>
              <a:t>19</a:t>
            </a:r>
          </a:p>
        </p:txBody>
      </p:sp>
      <p:pic>
        <p:nvPicPr>
          <p:cNvPr id="6" name="Picture 5" descr="cuid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3935" y="1143000"/>
            <a:ext cx="3921529" cy="50749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355080" y="1170432"/>
            <a:ext cx="5257800" cy="1572768"/>
          </a:xfrm>
          <a:prstGeom prst="roundRect">
            <a:avLst/>
          </a:prstGeom>
          <a:solidFill>
            <a:srgbClr val="F6F9FB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261872"/>
            <a:ext cx="4983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1">
                <a:solidFill>
                  <a:srgbClr val="2569B0"/>
                </a:solidFill>
                <a:latin typeface="Aptos"/>
              </a:rPr>
              <a:t>PREGUNTA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563624"/>
            <a:ext cx="4983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263039"/>
                </a:solidFill>
                <a:latin typeface="Aptos"/>
              </a:rPr>
              <a:t>El artículo propone cinco prioridades. ¿Cuál evita la adopción acrítica de soluciones desarrolladas externamente?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2944368"/>
            <a:ext cx="5257800" cy="1417320"/>
          </a:xfrm>
          <a:prstGeom prst="roundRect">
            <a:avLst/>
          </a:prstGeom>
          <a:solidFill>
            <a:srgbClr val="F6F9FB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3035808"/>
            <a:ext cx="4983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1">
                <a:solidFill>
                  <a:srgbClr val="2A885B"/>
                </a:solidFill>
                <a:latin typeface="Aptos"/>
              </a:rPr>
              <a:t>RESPUESTA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3337560"/>
            <a:ext cx="4983480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70" b="0">
                <a:solidFill>
                  <a:srgbClr val="263039"/>
                </a:solidFill>
                <a:latin typeface="Aptos"/>
              </a:rPr>
              <a:t>Promover validación clínica local y generación regional de evidencia.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4590288"/>
            <a:ext cx="5257800" cy="1078992"/>
          </a:xfrm>
          <a:prstGeom prst="roundRect">
            <a:avLst/>
          </a:prstGeom>
          <a:solidFill>
            <a:srgbClr val="F6F9FB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4681727"/>
            <a:ext cx="4983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1">
                <a:solidFill>
                  <a:srgbClr val="E5862B"/>
                </a:solidFill>
                <a:latin typeface="Aptos"/>
              </a:rPr>
              <a:t>POR QUÉ IMPORTA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4983479"/>
            <a:ext cx="498348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63039"/>
                </a:solidFill>
                <a:latin typeface="Aptos"/>
              </a:rPr>
              <a:t>Es una respuesta directa al problema de validez externa y contextualización.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73952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>
                <a:solidFill>
                  <a:srgbClr val="646E78"/>
                </a:solidFill>
                <a:latin typeface="Aptos"/>
              </a:rPr>
              <a:t>Rev Cuidarte. 2026;17(2):e6342 · p.4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5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0E2642"/>
                </a:solidFill>
                <a:latin typeface="Aptos"/>
              </a:rPr>
              <a:t>Pregunta 20 · Sierra-Castillo et al. · Agenda regional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789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569B0"/>
                </a:solidFill>
                <a:latin typeface="Aptos"/>
              </a:rPr>
              <a:t>Observe primero la figura / tabla. Después responda.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256032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2569B0"/>
                </a:solidFill>
                <a:latin typeface="Aptos"/>
              </a:rPr>
              <a:t>20</a:t>
            </a:r>
          </a:p>
        </p:txBody>
      </p:sp>
      <p:pic>
        <p:nvPicPr>
          <p:cNvPr id="6" name="Picture 5" descr="cuid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3935" y="1143000"/>
            <a:ext cx="3921529" cy="50749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355080" y="1170432"/>
            <a:ext cx="5257800" cy="1572768"/>
          </a:xfrm>
          <a:prstGeom prst="roundRect">
            <a:avLst/>
          </a:prstGeom>
          <a:solidFill>
            <a:srgbClr val="F6F9FB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261872"/>
            <a:ext cx="4983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1">
                <a:solidFill>
                  <a:srgbClr val="2569B0"/>
                </a:solidFill>
                <a:latin typeface="Aptos"/>
              </a:rPr>
              <a:t>PREGUNTA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563624"/>
            <a:ext cx="4983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263039"/>
                </a:solidFill>
                <a:latin typeface="Aptos"/>
              </a:rPr>
              <a:t>¿Cuál es el criterio rector que el artículo propone para evaluar el impacto de IA en salud?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2944368"/>
            <a:ext cx="5257800" cy="1417320"/>
          </a:xfrm>
          <a:prstGeom prst="roundRect">
            <a:avLst/>
          </a:prstGeom>
          <a:solidFill>
            <a:srgbClr val="F6F9FB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3035808"/>
            <a:ext cx="4983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1">
                <a:solidFill>
                  <a:srgbClr val="2A885B"/>
                </a:solidFill>
                <a:latin typeface="Aptos"/>
              </a:rPr>
              <a:t>RESPUESTA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3337560"/>
            <a:ext cx="4983480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70" b="0">
                <a:solidFill>
                  <a:srgbClr val="263039"/>
                </a:solidFill>
                <a:latin typeface="Aptos"/>
              </a:rPr>
              <a:t>Equidad y generación de valor público.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4590288"/>
            <a:ext cx="5257800" cy="1078992"/>
          </a:xfrm>
          <a:prstGeom prst="roundRect">
            <a:avLst/>
          </a:prstGeom>
          <a:solidFill>
            <a:srgbClr val="F6F9FB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4681727"/>
            <a:ext cx="4983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1">
                <a:solidFill>
                  <a:srgbClr val="E5862B"/>
                </a:solidFill>
                <a:latin typeface="Aptos"/>
              </a:rPr>
              <a:t>POR QUÉ IMPORTA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4983479"/>
            <a:ext cx="498348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63039"/>
                </a:solidFill>
                <a:latin typeface="Aptos"/>
              </a:rPr>
              <a:t>Desplaza la evaluación desde '¿qué tan novedoso es?' hacia '¿qué valor produce y para quién?'.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73952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>
                <a:solidFill>
                  <a:srgbClr val="646E78"/>
                </a:solidFill>
                <a:latin typeface="Aptos"/>
              </a:rPr>
              <a:t>Rev Cuidarte. 2026;17(2):e6342 · p.4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5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0E2642"/>
                </a:solidFill>
                <a:latin typeface="Aptos"/>
              </a:rPr>
              <a:t>Pregunta 21 · Bárcenas Vidal et al. · Sesgo algorítmico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789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569B0"/>
                </a:solidFill>
                <a:latin typeface="Aptos"/>
              </a:rPr>
              <a:t>Observe primero la figura / tabla. Después responda.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256032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2569B0"/>
                </a:solidFill>
                <a:latin typeface="Aptos"/>
              </a:rPr>
              <a:t>21</a:t>
            </a:r>
          </a:p>
        </p:txBody>
      </p:sp>
      <p:pic>
        <p:nvPicPr>
          <p:cNvPr id="6" name="Picture 5" descr="bias_ap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69994"/>
            <a:ext cx="5623560" cy="4020931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355080" y="1170432"/>
            <a:ext cx="5257800" cy="1572768"/>
          </a:xfrm>
          <a:prstGeom prst="roundRect">
            <a:avLst/>
          </a:prstGeom>
          <a:solidFill>
            <a:srgbClr val="F6F9FB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261872"/>
            <a:ext cx="4983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1">
                <a:solidFill>
                  <a:srgbClr val="2569B0"/>
                </a:solidFill>
                <a:latin typeface="Aptos"/>
              </a:rPr>
              <a:t>PREGUNTA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563624"/>
            <a:ext cx="4983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263039"/>
                </a:solidFill>
                <a:latin typeface="Aptos"/>
              </a:rPr>
              <a:t>La página enumera ejemplos en Chile, Brasil, Costa Rica, El Salvador y Perú. ¿Qué demuestra esta diversidad?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2944368"/>
            <a:ext cx="5257800" cy="1417320"/>
          </a:xfrm>
          <a:prstGeom prst="roundRect">
            <a:avLst/>
          </a:prstGeom>
          <a:solidFill>
            <a:srgbClr val="F6F9FB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3035808"/>
            <a:ext cx="4983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1">
                <a:solidFill>
                  <a:srgbClr val="2A885B"/>
                </a:solidFill>
                <a:latin typeface="Aptos"/>
              </a:rPr>
              <a:t>RESPUESTA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3337560"/>
            <a:ext cx="4983480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70" b="0">
                <a:solidFill>
                  <a:srgbClr val="263039"/>
                </a:solidFill>
                <a:latin typeface="Aptos"/>
              </a:rPr>
              <a:t>Que la IA sanitaria regional ya abarca orientación, deterioro clínico, predicción, asistencia robótica y salud psicológica; no es una sola tecnología.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4590288"/>
            <a:ext cx="5257800" cy="1078992"/>
          </a:xfrm>
          <a:prstGeom prst="roundRect">
            <a:avLst/>
          </a:prstGeom>
          <a:solidFill>
            <a:srgbClr val="F6F9FB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4681727"/>
            <a:ext cx="4983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1">
                <a:solidFill>
                  <a:srgbClr val="E5862B"/>
                </a:solidFill>
                <a:latin typeface="Aptos"/>
              </a:rPr>
              <a:t>POR QUÉ IMPORTA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4983479"/>
            <a:ext cx="498348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63039"/>
                </a:solidFill>
                <a:latin typeface="Aptos"/>
              </a:rPr>
              <a:t>El análisis ético debe adaptarse al uso concreto.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73952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>
                <a:solidFill>
                  <a:srgbClr val="646E78"/>
                </a:solidFill>
                <a:latin typeface="Aptos"/>
              </a:rPr>
              <a:t>Vol.21 Núm.1 (2026) · p.203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5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0E2642"/>
                </a:solidFill>
                <a:latin typeface="Aptos"/>
              </a:rPr>
              <a:t>Pregunta 22 · Bárcenas Vidal et al. · Sesgo algorítmico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789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569B0"/>
                </a:solidFill>
                <a:latin typeface="Aptos"/>
              </a:rPr>
              <a:t>Observe primero la figura / tabla. Después responda.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256032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2569B0"/>
                </a:solidFill>
                <a:latin typeface="Aptos"/>
              </a:rPr>
              <a:t>22</a:t>
            </a:r>
          </a:p>
        </p:txBody>
      </p:sp>
      <p:pic>
        <p:nvPicPr>
          <p:cNvPr id="6" name="Picture 5" descr="bias_ap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69994"/>
            <a:ext cx="5623560" cy="4020931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355080" y="1170432"/>
            <a:ext cx="5257800" cy="1572768"/>
          </a:xfrm>
          <a:prstGeom prst="roundRect">
            <a:avLst/>
          </a:prstGeom>
          <a:solidFill>
            <a:srgbClr val="F6F9FB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261872"/>
            <a:ext cx="4983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1">
                <a:solidFill>
                  <a:srgbClr val="2569B0"/>
                </a:solidFill>
                <a:latin typeface="Aptos"/>
              </a:rPr>
              <a:t>PREGUNTA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563624"/>
            <a:ext cx="4983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263039"/>
                </a:solidFill>
                <a:latin typeface="Aptos"/>
              </a:rPr>
              <a:t>¿Qué dos condiciones identifica el artículo como capaces de agravar desigualdades mediante IA?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2944368"/>
            <a:ext cx="5257800" cy="1417320"/>
          </a:xfrm>
          <a:prstGeom prst="roundRect">
            <a:avLst/>
          </a:prstGeom>
          <a:solidFill>
            <a:srgbClr val="F6F9FB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3035808"/>
            <a:ext cx="4983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1">
                <a:solidFill>
                  <a:srgbClr val="2A885B"/>
                </a:solidFill>
                <a:latin typeface="Aptos"/>
              </a:rPr>
              <a:t>RESPUESTA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3337560"/>
            <a:ext cx="4983480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70" b="0">
                <a:solidFill>
                  <a:srgbClr val="263039"/>
                </a:solidFill>
                <a:latin typeface="Aptos"/>
              </a:rPr>
              <a:t>Falta de datos representativos y marcos regulatorios sólidos.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4590288"/>
            <a:ext cx="5257800" cy="1078992"/>
          </a:xfrm>
          <a:prstGeom prst="roundRect">
            <a:avLst/>
          </a:prstGeom>
          <a:solidFill>
            <a:srgbClr val="F6F9FB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4681727"/>
            <a:ext cx="4983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1">
                <a:solidFill>
                  <a:srgbClr val="E5862B"/>
                </a:solidFill>
                <a:latin typeface="Aptos"/>
              </a:rPr>
              <a:t>POR QUÉ IMPORTA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4983479"/>
            <a:ext cx="498348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63039"/>
                </a:solidFill>
                <a:latin typeface="Aptos"/>
              </a:rPr>
              <a:t>Une un problema técnico de datos con uno institucional/regulatorio.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73952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>
                <a:solidFill>
                  <a:srgbClr val="646E78"/>
                </a:solidFill>
                <a:latin typeface="Aptos"/>
              </a:rPr>
              <a:t>Vol.21 Núm.1 (2026) · resumen e introducción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5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0E2642"/>
                </a:solidFill>
                <a:latin typeface="Aptos"/>
              </a:rPr>
              <a:t>Pregunta 23 · Bárcenas Vidal et al. · Sesgo algorítmico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789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569B0"/>
                </a:solidFill>
                <a:latin typeface="Aptos"/>
              </a:rPr>
              <a:t>Observe primero la figura / tabla. Después responda.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256032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2569B0"/>
                </a:solidFill>
                <a:latin typeface="Aptos"/>
              </a:rPr>
              <a:t>23</a:t>
            </a:r>
          </a:p>
        </p:txBody>
      </p:sp>
      <p:pic>
        <p:nvPicPr>
          <p:cNvPr id="6" name="Picture 5" descr="bias_ap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69994"/>
            <a:ext cx="5623560" cy="4020931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355080" y="1170432"/>
            <a:ext cx="5257800" cy="1572768"/>
          </a:xfrm>
          <a:prstGeom prst="roundRect">
            <a:avLst/>
          </a:prstGeom>
          <a:solidFill>
            <a:srgbClr val="F6F9FB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261872"/>
            <a:ext cx="4983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1">
                <a:solidFill>
                  <a:srgbClr val="2569B0"/>
                </a:solidFill>
                <a:latin typeface="Aptos"/>
              </a:rPr>
              <a:t>PREGUNTA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563624"/>
            <a:ext cx="4983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263039"/>
                </a:solidFill>
                <a:latin typeface="Aptos"/>
              </a:rPr>
              <a:t>¿Qué derechos fundamentales menciona el texto como potencialmente afectados por riesgos digitales?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2944368"/>
            <a:ext cx="5257800" cy="1417320"/>
          </a:xfrm>
          <a:prstGeom prst="roundRect">
            <a:avLst/>
          </a:prstGeom>
          <a:solidFill>
            <a:srgbClr val="F6F9FB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3035808"/>
            <a:ext cx="4983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1">
                <a:solidFill>
                  <a:srgbClr val="2A885B"/>
                </a:solidFill>
                <a:latin typeface="Aptos"/>
              </a:rPr>
              <a:t>RESPUESTA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3337560"/>
            <a:ext cx="4983480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70" b="0">
                <a:solidFill>
                  <a:srgbClr val="263039"/>
                </a:solidFill>
                <a:latin typeface="Aptos"/>
              </a:rPr>
              <a:t>Salud, seguridad y, en última instancia, vida.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4590288"/>
            <a:ext cx="5257800" cy="1078992"/>
          </a:xfrm>
          <a:prstGeom prst="roundRect">
            <a:avLst/>
          </a:prstGeom>
          <a:solidFill>
            <a:srgbClr val="F6F9FB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4681727"/>
            <a:ext cx="4983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1">
                <a:solidFill>
                  <a:srgbClr val="E5862B"/>
                </a:solidFill>
                <a:latin typeface="Aptos"/>
              </a:rPr>
              <a:t>POR QUÉ IMPORTA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4983479"/>
            <a:ext cx="498348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63039"/>
                </a:solidFill>
                <a:latin typeface="Aptos"/>
              </a:rPr>
              <a:t>Eleva el sesgo desde una métrica técnica a una cuestión de derechos.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73952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>
                <a:solidFill>
                  <a:srgbClr val="646E78"/>
                </a:solidFill>
                <a:latin typeface="Aptos"/>
              </a:rPr>
              <a:t>Vol.21 Núm.1 (2026) · p.203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5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0E2642"/>
                </a:solidFill>
                <a:latin typeface="Aptos"/>
              </a:rPr>
              <a:t>Pregunta 24 · Bárcenas Vidal et al. · Sesgo algorítmico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789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569B0"/>
                </a:solidFill>
                <a:latin typeface="Aptos"/>
              </a:rPr>
              <a:t>Observe primero la figura / tabla. Después responda.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256032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2569B0"/>
                </a:solidFill>
                <a:latin typeface="Aptos"/>
              </a:rPr>
              <a:t>24</a:t>
            </a:r>
          </a:p>
        </p:txBody>
      </p:sp>
      <p:pic>
        <p:nvPicPr>
          <p:cNvPr id="6" name="Picture 5" descr="bias_ap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69994"/>
            <a:ext cx="5623560" cy="4020931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355080" y="1170432"/>
            <a:ext cx="5257800" cy="1572768"/>
          </a:xfrm>
          <a:prstGeom prst="roundRect">
            <a:avLst/>
          </a:prstGeom>
          <a:solidFill>
            <a:srgbClr val="F6F9FB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261872"/>
            <a:ext cx="4983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1">
                <a:solidFill>
                  <a:srgbClr val="2569B0"/>
                </a:solidFill>
                <a:latin typeface="Aptos"/>
              </a:rPr>
              <a:t>PREGUNTA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563624"/>
            <a:ext cx="4983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263039"/>
                </a:solidFill>
                <a:latin typeface="Aptos"/>
              </a:rPr>
              <a:t>Si una herramienta funciona peor en comunidades históricamente desatendidas, ¿qué tipo de problema describe el artículo?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2944368"/>
            <a:ext cx="5257800" cy="1417320"/>
          </a:xfrm>
          <a:prstGeom prst="roundRect">
            <a:avLst/>
          </a:prstGeom>
          <a:solidFill>
            <a:srgbClr val="F6F9FB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3035808"/>
            <a:ext cx="4983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1">
                <a:solidFill>
                  <a:srgbClr val="2A885B"/>
                </a:solidFill>
                <a:latin typeface="Aptos"/>
              </a:rPr>
              <a:t>RESPUESTA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3337560"/>
            <a:ext cx="4983480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70" b="0">
                <a:solidFill>
                  <a:srgbClr val="263039"/>
                </a:solidFill>
                <a:latin typeface="Aptos"/>
              </a:rPr>
              <a:t>Un sesgo que puede reforzar desigualdades estructurales y producir acceso desigual a diagnósticos y tratamientos efectivos.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4590288"/>
            <a:ext cx="5257800" cy="1078992"/>
          </a:xfrm>
          <a:prstGeom prst="roundRect">
            <a:avLst/>
          </a:prstGeom>
          <a:solidFill>
            <a:srgbClr val="F6F9FB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4681727"/>
            <a:ext cx="4983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1">
                <a:solidFill>
                  <a:srgbClr val="E5862B"/>
                </a:solidFill>
                <a:latin typeface="Aptos"/>
              </a:rPr>
              <a:t>POR QUÉ IMPORTA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4983479"/>
            <a:ext cx="498348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63039"/>
                </a:solidFill>
                <a:latin typeface="Aptos"/>
              </a:rPr>
              <a:t>La evaluación debe estratificar desempeño por poblaciones relevantes.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73952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>
                <a:solidFill>
                  <a:srgbClr val="646E78"/>
                </a:solidFill>
                <a:latin typeface="Aptos"/>
              </a:rPr>
              <a:t>Vol.21 Núm.1 (2026) · p.203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5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0E2642"/>
                </a:solidFill>
                <a:latin typeface="Aptos"/>
              </a:rPr>
              <a:t>Pregunta 25 · Bárcenas Vidal et al. · Sesgo algorítmico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789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569B0"/>
                </a:solidFill>
                <a:latin typeface="Aptos"/>
              </a:rPr>
              <a:t>Observe primero la figura / tabla. Después responda.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256032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2569B0"/>
                </a:solidFill>
                <a:latin typeface="Aptos"/>
              </a:rPr>
              <a:t>25</a:t>
            </a:r>
          </a:p>
        </p:txBody>
      </p:sp>
      <p:pic>
        <p:nvPicPr>
          <p:cNvPr id="6" name="Picture 5" descr="bias_ap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69994"/>
            <a:ext cx="5623560" cy="4020931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355080" y="1170432"/>
            <a:ext cx="5257800" cy="1572768"/>
          </a:xfrm>
          <a:prstGeom prst="roundRect">
            <a:avLst/>
          </a:prstGeom>
          <a:solidFill>
            <a:srgbClr val="F6F9FB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261872"/>
            <a:ext cx="4983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1">
                <a:solidFill>
                  <a:srgbClr val="2569B0"/>
                </a:solidFill>
                <a:latin typeface="Aptos"/>
              </a:rPr>
              <a:t>PREGUNTA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563624"/>
            <a:ext cx="4983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263039"/>
                </a:solidFill>
                <a:latin typeface="Aptos"/>
              </a:rPr>
              <a:t>¿Por qué un repositorio de algoritmos regionales no demuestra por sí mismo que esas herramientas sean seguras o equitativas?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2944368"/>
            <a:ext cx="5257800" cy="1417320"/>
          </a:xfrm>
          <a:prstGeom prst="roundRect">
            <a:avLst/>
          </a:prstGeom>
          <a:solidFill>
            <a:srgbClr val="F6F9FB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3035808"/>
            <a:ext cx="4983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1">
                <a:solidFill>
                  <a:srgbClr val="2A885B"/>
                </a:solidFill>
                <a:latin typeface="Aptos"/>
              </a:rPr>
              <a:t>RESPUESTA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3337560"/>
            <a:ext cx="4983480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70" b="0">
                <a:solidFill>
                  <a:srgbClr val="263039"/>
                </a:solidFill>
                <a:latin typeface="Aptos"/>
              </a:rPr>
              <a:t>Porque documentar existencia/uso no equivale a demostrar validación, desempeño por subgrupos, impacto clínico o cumplimiento regulatorio.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4590288"/>
            <a:ext cx="5257800" cy="1078992"/>
          </a:xfrm>
          <a:prstGeom prst="roundRect">
            <a:avLst/>
          </a:prstGeom>
          <a:solidFill>
            <a:srgbClr val="F6F9FB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4681727"/>
            <a:ext cx="4983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1">
                <a:solidFill>
                  <a:srgbClr val="E5862B"/>
                </a:solidFill>
                <a:latin typeface="Aptos"/>
              </a:rPr>
              <a:t>POR QUÉ IMPORTA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4983479"/>
            <a:ext cx="498348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63039"/>
                </a:solidFill>
                <a:latin typeface="Aptos"/>
              </a:rPr>
              <a:t>Evita confundir adopción con evidencia.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73952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>
                <a:solidFill>
                  <a:srgbClr val="646E78"/>
                </a:solidFill>
                <a:latin typeface="Aptos"/>
              </a:rPr>
              <a:t>Vol.21 Núm.1 (2026) · p.203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5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0E2642"/>
                </a:solidFill>
                <a:latin typeface="Aptos"/>
              </a:rPr>
              <a:t>Pregunta 26 · Bárcenas Vidal et al. · Sistemas de salud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789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569B0"/>
                </a:solidFill>
                <a:latin typeface="Aptos"/>
              </a:rPr>
              <a:t>Observe primero la figura / tabla. Después responda.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256032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2569B0"/>
                </a:solidFill>
                <a:latin typeface="Aptos"/>
              </a:rPr>
              <a:t>26</a:t>
            </a:r>
          </a:p>
        </p:txBody>
      </p:sp>
      <p:pic>
        <p:nvPicPr>
          <p:cNvPr id="6" name="Picture 5" descr="bias_syste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2948" y="1143000"/>
            <a:ext cx="4003502" cy="5074919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355080" y="1170432"/>
            <a:ext cx="5257800" cy="1572768"/>
          </a:xfrm>
          <a:prstGeom prst="roundRect">
            <a:avLst/>
          </a:prstGeom>
          <a:solidFill>
            <a:srgbClr val="F6F9FB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261872"/>
            <a:ext cx="4983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1">
                <a:solidFill>
                  <a:srgbClr val="2569B0"/>
                </a:solidFill>
                <a:latin typeface="Aptos"/>
              </a:rPr>
              <a:t>PREGUNTA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563624"/>
            <a:ext cx="4983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263039"/>
                </a:solidFill>
                <a:latin typeface="Aptos"/>
              </a:rPr>
              <a:t>¿Qué característica estructural de los sistemas latinoamericanos destaca el artículo como especialmente relevante?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2944368"/>
            <a:ext cx="5257800" cy="1417320"/>
          </a:xfrm>
          <a:prstGeom prst="roundRect">
            <a:avLst/>
          </a:prstGeom>
          <a:solidFill>
            <a:srgbClr val="F6F9FB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3035808"/>
            <a:ext cx="4983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1">
                <a:solidFill>
                  <a:srgbClr val="2A885B"/>
                </a:solidFill>
                <a:latin typeface="Aptos"/>
              </a:rPr>
              <a:t>RESPUESTA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3337560"/>
            <a:ext cx="4983480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70" b="0">
                <a:solidFill>
                  <a:srgbClr val="263039"/>
                </a:solidFill>
                <a:latin typeface="Aptos"/>
              </a:rPr>
              <a:t>La profunda fragmentación de los sistemas sanitarios.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4590288"/>
            <a:ext cx="5257800" cy="1078992"/>
          </a:xfrm>
          <a:prstGeom prst="roundRect">
            <a:avLst/>
          </a:prstGeom>
          <a:solidFill>
            <a:srgbClr val="F6F9FB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4681727"/>
            <a:ext cx="4983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1">
                <a:solidFill>
                  <a:srgbClr val="E5862B"/>
                </a:solidFill>
                <a:latin typeface="Aptos"/>
              </a:rPr>
              <a:t>POR QUÉ IMPORTA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4983479"/>
            <a:ext cx="498348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63039"/>
                </a:solidFill>
                <a:latin typeface="Aptos"/>
              </a:rPr>
              <a:t>La fragmentación condiciona datos, acceso, interoperabilidad y distribución de beneficios de IA.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73952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>
                <a:solidFill>
                  <a:srgbClr val="646E78"/>
                </a:solidFill>
                <a:latin typeface="Aptos"/>
              </a:rPr>
              <a:t>Vol.21 Núm.1 (2026) · p.205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5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0E2642"/>
                </a:solidFill>
                <a:latin typeface="Aptos"/>
              </a:rPr>
              <a:t>Pregunta 27 · Bárcenas Vidal et al. · Sistemas de salud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789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569B0"/>
                </a:solidFill>
                <a:latin typeface="Aptos"/>
              </a:rPr>
              <a:t>Observe primero la figura / tabla. Después responda.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256032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2569B0"/>
                </a:solidFill>
                <a:latin typeface="Aptos"/>
              </a:rPr>
              <a:t>27</a:t>
            </a:r>
          </a:p>
        </p:txBody>
      </p:sp>
      <p:pic>
        <p:nvPicPr>
          <p:cNvPr id="6" name="Picture 5" descr="bias_syste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2948" y="1143000"/>
            <a:ext cx="4003502" cy="5074919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355080" y="1170432"/>
            <a:ext cx="5257800" cy="1572768"/>
          </a:xfrm>
          <a:prstGeom prst="roundRect">
            <a:avLst/>
          </a:prstGeom>
          <a:solidFill>
            <a:srgbClr val="F6F9FB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261872"/>
            <a:ext cx="4983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1">
                <a:solidFill>
                  <a:srgbClr val="2569B0"/>
                </a:solidFill>
                <a:latin typeface="Aptos"/>
              </a:rPr>
              <a:t>PREGUNTA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563624"/>
            <a:ext cx="4983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263039"/>
                </a:solidFill>
                <a:latin typeface="Aptos"/>
              </a:rPr>
              <a:t>¿Por qué la geografía puede convertirse en una fuente indirecta de sesgo digital?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2944368"/>
            <a:ext cx="5257800" cy="1417320"/>
          </a:xfrm>
          <a:prstGeom prst="roundRect">
            <a:avLst/>
          </a:prstGeom>
          <a:solidFill>
            <a:srgbClr val="F6F9FB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3035808"/>
            <a:ext cx="4983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1">
                <a:solidFill>
                  <a:srgbClr val="2A885B"/>
                </a:solidFill>
                <a:latin typeface="Aptos"/>
              </a:rPr>
              <a:t>RESPUESTA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3337560"/>
            <a:ext cx="4983480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70" b="0">
                <a:solidFill>
                  <a:srgbClr val="263039"/>
                </a:solidFill>
                <a:latin typeface="Aptos"/>
              </a:rPr>
              <a:t>Porque áreas rurales/remotas pueden tener menos infraestructura, transporte, recursos médicos y acceso digital.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4590288"/>
            <a:ext cx="5257800" cy="1078992"/>
          </a:xfrm>
          <a:prstGeom prst="roundRect">
            <a:avLst/>
          </a:prstGeom>
          <a:solidFill>
            <a:srgbClr val="F6F9FB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4681727"/>
            <a:ext cx="4983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1">
                <a:solidFill>
                  <a:srgbClr val="E5862B"/>
                </a:solidFill>
                <a:latin typeface="Aptos"/>
              </a:rPr>
              <a:t>POR QUÉ IMPORTA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4983479"/>
            <a:ext cx="498348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63039"/>
                </a:solidFill>
                <a:latin typeface="Aptos"/>
              </a:rPr>
              <a:t>El sesgo puede surgir antes del modelo: quién logra generar datos y acceder al servicio.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73952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>
                <a:solidFill>
                  <a:srgbClr val="646E78"/>
                </a:solidFill>
                <a:latin typeface="Aptos"/>
              </a:rPr>
              <a:t>Vol.21 Núm.1 (2026) · p.205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5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0E2642"/>
                </a:solidFill>
                <a:latin typeface="Aptos"/>
              </a:rPr>
              <a:t>Pregunta 28 · Bárcenas Vidal et al. · Sistemas de salud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789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569B0"/>
                </a:solidFill>
                <a:latin typeface="Aptos"/>
              </a:rPr>
              <a:t>Observe primero la figura / tabla. Después responda.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256032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2569B0"/>
                </a:solidFill>
                <a:latin typeface="Aptos"/>
              </a:rPr>
              <a:t>28</a:t>
            </a:r>
          </a:p>
        </p:txBody>
      </p:sp>
      <p:pic>
        <p:nvPicPr>
          <p:cNvPr id="6" name="Picture 5" descr="bias_syste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2948" y="1143000"/>
            <a:ext cx="4003502" cy="5074919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355080" y="1170432"/>
            <a:ext cx="5257800" cy="1572768"/>
          </a:xfrm>
          <a:prstGeom prst="roundRect">
            <a:avLst/>
          </a:prstGeom>
          <a:solidFill>
            <a:srgbClr val="F6F9FB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261872"/>
            <a:ext cx="4983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1">
                <a:solidFill>
                  <a:srgbClr val="2569B0"/>
                </a:solidFill>
                <a:latin typeface="Aptos"/>
              </a:rPr>
              <a:t>PREGUNTA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563624"/>
            <a:ext cx="4983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263039"/>
                </a:solidFill>
                <a:latin typeface="Aptos"/>
              </a:rPr>
              <a:t>El texto menciona educación y ubicación geográfica. ¿Qué concepto de IA responsable obliga a considerar esta intersección?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2944368"/>
            <a:ext cx="5257800" cy="1417320"/>
          </a:xfrm>
          <a:prstGeom prst="roundRect">
            <a:avLst/>
          </a:prstGeom>
          <a:solidFill>
            <a:srgbClr val="F6F9FB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3035808"/>
            <a:ext cx="4983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1">
                <a:solidFill>
                  <a:srgbClr val="2A885B"/>
                </a:solidFill>
                <a:latin typeface="Aptos"/>
              </a:rPr>
              <a:t>RESPUESTA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3337560"/>
            <a:ext cx="4983480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70" b="0">
                <a:solidFill>
                  <a:srgbClr val="263039"/>
                </a:solidFill>
                <a:latin typeface="Aptos"/>
              </a:rPr>
              <a:t>Equidad contextual/interseccional: evaluar cómo múltiples determinantes condicionan acceso y desempeño.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4590288"/>
            <a:ext cx="5257800" cy="1078992"/>
          </a:xfrm>
          <a:prstGeom prst="roundRect">
            <a:avLst/>
          </a:prstGeom>
          <a:solidFill>
            <a:srgbClr val="F6F9FB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4681727"/>
            <a:ext cx="4983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1">
                <a:solidFill>
                  <a:srgbClr val="E5862B"/>
                </a:solidFill>
                <a:latin typeface="Aptos"/>
              </a:rPr>
              <a:t>POR QUÉ IMPORTA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4983479"/>
            <a:ext cx="498348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63039"/>
                </a:solidFill>
                <a:latin typeface="Aptos"/>
              </a:rPr>
              <a:t>Un único análisis por sexo o edad puede ser insuficiente.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73952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>
                <a:solidFill>
                  <a:srgbClr val="646E78"/>
                </a:solidFill>
                <a:latin typeface="Aptos"/>
              </a:rPr>
              <a:t>Vol.21 Núm.1 (2026) · p.205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5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0E2642"/>
                </a:solidFill>
                <a:latin typeface="Aptos"/>
              </a:rPr>
              <a:t>Pregunta 29 · Bárcenas Vidal et al. · Derechos humanos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789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569B0"/>
                </a:solidFill>
                <a:latin typeface="Aptos"/>
              </a:rPr>
              <a:t>Observe primero la figura / tabla. Después responda.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256032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2569B0"/>
                </a:solidFill>
                <a:latin typeface="Aptos"/>
              </a:rPr>
              <a:t>29</a:t>
            </a:r>
          </a:p>
        </p:txBody>
      </p:sp>
      <p:pic>
        <p:nvPicPr>
          <p:cNvPr id="6" name="Picture 5" descr="bias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3935" y="1143000"/>
            <a:ext cx="3921529" cy="50749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355080" y="1170432"/>
            <a:ext cx="5257800" cy="1572768"/>
          </a:xfrm>
          <a:prstGeom prst="roundRect">
            <a:avLst/>
          </a:prstGeom>
          <a:solidFill>
            <a:srgbClr val="F6F9FB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261872"/>
            <a:ext cx="4983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1">
                <a:solidFill>
                  <a:srgbClr val="2569B0"/>
                </a:solidFill>
                <a:latin typeface="Aptos"/>
              </a:rPr>
              <a:t>PREGUNTA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563624"/>
            <a:ext cx="4983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263039"/>
                </a:solidFill>
                <a:latin typeface="Aptos"/>
              </a:rPr>
              <a:t>¿Qué tipo de metodología usa el artículo y qué limitación implica para interpretar sus conclusiones?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2944368"/>
            <a:ext cx="5257800" cy="1417320"/>
          </a:xfrm>
          <a:prstGeom prst="roundRect">
            <a:avLst/>
          </a:prstGeom>
          <a:solidFill>
            <a:srgbClr val="F6F9FB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3035808"/>
            <a:ext cx="4983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1">
                <a:solidFill>
                  <a:srgbClr val="2A885B"/>
                </a:solidFill>
                <a:latin typeface="Aptos"/>
              </a:rPr>
              <a:t>RESPUESTA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3337560"/>
            <a:ext cx="4983480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70" b="0">
                <a:solidFill>
                  <a:srgbClr val="263039"/>
                </a:solidFill>
                <a:latin typeface="Aptos"/>
              </a:rPr>
              <a:t>Metodología cualitativa/documental y análisis jurídico comparado; sustenta interpretación normativa, no estimaciones causales o prevalencias poblacionales.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4590288"/>
            <a:ext cx="5257800" cy="1078992"/>
          </a:xfrm>
          <a:prstGeom prst="roundRect">
            <a:avLst/>
          </a:prstGeom>
          <a:solidFill>
            <a:srgbClr val="F6F9FB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4681727"/>
            <a:ext cx="4983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1">
                <a:solidFill>
                  <a:srgbClr val="E5862B"/>
                </a:solidFill>
                <a:latin typeface="Aptos"/>
              </a:rPr>
              <a:t>POR QUÉ IMPORTA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4983479"/>
            <a:ext cx="498348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63039"/>
                </a:solidFill>
                <a:latin typeface="Aptos"/>
              </a:rPr>
              <a:t>Enseña a distinguir evidencia jurídica-conceptual de evidencia clínica cuantitativa.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73952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>
                <a:solidFill>
                  <a:srgbClr val="646E78"/>
                </a:solidFill>
                <a:latin typeface="Aptos"/>
              </a:rPr>
              <a:t>Vol.21 Núm.1 (2026) · pp.201–204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5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0E2642"/>
                </a:solidFill>
                <a:latin typeface="Aptos"/>
              </a:rPr>
              <a:t>Pregunta 30 · Bárcenas Vidal et al. · Derechos humanos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789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569B0"/>
                </a:solidFill>
                <a:latin typeface="Aptos"/>
              </a:rPr>
              <a:t>Observe primero la figura / tabla. Después responda.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256032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2569B0"/>
                </a:solidFill>
                <a:latin typeface="Aptos"/>
              </a:rPr>
              <a:t>30</a:t>
            </a:r>
          </a:p>
        </p:txBody>
      </p:sp>
      <p:pic>
        <p:nvPicPr>
          <p:cNvPr id="6" name="Picture 5" descr="bias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3935" y="1143000"/>
            <a:ext cx="3921529" cy="50749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355080" y="1170432"/>
            <a:ext cx="5257800" cy="1572768"/>
          </a:xfrm>
          <a:prstGeom prst="roundRect">
            <a:avLst/>
          </a:prstGeom>
          <a:solidFill>
            <a:srgbClr val="F6F9FB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261872"/>
            <a:ext cx="4983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1">
                <a:solidFill>
                  <a:srgbClr val="2569B0"/>
                </a:solidFill>
                <a:latin typeface="Aptos"/>
              </a:rPr>
              <a:t>PREGUNTA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563624"/>
            <a:ext cx="4983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263039"/>
                </a:solidFill>
                <a:latin typeface="Aptos"/>
              </a:rPr>
              <a:t>¿Qué respuestas proactivas propone el resumen frente a los riesgos de discriminación y exclusión?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2944368"/>
            <a:ext cx="5257800" cy="1417320"/>
          </a:xfrm>
          <a:prstGeom prst="roundRect">
            <a:avLst/>
          </a:prstGeom>
          <a:solidFill>
            <a:srgbClr val="F6F9FB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3035808"/>
            <a:ext cx="4983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1">
                <a:solidFill>
                  <a:srgbClr val="2A885B"/>
                </a:solidFill>
                <a:latin typeface="Aptos"/>
              </a:rPr>
              <a:t>RESPUESTA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3337560"/>
            <a:ext cx="4983480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70" b="0">
                <a:solidFill>
                  <a:srgbClr val="263039"/>
                </a:solidFill>
                <a:latin typeface="Aptos"/>
              </a:rPr>
              <a:t>Instrumentos jurídicamente vinculantes y políticas de educación digital.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4590288"/>
            <a:ext cx="5257800" cy="1078992"/>
          </a:xfrm>
          <a:prstGeom prst="roundRect">
            <a:avLst/>
          </a:prstGeom>
          <a:solidFill>
            <a:srgbClr val="F6F9FB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4681727"/>
            <a:ext cx="4983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1">
                <a:solidFill>
                  <a:srgbClr val="E5862B"/>
                </a:solidFill>
                <a:latin typeface="Aptos"/>
              </a:rPr>
              <a:t>POR QUÉ IMPORTA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4983479"/>
            <a:ext cx="498348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63039"/>
                </a:solidFill>
                <a:latin typeface="Aptos"/>
              </a:rPr>
              <a:t>La gobernanza requiere tanto reglas como capacidad humana para aplicarlas.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73952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>
                <a:solidFill>
                  <a:srgbClr val="646E78"/>
                </a:solidFill>
                <a:latin typeface="Aptos"/>
              </a:rPr>
              <a:t>Vol.21 Núm.1 (2026) · resumen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5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0E2642"/>
                </a:solidFill>
                <a:latin typeface="Aptos"/>
              </a:rPr>
              <a:t>Pregunta 31 · Gubert et al. · Enfermedades raras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789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569B0"/>
                </a:solidFill>
                <a:latin typeface="Aptos"/>
              </a:rPr>
              <a:t>Observe primero la figura / tabla. Después responda.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256032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2569B0"/>
                </a:solidFill>
                <a:latin typeface="Aptos"/>
              </a:rPr>
              <a:t>31</a:t>
            </a:r>
          </a:p>
        </p:txBody>
      </p:sp>
      <p:pic>
        <p:nvPicPr>
          <p:cNvPr id="6" name="Picture 5" descr="rar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0043" y="1143000"/>
            <a:ext cx="3589313" cy="50749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355080" y="1170432"/>
            <a:ext cx="5257800" cy="1572768"/>
          </a:xfrm>
          <a:prstGeom prst="roundRect">
            <a:avLst/>
          </a:prstGeom>
          <a:solidFill>
            <a:srgbClr val="F6F9FB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261872"/>
            <a:ext cx="4983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1">
                <a:solidFill>
                  <a:srgbClr val="2569B0"/>
                </a:solidFill>
                <a:latin typeface="Aptos"/>
              </a:rPr>
              <a:t>PREGUNTA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563624"/>
            <a:ext cx="4983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263039"/>
                </a:solidFill>
                <a:latin typeface="Aptos"/>
              </a:rPr>
              <a:t>¿Cuál es la 'doble vulnerabilidad' central del artículo?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2944368"/>
            <a:ext cx="5257800" cy="1417320"/>
          </a:xfrm>
          <a:prstGeom prst="roundRect">
            <a:avLst/>
          </a:prstGeom>
          <a:solidFill>
            <a:srgbClr val="F6F9FB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3035808"/>
            <a:ext cx="4983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1">
                <a:solidFill>
                  <a:srgbClr val="2A885B"/>
                </a:solidFill>
                <a:latin typeface="Aptos"/>
              </a:rPr>
              <a:t>RESPUESTA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3337560"/>
            <a:ext cx="4983480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70" b="0">
                <a:solidFill>
                  <a:srgbClr val="263039"/>
                </a:solidFill>
                <a:latin typeface="Aptos"/>
              </a:rPr>
              <a:t>La vulnerabilidad derivada de la enfermedad rara y la vulnerabilidad adicional de que IA/registro revele identidad, imagen o datos sensibles.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4590288"/>
            <a:ext cx="5257800" cy="1078992"/>
          </a:xfrm>
          <a:prstGeom prst="roundRect">
            <a:avLst/>
          </a:prstGeom>
          <a:solidFill>
            <a:srgbClr val="F6F9FB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4681727"/>
            <a:ext cx="4983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1">
                <a:solidFill>
                  <a:srgbClr val="E5862B"/>
                </a:solidFill>
                <a:latin typeface="Aptos"/>
              </a:rPr>
              <a:t>POR QUÉ IMPORTA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4983479"/>
            <a:ext cx="498348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63039"/>
                </a:solidFill>
                <a:latin typeface="Aptos"/>
              </a:rPr>
              <a:t>Es una excelente entrada a privacidad contextual y justicia.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73952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>
                <a:solidFill>
                  <a:srgbClr val="646E78"/>
                </a:solidFill>
                <a:latin typeface="Aptos"/>
              </a:rPr>
              <a:t>Rev Iberoamericana de Bioética. 2024;(26):1–15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5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0E2642"/>
                </a:solidFill>
                <a:latin typeface="Aptos"/>
              </a:rPr>
              <a:t>Pregunta 32 · Gubert et al. · Enfermedades raras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789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569B0"/>
                </a:solidFill>
                <a:latin typeface="Aptos"/>
              </a:rPr>
              <a:t>Observe primero la figura / tabla. Después responda.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256032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2569B0"/>
                </a:solidFill>
                <a:latin typeface="Aptos"/>
              </a:rPr>
              <a:t>32</a:t>
            </a:r>
          </a:p>
        </p:txBody>
      </p:sp>
      <p:pic>
        <p:nvPicPr>
          <p:cNvPr id="6" name="Picture 5" descr="rar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0043" y="1143000"/>
            <a:ext cx="3589313" cy="50749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355080" y="1170432"/>
            <a:ext cx="5257800" cy="1572768"/>
          </a:xfrm>
          <a:prstGeom prst="roundRect">
            <a:avLst/>
          </a:prstGeom>
          <a:solidFill>
            <a:srgbClr val="F6F9FB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261872"/>
            <a:ext cx="4983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1">
                <a:solidFill>
                  <a:srgbClr val="2569B0"/>
                </a:solidFill>
                <a:latin typeface="Aptos"/>
              </a:rPr>
              <a:t>PREGUNTA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563624"/>
            <a:ext cx="4983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263039"/>
                </a:solidFill>
                <a:latin typeface="Aptos"/>
              </a:rPr>
              <a:t>¿Por qué una enfermedad rara cambia el análisis de anonimato?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2944368"/>
            <a:ext cx="5257800" cy="1417320"/>
          </a:xfrm>
          <a:prstGeom prst="roundRect">
            <a:avLst/>
          </a:prstGeom>
          <a:solidFill>
            <a:srgbClr val="F6F9FB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3035808"/>
            <a:ext cx="4983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1">
                <a:solidFill>
                  <a:srgbClr val="2A885B"/>
                </a:solidFill>
                <a:latin typeface="Aptos"/>
              </a:rPr>
              <a:t>RESPUESTA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3337560"/>
            <a:ext cx="4983480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70" b="0">
                <a:solidFill>
                  <a:srgbClr val="263039"/>
                </a:solidFill>
                <a:latin typeface="Aptos"/>
              </a:rPr>
              <a:t>Porque combinaciones poco frecuentes de rasgos clínicos, demográficos o genómicos pueden hacer a una persona más singular y potencialmente identificable.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4590288"/>
            <a:ext cx="5257800" cy="1078992"/>
          </a:xfrm>
          <a:prstGeom prst="roundRect">
            <a:avLst/>
          </a:prstGeom>
          <a:solidFill>
            <a:srgbClr val="F6F9FB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4681727"/>
            <a:ext cx="4983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1">
                <a:solidFill>
                  <a:srgbClr val="E5862B"/>
                </a:solidFill>
                <a:latin typeface="Aptos"/>
              </a:rPr>
              <a:t>POR QUÉ IMPORTA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4983479"/>
            <a:ext cx="498348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63039"/>
                </a:solidFill>
                <a:latin typeface="Aptos"/>
              </a:rPr>
              <a:t>Quitar nombre y cédula no garantiza anonimato contextual.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73952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>
                <a:solidFill>
                  <a:srgbClr val="646E78"/>
                </a:solidFill>
                <a:latin typeface="Aptos"/>
              </a:rPr>
              <a:t>Rev Iberoamericana de Bioética. 2024;(26):1–15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5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0E2642"/>
                </a:solidFill>
                <a:latin typeface="Aptos"/>
              </a:rPr>
              <a:t>Pregunta 33 · Gubert et al. · Enfermedades raras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789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569B0"/>
                </a:solidFill>
                <a:latin typeface="Aptos"/>
              </a:rPr>
              <a:t>Observe primero la figura / tabla. Después responda.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256032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2569B0"/>
                </a:solidFill>
                <a:latin typeface="Aptos"/>
              </a:rPr>
              <a:t>33</a:t>
            </a:r>
          </a:p>
        </p:txBody>
      </p:sp>
      <p:pic>
        <p:nvPicPr>
          <p:cNvPr id="6" name="Picture 5" descr="rar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0043" y="1143000"/>
            <a:ext cx="3589313" cy="50749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355080" y="1170432"/>
            <a:ext cx="5257800" cy="1572768"/>
          </a:xfrm>
          <a:prstGeom prst="roundRect">
            <a:avLst/>
          </a:prstGeom>
          <a:solidFill>
            <a:srgbClr val="F6F9FB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261872"/>
            <a:ext cx="4983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1">
                <a:solidFill>
                  <a:srgbClr val="2569B0"/>
                </a:solidFill>
                <a:latin typeface="Aptos"/>
              </a:rPr>
              <a:t>PREGUNTA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563624"/>
            <a:ext cx="4983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263039"/>
                </a:solidFill>
                <a:latin typeface="Aptos"/>
              </a:rPr>
              <a:t>¿Qué tensión ética crea el uso de genómica + IA?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2944368"/>
            <a:ext cx="5257800" cy="1417320"/>
          </a:xfrm>
          <a:prstGeom prst="roundRect">
            <a:avLst/>
          </a:prstGeom>
          <a:solidFill>
            <a:srgbClr val="F6F9FB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3035808"/>
            <a:ext cx="4983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1">
                <a:solidFill>
                  <a:srgbClr val="2A885B"/>
                </a:solidFill>
                <a:latin typeface="Aptos"/>
              </a:rPr>
              <a:t>RESPUESTA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3337560"/>
            <a:ext cx="4983480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70" b="0">
                <a:solidFill>
                  <a:srgbClr val="263039"/>
                </a:solidFill>
                <a:latin typeface="Aptos"/>
              </a:rPr>
              <a:t>Más datos pueden mejorar diagnóstico y sistematización del conocimiento, pero aumentan el desafío de preservar anonimato y evitar usos discriminatorios.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4590288"/>
            <a:ext cx="5257800" cy="1078992"/>
          </a:xfrm>
          <a:prstGeom prst="roundRect">
            <a:avLst/>
          </a:prstGeom>
          <a:solidFill>
            <a:srgbClr val="F6F9FB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4681727"/>
            <a:ext cx="4983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1">
                <a:solidFill>
                  <a:srgbClr val="E5862B"/>
                </a:solidFill>
                <a:latin typeface="Aptos"/>
              </a:rPr>
              <a:t>POR QUÉ IMPORTA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4983479"/>
            <a:ext cx="498348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63039"/>
                </a:solidFill>
                <a:latin typeface="Aptos"/>
              </a:rPr>
              <a:t>Es un conflicto real entre utilidad clínica y protección de la persona.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73952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>
                <a:solidFill>
                  <a:srgbClr val="646E78"/>
                </a:solidFill>
                <a:latin typeface="Aptos"/>
              </a:rPr>
              <a:t>Rev Iberoamericana de Bioética. 2024;(26):1–15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5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0E2642"/>
                </a:solidFill>
                <a:latin typeface="Aptos"/>
              </a:rPr>
              <a:t>Pregunta 34 · Gubert et al. · Enfermedades raras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789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569B0"/>
                </a:solidFill>
                <a:latin typeface="Aptos"/>
              </a:rPr>
              <a:t>Observe primero la figura / tabla. Después responda.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256032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2569B0"/>
                </a:solidFill>
                <a:latin typeface="Aptos"/>
              </a:rPr>
              <a:t>34</a:t>
            </a:r>
          </a:p>
        </p:txBody>
      </p:sp>
      <p:pic>
        <p:nvPicPr>
          <p:cNvPr id="6" name="Picture 5" descr="rar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0043" y="1143000"/>
            <a:ext cx="3589313" cy="50749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355080" y="1170432"/>
            <a:ext cx="5257800" cy="1572768"/>
          </a:xfrm>
          <a:prstGeom prst="roundRect">
            <a:avLst/>
          </a:prstGeom>
          <a:solidFill>
            <a:srgbClr val="F6F9FB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261872"/>
            <a:ext cx="4983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1">
                <a:solidFill>
                  <a:srgbClr val="2569B0"/>
                </a:solidFill>
                <a:latin typeface="Aptos"/>
              </a:rPr>
              <a:t>PREGUNTA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563624"/>
            <a:ext cx="4983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263039"/>
                </a:solidFill>
                <a:latin typeface="Aptos"/>
              </a:rPr>
              <a:t>¿Qué dimensiones de integridad de la persona menciona el resumen que deben preservarse?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2944368"/>
            <a:ext cx="5257800" cy="1417320"/>
          </a:xfrm>
          <a:prstGeom prst="roundRect">
            <a:avLst/>
          </a:prstGeom>
          <a:solidFill>
            <a:srgbClr val="F6F9FB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3035808"/>
            <a:ext cx="4983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1">
                <a:solidFill>
                  <a:srgbClr val="2A885B"/>
                </a:solidFill>
                <a:latin typeface="Aptos"/>
              </a:rPr>
              <a:t>RESPUESTA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3337560"/>
            <a:ext cx="4983480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70" b="0">
                <a:solidFill>
                  <a:srgbClr val="263039"/>
                </a:solidFill>
                <a:latin typeface="Aptos"/>
              </a:rPr>
              <a:t>Integridad física, psíquica, social y espiritual.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4590288"/>
            <a:ext cx="5257800" cy="1078992"/>
          </a:xfrm>
          <a:prstGeom prst="roundRect">
            <a:avLst/>
          </a:prstGeom>
          <a:solidFill>
            <a:srgbClr val="F6F9FB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4681727"/>
            <a:ext cx="4983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1">
                <a:solidFill>
                  <a:srgbClr val="E5862B"/>
                </a:solidFill>
                <a:latin typeface="Aptos"/>
              </a:rPr>
              <a:t>POR QUÉ IMPORTA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4983479"/>
            <a:ext cx="498348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63039"/>
                </a:solidFill>
                <a:latin typeface="Aptos"/>
              </a:rPr>
              <a:t>Amplía la evaluación más allá de seguridad informática.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73952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>
                <a:solidFill>
                  <a:srgbClr val="646E78"/>
                </a:solidFill>
                <a:latin typeface="Aptos"/>
              </a:rPr>
              <a:t>Rev Iberoamericana de Bioética. 2024;(26):1–15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5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0E2642"/>
                </a:solidFill>
                <a:latin typeface="Aptos"/>
              </a:rPr>
              <a:t>Pregunta 35 · Gubert et al. · Enfermedades raras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789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569B0"/>
                </a:solidFill>
                <a:latin typeface="Aptos"/>
              </a:rPr>
              <a:t>Observe primero la figura / tabla. Después responda.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256032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2569B0"/>
                </a:solidFill>
                <a:latin typeface="Aptos"/>
              </a:rPr>
              <a:t>35</a:t>
            </a:r>
          </a:p>
        </p:txBody>
      </p:sp>
      <p:pic>
        <p:nvPicPr>
          <p:cNvPr id="6" name="Picture 5" descr="rar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0043" y="1143000"/>
            <a:ext cx="3589313" cy="50749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355080" y="1170432"/>
            <a:ext cx="5257800" cy="1572768"/>
          </a:xfrm>
          <a:prstGeom prst="roundRect">
            <a:avLst/>
          </a:prstGeom>
          <a:solidFill>
            <a:srgbClr val="F6F9FB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261872"/>
            <a:ext cx="4983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1">
                <a:solidFill>
                  <a:srgbClr val="2569B0"/>
                </a:solidFill>
                <a:latin typeface="Aptos"/>
              </a:rPr>
              <a:t>PREGUNTA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563624"/>
            <a:ext cx="4983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263039"/>
                </a:solidFill>
                <a:latin typeface="Aptos"/>
              </a:rPr>
              <a:t>¿Qué principio de justicia aparece cuando un grupo pequeño necesita compartir datos para obtener diagnóstico, pero ese mismo intercambio aumenta su riesgo de identificación?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2944368"/>
            <a:ext cx="5257800" cy="1417320"/>
          </a:xfrm>
          <a:prstGeom prst="roundRect">
            <a:avLst/>
          </a:prstGeom>
          <a:solidFill>
            <a:srgbClr val="F6F9FB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3035808"/>
            <a:ext cx="4983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1">
                <a:solidFill>
                  <a:srgbClr val="2A885B"/>
                </a:solidFill>
                <a:latin typeface="Aptos"/>
              </a:rPr>
              <a:t>RESPUESTA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3337560"/>
            <a:ext cx="4983480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70" b="0">
                <a:solidFill>
                  <a:srgbClr val="263039"/>
                </a:solidFill>
                <a:latin typeface="Aptos"/>
              </a:rPr>
              <a:t>Justicia y no discriminación deben equilibrarse con privacidad y beneficio clínico; el artículo plantea esta tensión, no una regla única.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4590288"/>
            <a:ext cx="5257800" cy="1078992"/>
          </a:xfrm>
          <a:prstGeom prst="roundRect">
            <a:avLst/>
          </a:prstGeom>
          <a:solidFill>
            <a:srgbClr val="F6F9FB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4681727"/>
            <a:ext cx="4983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1">
                <a:solidFill>
                  <a:srgbClr val="E5862B"/>
                </a:solidFill>
                <a:latin typeface="Aptos"/>
              </a:rPr>
              <a:t>POR QUÉ IMPORTA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4983479"/>
            <a:ext cx="498348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63039"/>
                </a:solidFill>
                <a:latin typeface="Aptos"/>
              </a:rPr>
              <a:t>Evita soluciones simplistas de 'compartir todo' o 'no compartir nada'.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73952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>
                <a:solidFill>
                  <a:srgbClr val="646E78"/>
                </a:solidFill>
                <a:latin typeface="Aptos"/>
              </a:rPr>
              <a:t>Rev Iberoamericana de Bioética. 2024;(26):1–15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5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0E2642"/>
                </a:solidFill>
                <a:latin typeface="Aptos"/>
              </a:rPr>
              <a:t>Pregunta 36 · Gubert et al. · Epidemiología de EPF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789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569B0"/>
                </a:solidFill>
                <a:latin typeface="Aptos"/>
              </a:rPr>
              <a:t>Observe primero la figura / tabla. Después responda.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256032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2569B0"/>
                </a:solidFill>
                <a:latin typeface="Aptos"/>
              </a:rPr>
              <a:t>36</a:t>
            </a:r>
          </a:p>
        </p:txBody>
      </p:sp>
      <p:pic>
        <p:nvPicPr>
          <p:cNvPr id="6" name="Picture 5" descr="rar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0043" y="1143000"/>
            <a:ext cx="3589313" cy="50749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355080" y="1170432"/>
            <a:ext cx="5257800" cy="1572768"/>
          </a:xfrm>
          <a:prstGeom prst="roundRect">
            <a:avLst/>
          </a:prstGeom>
          <a:solidFill>
            <a:srgbClr val="F6F9FB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261872"/>
            <a:ext cx="4983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1">
                <a:solidFill>
                  <a:srgbClr val="2569B0"/>
                </a:solidFill>
                <a:latin typeface="Aptos"/>
              </a:rPr>
              <a:t>PREGUNTA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563624"/>
            <a:ext cx="4983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263039"/>
                </a:solidFill>
                <a:latin typeface="Aptos"/>
              </a:rPr>
              <a:t>El artículo cita diferentes umbrales para definir enfermedad rara. ¿Qué enseña esto sobre construir datasets multinacionales?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2944368"/>
            <a:ext cx="5257800" cy="1417320"/>
          </a:xfrm>
          <a:prstGeom prst="roundRect">
            <a:avLst/>
          </a:prstGeom>
          <a:solidFill>
            <a:srgbClr val="F6F9FB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3035808"/>
            <a:ext cx="4983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1">
                <a:solidFill>
                  <a:srgbClr val="2A885B"/>
                </a:solidFill>
                <a:latin typeface="Aptos"/>
              </a:rPr>
              <a:t>RESPUESTA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3337560"/>
            <a:ext cx="4983480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70" b="0">
                <a:solidFill>
                  <a:srgbClr val="263039"/>
                </a:solidFill>
                <a:latin typeface="Aptos"/>
              </a:rPr>
              <a:t>Que definiciones y marcos epidemiológicos pueden variar por jurisdicción; las etiquetas deben armonizarse antes de comparar o entrenar modelos.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4590288"/>
            <a:ext cx="5257800" cy="1078992"/>
          </a:xfrm>
          <a:prstGeom prst="roundRect">
            <a:avLst/>
          </a:prstGeom>
          <a:solidFill>
            <a:srgbClr val="F6F9FB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4681727"/>
            <a:ext cx="4983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1">
                <a:solidFill>
                  <a:srgbClr val="E5862B"/>
                </a:solidFill>
                <a:latin typeface="Aptos"/>
              </a:rPr>
              <a:t>POR QUÉ IMPORTA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4983479"/>
            <a:ext cx="498348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63039"/>
                </a:solidFill>
                <a:latin typeface="Aptos"/>
              </a:rPr>
              <a:t>Una diferencia semántica puede convertirse en label bias.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73952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>
                <a:solidFill>
                  <a:srgbClr val="646E78"/>
                </a:solidFill>
                <a:latin typeface="Aptos"/>
              </a:rPr>
              <a:t>Rev Iberoamericana de Bioética. 2024 · introducción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5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0E2642"/>
                </a:solidFill>
                <a:latin typeface="Aptos"/>
              </a:rPr>
              <a:t>Pregunta 37 · Gubert et al. · Epidemiología de EPF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789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569B0"/>
                </a:solidFill>
                <a:latin typeface="Aptos"/>
              </a:rPr>
              <a:t>Observe primero la figura / tabla. Después responda.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256032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2569B0"/>
                </a:solidFill>
                <a:latin typeface="Aptos"/>
              </a:rPr>
              <a:t>37</a:t>
            </a:r>
          </a:p>
        </p:txBody>
      </p:sp>
      <p:pic>
        <p:nvPicPr>
          <p:cNvPr id="6" name="Picture 5" descr="rar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0043" y="1143000"/>
            <a:ext cx="3589313" cy="50749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355080" y="1170432"/>
            <a:ext cx="5257800" cy="1572768"/>
          </a:xfrm>
          <a:prstGeom prst="roundRect">
            <a:avLst/>
          </a:prstGeom>
          <a:solidFill>
            <a:srgbClr val="F6F9FB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261872"/>
            <a:ext cx="4983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1">
                <a:solidFill>
                  <a:srgbClr val="2569B0"/>
                </a:solidFill>
                <a:latin typeface="Aptos"/>
              </a:rPr>
              <a:t>PREGUNTA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563624"/>
            <a:ext cx="4983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263039"/>
                </a:solidFill>
                <a:latin typeface="Aptos"/>
              </a:rPr>
              <a:t>¿Qué función cumple ORPHACODE según el artículo?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2944368"/>
            <a:ext cx="5257800" cy="1417320"/>
          </a:xfrm>
          <a:prstGeom prst="roundRect">
            <a:avLst/>
          </a:prstGeom>
          <a:solidFill>
            <a:srgbClr val="F6F9FB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3035808"/>
            <a:ext cx="4983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1">
                <a:solidFill>
                  <a:srgbClr val="2A885B"/>
                </a:solidFill>
                <a:latin typeface="Aptos"/>
              </a:rPr>
              <a:t>RESPUESTA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3337560"/>
            <a:ext cx="4983480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70" b="0">
                <a:solidFill>
                  <a:srgbClr val="263039"/>
                </a:solidFill>
                <a:latin typeface="Aptos"/>
              </a:rPr>
              <a:t>Proporcionar un identificador único y estable para enfermedades raras en Orphanet.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4590288"/>
            <a:ext cx="5257800" cy="1078992"/>
          </a:xfrm>
          <a:prstGeom prst="roundRect">
            <a:avLst/>
          </a:prstGeom>
          <a:solidFill>
            <a:srgbClr val="F6F9FB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4681727"/>
            <a:ext cx="4983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1">
                <a:solidFill>
                  <a:srgbClr val="E5862B"/>
                </a:solidFill>
                <a:latin typeface="Aptos"/>
              </a:rPr>
              <a:t>POR QUÉ IMPORTA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4983479"/>
            <a:ext cx="498348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63039"/>
                </a:solidFill>
                <a:latin typeface="Aptos"/>
              </a:rPr>
              <a:t>La estandarización semántica ayuda a interoperabilidad e investigación, aunque no resuelve por sí sola privacidad.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73952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>
                <a:solidFill>
                  <a:srgbClr val="646E78"/>
                </a:solidFill>
                <a:latin typeface="Aptos"/>
              </a:rPr>
              <a:t>Rev Iberoamericana de Bioética. 2024 · p.3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5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0E2642"/>
                </a:solidFill>
                <a:latin typeface="Aptos"/>
              </a:rPr>
              <a:t>Pregunta 38 · Gubert et al. · Epidemiología de EPF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789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569B0"/>
                </a:solidFill>
                <a:latin typeface="Aptos"/>
              </a:rPr>
              <a:t>Observe primero la figura / tabla. Después responda.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256032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2569B0"/>
                </a:solidFill>
                <a:latin typeface="Aptos"/>
              </a:rPr>
              <a:t>38</a:t>
            </a:r>
          </a:p>
        </p:txBody>
      </p:sp>
      <p:pic>
        <p:nvPicPr>
          <p:cNvPr id="6" name="Picture 5" descr="rar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0043" y="1143000"/>
            <a:ext cx="3589313" cy="50749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355080" y="1170432"/>
            <a:ext cx="5257800" cy="1572768"/>
          </a:xfrm>
          <a:prstGeom prst="roundRect">
            <a:avLst/>
          </a:prstGeom>
          <a:solidFill>
            <a:srgbClr val="F6F9FB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261872"/>
            <a:ext cx="4983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1">
                <a:solidFill>
                  <a:srgbClr val="2569B0"/>
                </a:solidFill>
                <a:latin typeface="Aptos"/>
              </a:rPr>
              <a:t>PREGUNTA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563624"/>
            <a:ext cx="4983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263039"/>
                </a:solidFill>
                <a:latin typeface="Aptos"/>
              </a:rPr>
              <a:t>Si un hospital comparte un registro con diagnóstico raro + localidad + edad + variante genética, ¿qué pregunta debe hacerse antes de llamarlo 'anónimo'?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2944368"/>
            <a:ext cx="5257800" cy="1417320"/>
          </a:xfrm>
          <a:prstGeom prst="roundRect">
            <a:avLst/>
          </a:prstGeom>
          <a:solidFill>
            <a:srgbClr val="F6F9FB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3035808"/>
            <a:ext cx="4983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1">
                <a:solidFill>
                  <a:srgbClr val="2A885B"/>
                </a:solidFill>
                <a:latin typeface="Aptos"/>
              </a:rPr>
              <a:t>RESPUESTA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3337560"/>
            <a:ext cx="4983480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70" b="0">
                <a:solidFill>
                  <a:srgbClr val="263039"/>
                </a:solidFill>
                <a:latin typeface="Aptos"/>
              </a:rPr>
              <a:t>Si esa combinación permite singling-out o reidentificación directa/indirecta en el contexto disponible.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4590288"/>
            <a:ext cx="5257800" cy="1078992"/>
          </a:xfrm>
          <a:prstGeom prst="roundRect">
            <a:avLst/>
          </a:prstGeom>
          <a:solidFill>
            <a:srgbClr val="F6F9FB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4681727"/>
            <a:ext cx="4983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1">
                <a:solidFill>
                  <a:srgbClr val="E5862B"/>
                </a:solidFill>
                <a:latin typeface="Aptos"/>
              </a:rPr>
              <a:t>POR QUÉ IMPORTA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4983479"/>
            <a:ext cx="498348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63039"/>
                </a:solidFill>
                <a:latin typeface="Aptos"/>
              </a:rPr>
              <a:t>La privacidad depende del conjunto de atributos y del entorno de datos.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73952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>
                <a:solidFill>
                  <a:srgbClr val="646E78"/>
                </a:solidFill>
                <a:latin typeface="Aptos"/>
              </a:rPr>
              <a:t>Rev Iberoamericana de Bioética. 2024 · pp.2–3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5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0E2642"/>
                </a:solidFill>
                <a:latin typeface="Aptos"/>
              </a:rPr>
              <a:t>Pregunta 39 · Gubert et al. · Enfermedades raras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789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569B0"/>
                </a:solidFill>
                <a:latin typeface="Aptos"/>
              </a:rPr>
              <a:t>Observe primero la figura / tabla. Después responda.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256032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2569B0"/>
                </a:solidFill>
                <a:latin typeface="Aptos"/>
              </a:rPr>
              <a:t>39</a:t>
            </a:r>
          </a:p>
        </p:txBody>
      </p:sp>
      <p:pic>
        <p:nvPicPr>
          <p:cNvPr id="6" name="Picture 5" descr="rar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0043" y="1143000"/>
            <a:ext cx="3589313" cy="50749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355080" y="1170432"/>
            <a:ext cx="5257800" cy="1572768"/>
          </a:xfrm>
          <a:prstGeom prst="roundRect">
            <a:avLst/>
          </a:prstGeom>
          <a:solidFill>
            <a:srgbClr val="F6F9FB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261872"/>
            <a:ext cx="4983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1">
                <a:solidFill>
                  <a:srgbClr val="2569B0"/>
                </a:solidFill>
                <a:latin typeface="Aptos"/>
              </a:rPr>
              <a:t>PREGUNTA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563624"/>
            <a:ext cx="4983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263039"/>
                </a:solidFill>
                <a:latin typeface="Aptos"/>
              </a:rPr>
              <a:t>¿Por qué el consentimiento puede ser especialmente complejo cuando los datos genómicos se reutilizan para entrenar IA futura?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2944368"/>
            <a:ext cx="5257800" cy="1417320"/>
          </a:xfrm>
          <a:prstGeom prst="roundRect">
            <a:avLst/>
          </a:prstGeom>
          <a:solidFill>
            <a:srgbClr val="F6F9FB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3035808"/>
            <a:ext cx="4983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1">
                <a:solidFill>
                  <a:srgbClr val="2A885B"/>
                </a:solidFill>
                <a:latin typeface="Aptos"/>
              </a:rPr>
              <a:t>RESPUESTA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3337560"/>
            <a:ext cx="4983480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70" b="0">
                <a:solidFill>
                  <a:srgbClr val="263039"/>
                </a:solidFill>
                <a:latin typeface="Aptos"/>
              </a:rPr>
              <a:t>Porque usos secundarios futuros pueden ser difíciles de anticipar y los datos genómicos son altamente informativos y persistentes.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4590288"/>
            <a:ext cx="5257800" cy="1078992"/>
          </a:xfrm>
          <a:prstGeom prst="roundRect">
            <a:avLst/>
          </a:prstGeom>
          <a:solidFill>
            <a:srgbClr val="F6F9FB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4681727"/>
            <a:ext cx="4983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1">
                <a:solidFill>
                  <a:srgbClr val="E5862B"/>
                </a:solidFill>
                <a:latin typeface="Aptos"/>
              </a:rPr>
              <a:t>POR QUÉ IMPORTA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4983479"/>
            <a:ext cx="498348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63039"/>
                </a:solidFill>
                <a:latin typeface="Aptos"/>
              </a:rPr>
              <a:t>La gobernanza debe especificar finalidad, reutilización, acceso y salvaguardas.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73952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>
                <a:solidFill>
                  <a:srgbClr val="646E78"/>
                </a:solidFill>
                <a:latin typeface="Aptos"/>
              </a:rPr>
              <a:t>Rev Iberoamericana de Bioética. 2024;(26):1–15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5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0E2642"/>
                </a:solidFill>
                <a:latin typeface="Aptos"/>
              </a:rPr>
              <a:t>Pregunta 40 · Gubert et al. · Integración final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789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569B0"/>
                </a:solidFill>
                <a:latin typeface="Aptos"/>
              </a:rPr>
              <a:t>Observe primero la figura / tabla. Después responda.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256032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2569B0"/>
                </a:solidFill>
                <a:latin typeface="Aptos"/>
              </a:rPr>
              <a:t>40</a:t>
            </a:r>
          </a:p>
        </p:txBody>
      </p:sp>
      <p:pic>
        <p:nvPicPr>
          <p:cNvPr id="6" name="Picture 5" descr="rar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0043" y="1143000"/>
            <a:ext cx="3589313" cy="50749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355080" y="1170432"/>
            <a:ext cx="5257800" cy="1572768"/>
          </a:xfrm>
          <a:prstGeom prst="roundRect">
            <a:avLst/>
          </a:prstGeom>
          <a:solidFill>
            <a:srgbClr val="F6F9FB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261872"/>
            <a:ext cx="4983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1">
                <a:solidFill>
                  <a:srgbClr val="2569B0"/>
                </a:solidFill>
                <a:latin typeface="Aptos"/>
              </a:rPr>
              <a:t>PREGUNTA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563624"/>
            <a:ext cx="4983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263039"/>
                </a:solidFill>
                <a:latin typeface="Aptos"/>
              </a:rPr>
              <a:t>Diseñe una condición mínima para usar IA diagnóstica en enfermedades raras sin ignorar la doble vulnerabilidad.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2944368"/>
            <a:ext cx="5257800" cy="1417320"/>
          </a:xfrm>
          <a:prstGeom prst="roundRect">
            <a:avLst/>
          </a:prstGeom>
          <a:solidFill>
            <a:srgbClr val="F6F9FB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3035808"/>
            <a:ext cx="4983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1">
                <a:solidFill>
                  <a:srgbClr val="2A885B"/>
                </a:solidFill>
                <a:latin typeface="Aptos"/>
              </a:rPr>
              <a:t>RESPUESTA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3337560"/>
            <a:ext cx="4983480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70" b="0">
                <a:solidFill>
                  <a:srgbClr val="263039"/>
                </a:solidFill>
                <a:latin typeface="Aptos"/>
              </a:rPr>
              <a:t>Validación clínica + minimización de datos + evaluación de reidentificación + acceso controlado + consentimiento/base ética apropiada + auditoría de uso y no discriminación.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4590288"/>
            <a:ext cx="5257800" cy="1078992"/>
          </a:xfrm>
          <a:prstGeom prst="roundRect">
            <a:avLst/>
          </a:prstGeom>
          <a:solidFill>
            <a:srgbClr val="F6F9FB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4681727"/>
            <a:ext cx="4983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1">
                <a:solidFill>
                  <a:srgbClr val="E5862B"/>
                </a:solidFill>
                <a:latin typeface="Aptos"/>
              </a:rPr>
              <a:t>POR QUÉ IMPORTA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4983479"/>
            <a:ext cx="498348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63039"/>
                </a:solidFill>
                <a:latin typeface="Aptos"/>
              </a:rPr>
              <a:t>La respuesta combina desempeño, privacidad, gobernanza y justicia en una sola ruta de implementación.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73952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>
                <a:solidFill>
                  <a:srgbClr val="646E78"/>
                </a:solidFill>
                <a:latin typeface="Aptos"/>
              </a:rPr>
              <a:t>Rev Iberoamericana de Bioética. 2024;(26):1–15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E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0E2642"/>
                </a:solidFill>
                <a:latin typeface="Aptos"/>
              </a:rPr>
              <a:t>Clave docente · Cómo usar las 40 preguntas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789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569B0"/>
                </a:solidFill>
                <a:latin typeface="Aptos"/>
              </a:rPr>
              <a:t>Sugerencia: 60–90 s por pregunta; seleccione 20 para clase y 20 para evaluación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256032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0E2642"/>
                </a:solidFill>
                <a:latin typeface="Aptos"/>
              </a:rPr>
              <a:t>41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3383280" cy="1463040"/>
          </a:xfrm>
          <a:prstGeom prst="roundRect">
            <a:avLst/>
          </a:prstGeom>
          <a:solidFill>
            <a:srgbClr val="F6F9FB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371600"/>
            <a:ext cx="3108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1">
                <a:solidFill>
                  <a:srgbClr val="2569B0"/>
                </a:solidFill>
                <a:latin typeface="Aptos"/>
              </a:rPr>
              <a:t>MODO 1 · JOURNAL CLUB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673351"/>
            <a:ext cx="310896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63039"/>
                </a:solidFill>
                <a:latin typeface="Aptos"/>
              </a:rPr>
              <a:t>Muestre figura sin respuesta → 45 s individual → 90 s grupo.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280160"/>
            <a:ext cx="3383280" cy="1463040"/>
          </a:xfrm>
          <a:prstGeom prst="roundRect">
            <a:avLst/>
          </a:prstGeom>
          <a:solidFill>
            <a:srgbClr val="F6F9FB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371600"/>
            <a:ext cx="3108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1">
                <a:solidFill>
                  <a:srgbClr val="674C9D"/>
                </a:solidFill>
                <a:latin typeface="Aptos"/>
              </a:rPr>
              <a:t>MODO 2 · EXAMEN ORAL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673351"/>
            <a:ext cx="310896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63039"/>
                </a:solidFill>
                <a:latin typeface="Aptos"/>
              </a:rPr>
              <a:t>Pida evidencia de la figura antes de aceptar una conclusión.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280160"/>
            <a:ext cx="3383280" cy="1463040"/>
          </a:xfrm>
          <a:prstGeom prst="roundRect">
            <a:avLst/>
          </a:prstGeom>
          <a:solidFill>
            <a:srgbClr val="F6F9FB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1371600"/>
            <a:ext cx="3108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1">
                <a:solidFill>
                  <a:srgbClr val="2A885B"/>
                </a:solidFill>
                <a:latin typeface="Aptos"/>
              </a:rPr>
              <a:t>MODO 3 · CLÍNICA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1673351"/>
            <a:ext cx="310896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63039"/>
                </a:solidFill>
                <a:latin typeface="Aptos"/>
              </a:rPr>
              <a:t>Añada: «¿Qué cambiaría mañana en su hospital?»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42900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0E2642"/>
                </a:solidFill>
                <a:latin typeface="Aptos"/>
              </a:rPr>
              <a:t>Regla: OBSERVAR → INTERPRETAR → LIMITAR → DECIDIR → GOBERNAR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57200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50" b="1">
                <a:solidFill>
                  <a:srgbClr val="B8373F"/>
                </a:solidFill>
                <a:latin typeface="Aptos"/>
              </a:rPr>
              <a:t>Las respuestas del deck están deliberadamente ancladas a lo que cada artículo sostiene; cuando la figura no demuestra causalidad o implementación, la respuesta lo dice.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