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Sesión 6 · Precisión, Solidez y Ciberseguridad de IA en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68B1"/>
                </a:solidFill>
                <a:latin typeface="Aptos"/>
              </a:rPr>
              <a:t>3 horas · ¿qué ocurre cuando el modelo se equivoca, el entorno cambia o alguien lo ataca?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2642"/>
                </a:solidFill>
                <a:latin typeface="Aptos"/>
              </a:rPr>
              <a:t>Una IA clínica no es segura solo porque tenga alta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3272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834640"/>
            <a:ext cx="10076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B8373F"/>
                </a:solidFill>
                <a:latin typeface="Aptos"/>
              </a:rPr>
              <a:t>HILO CONDUCTOR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163824"/>
            <a:ext cx="1007668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F39"/>
                </a:solidFill>
                <a:latin typeface="Aptos"/>
              </a:rPr>
              <a:t>MEDIR → VALIDAR → ESTRESAR → PROTEGER → MONITORIZAR → RESPONDER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4343400"/>
            <a:ext cx="9692640" cy="1097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4434840"/>
            <a:ext cx="9436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Tres preguntas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456" y="4764024"/>
            <a:ext cx="943660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1) ¿Qué tan correcta es?  2) ¿Sigue funcionando ante errores/cambios?  3) ¿Resiste manipulación o ataques?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Fuentes adjuntas principales: Guía 9 Precisión · Guía 10 Solidez · Guía 11 Ciberseguridad.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Plan de 180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0–50 precisión y métricas · 50–85 incertidumbre/validación · 85–95 pausa · 95–130 solidez · 130–160 ciberseguridad · 160–180 mini-lab + evaluación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El Art. 15 conecta tres propiedades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Los materiales adjuntos tratan precisión, solidez y ciberseguridad como propiedades que deben mantenerse de forma adecuada y consistente durante el ciclo de vida del sistema de 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Precisión: no es una sola cifra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9 organiza precisión desde preprocesamiento y sobreaprendizaje hasta incertidumbre, selección de métricas, función objetivo, dimensiones complementarias y garantía durante el ciclo de vida.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Accuracy puede engañar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En un evento raro, un clasificador que siempre dice «negativo» puede tener alta accuracy y ser clínicamente inútil. La métrica debe responder al daño y finalidad.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Matriz de confusión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6</a:t>
            </a:r>
          </a:p>
        </p:txBody>
      </p:sp>
      <p:pic>
        <p:nvPicPr>
          <p:cNvPr id="5" name="Picture 4" descr="session-1-11-09-guia-de-precision(3)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32F39"/>
                </a:solidFill>
                <a:latin typeface="Aptos"/>
              </a:rPr>
              <a:t>TP, FP, TN y FN son la base para sensibilidad, especificidad, PPV/precisión y NPV. En medicina, el coste de FN y FP rara vez es simétrico.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10" b="0">
                <a:solidFill>
                  <a:srgbClr val="232F39"/>
                </a:solidFill>
                <a:latin typeface="Aptos"/>
              </a:rPr>
              <a:t>¿Qué podría salir mal en un hospital real y cómo lo detectaríamos antes de que cause daño?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session-1-11-09-guia-de-precision(3).pdf, p. 36.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Sensibilidad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Sensibilidad = TP/(TP+FN). Pregunta: de quienes realmente tienen la condición, ¿cuántos detecta el sistema?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Especificidad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Especificidad = TN/(TN+FP). Pregunta: de quienes realmente no tienen la condición, ¿cuántos identifica correctamente?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PPV y prevalencia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PPV = TP/(TP+FP). Su interpretación cambia con prevalencia y población. Una métrica de desarrollo no debe trasladarse ciegamente a otro hospital.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Caso · sepsis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1.000 pacientes; 100 deterioran. Modelo detecta 85, pierde 15 y genera 90 falsas alarmas. Calcule sensibilidad y PPV. Después pregunte: ¿es aceptable para este flujo clínico?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ROC-AUC no decide el umbral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AUC resume discriminación, pero el punto de operación depende del contexto. Un hospital debe decidir qué intercambio FN↔FP es tolerable para la finalidad prevista.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Calibración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Si el sistema dice «riesgo 0,8» repetidamente, un modelo bien calibrado debería aproximarse a una frecuencia observada compatible con ese riesgo en la población relevante.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Incertidumbre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13</a:t>
            </a:r>
          </a:p>
        </p:txBody>
      </p:sp>
      <p:pic>
        <p:nvPicPr>
          <p:cNvPr id="5" name="Picture 4" descr="session-1-11-09-guia-de-precision(3)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32F39"/>
                </a:solidFill>
                <a:latin typeface="Aptos"/>
              </a:rPr>
              <a:t>La Guía 9 dedica un apartado explícito a incertidumbre y precisión. En clínica, una salida debería interpretarse junto con el grado y fuente de incertidumbre cuando sea pertinente.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10" b="0">
                <a:solidFill>
                  <a:srgbClr val="232F39"/>
                </a:solidFill>
                <a:latin typeface="Aptos"/>
              </a:rPr>
              <a:t>¿Qué podría salir mal en un hospital real y cómo lo detectaríamos antes de que cause daño?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session-1-11-09-guia-de-precision(3).pdf, p. 22.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Error aleatorio vs error sistemático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Ruido puede dispersar resultados; sesgo puede desplazarlos sistemáticamente. Ambos afectan seguridad, pero requieren respuestas diferentes.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Sobreaprendizaje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modelo puede memorizar peculiaridades del entrenamiento y fallar fuera de muestra. Buen rendimiento interno no demuestra generalización.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Validación interna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Pregunta: ¿funciona en datos independientes del mismo contexto? Sirve para detectar sobreajuste, pero no prueba transporte a otro centro.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Validación externa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Pregunta: ¿funciona en otra población, hospital, dispositivo o periodo? Es especialmente importante cuando el contexto de uso difiere del desarrollo.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Validación temporal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modelo de 2023 puede degradarse en 2026 si cambian población, protocolos, equipos o documentación. El tiempo también es un dominio de validación.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Monitorización de precisión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19</a:t>
            </a:r>
          </a:p>
        </p:txBody>
      </p:sp>
      <p:pic>
        <p:nvPicPr>
          <p:cNvPr id="5" name="Picture 4" descr="session-1-11-09-guia-de-precision(3)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32F39"/>
                </a:solidFill>
                <a:latin typeface="Aptos"/>
              </a:rPr>
              <a:t>La precisión no termina al desplegar. El material incorpora monitorización durante el ciclo de vida para detectar degradación y cambios de rendimiento.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10" b="0">
                <a:solidFill>
                  <a:srgbClr val="232F39"/>
                </a:solidFill>
                <a:latin typeface="Aptos"/>
              </a:rPr>
              <a:t>¿Qué podría salir mal en un hospital real y cómo lo detectaríamos antes de que cause daño?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session-1-11-09-guia-de-precision(3).pdf, p. 42.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Caso · radiología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modelo mantiene AUC global pero aumenta FN después de cambiar el escáner. ¿Problema del modelo, del dispositivo, del preprocesamiento o del workflow?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Del error a la solidez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PRECISIÓN pregunta «¿acierta?»; SOLIDEZ pregunta «¿sigue funcionando razonablemente cuando aparecen errores, fallos, incoherencias o cambios?»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Solidez durante el ciclo de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22</a:t>
            </a:r>
          </a:p>
        </p:txBody>
      </p:sp>
      <p:pic>
        <p:nvPicPr>
          <p:cNvPr id="5" name="Picture 4" descr="session-1-11-10-guia-solidez(3)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32F39"/>
                </a:solidFill>
                <a:latin typeface="Aptos"/>
              </a:rPr>
              <a:t>La Guía 10 estructura evaluación de solidez, ciclo de vida, selección de métricas, validación/verificación, eficiencia, rendimiento y monitorización.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10" b="0">
                <a:solidFill>
                  <a:srgbClr val="232F39"/>
                </a:solidFill>
                <a:latin typeface="Aptos"/>
              </a:rPr>
              <a:t>¿Qué podría salir mal en un hospital real y cómo lo detectaríamos antes de que cause daño?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session-1-11-10-guia-solidez(3).pdf, p. 19.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Robustez a perturbaciones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Pequeños cambios clínicamente irrelevantes no deberían causar cambios peligrosos en la salida. Deben definirse perturbaciones plausibles para el entorno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Errores y fallos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 material destaca resistencia frente a errores, fallos e incoherencias del sistema o del entorno, incluida interacción con personas u otros sistemas.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Redundancia y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Copias de seguridad, mecanismos alternativos y planes frente a fallos pueden contribuir a solidez. En salud: diseñar qué ocurre cuando IA/API/red/dispositivo falla.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Caso · SpO₂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Sensor transmite 82% por movimiento y luego 97%. ¿Debe el algoritmo disparar automáticamente una acción? La solidez depende de detectar datos anómalos y diseñar verificación.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Out-of-distribution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sistema puede recibir pacientes o datos alejados de lo aprendido. Pregunta crítica: ¿detecta que está fuera de su dominio o responde con falsa confianza?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Stress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Probar valores extremos, datos faltantes, ruido, cambios de dispositivo, interrupciones, latencia y escenarios poco frecuentes ayuda a caracterizar límites.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Monitorización de solidez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29</a:t>
            </a:r>
          </a:p>
        </p:txBody>
      </p:sp>
      <p:pic>
        <p:nvPicPr>
          <p:cNvPr id="5" name="Picture 4" descr="session-1-11-10-guia-solidez(3)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32F39"/>
                </a:solidFill>
                <a:latin typeface="Aptos"/>
              </a:rPr>
              <a:t>La Guía 10 incluye monitorización como parte explícita del abordaje de solidez: el rendimiento robusto debe observarse después del despliegue.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10" b="0">
                <a:solidFill>
                  <a:srgbClr val="232F39"/>
                </a:solidFill>
                <a:latin typeface="Aptos"/>
              </a:rPr>
              <a:t>¿Qué podría salir mal en un hospital real y cómo lo detectaríamos antes de que cause daño?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session-1-11-10-guia-solidez(3).pdf, p. 25.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Incertidumbre y resistencia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30</a:t>
            </a:r>
          </a:p>
        </p:txBody>
      </p:sp>
      <p:pic>
        <p:nvPicPr>
          <p:cNvPr id="5" name="Picture 4" descr="session-1-11-10-guia-solidez(3)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32F39"/>
                </a:solidFill>
                <a:latin typeface="Aptos"/>
              </a:rPr>
              <a:t>La incertidumbre también importa para solidez: un sistema debe manejar condiciones donde la evidencia es insuficiente o el entorno se aparta de lo esperado.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10" b="0">
                <a:solidFill>
                  <a:srgbClr val="232F39"/>
                </a:solidFill>
                <a:latin typeface="Aptos"/>
              </a:rPr>
              <a:t>¿Qué podría salir mal en un hospital real y cómo lo detectaríamos antes de que cause daño?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session-1-11-10-guia-solidez(3).pdf, p. 35.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Feedback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Si un sistema que continúa aprendiendo usa sus propias salidas para futuras entradas, los errores o sesgos pueden retroalimentarse. El material pide reducir y corregir esos bucles.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Caso · triaje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IA prioriza ciertos pacientes; esos pacientes reciben más pruebas; esas pruebas generan más etiquetas; el modelo aprende de ese nuevo patrón. ¿Qué sesgo de retroalimentación puede aparecer?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Ciberseguridad ≠ solo antivirus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11 trata amenazas específicas de IA además de la infraestructura TIC: datos de entrenamiento, modelos, entradas, confidencialidad y defectos del sistema.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Ciberseguridad en todo el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34</a:t>
            </a:r>
          </a:p>
        </p:txBody>
      </p:sp>
      <p:pic>
        <p:nvPicPr>
          <p:cNvPr id="5" name="Picture 4" descr="session-1-11-11-guia-ciberseguridad(2)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32F39"/>
                </a:solidFill>
                <a:latin typeface="Aptos"/>
              </a:rPr>
              <a:t>La guía insiste en asociar riesgos → vulnerabilidades → controles y demostrar su aplicación durante concepción, diseño, implementación, validación/verificación y puesta en marcha.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10" b="0">
                <a:solidFill>
                  <a:srgbClr val="232F39"/>
                </a:solidFill>
                <a:latin typeface="Aptos"/>
              </a:rPr>
              <a:t>¿Qué podría salir mal en un hospital real y cómo lo detectaríamos antes de que cause daño?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session-1-11-11-guia-ciberseguridad(2).pdf, p. 18.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Envenenamiento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35</a:t>
            </a:r>
          </a:p>
        </p:txBody>
      </p:sp>
      <p:pic>
        <p:nvPicPr>
          <p:cNvPr id="5" name="Picture 4" descr="session-1-11-11-guia-ciberseguridad(2)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32F39"/>
                </a:solidFill>
                <a:latin typeface="Aptos"/>
              </a:rPr>
              <a:t>Un atacante o proceso comprometido altera datos de entrenamiento para modificar el comportamiento aprendido. El problema puede quedar oculto hasta producción.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10" b="0">
                <a:solidFill>
                  <a:srgbClr val="232F39"/>
                </a:solidFill>
                <a:latin typeface="Aptos"/>
              </a:rPr>
              <a:t>¿Qué podría salir mal en un hospital real y cómo lo detectaríamos antes de que cause daño?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session-1-11-11-guia-ciberseguridad(2).pdf, p. 28.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Envenenamiento de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Componentes preentrenados o pesos comprometidos pueden introducir comportamiento no deseado. La cadena de suministro del modelo también es superficie de riesgo.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Ejemplos adversarios / evasión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37</a:t>
            </a:r>
          </a:p>
        </p:txBody>
      </p:sp>
      <p:pic>
        <p:nvPicPr>
          <p:cNvPr id="5" name="Picture 4" descr="session-1-11-11-guia-ciberseguridad(2)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32F39"/>
                </a:solidFill>
                <a:latin typeface="Aptos"/>
              </a:rPr>
              <a:t>Entradas especialmente diseñadas pueden provocar errores del modelo. La guía pide prevenir, detectar, combatir, resolver y controlar este tipo de ataques.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10" b="0">
                <a:solidFill>
                  <a:srgbClr val="232F39"/>
                </a:solidFill>
                <a:latin typeface="Aptos"/>
              </a:rPr>
              <a:t>¿Qué podría salir mal en un hospital real y cómo lo detectaríamos antes de que cause daño?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session-1-11-11-guia-ciberseguridad(2).pdf, p. 33.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Ataques de extracción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Consultas repetidas pueden intentar reconstruir comportamiento o partes del modelo. La protección del activo modelo también es ciberseguridad.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Membership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atacante intenta inferir si un registro concreto formó parte del entrenamiento. El material lo conecta con riesgo de privacidad de datos personales.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Model inversion / property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Consultas al modelo pueden intentar inferir información sobre datos o propiedades del conjunto de entrenamiento. Privacidad y ciberseguridad convergen.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Control de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Acceso débil al modelo, componentes o endpoints aumenta superficie de ataque. Deben gobernarse identidades, privilegios y rutas de entrada.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Entradas anómalas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identifica la falta de detección de entradas anómalas como vulnerabilidad. En salud, también puede confundirse ataque con error de sensor o dato mal codificado.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Caso · chatbot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usuario introduce instrucciones diseñadas para saltarse restricciones y obtener información sensible. ¿Qué controles técnicos, de acceso, registro y supervisión necesita el sistema?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Caso · imagen médica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Una perturbación casi imperceptible cambia una clasificación. ¿Qué pruebas de robustez y qué barreras clínicas impedirían que una salida aislada cause daño?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Monitorización de ciberseguridad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45</a:t>
            </a:r>
          </a:p>
        </p:txBody>
      </p:sp>
      <p:pic>
        <p:nvPicPr>
          <p:cNvPr id="5" name="Picture 4" descr="session-1-11-11-guia-ciberseguridad(2)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32F39"/>
                </a:solidFill>
                <a:latin typeface="Aptos"/>
              </a:rPr>
              <a:t>La seguridad cambia con el tiempo: aparecen nuevas vulnerabilidades y ataques. El material exige mantener el nivel de protección durante el ciclo de vida.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10" b="0">
                <a:solidFill>
                  <a:srgbClr val="232F39"/>
                </a:solidFill>
                <a:latin typeface="Aptos"/>
              </a:rPr>
              <a:t>¿Qué podría salir mal en un hospital real y cómo lo detectaríamos antes de que cause daño?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session-1-11-11-guia-ciberseguridad(2).pdf, p. 44.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Tres capas de seguridad clínica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MODELO: precisión/solidez · SISTEMA: ciberseguridad/infraestructura · WORKFLOW: verificación humana/escalamiento. Una capa no compensa automáticamente la ausencia de otra.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Mini-lab · auditoría de un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Elija sepsis, imagen, obstetricia o farmacia. Complete: finalidad → métrica primaria → FN/FP crítico → validación externa → perturbación → fallo → amenaza → control → monitorización → responsable.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Mini-lab · red team defensivo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Sin ejecutar ataques: diseñe 5 escenarios de prueba segura — dato corrupto, dato faltante, sensor anómalo, entrada adversarial simulada, caída de API — y defina respuesta esperada.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Pregunta integradora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modelo tiene sensibilidad 94% en validación, pero cae a 78% tras cambio de dispositivo. Además, un endpoint no limita consultas. Identifique problemas de precisión, solidez y ciberseguridad por separado.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Checklist de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□ métrica alineada a finalidad □ subgrupos □ incertidumbre □ validación externa □ stress test □ OOD □ fallback □ redundancia □ acceso □ anomalías □ privacidad □ monitorización □ responsable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Evaluación final · 8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1 Accuracy vs sensibilidad. 2 ¿Por qué PPV cambia? 3 ¿Qué es calibración? 4 Precisión vs solidez. 5 Feedback loop. 6 Data poisoning. 7 Membership inference. 8 Diseñe un control clínico.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PRECISIÓN dice cuánto acierta.</a:t>
            </a:r>
            <a:br/>
            <a:r>
              <a:rPr sz="1400" b="0">
                <a:solidFill>
                  <a:srgbClr val="232F39"/>
                </a:solidFill>
                <a:latin typeface="Aptos"/>
              </a:rPr>
              <a:t>SOLIDEZ dice cuánto resiste.</a:t>
            </a:r>
            <a:br/>
            <a:r>
              <a:rPr sz="1400" b="0">
                <a:solidFill>
                  <a:srgbClr val="232F39"/>
                </a:solidFill>
                <a:latin typeface="Aptos"/>
              </a:rPr>
              <a:t>CIBERSEGURIDAD dice cuánto puede protegerse frente a manipulación.</a:t>
            </a:r>
            <a:br/>
            <a:br/>
            <a:r>
              <a:rPr sz="1400" b="0">
                <a:solidFill>
                  <a:srgbClr val="232F39"/>
                </a:solidFill>
                <a:latin typeface="Aptos"/>
              </a:rPr>
              <a:t>En salud necesitamos las tres, durante todo el ciclo de vida.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Traduzca el concepto a paciente + dispositivo + software + profesional.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prueba, barrera o monitorización reduciría el riesgo?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Guías 9–11 adjuntas; los casos sanitarios son adaptaciones docentes del marco.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0" b="1">
                <a:solidFill>
                  <a:srgbClr val="0D2642"/>
                </a:solidFill>
                <a:latin typeface="Aptos"/>
              </a:rPr>
              <a:t>Referencias adjuntas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1051560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234440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Guía 9 · Precisión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1563624"/>
            <a:ext cx="1025956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Ciclo de vida, preprocesamiento, overfitting, incertidumbre, evaluación, métricas, función objetivo y dimensiones complementarias.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51560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88920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694D9E"/>
                </a:solidFill>
                <a:latin typeface="Aptos"/>
              </a:rPr>
              <a:t>Guía 10 · Solidez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118104"/>
            <a:ext cx="1025956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Evaluación de robustez, métricas, validación/verificación, errores y fallos, rendimiento, monitorización y resistencia.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51960"/>
            <a:ext cx="1051560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343400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B8373F"/>
                </a:solidFill>
                <a:latin typeface="Aptos"/>
              </a:rPr>
              <a:t>Guía 11 · Ciberseguridad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672584"/>
            <a:ext cx="1025956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Riesgos, vulnerabilidades y controles; data/model poisoning, adversarial/evasion, confidencialidad, acceso, inferencia y protección durante el ciclo de vida.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Material educativo basado en los PDFs adjuntos. No sustituye evaluación clínica, legal o de ciberseguridad especializada.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