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Sesión 3 · Anonimización, Seudonimización y Riesgo de Reidentificación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955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68B1"/>
                </a:solidFill>
                <a:latin typeface="Aptos"/>
              </a:rPr>
              <a:t>3 horas · datos clínicos, registros, seguridad, trazabilidad, vigilancia e incidentes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0D2642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0D2642"/>
                </a:solidFill>
                <a:latin typeface="Aptos"/>
              </a:rPr>
              <a:t>¿Cuándo un dato de salud deja realmente de identificar a una persona?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788920"/>
            <a:ext cx="1530966" cy="841248"/>
          </a:xfrm>
          <a:prstGeom prst="round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3017520"/>
            <a:ext cx="147610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Paciente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7038" y="2788920"/>
            <a:ext cx="1530966" cy="841248"/>
          </a:xfrm>
          <a:prstGeom prst="roundRect">
            <a:avLst/>
          </a:prstGeom>
          <a:solidFill>
            <a:srgbClr val="0F9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4470" y="3017520"/>
            <a:ext cx="147610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Identificador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11157" y="2788920"/>
            <a:ext cx="1530966" cy="841248"/>
          </a:xfrm>
          <a:prstGeom prst="round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8589" y="3017520"/>
            <a:ext cx="147610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Transformación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15276" y="2788920"/>
            <a:ext cx="1530966" cy="841248"/>
          </a:xfrm>
          <a:prstGeom prst="roundRect">
            <a:avLst/>
          </a:prstGeom>
          <a:solidFill>
            <a:srgbClr val="E58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2708" y="3017520"/>
            <a:ext cx="147610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Dataset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19395" y="2788920"/>
            <a:ext cx="1530966" cy="841248"/>
          </a:xfrm>
          <a:prstGeom prst="roundRect">
            <a:avLst/>
          </a:prstGeom>
          <a:solidFill>
            <a:srgbClr val="B83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6827" y="3017520"/>
            <a:ext cx="147610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23514" y="2788920"/>
            <a:ext cx="1530966" cy="841248"/>
          </a:xfrm>
          <a:prstGeom prst="roundRect">
            <a:avLst/>
          </a:prstGeom>
          <a:solidFill>
            <a:srgbClr val="2A8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50946" y="3017520"/>
            <a:ext cx="147610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Logs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27633" y="2788920"/>
            <a:ext cx="1530966" cy="841248"/>
          </a:xfrm>
          <a:prstGeom prst="roundRect">
            <a:avLst/>
          </a:prstGeom>
          <a:solidFill>
            <a:srgbClr val="0D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55065" y="3017520"/>
            <a:ext cx="147610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Auditoría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4251960"/>
            <a:ext cx="10149840" cy="1143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3856" y="4352544"/>
            <a:ext cx="9893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B8373F"/>
                </a:solidFill>
                <a:latin typeface="Aptos"/>
              </a:rPr>
              <a:t>IDEA CENTRAL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" y="4663440"/>
            <a:ext cx="9893808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Quitar el nombre no convierte automáticamente un dato clínico en anónimo. La protección depende del contexto, la posibilidad de vinculación, los registros y los controles durante todo el ciclo de vida.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Base principal: Guías 9–16 del Sandbox regulatorio español de IA (2026).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Plan de las 3 horas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0–45 min: conceptos y amenazas</a:t>
            </a:r>
            <a:br/>
            <a:r>
              <a:rPr sz="1500" b="0">
                <a:solidFill>
                  <a:srgbClr val="232F39"/>
                </a:solidFill>
                <a:latin typeface="Aptos"/>
              </a:rPr>
              <a:t>45–85 min: técnicas y utilidad clínica</a:t>
            </a:r>
            <a:br/>
            <a:r>
              <a:rPr sz="1500" b="0">
                <a:solidFill>
                  <a:srgbClr val="232F39"/>
                </a:solidFill>
                <a:latin typeface="Aptos"/>
              </a:rPr>
              <a:t>85–95 min: pausa</a:t>
            </a:r>
            <a:br/>
            <a:r>
              <a:rPr sz="1500" b="0">
                <a:solidFill>
                  <a:srgbClr val="232F39"/>
                </a:solidFill>
                <a:latin typeface="Aptos"/>
              </a:rPr>
              <a:t>95–135 min: logs, documentación y trazabilidad</a:t>
            </a:r>
            <a:br/>
            <a:r>
              <a:rPr sz="1500" b="0">
                <a:solidFill>
                  <a:srgbClr val="232F39"/>
                </a:solidFill>
                <a:latin typeface="Aptos"/>
              </a:rPr>
              <a:t>135–165 min: vigilancia, incidentes y casos</a:t>
            </a:r>
            <a:br/>
            <a:r>
              <a:rPr sz="1500" b="0">
                <a:solidFill>
                  <a:srgbClr val="232F39"/>
                </a:solidFill>
                <a:latin typeface="Aptos"/>
              </a:rPr>
              <a:t>165–180 min: mini-lab + evaluación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El problema clínico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Un dataset sin nombre puede contener edad exacta, código postal, fecha de ingreso, diagnóstico raro, imagen, genética o texto libre. La pregunta no es solo «¿tiene nombre?», sino «¿puede volver a vincularse a una persona?»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Tres estados que no deben confundirse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IDENTIFICADO: vínculo directo.</a:t>
            </a:r>
            <a:br/>
            <a:r>
              <a:rPr sz="1500" b="0">
                <a:solidFill>
                  <a:srgbClr val="232F39"/>
                </a:solidFill>
                <a:latin typeface="Aptos"/>
              </a:rPr>
              <a:t>SEUDONIMIZADO: identificadores sustituidos, pero existe posibilidad/control de reversión.</a:t>
            </a:r>
            <a:br/>
            <a:r>
              <a:rPr sz="1500" b="0">
                <a:solidFill>
                  <a:srgbClr val="232F39"/>
                </a:solidFill>
                <a:latin typeface="Aptos"/>
              </a:rPr>
              <a:t>ANONIMIZADO: el objetivo es impedir razonablemente la identificación; debe evaluarse el contexto y riesgo residual.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Modelo mental de riesgo de reidentificación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R_reid ∝ Singularidad × Vinculabilidad × Acceso × Información auxiliar</a:t>
            </a:r>
            <a:br/>
            <a:br/>
            <a:r>
              <a:rPr sz="1500" b="0">
                <a:solidFill>
                  <a:srgbClr val="232F39"/>
                </a:solidFill>
                <a:latin typeface="Aptos"/>
              </a:rPr>
              <a:t>Es una ecuación docente, no una fórmula regulatoria: ayuda a preguntar qué hace único al paciente, qué datasets pueden enlazarse y quién tiene acceso.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Caso de apertura · Enfermedad rara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Dataset: 47 años + cantón + fecha exacta + enfermedad ultrarrara + hospital + variante genética. Se eliminan nombre y cédula. ¿Está anonimizado? Discuta qué información externa permitiría reconocer al paciente.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¿Por qué la anonimización importa para 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Entrenamiento, validación, investigación, intercambio multicéntrico, auditoría, publicación y desarrollo de modelos pueden ampliar el número de copias y actores que acceden a información clínica.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Fuente · Ciberseguridad y protección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D9E"/>
                </a:solidFill>
                <a:latin typeface="Aptos"/>
              </a:rPr>
              <a:t>8</a:t>
            </a:r>
          </a:p>
        </p:txBody>
      </p:sp>
      <p:pic>
        <p:nvPicPr>
          <p:cNvPr id="5" name="Picture 4" descr="cyber_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00" y="1051560"/>
            <a:ext cx="3739918" cy="52852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3502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PARA LA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45920"/>
            <a:ext cx="523036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La guía de ciberseguridad trata vulnerabilidades y controles para datos durante el ciclo de vida de IA; esto convierte anonimización/seudonimización en parte de una arquitectura de seguridad, no en una acción aislada.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09160"/>
            <a:ext cx="548640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09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20640"/>
            <a:ext cx="523036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riesgo de identificación o gobernanza aparece aquí y qué control concreto lo reduce?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session-1-11-11-guia-ciberseguridad(1).pdf, p. 39.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Anonimización dentro de una estrategia de 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9</a:t>
            </a:r>
          </a:p>
        </p:txBody>
      </p:sp>
      <p:pic>
        <p:nvPicPr>
          <p:cNvPr id="5" name="Picture 4" descr="cyber_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00" y="1051560"/>
            <a:ext cx="3739918" cy="52852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3502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PARA LA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45920"/>
            <a:ext cx="523036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La guía de ciberseguridad incluye anonimización entre medidas relacionadas con protección de datos. En clínica debe combinarse con acceso, cifrado, separación, registros y monitorización.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09160"/>
            <a:ext cx="548640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09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20640"/>
            <a:ext cx="523036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riesgo de identificación o gobernanza aparece aquí y qué control concreto lo reduce?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session-1-11-11-guia-ciberseguridad(1).pdf, p. 41.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Seudonimización: separación lógica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Paciente → identificador clínico → código de estudio. La tabla de correspondencia debe estar separada y con acceso restringido. El riesgo no desaparece: cambia quién puede revertir el vínculo.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Tokenización y claves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Un token sustituye el identificador. Preguntas: ¿quién genera el token? ¿es determinista? ¿permite vincular visitas? ¿dónde está la clave? ¿quién puede recuperarla?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Hashing: cuidado con la falsa anonimización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Hashear un identificador predecible no garantiza anonimato. Si el espacio de posibles valores es pequeño o conocido, pueden probarse candidatos. Salt/secretos y diseño contextual importan.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Generalización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Reducir precisión: edad 47 → 45–49; fecha exacta → mes; ubicación precisa → región. Beneficio: menos singularidad. Costo: pérdida de utilidad clínica.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Supresión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Eliminar variables o registros de alto riesgo. Ejemplo: diagnóstico extremadamente raro + localidad pequeña. La supresión debe evaluarse porque también puede introducir sesgo o perder casos clínicamente importantes.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k-anonimato · intuición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Cada combinación de cuasi-identificadores debería parecerse al menos a k personas. Útil como concepto de riesgo, pero no protege por sí sola frente a todos los ataques o atributos sensibles.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l-diversidad y t-closeness · intuición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Añaden diversidad/distribución de atributos sensibles dentro de grupos. Sirven para enseñar por qué «muchas personas con los mismos cuasi-identificadores» no basta si todas comparten el mismo diagnóstico.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Privacidad diferencial ·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Introduce aleatoriedad calibrada para limitar cuánto cambia una salida por la presencia de una persona. Es especialmente útil para estadísticas/consultas agregadas; requiere decidir un presupuesto de privacidad.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Datos sintéticos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Pueden reducir exposición directa, pero no deben asumirse anónimos por definición. Hay que evaluar memorization, similitud con registros reales y utilidad clínica.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Imágenes médicas: identificadores invisibles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DICOM puede contener metadatos; además, anatomía facial o rasgos únicos pueden permitir identificación. Desidentificar una imagen requiere revisar metadatos y contenido visual.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Texto clínico: el problema del lenguaje libre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Notas pueden contener nombre, familiares, profesión, dirección, fechas, eventos raros y narrativas únicas. La desidentificación automática necesita validación y revisión del riesgo residual.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Genómica: alta utilidad, alta singularidad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Los datos genéticos pueden ser altamente identificables y además informan sobre familiares. La sesión debe tratar acceso, finalidad, gobernanza y compartición, no solo quitar identificadores directos.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Fuente · Precisión y preprocesamiento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D9E"/>
                </a:solidFill>
                <a:latin typeface="Aptos"/>
              </a:rPr>
              <a:t>22</a:t>
            </a:r>
          </a:p>
        </p:txBody>
      </p:sp>
      <p:pic>
        <p:nvPicPr>
          <p:cNvPr id="5" name="Picture 4" descr="acc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00" y="1051560"/>
            <a:ext cx="3739918" cy="52852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3502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PARA LA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45920"/>
            <a:ext cx="523036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La guía de precisión coloca el preprocesamiento dentro del ciclo de vida. La anonimización que modifica variables puede alterar rendimiento, calibración o equidad del modelo.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09160"/>
            <a:ext cx="548640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09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20640"/>
            <a:ext cx="523036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riesgo de identificación o gobernanza aparece aquí y qué control concreto lo reduce?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session-1-11-09-guia-de-precision(2).pdf, p. 17.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Trade-off privacidad–utilidad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Más transformación puede reducir riesgo de identificación, pero también borrar señal clínica. El objetivo no es maximizar anonimización a cualquier costo, sino controlar riesgo manteniendo utilidad suficiente para la finalidad.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Ejercicio rápido · ¿Qué transformarías?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Variables: edad, sexo, código postal, fecha de ingreso, HbA1c, diagnóstico, texto libre, imagen, ID paciente. En grupos: conservar / generalizar / seudonimizar / suprimir / restringir acceso.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El enemigo: linkage attack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Dataset A no tiene nombre. Dataset B público/externo sí. Si comparten suficientes cuasi-identificadores, la intersección puede identificar a una persona.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Membresía e inferencia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Incluso sin reconstruir el registro completo, un atacante puede intentar inferir si una persona estuvo en el dataset o inferir un atributo sensible. Esto conecta privacidad con seguridad del modelo.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No todo debe salir del hospital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Una estrategia de reducción de riesgo es mover el cómputo hacia los datos cuando sea viable: entornos controlados, consultas agregadas, acceso remoto seguro o aprendizaje distribuido. El material adjunto no prescribe una arquitectura única.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Logs: la paradoja de la trazabilidad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28</a:t>
            </a:r>
          </a:p>
        </p:txBody>
      </p:sp>
      <p:pic>
        <p:nvPicPr>
          <p:cNvPr id="5" name="Picture 4" descr="log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00" y="1051560"/>
            <a:ext cx="3739918" cy="52852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3502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PARA LA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45920"/>
            <a:ext cx="523036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Necesitamos registros para demostrar qué ocurrió, pero los logs pueden contener inputs, outputs, IDs, timestamps y contexto sensible. Por tanto, el sistema de logging también necesita gobernanza.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09160"/>
            <a:ext cx="548640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09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20640"/>
            <a:ext cx="523036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riesgo de identificación o gobernanza aparece aquí y qué control concreto lo reduce?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session-1-11-12-guia-de-registros.pdf, p. 14.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¿Qué puede contener un registro de 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D9E"/>
                </a:solidFill>
                <a:latin typeface="Aptos"/>
              </a:rPr>
              <a:t>29</a:t>
            </a:r>
          </a:p>
        </p:txBody>
      </p:sp>
      <p:pic>
        <p:nvPicPr>
          <p:cNvPr id="5" name="Picture 4" descr="log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00" y="1051560"/>
            <a:ext cx="3739918" cy="52852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3502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PARA LA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45920"/>
            <a:ext cx="523036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La guía enumera identidad del usuario/sistema, contexto, fecha/hora, modelo/versión, datos de entrada, fuente/tipo, resultados, métricas, rendimiento, seguridad/privacidad, alertas y relaciones con otros registros.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09160"/>
            <a:ext cx="548640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09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20640"/>
            <a:ext cx="523036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riesgo de identificación o gobernanza aparece aquí y qué control concreto lo reduce?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session-1-11-12-guia-de-registros.pdf, p. 14.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Sistema de gestión de registros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30</a:t>
            </a:r>
          </a:p>
        </p:txBody>
      </p:sp>
      <p:pic>
        <p:nvPicPr>
          <p:cNvPr id="5" name="Picture 4" descr="log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00" y="1051560"/>
            <a:ext cx="3739918" cy="52852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3502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PARA LA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45920"/>
            <a:ext cx="523036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La trazabilidad requiere identificar qué registrar, cómo capturarlo, dónde almacenarlo, quién accede y cómo se conserva/elimina. El log es evidencia, no un vertedero de datos.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09160"/>
            <a:ext cx="548640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09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20640"/>
            <a:ext cx="523036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riesgo de identificación o gobernanza aparece aquí y qué control concreto lo reduce?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session-1-11-12-guia-de-registros.pdf, p. 19.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Retención de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31</a:t>
            </a:r>
          </a:p>
        </p:txBody>
      </p:sp>
      <p:pic>
        <p:nvPicPr>
          <p:cNvPr id="5" name="Picture 4" descr="log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00" y="1051560"/>
            <a:ext cx="3739918" cy="52852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3502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PARA LA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45920"/>
            <a:ext cx="523036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Conservar demasiado aumenta exposición; conservar demasiado poco destruye trazabilidad. La política debe vincular finalidad, obligaciones aplicables, riesgo, acceso y eliminación.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09160"/>
            <a:ext cx="548640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09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20640"/>
            <a:ext cx="523036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riesgo de identificación o gobernanza aparece aquí y qué control concreto lo reduce?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session-1-11-12-guia-de-registros.pdf, p. 26.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Eliminación: ¿dónde está la copia?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32</a:t>
            </a:r>
          </a:p>
        </p:txBody>
      </p:sp>
      <p:pic>
        <p:nvPicPr>
          <p:cNvPr id="5" name="Picture 4" descr="log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00" y="1051560"/>
            <a:ext cx="3739918" cy="52852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3502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PARA LA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45920"/>
            <a:ext cx="523036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EHR, data lake, dataset de entrenamiento, caché, backup, logs, exportaciones y sistemas de terceros pueden contener derivados. Un proceso de eliminación debe mapear ubicaciones y responsabilidades.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09160"/>
            <a:ext cx="548640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09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20640"/>
            <a:ext cx="523036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riesgo de identificación o gobernanza aparece aquí y qué control concreto lo reduce?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session-1-11-12-guia-de-registros.pdf, p. 28.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Fuente · Documentación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33</a:t>
            </a:r>
          </a:p>
        </p:txBody>
      </p:sp>
      <p:pic>
        <p:nvPicPr>
          <p:cNvPr id="5" name="Picture 4" descr="doc_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00" y="1051560"/>
            <a:ext cx="3739918" cy="52852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3502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PARA LA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45920"/>
            <a:ext cx="523036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La documentación técnica conecta datos de entrada, riesgos, cambios, supervisión y vigilancia. Para privacidad, documentar permite demostrar qué transformación se aplicó y a qué versión del dataset/modelo.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09160"/>
            <a:ext cx="548640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09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20640"/>
            <a:ext cx="523036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riesgo de identificación o gobernanza aparece aquí y qué control concreto lo reduce?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session-1-11-15-guia-documentacion-tecnica.pdf, p. 50.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Data lineage clínico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Origen → extracción → desidentificación → limpieza → dataset → entrenamiento → validación → despliegue → logs. Cada transformación debería ser reproducible y atribuible.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Versionado: el dato cambia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Dataset v1 ≠ v2. Si se elimina un paciente, cambia una etiqueta o se actualiza la técnica de desidentificación, debe quedar claro qué modelo se entrenó con qué versión.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Fuente · Vigilancia poscomercialización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36</a:t>
            </a:r>
          </a:p>
        </p:txBody>
      </p:sp>
      <p:pic>
        <p:nvPicPr>
          <p:cNvPr id="5" name="Picture 4" descr="post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00" y="1051560"/>
            <a:ext cx="3739918" cy="52852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3502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PARA LA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45920"/>
            <a:ext cx="523036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La guía propone indicadores, captación, registro, alertas e interfaces de supervisión. También exige políticas de acceso, retención y eliminación para los registros de vigilancia.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09160"/>
            <a:ext cx="548640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09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20640"/>
            <a:ext cx="523036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riesgo de identificación o gobernanza aparece aquí y qué control concreto lo reduce?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session-1-11-13-guia-vigilancia-poscomercializacion.pdf, p. 16.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Privacidad después del despliegue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D9E"/>
                </a:solidFill>
                <a:latin typeface="Aptos"/>
              </a:rPr>
              <a:t>37</a:t>
            </a:r>
          </a:p>
        </p:txBody>
      </p:sp>
      <p:pic>
        <p:nvPicPr>
          <p:cNvPr id="5" name="Picture 4" descr="post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00" y="1051560"/>
            <a:ext cx="3739918" cy="52852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3502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PARA LA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45920"/>
            <a:ext cx="523036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La vigilancia puede detectar problemas de privacidad/seguridad, cambios en inputs, anomalías y comportamiento inesperado. Pero la vigilancia misma no debe convertirse en recopilación ilimitada.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09160"/>
            <a:ext cx="548640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09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20640"/>
            <a:ext cx="523036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riesgo de identificación o gobernanza aparece aquí y qué control concreto lo reduce?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session-1-11-13-guia-vigilancia-poscomercializacion.pdf, p. 17.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Indicador vs dato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38</a:t>
            </a:r>
          </a:p>
        </p:txBody>
      </p:sp>
      <p:pic>
        <p:nvPicPr>
          <p:cNvPr id="5" name="Picture 4" descr="post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00" y="1051560"/>
            <a:ext cx="3739918" cy="52852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3502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PARA LA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45920"/>
            <a:ext cx="523036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Un dato aislado puede convertirse en indicador cuando se interpreta contra una escala/umbral y un riesgo. Para privacidad, piense en tasa de accesos anómalos, volumen de exportaciones o porcentaje de registros con identificadores residuales.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09160"/>
            <a:ext cx="548640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09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20640"/>
            <a:ext cx="523036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riesgo de identificación o gobernanza aparece aquí y qué control concreto lo reduce?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session-1-11-13-guia-vigilancia-poscomercializacion.pdf, p. 28.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Fuente · Gestión de incidentes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39</a:t>
            </a:r>
          </a:p>
        </p:txBody>
      </p:sp>
      <p:pic>
        <p:nvPicPr>
          <p:cNvPr id="5" name="Picture 4" descr="inc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00" y="1051560"/>
            <a:ext cx="3739918" cy="52852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3502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LECTURA PARA LA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45920"/>
            <a:ext cx="523036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32F39"/>
                </a:solidFill>
                <a:latin typeface="Aptos"/>
              </a:rPr>
              <a:t>Cuando un problema de IA se convierte en incidente, la organización necesita canal, responsables, evidencias, investigación y comunicación. La guía 14 estructura la notificación de incidentes graves.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09160"/>
            <a:ext cx="548640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0974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20640"/>
            <a:ext cx="523036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riesgo de identificación o gobernanza aparece aquí y qué control concreto lo reduce?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Fuente adjunta: session-1-11-14-guia-gestion-de-incidentes.pdf, p. 20.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Caso · Archivo de investigación enviado al destinatario equivocado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¿Es solo un error administrativo? Identifique: datos afectados, posibilidad de identificación, receptor, exposición, acciones inmediatas, evidencia, responsables y necesidad de escalamiento.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Caso · LLM memoriza fragmentos clínicos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D9E"/>
                </a:solidFill>
                <a:latin typeface="Aptos"/>
              </a:rPr>
              <a:t>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Un modelo interno devuelve texto parecido a una nota de entrenamiento. Preguntas: ¿memorization? ¿qué acceso tenía el usuario? ¿qué dataset/version? ¿qué logs existen? ¿se debe suspender el endpoint?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Caso · Dataset publicado con fechas exactas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Investigadores eliminan nombres pero publican fecha de ingreso, edad, hospital y diagnóstico raro. Un periodista enlaza esos datos con una noticia local. Analice el fallo de anonimización.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Caso · Borrado solicitado después del entrenamiento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El paciente pide eliminación cuando corresponda. El dato existe en dataset, checkpoints, logs y backups. La clase debe distinguir borrar datos operativos, trazabilidad y el problema técnico de influencia en modelos ya entrenados.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Checklist antes de compartir un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1 finalidad; 2 necesidad; 3 identificadores directos; 4 cuasi-identificadores; 5 riesgo de linkage; 6 técnica aplicada; 7 utilidad residual; 8 acceso; 9 retención; 10 logs; 11 terceros; 12 respuesta a incidentes.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Mini-lab · ataque de reidentificación conceptual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Dé a cada grupo 12 registros ficticios con edad, zona, fecha y diagnóstico. Objetivo: encontrar combinaciones únicas; luego generalizar/suprimir hasta reducir singularidad sin destruir la pregunta clínica.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Mini-lab · rediseño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Compare tres versiones del mismo dataset: A identificada, B seudonimizada, C generalizada. Para cada una decida quién puede acceder, dónde puede almacenarse y qué análisis sigue siendo posible.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Debate clínico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¿Qué es peor: un dataset muy protegido que ya no permite detectar deterioro, o uno muy útil con riesgo alto de reidentificación? La respuesta correcta no es universal: requiere finalidad, proporcionalidad y controles.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Evaluación final · 5 preguntas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1 Seudonimización vs anonimización</a:t>
            </a:r>
            <a:br/>
            <a:r>
              <a:rPr sz="1500" b="0">
                <a:solidFill>
                  <a:srgbClr val="232F39"/>
                </a:solidFill>
                <a:latin typeface="Aptos"/>
              </a:rPr>
              <a:t>2 Dé 3 cuasi-identificadores</a:t>
            </a:r>
            <a:br/>
            <a:r>
              <a:rPr sz="1500" b="0">
                <a:solidFill>
                  <a:srgbClr val="232F39"/>
                </a:solidFill>
                <a:latin typeface="Aptos"/>
              </a:rPr>
              <a:t>3 ¿Por qué los logs pueden ser sensibles?</a:t>
            </a:r>
            <a:br/>
            <a:r>
              <a:rPr sz="1500" b="0">
                <a:solidFill>
                  <a:srgbClr val="232F39"/>
                </a:solidFill>
                <a:latin typeface="Aptos"/>
              </a:rPr>
              <a:t>4 ¿Qué cambia con linkage?</a:t>
            </a:r>
            <a:br/>
            <a:r>
              <a:rPr sz="1500" b="0">
                <a:solidFill>
                  <a:srgbClr val="232F39"/>
                </a:solidFill>
                <a:latin typeface="Aptos"/>
              </a:rPr>
              <a:t>5 ¿Qué debe documentarse antes de compartir un dataset?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Mapa de 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¿Necesito datos individuales? → ¿Necesito identidad? → ¿Puedo minimizar? → ¿Puedo seudonimizar/generalizar? → ¿Qué riesgo residual queda? → ¿Qué acceso/retención/logging necesito? → ¿Cómo monitorizo incidentes?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35024"/>
            <a:ext cx="10396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CONCEPTO / EXPLICACIÓN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45920"/>
            <a:ext cx="10396728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F39"/>
                </a:solidFill>
                <a:latin typeface="Aptos"/>
              </a:rPr>
              <a:t>ANONIMIZAR NO ES BORRAR EL NOMBRE.</a:t>
            </a:r>
            <a:br/>
            <a:br/>
            <a:r>
              <a:rPr sz="1500" b="0">
                <a:solidFill>
                  <a:srgbClr val="232F39"/>
                </a:solidFill>
                <a:latin typeface="Aptos"/>
              </a:rPr>
              <a:t>Es gestionar el riesgo de identificación durante todo el ciclo de vida: transformación + acceso + trazabilidad + documentación + vigilancia + respuesta a incidentes.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A895B"/>
                </a:solidFill>
                <a:latin typeface="Aptos"/>
              </a:rPr>
              <a:t>APLICACIÓN EN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EHR, investigación, imágenes, genómica, notas clínicas, IA predictiva o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754880"/>
            <a:ext cx="4754880" cy="1051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55464"/>
            <a:ext cx="4498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166360"/>
            <a:ext cx="4498848" cy="557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32F39"/>
                </a:solidFill>
                <a:latin typeface="Aptos"/>
              </a:rPr>
              <a:t>¿Qué cambiaría si estos datos salen a nube o a un tercero?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Contenido docente basado en las Guías 9–16 adjuntas; cuando se introduce un concepto técnico adicional, se presenta como marco didáctico.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Fuentes adjuntas utilizadas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0D2642"/>
                </a:solidFill>
                <a:latin typeface="Aptos"/>
              </a:rPr>
              <a:t>51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051560"/>
            <a:ext cx="10698480" cy="5029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152144"/>
            <a:ext cx="10442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1. Guía 9 · Precisión — preprocesamiento, incertidumbre, métricas y tarjetas.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463039"/>
            <a:ext cx="10442448" cy="9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8" name="Rounded Rectangle 7"/>
          <p:cNvSpPr/>
          <p:nvPr/>
        </p:nvSpPr>
        <p:spPr>
          <a:xfrm>
            <a:off x="777240" y="1682495"/>
            <a:ext cx="10698480" cy="5029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1783080"/>
            <a:ext cx="10442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2. Guía 10 · Solidez — validación, monitorización, degradación y respaldo.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2093976"/>
            <a:ext cx="10442448" cy="9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11" name="Rounded Rectangle 10"/>
          <p:cNvSpPr/>
          <p:nvPr/>
        </p:nvSpPr>
        <p:spPr>
          <a:xfrm>
            <a:off x="777240" y="2313432"/>
            <a:ext cx="10698480" cy="5029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10442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3. Guía 11 · Ciberseguridad — vulnerabilidades/controles de datos y anonimización.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724912"/>
            <a:ext cx="10442448" cy="9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14" name="Rounded Rectangle 13"/>
          <p:cNvSpPr/>
          <p:nvPr/>
        </p:nvSpPr>
        <p:spPr>
          <a:xfrm>
            <a:off x="777240" y="2944368"/>
            <a:ext cx="10698480" cy="5029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044951"/>
            <a:ext cx="10442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2268B1"/>
                </a:solidFill>
                <a:latin typeface="Aptos"/>
              </a:rPr>
              <a:t>4. Guía 12 · Registros — trazabilidad, contenido, conservación y eliminación.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355848"/>
            <a:ext cx="10442448" cy="9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17" name="Rounded Rectangle 16"/>
          <p:cNvSpPr/>
          <p:nvPr/>
        </p:nvSpPr>
        <p:spPr>
          <a:xfrm>
            <a:off x="777240" y="3575303"/>
            <a:ext cx="10698480" cy="5029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3675887"/>
            <a:ext cx="10442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694D9E"/>
                </a:solidFill>
                <a:latin typeface="Aptos"/>
              </a:rPr>
              <a:t>5. Guía 13 · Vigilancia poscomercialización — indicadores, logs, alertas e incidentes.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986783"/>
            <a:ext cx="10442448" cy="9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20" name="Rounded Rectangle 19"/>
          <p:cNvSpPr/>
          <p:nvPr/>
        </p:nvSpPr>
        <p:spPr>
          <a:xfrm>
            <a:off x="777240" y="4206240"/>
            <a:ext cx="10698480" cy="5029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4306824"/>
            <a:ext cx="10442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694D9E"/>
                </a:solidFill>
                <a:latin typeface="Aptos"/>
              </a:rPr>
              <a:t>6. Guía 14 · Notificación de incidentes graves — procedimiento y evidencias.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17720"/>
            <a:ext cx="10442448" cy="9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23" name="Rounded Rectangle 22"/>
          <p:cNvSpPr/>
          <p:nvPr/>
        </p:nvSpPr>
        <p:spPr>
          <a:xfrm>
            <a:off x="777240" y="4837175"/>
            <a:ext cx="10698480" cy="5029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937759"/>
            <a:ext cx="10442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694D9E"/>
                </a:solidFill>
                <a:latin typeface="Aptos"/>
              </a:rPr>
              <a:t>7. Guía 15 · Documentación técnica — datos de entrada, riesgos, cambios y vigilancia.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5248655"/>
            <a:ext cx="10442448" cy="9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26" name="Rounded Rectangle 25"/>
          <p:cNvSpPr/>
          <p:nvPr/>
        </p:nvSpPr>
        <p:spPr>
          <a:xfrm>
            <a:off x="777240" y="5468112"/>
            <a:ext cx="10698480" cy="5029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568696"/>
            <a:ext cx="10442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694D9E"/>
                </a:solidFill>
                <a:latin typeface="Aptos"/>
              </a:rPr>
              <a:t>8. Guía 16 · Manual de checklist — autoevaluación de requisitos.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879592"/>
            <a:ext cx="10442448" cy="9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29" name="TextBox 28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46E76"/>
                </a:solidFill>
                <a:latin typeface="Aptos"/>
              </a:rPr>
              <a:t>Las guías indican que son material orientativo/no vinculante del sandbox regulatorio español de 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