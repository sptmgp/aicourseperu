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Sesión 4 · Gobernanza, Calidad, Sesgo y Uso Secundario de Datos Clínicos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0D2642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68B1"/>
                </a:solidFill>
                <a:latin typeface="Aptos"/>
              </a:rPr>
              <a:t>3 horas · del dato clínico al dataset gobernado y evaluable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D2642"/>
                </a:solidFill>
                <a:latin typeface="Aptos"/>
              </a:rPr>
              <a:t>¿Puede una IA ser técnicamente precisa y aun así ser injusta o clínicamente inadecuada?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788920"/>
            <a:ext cx="1798320" cy="822960"/>
          </a:xfrm>
          <a:prstGeom prst="round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3017520"/>
            <a:ext cx="17434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Origen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4392" y="2788920"/>
            <a:ext cx="1798320" cy="822960"/>
          </a:xfrm>
          <a:prstGeom prst="roundRect">
            <a:avLst/>
          </a:prstGeom>
          <a:solidFill>
            <a:srgbClr val="0F9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1824" y="3017520"/>
            <a:ext cx="17434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Calidad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45863" y="2788920"/>
            <a:ext cx="1798320" cy="822960"/>
          </a:xfrm>
          <a:prstGeom prst="round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3296" y="3017520"/>
            <a:ext cx="17434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Etiquetado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17335" y="2788920"/>
            <a:ext cx="1798320" cy="822960"/>
          </a:xfrm>
          <a:prstGeom prst="roundRect">
            <a:avLst/>
          </a:prstGeom>
          <a:solidFill>
            <a:srgbClr val="E58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7" y="3017520"/>
            <a:ext cx="17434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Sesgo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88808" y="2788920"/>
            <a:ext cx="1798320" cy="822960"/>
          </a:xfrm>
          <a:prstGeom prst="roundRect">
            <a:avLst/>
          </a:prstGeom>
          <a:solidFill>
            <a:srgbClr val="B83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6239" y="3017520"/>
            <a:ext cx="17434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Validación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60280" y="2788920"/>
            <a:ext cx="1798320" cy="822960"/>
          </a:xfrm>
          <a:prstGeom prst="roundRect">
            <a:avLst/>
          </a:prstGeom>
          <a:solidFill>
            <a:srgbClr val="2A8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87712" y="3017520"/>
            <a:ext cx="17434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Uso secundario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251960"/>
            <a:ext cx="10332720" cy="11887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" y="4352544"/>
            <a:ext cx="10076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B8373F"/>
                </a:solidFill>
                <a:latin typeface="Aptos"/>
              </a:rPr>
              <a:t>HILO CONDUCTOR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" y="4663440"/>
            <a:ext cx="1007668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Gobernar datos significa demostrar de dónde vienen, qué representan, qué calidad tienen, qué poblaciones faltan, qué sesgos contienen y si son adecuados para la finalidad clínica.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Fuentes adjuntas principales: Guía 7 Datos y gobernanza del dato (2026) + Sierra-Castillo et al., Revista Cuidarte 2026.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Plan de 180 minutos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0–35: gobierno del dato · 35–75: calidad · 75–90: caso clínico · 90–100: pausa · 100–140: sesgo/fairness · 140–160: uso secundario/LATAM · 160–180: mini-lab + evaluación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Conecte el concepto con EHR, laboratorio, imagen, monitorización o modelos predictivos.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evidencia pediría antes de desplegar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los adjuntos; ejemplos sanitarios son adaptaciones docentes del marco de gobernanza.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¿Qué es gobierno de los datos?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</a:t>
            </a:r>
          </a:p>
        </p:txBody>
      </p:sp>
      <p:pic>
        <p:nvPicPr>
          <p:cNvPr id="5" name="Picture 4" descr="G7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231" y="1097280"/>
            <a:ext cx="36528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80160"/>
            <a:ext cx="5486400" cy="31546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80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91639"/>
            <a:ext cx="5230368" cy="266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0">
                <a:solidFill>
                  <a:srgbClr val="232F39"/>
                </a:solidFill>
                <a:latin typeface="Aptos"/>
              </a:rPr>
              <a:t>La guía lo define como políticas, procedimientos, procesos y normas para asegurar que los datos de entrenamiento, validación y prueba sean adecuados, pertinentes, suficientemente representativos y con calidad/completitud.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09160"/>
            <a:ext cx="548640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09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PARA LA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20640"/>
            <a:ext cx="523036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¿Cómo cambiaría este punto en un hospital público de Perú, Ecuador o Colombia?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session-1-11-7.pdf, p. 9.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Modelo de gestión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</a:t>
            </a:r>
          </a:p>
        </p:txBody>
      </p:sp>
      <p:pic>
        <p:nvPicPr>
          <p:cNvPr id="5" name="Picture 4" descr="G7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231" y="1097280"/>
            <a:ext cx="36528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80160"/>
            <a:ext cx="5486400" cy="31546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80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91639"/>
            <a:ext cx="5230368" cy="266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0">
                <a:solidFill>
                  <a:srgbClr val="232F39"/>
                </a:solidFill>
                <a:latin typeface="Aptos"/>
              </a:rPr>
              <a:t>El flujo de la guía cubre requisitos de información, recopilación, preparación, disposición y eliminación, con seguimiento y mejora continua. Es un ciclo, no una tarea única.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09160"/>
            <a:ext cx="548640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09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PARA LA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20640"/>
            <a:ext cx="523036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¿Cómo cambiaría este punto en un hospital público de Perú, Ecuador o Colombia?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session-1-11-7.pdf, p. 9.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Gobernanza ≠ almacenamiento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Un data lake no es gobierno. Gobierno implica decisiones documentadas: diseño, origen, tratamiento, supuestos, adecuación, sesgos, lagunas, contexto de uso y responsabilidades.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Conecte el concepto con EHR, laboratorio, imagen, monitorización o modelos predictivos.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evidencia pediría antes de desplegar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los adjuntos; ejemplos sanitarios son adaptaciones docentes del marco de gobernanza.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Tres datasets, tres funciones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ENTRENAMIENTO aprende parámetros · VALIDACIÓN selecciona/ajusta decisiones · PRUEBA estima rendimiento final. Mezclarlos o contaminar sus fronteras puede producir una evaluación engañosa.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Conecte el concepto con EHR, laboratorio, imagen, monitorización o modelos predictivos.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evidencia pediría antes de desplegar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los adjuntos; ejemplos sanitarios son adaptaciones docentes del marco de gobernanza.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El hospital también tiene responsabilidad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Cuando el responsable del despliegue controla los datos de entrada, la guía indica que debe asegurar que sean pertinentes para la finalidad prevista.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Conecte el concepto con EHR, laboratorio, imagen, monitorización o modelos predictivos.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evidencia pediría antes de desplegar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los adjuntos; ejemplos sanitarios son adaptaciones docentes del marco de gobernanza.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¿De dónde vienen los datos?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La guía enumera recopilación automatizada, transacciones entre sistemas, sensores, nuevos contextos, suscripciones y crowdsourcing. En salud: EHR, laboratorio, imagen, monitor, wearable, registro poblacional y PROs.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Conecte el concepto con EHR, laboratorio, imagen, monitorización o modelos predictivos.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evidencia pediría antes de desplegar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los adjuntos; ejemplos sanitarios son adaptaciones docentes del marco de gobernanza.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Data lineage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Paciente → sistema fuente → extracción → transformación → dataset → entrenamiento → modelo → producción. Para cada flecha: responsable, fecha, versión, reglas y controles.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Conecte el concepto con EHR, laboratorio, imagen, monitorización o modelos predictivos.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evidencia pediría antes de desplegar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los adjuntos; ejemplos sanitarios son adaptaciones docentes del marco de gobernanza.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Finalidad prevista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Un dataset puede ser excelente para una finalidad y malo para otra. La pregunta no es «¿son buenos datos?» sino «¿son adecuados para este paciente, tarea, entorno y decisión?»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Conecte el concepto con EHR, laboratorio, imagen, monitorización o modelos predictivos.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evidencia pediría antes de desplegar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los adjuntos; ejemplos sanitarios son adaptaciones docentes del marco de gobernanza.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Calidad del dato: múltiples dimensiones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D9E"/>
                </a:solidFill>
                <a:latin typeface="Aptos"/>
              </a:rPr>
              <a:t>11</a:t>
            </a:r>
          </a:p>
        </p:txBody>
      </p:sp>
      <p:pic>
        <p:nvPicPr>
          <p:cNvPr id="5" name="Picture 4" descr="G7_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231" y="1097280"/>
            <a:ext cx="36528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80160"/>
            <a:ext cx="5486400" cy="31546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80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91639"/>
            <a:ext cx="5230368" cy="266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0">
                <a:solidFill>
                  <a:srgbClr val="232F39"/>
                </a:solidFill>
                <a:latin typeface="Aptos"/>
              </a:rPr>
              <a:t>La guía no reduce calidad a exactitud. Incluye accesibilidad, auditabilidad, identificabilidad, portabilidad, comprensibilidad, coherencia temporal, eficacia, eficiencia, precisión y más.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09160"/>
            <a:ext cx="548640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09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PARA LA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20640"/>
            <a:ext cx="523036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¿Cómo cambiaría este punto en un hospital público de Perú, Ecuador o Colombia?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session-1-11-7.pdf, p. 48.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Identificabilidad también es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12</a:t>
            </a:r>
          </a:p>
        </p:txBody>
      </p:sp>
      <p:pic>
        <p:nvPicPr>
          <p:cNvPr id="5" name="Picture 4" descr="G7_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231" y="1097280"/>
            <a:ext cx="36528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80160"/>
            <a:ext cx="5486400" cy="31546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80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91639"/>
            <a:ext cx="5230368" cy="266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0">
                <a:solidFill>
                  <a:srgbClr val="232F39"/>
                </a:solidFill>
                <a:latin typeface="Aptos"/>
              </a:rPr>
              <a:t>La guía trata identificabilidad como una dimensión: comprender si PII directa/indirecta puede identificar a una persona y considerar desidentificación/anonimización para reducir esa posibilidad.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09160"/>
            <a:ext cx="548640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09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PARA LA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20640"/>
            <a:ext cx="523036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¿Cómo cambiaría este punto en un hospital público de Perú, Ecuador o Colombia?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session-1-11-7.pdf, p. 48.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Precisión sintáctica vs semántica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Sintáctica: el valor tiene el tipo/formato esperado. Semántica: el valor representa correctamente el significado clínico esperado. «120» puede ser válido sintácticamente y clínicamente absurdo si la unidad/campo es incorrecto.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Conecte el concepto con EHR, laboratorio, imagen, monitorización o modelos predictivos.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evidencia pediría antes de desplegar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los adjuntos; ejemplos sanitarios son adaptaciones docentes del marco de gobernanza.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Completitud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14</a:t>
            </a:r>
          </a:p>
        </p:txBody>
      </p:sp>
      <p:pic>
        <p:nvPicPr>
          <p:cNvPr id="5" name="Picture 4" descr="G7_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231" y="1097280"/>
            <a:ext cx="36528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80160"/>
            <a:ext cx="5486400" cy="31546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80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91639"/>
            <a:ext cx="5230368" cy="266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0">
                <a:solidFill>
                  <a:srgbClr val="232F39"/>
                </a:solidFill>
                <a:latin typeface="Aptos"/>
              </a:rPr>
              <a:t>No es solo contar celdas vacías. Debe interpretarse según la tarea. En salud, la ausencia puede depender de acceso, gravedad, protocolo o capacidad económica y convertirse en señal sesgada.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09160"/>
            <a:ext cx="548640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09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PARA LA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20640"/>
            <a:ext cx="523036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¿Cómo cambiaría este punto en un hospital público de Perú, Ecuador o Colombia?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session-1-11-7.pdf, p. 50.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Credibilidad e integridad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15</a:t>
            </a:r>
          </a:p>
        </p:txBody>
      </p:sp>
      <p:pic>
        <p:nvPicPr>
          <p:cNvPr id="5" name="Picture 4" descr="G7_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231" y="1097280"/>
            <a:ext cx="36528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80160"/>
            <a:ext cx="5486400" cy="31546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80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91639"/>
            <a:ext cx="5230368" cy="266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0">
                <a:solidFill>
                  <a:srgbClr val="232F39"/>
                </a:solidFill>
                <a:latin typeface="Aptos"/>
              </a:rPr>
              <a:t>La guía señala que datos pueden ser perturbados por partes autorizadas o no autorizadas; manipular entrenamiento/validación/prueba puede inutilizar el modelo o dirigir sus inferencias.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09160"/>
            <a:ext cx="548640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09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PARA LA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20640"/>
            <a:ext cx="523036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¿Cómo cambiaría este punto en un hospital público de Perú, Ecuador o Colombia?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session-1-11-7.pdf, p. 50.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Equilibrio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Una distribución muy desigual puede hacer que clases raras se pierdan o se interpreten como ruido. En clínica, «raro» no significa «irrelevante».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Conecte el concepto con EHR, laboratorio, imagen, monitorización o modelos predictivos.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evidencia pediría antes de desplegar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los adjuntos; ejemplos sanitarios son adaptaciones docentes del marco de gobernanza.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Consistencia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Mismo dato en fuentes distintas no debería contradecirse. Duplicados pueden sobreponderar características y contradicciones pueden degradar inferencias.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Conecte el concepto con EHR, laboratorio, imagen, monitorización o modelos predictivos.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evidencia pediría antes de desplegar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los adjuntos; ejemplos sanitarios son adaptaciones docentes del marco de gobernanza.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Diversidad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Un dataset con poca diversidad puede sobreajustarse y generalizar mal. La diversidad debe evaluarse respecto de la tarea y población objetivo.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Conecte el concepto con EHR, laboratorio, imagen, monitorización o modelos predictivos.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evidencia pediría antes de desplegar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los adjuntos; ejemplos sanitarios son adaptaciones docentes del marco de gobernanza.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Relevancia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No toda variable disponible merece entrar al modelo. Relevancia pregunta si una característica es adecuada/predictiva para el contexto y finalidad.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Conecte el concepto con EHR, laboratorio, imagen, monitorización o modelos predictivos.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evidencia pediría antes de desplegar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los adjuntos; ejemplos sanitarios son adaptaciones docentes del marco de gobernanza.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Representatividad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20</a:t>
            </a:r>
          </a:p>
        </p:txBody>
      </p:sp>
      <p:pic>
        <p:nvPicPr>
          <p:cNvPr id="5" name="Picture 4" descr="G7_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231" y="1097280"/>
            <a:ext cx="36528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80160"/>
            <a:ext cx="5486400" cy="31546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80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91639"/>
            <a:ext cx="5230368" cy="266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0">
                <a:solidFill>
                  <a:srgbClr val="232F39"/>
                </a:solidFill>
                <a:latin typeface="Aptos"/>
              </a:rPr>
              <a:t>La guía define representatividad como el grado en que la muestra refleja la población objetivo. Si entrenamiento no representa producción, el sistema puede no funcionar como se requiere.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09160"/>
            <a:ext cx="548640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09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PARA LA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20640"/>
            <a:ext cx="523036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¿Cómo cambiaría este punto en un hospital público de Perú, Ecuador o Colombia?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session-1-11-7.pdf, p. 52.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Caso clínico · dermatología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Modelo entrenado principalmente con fotografías de un subconjunto de tonos de piel. AUC global alto. ¿Qué evidencia necesita antes de usarlo en una población más diversa?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Conecte el concepto con EHR, laboratorio, imagen, monitorización o modelos predictivos.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evidencia pediría antes de desplegar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los adjuntos; ejemplos sanitarios son adaptaciones docentes del marco de gobernanza.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Calidad global puede ocultar subgrupos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Accuracy_total no demuestra rendimiento uniforme. Debemos desagregar métricas por subgrupos clínicamente/éticamente relevantes cuando sea apropiado.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Conecte el concepto con EHR, laboratorio, imagen, monitorización o modelos predictivos.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evidencia pediría antes de desplegar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los adjuntos; ejemplos sanitarios son adaptaciones docentes del marco de gobernanza.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Etiquetado: dónde nace la «verdad»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23</a:t>
            </a:r>
          </a:p>
        </p:txBody>
      </p:sp>
      <p:pic>
        <p:nvPicPr>
          <p:cNvPr id="5" name="Picture 4" descr="G7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231" y="1097280"/>
            <a:ext cx="36528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80160"/>
            <a:ext cx="5486400" cy="31546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80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91639"/>
            <a:ext cx="5230368" cy="266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0">
                <a:solidFill>
                  <a:srgbClr val="232F39"/>
                </a:solidFill>
                <a:latin typeface="Aptos"/>
              </a:rPr>
              <a:t>La guía presenta etiquetado interno, externo, crowdsourcing y automático. Cada opción cambia coste, control, calidad, responsabilidad y riesgo.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09160"/>
            <a:ext cx="548640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09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PARA LA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20640"/>
            <a:ext cx="523036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¿Cómo cambiaría este punto en un hospital público de Perú, Ecuador o Colombia?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session-1-11-7.pdf, p. 31.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Human-in-the-loop en etiquetado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24</a:t>
            </a:r>
          </a:p>
        </p:txBody>
      </p:sp>
      <p:pic>
        <p:nvPicPr>
          <p:cNvPr id="5" name="Picture 4" descr="G7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231" y="1097280"/>
            <a:ext cx="36528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80160"/>
            <a:ext cx="5486400" cy="31546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80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91639"/>
            <a:ext cx="5230368" cy="266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0">
                <a:solidFill>
                  <a:srgbClr val="232F39"/>
                </a:solidFill>
                <a:latin typeface="Aptos"/>
              </a:rPr>
              <a:t>El etiquetado automático puede requerir una muestra representativa revisada por humanos y suficiente validación/supervisión para mitigar sesgo y deriva.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09160"/>
            <a:ext cx="548640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09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PARA LA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20640"/>
            <a:ext cx="523036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¿Cómo cambiaría este punto en un hospital público de Perú, Ecuador o Colombia?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session-1-11-7.pdf, p. 31.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Caso · radiología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Tres radiólogos discrepan sobre una imagen límite. ¿Cuál es la ground truth? El desacuerdo puede ser información clínica; ocultarlo con una sola etiqueta puede empobrecer el dataset.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Conecte el concepto con EHR, laboratorio, imagen, monitorización o modelos predictivos.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evidencia pediría antes de desplegar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los adjuntos; ejemplos sanitarios son adaptaciones docentes del marco de gobernanza.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¿Qué es sesgo en los datos?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26</a:t>
            </a:r>
          </a:p>
        </p:txBody>
      </p:sp>
      <p:pic>
        <p:nvPicPr>
          <p:cNvPr id="5" name="Picture 4" descr="G7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231" y="1097280"/>
            <a:ext cx="36528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80160"/>
            <a:ext cx="5486400" cy="31546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80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91639"/>
            <a:ext cx="5230368" cy="266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0">
                <a:solidFill>
                  <a:srgbClr val="232F39"/>
                </a:solidFill>
                <a:latin typeface="Aptos"/>
              </a:rPr>
              <a:t>La guía lo describe como tendencia o potencial error sistemático asociado a desequilibrios/sobrerrepresentación. Importante: un dataset sesgado no necesariamente contiene datos falsos.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09160"/>
            <a:ext cx="548640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09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PARA LA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20640"/>
            <a:ext cx="523036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¿Cómo cambiaría este punto en un hospital público de Perú, Ecuador o Colombia?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session-1-11-7.pdf, p. 31.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Sesgo histórico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D9E"/>
                </a:solidFill>
                <a:latin typeface="Aptos"/>
              </a:rPr>
              <a:t>27</a:t>
            </a:r>
          </a:p>
        </p:txBody>
      </p:sp>
      <p:pic>
        <p:nvPicPr>
          <p:cNvPr id="5" name="Picture 4" descr="G7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231" y="1097280"/>
            <a:ext cx="36528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80160"/>
            <a:ext cx="5486400" cy="31546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80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91639"/>
            <a:ext cx="5230368" cy="266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0">
                <a:solidFill>
                  <a:srgbClr val="232F39"/>
                </a:solidFill>
                <a:latin typeface="Aptos"/>
              </a:rPr>
              <a:t>Datos históricos pueden reflejar desigualdades pasadas. Entrenar sin analizar contexto puede convertir esa historia en una regla automatizada futura.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09160"/>
            <a:ext cx="548640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09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PARA LA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20640"/>
            <a:ext cx="523036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¿Cómo cambiaría este punto en un hospital público de Perú, Ecuador o Colombia?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session-1-11-7.pdf, p. 32.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El análisis de sesgo no es opcional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28</a:t>
            </a:r>
          </a:p>
        </p:txBody>
      </p:sp>
      <p:pic>
        <p:nvPicPr>
          <p:cNvPr id="5" name="Picture 4" descr="G7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231" y="1097280"/>
            <a:ext cx="36528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80160"/>
            <a:ext cx="5486400" cy="31546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80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91639"/>
            <a:ext cx="5230368" cy="266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0">
                <a:solidFill>
                  <a:srgbClr val="232F39"/>
                </a:solidFill>
                <a:latin typeface="Aptos"/>
              </a:rPr>
              <a:t>La guía enfatiza que debe estar siempre presente en un adecuado gobierno del dato: identificarlo, evaluar su impacto y decidir si requiere mitigación.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09160"/>
            <a:ext cx="548640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09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PARA LA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20640"/>
            <a:ext cx="523036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¿Cómo cambiaría este punto en un hospital público de Perú, Ecuador o Colombia?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session-1-11-7.pdf, p. 32.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Fuentes de sesgo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29</a:t>
            </a:r>
          </a:p>
        </p:txBody>
      </p:sp>
      <p:pic>
        <p:nvPicPr>
          <p:cNvPr id="5" name="Picture 4" descr="G7_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231" y="1097280"/>
            <a:ext cx="36528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80160"/>
            <a:ext cx="5486400" cy="31546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80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91639"/>
            <a:ext cx="5230368" cy="266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0">
                <a:solidFill>
                  <a:srgbClr val="232F39"/>
                </a:solidFill>
                <a:latin typeface="Aptos"/>
              </a:rPr>
              <a:t>Selección, muestreo, cobertura, etiquetado, incompletitud y otros mecanismos pueden introducir diferencias sistemáticas entre lo observado y la realidad/población objetivo.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09160"/>
            <a:ext cx="548640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09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PARA LA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20640"/>
            <a:ext cx="523036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¿Cómo cambiaría este punto en un hospital público de Perú, Ecuador o Colombia?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session-1-11-7.pdf, p. 60.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Sesgo de selección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Si los pacientes incluidos difieren sistemáticamente de quienes usarán el sistema, el modelo aprende una población equivocada.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Conecte el concepto con EHR, laboratorio, imagen, monitorización o modelos predictivos.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evidencia pediría antes de desplegar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los adjuntos; ejemplos sanitarios son adaptaciones docentes del marco de gobernanza.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Sesgo de cobertura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Ejemplo sanitario: entrenar con pacientes de hospitales terciarios y desplegar en atención primaria/rural puede crear un desajuste de población y severidad.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Conecte el concepto con EHR, laboratorio, imagen, monitorización o modelos predictivos.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evidencia pediría antes de desplegar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los adjuntos; ejemplos sanitarios son adaptaciones docentes del marco de gobernanza.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Sesgo de medición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Diferencias de dispositivos, protocolos, disponibilidad de pruebas o documentación pueden crear patrones que el modelo confunde con biología.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Conecte el concepto con EHR, laboratorio, imagen, monitorización o modelos predictivos.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evidencia pediría antes de desplegar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los adjuntos; ejemplos sanitarios son adaptaciones docentes del marco de gobernanza.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Sesgo de etiqueta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Una etiqueta basada en decisiones históricas puede reflejar acceso, práctica clínica o juicio humano, no necesariamente el estado biológico verdadero.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Conecte el concepto con EHR, laboratorio, imagen, monitorización o modelos predictivos.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evidencia pediría antes de desplegar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los adjuntos; ejemplos sanitarios son adaptaciones docentes del marco de gobernanza.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Sesgo por incompletitud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Si ciertos grupos tienen historias clínicas más incompletas, el patrón de missingness puede convertirse en proxy de acceso o condición socioeconómica.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Conecte el concepto con EHR, laboratorio, imagen, monitorización o modelos predictivos.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evidencia pediría antes de desplegar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los adjuntos; ejemplos sanitarios son adaptaciones docentes del marco de gobernanza.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Fairness no tiene una única 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Distintas nociones de imparcialidad pueden ser incompatibles. La métrica debe elegirse según la finalidad, el daño que se quiere evitar y el contexto clínico.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Conecte el concepto con EHR, laboratorio, imagen, monitorización o modelos predictivos.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evidencia pediría antes de desplegar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los adjuntos; ejemplos sanitarios son adaptaciones docentes del marco de gobernanza.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Matriz de confusión por subgrupo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D9E"/>
                </a:solidFill>
                <a:latin typeface="Aptos"/>
              </a:rPr>
              <a:t>36</a:t>
            </a:r>
          </a:p>
        </p:txBody>
      </p:sp>
      <p:pic>
        <p:nvPicPr>
          <p:cNvPr id="5" name="Picture 4" descr="G7_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231" y="1097280"/>
            <a:ext cx="36528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80160"/>
            <a:ext cx="5486400" cy="31546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80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91639"/>
            <a:ext cx="5230368" cy="266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0">
                <a:solidFill>
                  <a:srgbClr val="232F39"/>
                </a:solidFill>
                <a:latin typeface="Aptos"/>
              </a:rPr>
              <a:t>TPR, FPR, PPV y NPV pueden diferir entre grupos. Una sola matriz agregada puede esconder un patrón clínicamente importante.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09160"/>
            <a:ext cx="548640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09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PARA LA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20640"/>
            <a:ext cx="523036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¿Cómo cambiaría este punto en un hospital público de Perú, Ecuador o Colombia?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session-1-11-7.pdf, p. 64.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Equal opportunity · intuición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Comparar sensibilidad/TPR entre grupos puede ser relevante cuando el daño principal es perder casos verdaderamente positivos. No es una regla universal: depende del caso.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Conecte el concepto con EHR, laboratorio, imagen, monitorización o modelos predictivos.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evidencia pediría antes de desplegar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los adjuntos; ejemplos sanitarios son adaptaciones docentes del marco de gobernanza.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Caso · sepsis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Sensibilidad global 90%. Grupo A 94%, Grupo B 76%. Antes de concluir «sesgo», revise tamaño muestral, prevalencia, intervalos de confianza, calidad de medición y contexto clínico.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Conecte el concepto con EHR, laboratorio, imagen, monitorización o modelos predictivos.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evidencia pediría antes de desplegar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los adjuntos; ejemplos sanitarios son adaptaciones docentes del marco de gobernanza.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Mitigación preprocesamiento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Opciones pueden incluir mejorar recopilación, reequilibrar, revisar etiquetas, tratar missingness y eliminar proxies inapropiados. Cada cambio debe revalidarse.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Conecte el concepto con EHR, laboratorio, imagen, monitorización o modelos predictivos.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evidencia pediría antes de desplegar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los adjuntos; ejemplos sanitarios son adaptaciones docentes del marco de gobernanza.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Mitigación en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Ponderaciones, restricciones u objetivos de fairness pueden modificar el entrenamiento, pero no sustituyen una buena gobernanza del dataset.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Conecte el concepto con EHR, laboratorio, imagen, monitorización o modelos predictivos.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evidencia pediría antes de desplegar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los adjuntos; ejemplos sanitarios son adaptaciones docentes del marco de gobernanza.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Mitigación posprocesamiento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Ajustar umbrales por contexto puede cambiar sensibilidad/especificidad. En salud requiere justificación clínica y evaluación de consecuencias, no solo optimización matemática.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Conecte el concepto con EHR, laboratorio, imagen, monitorización o modelos predictivos.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evidencia pediría antes de desplegar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los adjuntos; ejemplos sanitarios son adaptaciones docentes del marco de gobernanza.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Precisión y sesgo están conectados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La guía de precisión señala que una métrica global puede ser engañosa sin análisis de sesgos y recomienda verificar sesgos en datos, funcionamiento y salidas durante el ciclo de vida.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Conecte el concepto con EHR, laboratorio, imagen, monitorización o modelos predictivos.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evidencia pediría antes de desplegar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los adjuntos; ejemplos sanitarios son adaptaciones docentes del marco de gobernanza.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Uso secundario de datos clínicos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Investigación, entrenamiento, validación o mejora pueden ser finalidades distintas de la atención original. El material adjunto plantea privacidad, consentimiento, uso secundario y soberanía como preguntas centrales de gobernanza.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Conecte el concepto con EHR, laboratorio, imagen, monitorización o modelos predictivos.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evidencia pediría antes de desplegar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los adjuntos; ejemplos sanitarios son adaptaciones docentes del marco de gobernanza.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¿Quién controla el dato y el valor?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44</a:t>
            </a:r>
          </a:p>
        </p:txBody>
      </p:sp>
      <p:pic>
        <p:nvPicPr>
          <p:cNvPr id="5" name="Picture 4" descr="LATAM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66" y="1097280"/>
            <a:ext cx="399218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80160"/>
            <a:ext cx="5486400" cy="31546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80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91639"/>
            <a:ext cx="5230368" cy="266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0">
                <a:solidFill>
                  <a:srgbClr val="232F39"/>
                </a:solidFill>
                <a:latin typeface="Aptos"/>
              </a:rPr>
              <a:t>El artículo LATAM subraya que en países de ingresos medios no basta proteger datos: también importa quién los controla, cómo se distribuye el valor generado y cómo evitar dependencia tecnológica.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09160"/>
            <a:ext cx="548640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09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PARA LA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20640"/>
            <a:ext cx="523036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¿Cómo cambiaría este punto en un hospital público de Perú, Ecuador o Colombia?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6342+E.pdf, p. 3.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LATAM: IA como encrucijada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D9E"/>
                </a:solidFill>
                <a:latin typeface="Aptos"/>
              </a:rPr>
              <a:t>45</a:t>
            </a:r>
          </a:p>
        </p:txBody>
      </p:sp>
      <p:pic>
        <p:nvPicPr>
          <p:cNvPr id="5" name="Picture 4" descr="LATAM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66" y="1097280"/>
            <a:ext cx="399218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80160"/>
            <a:ext cx="5486400" cy="31546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80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91639"/>
            <a:ext cx="5230368" cy="266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0">
                <a:solidFill>
                  <a:srgbClr val="232F39"/>
                </a:solidFill>
                <a:latin typeface="Aptos"/>
              </a:rPr>
              <a:t>El artículo muestra brechas estructurales —acceso, talento, fragmentación/interoperabilidad, calidad de datos y desigualdades regulatorias— y condiciones habilitadoras como gobernanza, regulación, talento y validación local.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09160"/>
            <a:ext cx="548640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09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PARA LA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20640"/>
            <a:ext cx="523036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¿Cómo cambiaría este punto en un hospital público de Perú, Ecuador o Colombia?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6342+E.pdf, p. 3.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Validación 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Un modelo desarrollado fuera de la región puede tener problemas de validez externa. La pregunta correcta es: ¿la evidencia de desarrollo representa nuestra población, infraestructura y flujo clínico?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Conecte el concepto con EHR, laboratorio, imagen, monitorización o modelos predictivos.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evidencia pediría antes de desplegar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los adjuntos; ejemplos sanitarios son adaptaciones docentes del marco de gobernanza.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Soberanía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En el artículo LATAM, soberanía aparece junto a privacidad, consentimiento y uso secundario: dónde están los datos, quién controla infraestructura/modelos y quién captura el valor son preguntas de gobernanza.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Conecte el concepto con EHR, laboratorio, imagen, monitorización o modelos predictivos.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evidencia pediría antes de desplegar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los adjuntos; ejemplos sanitarios son adaptaciones docentes del marco de gobernanza.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Mini-lab · audite un dataset clínico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Grupos: elijan un modelo (sepsis, diabetes, imagen, obstetricia). Completen: finalidad → fuentes → población → missingness → etiquetas → representatividad → sesgos → métricas por subgrupo → mitigación → responsable.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Conecte el concepto con EHR, laboratorio, imagen, monitorización o modelos predictivos.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evidencia pediría antes de desplegar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los adjuntos; ejemplos sanitarios son adaptaciones docentes del marco de gobernanza.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Mini-lab · decisión de uso secundario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Hospital tiene 100.000 historias para asistencia. Un proveedor quiere entrenar un modelo. Identifique qué preguntas de gobernanza deben resolverse antes de transferir/reutilizar los datos.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Conecte el concepto con EHR, laboratorio, imagen, monitorización o modelos predictivos.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evidencia pediría antes de desplegar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los adjuntos; ejemplos sanitarios son adaptaciones docentes del marco de gobernanza.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Checklist de gobernanza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50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□ finalidad □ origen □ linaje □ calidad □ completitud □ representatividad □ etiquetas □ sesgo □ privacidad □ uso secundario □ documentación □ métricas □ validación local □ monitorización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Conecte el concepto con EHR, laboratorio, imagen, monitorización o modelos predictivos.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evidencia pediría antes de desplegar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los adjuntos; ejemplos sanitarios son adaptaciones docentes del marco de gobernanza.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Evaluación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51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1 Defina gobernanza del dato. 2 Dé 5 dimensiones de calidad. 3 Diferencie sesgo histórico y de selección. 4 ¿Por qué accuracy global puede engañar? 5 ¿Qué debe revisarse antes de uso secundario?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Conecte el concepto con EHR, laboratorio, imagen, monitorización o modelos predictivos.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evidencia pediría antes de desplegar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los adjuntos; ejemplos sanitarios son adaptaciones docentes del marco de gobernanza.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52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BUEN MODELO ≠ BUENA IA CLÍNICA</a:t>
            </a:r>
            <a:br/>
            <a:br/>
            <a:r>
              <a:rPr sz="1400" b="0">
                <a:solidFill>
                  <a:srgbClr val="232F39"/>
                </a:solidFill>
                <a:latin typeface="Aptos"/>
              </a:rPr>
              <a:t>Datos adecuados + calidad demostrada + población representada + sesgos evaluados + finalidad legítima + validación local + gobernanza continua.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Conecte el concepto con EHR, laboratorio, imagen, monitorización o modelos predictivos.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901184"/>
            <a:ext cx="4544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DISCUSIÓN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12080"/>
            <a:ext cx="4544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32F39"/>
                </a:solidFill>
                <a:latin typeface="Aptos"/>
              </a:rPr>
              <a:t>¿Qué evidencia pediría antes de desplegar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Basado en los adjuntos; ejemplos sanitarios son adaptaciones docentes del marco de gobernanza.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Referencias adjuntas principales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0D2642"/>
                </a:solidFill>
                <a:latin typeface="Aptos"/>
              </a:rPr>
              <a:t>53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34440"/>
            <a:ext cx="10515600" cy="15544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335024"/>
            <a:ext cx="10259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Guía 7 · Datos y gobernanza del dato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1645920"/>
            <a:ext cx="10259568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Sandbox regulatorio español de IA, 2026. Fuente principal para ciclo de datos, calidad, etiquetado, representatividad, sesgo, controles y métricas.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63240"/>
            <a:ext cx="10515600" cy="15544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3163824"/>
            <a:ext cx="10259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694D9E"/>
                </a:solidFill>
                <a:latin typeface="Aptos"/>
              </a:rPr>
              <a:t>Sierra-Castillo et al. · Revista Cuidarte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474720"/>
            <a:ext cx="10259568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«AI in healthcare in Latin America and Colombia: bridging gaps and leveraging opportunities». Fuente para gobernanza, uso secundario, soberanía, brechas estructurales y validación local.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051560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4992624"/>
            <a:ext cx="10259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Material complementario adjunto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5303520"/>
            <a:ext cx="10259568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9"/>
                </a:solidFill>
                <a:latin typeface="Aptos"/>
              </a:rPr>
              <a:t>Guía 9 · Precisión: relación entre métricas, sesgo e imparcialidad.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La presentación distingue el contenido de los adjuntos de las adaptaciones clínicas usadas para docencia.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