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6012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300"/>
              </a:spcAft>
              <a:defRPr sz="2800" b="1">
                <a:solidFill>
                  <a:srgbClr val="B4DCEB"/>
                </a:solidFill>
              </a:defRPr>
            </a:pPr>
            <a:r>
              <a:t>SESIÓN 9</a:t>
            </a:r>
          </a:p>
          <a:p>
            <a:pPr>
              <a:spcAft>
                <a:spcPts val="1300"/>
              </a:spcAft>
              <a:defRPr sz="3800" b="1">
                <a:solidFill>
                  <a:srgbClr val="FFFFFF"/>
                </a:solidFill>
              </a:defRPr>
            </a:pPr>
            <a:r>
              <a:t>NLP, LLM Y DOCUMENTACIÓN CLÍNICA</a:t>
            </a:r>
          </a:p>
          <a:p>
            <a:pPr>
              <a:spcAft>
                <a:spcPts val="1300"/>
              </a:spcAft>
              <a:defRPr sz="2400" b="0">
                <a:solidFill>
                  <a:srgbClr val="FFFFFF"/>
                </a:solidFill>
              </a:defRPr>
            </a:pPr>
            <a:r>
              <a:t>Del texto clínico libre al sistema de IA auditable</a:t>
            </a:r>
          </a:p>
          <a:p>
            <a:pPr>
              <a:spcAft>
                <a:spcPts val="1300"/>
              </a:spcAft>
              <a:defRPr sz="1800" b="0">
                <a:solidFill>
                  <a:srgbClr val="D7E6F0"/>
                </a:solidFill>
              </a:defRPr>
            </a:pPr>
            <a:r>
              <a:t>45 diapositivas · 3 horas · enfoque visual + casos + evidencia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Sesión 9 · base: documentación clínica + Guías 8–16 del material adjunto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A.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El problema clínico: el texto contiene información, pero no está estructurado</a:t>
            </a:r>
          </a:p>
        </p:txBody>
      </p:sp>
      <p:pic>
        <p:nvPicPr>
          <p:cNvPr id="4" name="Picture 3" descr="G8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5623560" cy="79509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234440"/>
            <a:ext cx="52120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Una nota clínica puede contener síntomas, medicamentos, antecedentes, temporalidad, negaciones y plan en texto libre.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El NLP convierte ese texto en representaciones procesables; el LLM puede resumir, extraer o reformular.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 cuestión de la sesión no es solo '¿puede hacerlo?', sino '¿cómo demostramos que lo hace de forma segura y trazable?'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Las Guías 8–16 aportan precisamente esa segunda capa.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Guías 8–16 · material adjunto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A.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La idea central de la sesión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3152" cy="4983480"/>
          </a:xfrm>
          <a:prstGeom prst="rect">
            <a:avLst/>
          </a:prstGeom>
          <a:solidFill>
            <a:srgbClr val="12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LLM como motor lingüístico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Tokeniza y representa lenguaje.</a:t>
            </a:r>
            <a:br/>
            <a:r>
              <a:t>• Relaciona contexto.</a:t>
            </a:r>
            <a:br/>
            <a:r>
              <a:t>• Genera una salida.</a:t>
            </a:r>
            <a:br/>
            <a:r>
              <a:t>• Puede producir resumen, extracción o respuesta.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73152" cy="4983480"/>
          </a:xfrm>
          <a:prstGeom prst="rect">
            <a:avLst/>
          </a:prstGeom>
          <a:solidFill>
            <a:srgbClr val="DA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Sistema clínico completo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Define finalidad.</a:t>
            </a:r>
            <a:br/>
            <a:r>
              <a:t>• Mide precisión y solidez.</a:t>
            </a:r>
            <a:br/>
            <a:r>
              <a:t>• Protege datos y herramientas.</a:t>
            </a:r>
            <a:br/>
            <a:r>
              <a:t>• Registra, supervisa y vigila.</a:t>
            </a:r>
            <a:br/>
            <a:r>
              <a:t>• Documenta cambios e incidentes.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Síntesis de Guías 8–16 + Sesión 9 adjunta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A.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Las Guías 8–16 no son nueve temas aislados: forman un ciclo de vida</a:t>
            </a:r>
          </a:p>
        </p:txBody>
      </p:sp>
      <p:pic>
        <p:nvPicPr>
          <p:cNvPr id="4" name="Picture 3" descr="G16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5943600" cy="84034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234440"/>
            <a:ext cx="52120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 Guía 16 muestra una lógica de diagnóstico → revisión de requisitos → medidas → grado de madurez.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Para un LLM clínico, esto convierte conceptos abstractos en preguntas que pueden verificarse.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 sesión seguirá el mismo ciclo: entender → medir → proteger → registrar → vigilar → documentar.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 16, p. 9 · material adjunto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A.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Mapa de aprendizaje — 180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3152" cy="4983480"/>
          </a:xfrm>
          <a:prstGeom prst="rect">
            <a:avLst/>
          </a:prstGeom>
          <a:solidFill>
            <a:srgbClr val="12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BLOQUE 1 · 0–55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NLP clínico.</a:t>
            </a:r>
            <a:br/>
            <a:r>
              <a:t>• LLM y Transformer.</a:t>
            </a:r>
            <a:br/>
            <a:r>
              <a:t>• Prompting.</a:t>
            </a:r>
            <a:br/>
            <a:r>
              <a:t>• Extracción estructurada.</a:t>
            </a:r>
            <a:br/>
            <a:r>
              <a:t>• RAG y evidencia.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73152" cy="4983480"/>
          </a:xfrm>
          <a:prstGeom prst="rect">
            <a:avLst/>
          </a:prstGeom>
          <a:solidFill>
            <a:srgbClr val="DA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BLOQUE 2 · 55–180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Transparencia.</a:t>
            </a:r>
            <a:br/>
            <a:r>
              <a:t>• Precisión.</a:t>
            </a:r>
            <a:br/>
            <a:r>
              <a:t>• Solidez.</a:t>
            </a:r>
            <a:br/>
            <a:r>
              <a:t>• Ciberseguridad.</a:t>
            </a:r>
            <a:br/>
            <a:r>
              <a:t>• Logs, vigilancia, incidentes, documentación y checklist.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Diseño docente de la Sesión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B.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Guía 8 — Transparencia: la salida debe poder interpretarse</a:t>
            </a:r>
          </a:p>
        </p:txBody>
      </p:sp>
      <p:pic>
        <p:nvPicPr>
          <p:cNvPr id="4" name="Picture 3" descr="G8_transpar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5623560" cy="79509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234440"/>
            <a:ext cx="52120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 guía relaciona transparencia con la capacidad del responsable del despliegue para comprender la salida.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Incluye características, capacidades, limitaciones, cambios y vigilancia humana.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En un LLM clínico: mostrar qué tarea realiza, qué datos utiliza, qué limitaciones tiene y cuándo requiere revisión.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 transparencia es una condición práctica para la supervisión humana.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 8 · Transparencia · p. 26 · material adjunto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B.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Guía 8 — Data drift y model drift: el 'OK' inicial no basta</a:t>
            </a:r>
          </a:p>
        </p:txBody>
      </p:sp>
      <p:pic>
        <p:nvPicPr>
          <p:cNvPr id="4" name="Picture 3" descr="G8_metrics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5623560" cy="62682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234440"/>
            <a:ext cx="52120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 propia guía explica que el rendimiento puede degradarse por nuevos datos de entrada (data drift) o cambios en el modelo (model drift).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Por eso propone métricas integradas en el ciclo de vida.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En NLP: cambios de especialidad, idioma, abreviaturas o estilo documental pueden alterar el rendimiento.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Pregunta: ¿qué métrica monitorizaría un hospital cada semana?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 8 · p. 40 · medidas 5.8 · material adjunto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B.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Guía 8 — No confundir correlación con explicación clínica</a:t>
            </a:r>
          </a:p>
        </p:txBody>
      </p:sp>
      <p:pic>
        <p:nvPicPr>
          <p:cNvPr id="4" name="Picture 3" descr="G8_cor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5623560" cy="60892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234440"/>
            <a:ext cx="52120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 guía advierte sobre correlaciones que pueden ser espurias o subjetivas.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En medicina, una asociación estadística no debe convertirse automáticamente en una explicación causal.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Para un LLM: una frase plausible no constituye evidencia clínica.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 salida debe poder conectarse con el texto fuente cuando la tarea lo requiera.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 8 · p. 43 · ejemplos de concesión de ayudas y bomba de insulina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B. TRANSPARENCIA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Human-in-the-loop: qué significa realmente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3152" cy="4983480"/>
          </a:xfrm>
          <a:prstGeom prst="rect">
            <a:avLst/>
          </a:prstGeom>
          <a:solidFill>
            <a:srgbClr val="12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Genera borrador.</a:t>
            </a:r>
            <a:br/>
            <a:r>
              <a:t>• Extrae campos.</a:t>
            </a:r>
            <a:br/>
            <a:r>
              <a:t>• Sugiere reformulación.</a:t>
            </a:r>
            <a:br/>
            <a:r>
              <a:t>• No firma la nota.</a:t>
            </a:r>
            <a:br/>
            <a:r>
              <a:t>• No sustituye la verificación clínica.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73152" cy="4983480"/>
          </a:xfrm>
          <a:prstGeom prst="rect">
            <a:avLst/>
          </a:prstGeom>
          <a:solidFill>
            <a:srgbClr val="DA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Profesional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Compara con la fuente.</a:t>
            </a:r>
            <a:br/>
            <a:r>
              <a:t>• Corrige errores.</a:t>
            </a:r>
            <a:br/>
            <a:r>
              <a:t>• Elimina inferencias no sustentadas.</a:t>
            </a:r>
            <a:br/>
            <a:r>
              <a:t>• Aprueba o rechaza.</a:t>
            </a:r>
            <a:br/>
            <a:r>
              <a:t>• Deja evidencia cuando corresponde.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Sesión 9 adjunta · workflow de documentación clínica + Guía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C. PRECISIÓN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Guía 9 — Precisión: no existe una única métrica para NLP clínico</a:t>
            </a:r>
          </a:p>
        </p:txBody>
      </p:sp>
      <p:pic>
        <p:nvPicPr>
          <p:cNvPr id="4" name="Picture 3" descr="G9_metrics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5623560" cy="62682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234440"/>
            <a:ext cx="52120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 guía recoge métricas con finalidades diferentes: clasificación, regresión, traducción y recuperación.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Para NLP clínico, la métrica debe corresponder a la tarea.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Extracción de entidades ≠ resumen ≠ clasificación ≠ generación.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Una buena práctica es combinar métricas automáticas con revisión clínica de errores.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 9 · p. 51 · tabla de métricas · material adjunto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C. PRECISIÓN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Guía 9 — Incertidumbre: una salida puede ser precisa y aun así requerir cautela</a:t>
            </a:r>
          </a:p>
        </p:txBody>
      </p:sp>
      <p:pic>
        <p:nvPicPr>
          <p:cNvPr id="4" name="Picture 3" descr="G9_uncertain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5623560" cy="79509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234440"/>
            <a:ext cx="52120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 guía dedica un apartado específico a incertidumbre y precisión.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En documentación clínica, 'no documentado' no debe convertirse automáticamente en 'no existe'.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El sistema debe diferenciar dato observado, dato inferido y dato ausente.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Esto cambia el diseño del JSON clínico y de la interfaz.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 9 · p. 21/22 · incertidumbre y precisión · material adjunto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C. PRECISIÓN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Guía 9 — La evaluación debe incluir significancia estadística</a:t>
            </a:r>
          </a:p>
        </p:txBody>
      </p:sp>
      <p:pic>
        <p:nvPicPr>
          <p:cNvPr id="4" name="Picture 3" descr="G9_stats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5623560" cy="62682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234440"/>
            <a:ext cx="52120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 guía describe evaluaciones de significancia y comparación de resultados.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 pregunta docente: si dos versiones del LLM parecen diferentes, ¿la diferencia es real o variación muestral?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En un piloto clínico: separar conjunto de desarrollo, validación y evaluación final.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No cambiar el prompt hasta obtener el resultado deseado y luego evaluar sobre los mismos ejemplos.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 9 · p. 29 · evaluación de significancia estadística · material adjunto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C. PRECISIÓN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Ejemplo clínico — la negación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3152" cy="4983480"/>
          </a:xfrm>
          <a:prstGeom prst="rect">
            <a:avLst/>
          </a:prstGeom>
          <a:solidFill>
            <a:srgbClr val="12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FUENTE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“Paciente niega dolor torácico.”</a:t>
            </a:r>
            <a:br/>
            <a:r>
              <a:t>• La evidencia textual es explícita.</a:t>
            </a:r>
            <a:br/>
            <a:r>
              <a:t>• El estado clínico es NEGADO.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73152" cy="4983480"/>
          </a:xfrm>
          <a:prstGeom prst="rect">
            <a:avLst/>
          </a:prstGeom>
          <a:solidFill>
            <a:srgbClr val="DA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SALIDA A VALIDAR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Incorrecto: “Paciente presenta dolor torácico.”</a:t>
            </a:r>
            <a:br/>
            <a:r>
              <a:t>• Correcto: presencia = false.</a:t>
            </a:r>
            <a:br/>
            <a:r>
              <a:t>• Debe conservarse la evidencia textual.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Aplicación didáctica de Guía 9 · extracción clínica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C. PRECISIÓN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Ejemplo clínico — temporalidad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3152" cy="4983480"/>
          </a:xfrm>
          <a:prstGeom prst="rect">
            <a:avLst/>
          </a:prstGeom>
          <a:solidFill>
            <a:srgbClr val="12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“Tuvo fiebre hace tres días; actualmente afebril.”</a:t>
            </a:r>
            <a:br/>
            <a:r>
              <a:t>• Dos estados temporales distintos.</a:t>
            </a:r>
            <a:br/>
            <a:r>
              <a:t>• Un resumen puede colapsarlos.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73152" cy="4983480"/>
          </a:xfrm>
          <a:prstGeom prst="rect">
            <a:avLst/>
          </a:prstGeom>
          <a:solidFill>
            <a:srgbClr val="DA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JSON SEGURO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evento_1: fiebre</a:t>
            </a:r>
            <a:br/>
            <a:r>
              <a:t>• tiempo: hace 3 días</a:t>
            </a:r>
            <a:br/>
            <a:r>
              <a:t>• evento_2: afebril</a:t>
            </a:r>
            <a:br/>
            <a:r>
              <a:t>• tiempo: actual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Aplicación didáctica · precisión + documentación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D. SOLIDEZ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Guía 10 — Solidez: el sistema debe resistir errores y cambios</a:t>
            </a:r>
          </a:p>
        </p:txBody>
      </p:sp>
      <p:pic>
        <p:nvPicPr>
          <p:cNvPr id="4" name="Picture 3" descr="G10_erro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5623560" cy="62682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234440"/>
            <a:ext cx="52120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 guía presenta casos de uso donde la falta de información puede producir degradación.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En NLP: notas incompletas, ruido de dictado, abreviaturas y documentos contradictorios son equivalentes funcionales.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 robustez se prueba deliberadamente; no se asume a partir del rendimiento medio.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Un sistema clínico debe tener mecanismos de detección y respuesta.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 10 · ejemplo de solidez · material adjunto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D. SOLIDEZ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Guía 10 — Redundancia, recuperación y reproducibilidad</a:t>
            </a:r>
          </a:p>
        </p:txBody>
      </p:sp>
      <p:pic>
        <p:nvPicPr>
          <p:cNvPr id="4" name="Picture 3" descr="G10_redunda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5623560" cy="79509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234440"/>
            <a:ext cx="52120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 guía relaciona solidez con redundancia, copias de seguridad, recuperación y reproducibilidad.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Para LLM: versionar modelo, prompt, configuración, retrieval y conjuntos de evaluación.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Una salida histórica debe poder investigarse con suficiente contexto técnico.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Si una actualización cambia el comportamiento, debe existir evidencia para reconstruir qué cambió.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 10 · sección de redundancia y planes de respaldo · material adjunto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D. SOLIDEZ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Prueba de robustez de un LLM clínico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3152" cy="4983480"/>
          </a:xfrm>
          <a:prstGeom prst="rect">
            <a:avLst/>
          </a:prstGeom>
          <a:solidFill>
            <a:srgbClr val="12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ENTRADAS ADVERSAS / DIFÍCILES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Errores ortográficos.</a:t>
            </a:r>
            <a:br/>
            <a:r>
              <a:t>• Abreviaturas.</a:t>
            </a:r>
            <a:br/>
            <a:r>
              <a:t>• Negación.</a:t>
            </a:r>
            <a:br/>
            <a:r>
              <a:t>• Temporalidad.</a:t>
            </a:r>
            <a:br/>
            <a:r>
              <a:t>• Texto incompleto.</a:t>
            </a:r>
            <a:br/>
            <a:r>
              <a:t>• Mezcla de idiomas.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73152" cy="4983480"/>
          </a:xfrm>
          <a:prstGeom prst="rect">
            <a:avLst/>
          </a:prstGeom>
          <a:solidFill>
            <a:srgbClr val="DA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QUÉ MEDIR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Cambio de F1.</a:t>
            </a:r>
            <a:br/>
            <a:r>
              <a:t>• Tasa de omisión.</a:t>
            </a:r>
            <a:br/>
            <a:r>
              <a:t>• Contradicciones.</a:t>
            </a:r>
            <a:br/>
            <a:r>
              <a:t>• Tasa de escalado a humano.</a:t>
            </a:r>
            <a:br/>
            <a:r>
              <a:t>• Tiempo de revisión.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 10 + Guía 9 · adaptación al NLP clínico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E. CIBERSEGURIDAD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Guía 11 — Ciberseguridad: los datos de entrenamiento también pueden ser atacados</a:t>
            </a:r>
          </a:p>
        </p:txBody>
      </p:sp>
      <p:pic>
        <p:nvPicPr>
          <p:cNvPr id="4" name="Picture 3" descr="G11_data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5623560" cy="59817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234440"/>
            <a:ext cx="52120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 guía presenta vulnerabilidades y controles relacionados con datos de entrenamiento.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En LLM/RAG, la superficie se amplía: documentos recuperados, prompts, herramientas y conectores.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Un dato puede parecer contenido clínico y contener instrucciones maliciosas.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El sistema debe distinguir datos de instrucciones y limitar privilegios.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 11 · Tabla 1: ataques de envenenamiento · p. 29 · material adjunto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E. CIBERSEGURIDAD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Guía 11 — Ataques adversarios: pensar como atacante</a:t>
            </a:r>
          </a:p>
        </p:txBody>
      </p:sp>
      <p:pic>
        <p:nvPicPr>
          <p:cNvPr id="4" name="Picture 3" descr="G11_at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5623560" cy="79509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234440"/>
            <a:ext cx="52120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 guía incluye la protección frente a ataques adversarios como una dimensión propia.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En un LLM: prompt injection, contenido recuperado malicioso, abuso de herramientas y extracción de información son escenarios de prueba.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 seguridad debe evaluarse antes del despliegue y después de cambios relevantes.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El red-team se convierte en una actividad práctica para los estudiantes.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 11 · ciberseguridad · material adjunto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E. CIBERSEGURIDAD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RAG clínico — dónde puede fallar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3152" cy="4983480"/>
          </a:xfrm>
          <a:prstGeom prst="rect">
            <a:avLst/>
          </a:prstGeom>
          <a:solidFill>
            <a:srgbClr val="12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RECUPERACIÓN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Recupera documento equivocado.</a:t>
            </a:r>
            <a:br/>
            <a:r>
              <a:t>• Recupera fragmento irrelevante.</a:t>
            </a:r>
            <a:br/>
            <a:r>
              <a:t>• Fuente desactualizada.</a:t>
            </a:r>
            <a:br/>
            <a:r>
              <a:t>• Contenido manipulado.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73152" cy="4983480"/>
          </a:xfrm>
          <a:prstGeom prst="rect">
            <a:avLst/>
          </a:prstGeom>
          <a:solidFill>
            <a:srgbClr val="DA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GENERACIÓN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Ignora la evidencia.</a:t>
            </a:r>
            <a:br/>
            <a:r>
              <a:t>• Mezcla documentos.</a:t>
            </a:r>
            <a:br/>
            <a:r>
              <a:t>• Inventa una relación.</a:t>
            </a:r>
            <a:br/>
            <a:r>
              <a:t>• Oculta incertidumbre.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Sesión 9 adjunta + Guía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F. REGISTROS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Guía 12 — Los registros son evidencia, no simple 'telemetría'</a:t>
            </a:r>
          </a:p>
        </p:txBody>
      </p:sp>
      <p:pic>
        <p:nvPicPr>
          <p:cNvPr id="4" name="Picture 3" descr="G12_mapping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5623560" cy="551610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234440"/>
            <a:ext cx="52120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 guía conecta los registros con trazabilidad del funcionamiento y vigilancia.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El registro debe diseñarse según la finalidad del sistema.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Para un LLM clínico: modelo, versión, entrada, fuente, salida, métricas, usuario, eventos y alertas.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El log debe permitir investigar qué ocurrió, no solo decir que ocurrió.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 12 · correspondencia Art. 12 · p. 12 · material adjunto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F. REGISTROS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Guía 12 — ¿Qué debe quedar registrado?</a:t>
            </a:r>
          </a:p>
        </p:txBody>
      </p:sp>
      <p:pic>
        <p:nvPicPr>
          <p:cNvPr id="4" name="Picture 3" descr="G12_record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5623560" cy="63041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234440"/>
            <a:ext cx="52120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70">
                <a:solidFill>
                  <a:srgbClr val="222C37"/>
                </a:solidFill>
              </a:defRPr>
            </a:pPr>
            <a:r>
              <a:t>La guía enumera atributos: identificador, usuario, fecha/hora, modelo/algoritmo, versión, datos de entrada, fuente, resultados, métricas, rendimiento, seguridad y alertas.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Este listado es especialmente útil para diseñar el esquema de auditoría del LLM.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No todo dato debe conservarse indiscriminadamente: el registro debe responder a una finalidad y respetar seguridad/privacidad.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 12 · p. 20 · diseño de registro · material adjunto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F. REGISTROS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Registro mínimo de una generación clínica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3152" cy="4983480"/>
          </a:xfrm>
          <a:prstGeom prst="rect">
            <a:avLst/>
          </a:prstGeom>
          <a:solidFill>
            <a:srgbClr val="12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EVENTO TÉCNICO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timestamp</a:t>
            </a:r>
            <a:br/>
            <a:r>
              <a:t>• modelo + versión</a:t>
            </a:r>
            <a:br/>
            <a:r>
              <a:t>• prompt_version</a:t>
            </a:r>
            <a:br/>
            <a:r>
              <a:t>• retrieval_ids</a:t>
            </a:r>
            <a:br/>
            <a:r>
              <a:t>• latencia</a:t>
            </a:r>
            <a:br/>
            <a:r>
              <a:t>• errores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73152" cy="4983480"/>
          </a:xfrm>
          <a:prstGeom prst="rect">
            <a:avLst/>
          </a:prstGeom>
          <a:solidFill>
            <a:srgbClr val="DA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EVENTO CLÍNICO / HUMANO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fuente de texto</a:t>
            </a:r>
            <a:br/>
            <a:r>
              <a:t>• salida</a:t>
            </a:r>
            <a:br/>
            <a:r>
              <a:t>• correcciones</a:t>
            </a:r>
            <a:br/>
            <a:r>
              <a:t>• revisor</a:t>
            </a:r>
            <a:br/>
            <a:r>
              <a:t>• estado: aprobado/rechazado</a:t>
            </a:r>
            <a:br/>
            <a:r>
              <a:t>• versión final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 12 + Sesión 9 · diseño didáctico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F. REGISTROS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Trazabilidad completa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3152" cy="4983480"/>
          </a:xfrm>
          <a:prstGeom prst="rect">
            <a:avLst/>
          </a:prstGeom>
          <a:solidFill>
            <a:srgbClr val="12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Nota clínica original.</a:t>
            </a:r>
            <a:br/>
            <a:r>
              <a:t>• Identificador de fuente.</a:t>
            </a:r>
            <a:br/>
            <a:r>
              <a:t>• Versión del modelo.</a:t>
            </a:r>
            <a:br/>
            <a:r>
              <a:t>• Versión del prompt.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73152" cy="4983480"/>
          </a:xfrm>
          <a:prstGeom prst="rect">
            <a:avLst/>
          </a:prstGeom>
          <a:solidFill>
            <a:srgbClr val="DA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DESPUÉS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Salida LLM.</a:t>
            </a:r>
            <a:br/>
            <a:r>
              <a:t>• Cambios humanos.</a:t>
            </a:r>
            <a:br/>
            <a:r>
              <a:t>• Documento final.</a:t>
            </a:r>
            <a:br/>
            <a:r>
              <a:t>• Evento/alerta si hubo problema.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 12 · trazabilidad + Sesión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G. VIGILANCIA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Guía 13 — Vigilancia poscomercialización: medir después del despliegue</a:t>
            </a:r>
          </a:p>
        </p:txBody>
      </p:sp>
      <p:pic>
        <p:nvPicPr>
          <p:cNvPr id="4" name="Picture 3" descr="G13_monito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5623560" cy="63399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234440"/>
            <a:ext cx="52120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 guía propone vigilancia continua de indicadores del sistema, usuarios, infraestructura y seguridad.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El ejemplo de bomba de insulina muestra una lógica sencilla: detectar un cambio anómalo en el comportamiento.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Para NLP: monitorizar correcciones, errores por tipo, latencia, uso, seguridad y drift.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El punto clave: la evaluación no termina cuando el piloto acaba.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 13 · p. 17 · vigilancia continua e indicadores · material adjunto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G. VIGILANCIA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Panel de vigilancia de un LLM clínico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3152" cy="4983480"/>
          </a:xfrm>
          <a:prstGeom prst="rect">
            <a:avLst/>
          </a:prstGeom>
          <a:solidFill>
            <a:srgbClr val="12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F1 de extracción.</a:t>
            </a:r>
            <a:br/>
            <a:r>
              <a:t>• Omisiones.</a:t>
            </a:r>
            <a:br/>
            <a:r>
              <a:t>• Contradicciones.</a:t>
            </a:r>
            <a:br/>
            <a:r>
              <a:t>• Factualidad.</a:t>
            </a:r>
            <a:br/>
            <a:r>
              <a:t>• Correcciones humanas.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73152" cy="4983480"/>
          </a:xfrm>
          <a:prstGeom prst="rect">
            <a:avLst/>
          </a:prstGeom>
          <a:solidFill>
            <a:srgbClr val="DA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OPERACIÓN + SEGURIDAD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Latencia.</a:t>
            </a:r>
            <a:br/>
            <a:r>
              <a:t>• Errores de servicio.</a:t>
            </a:r>
            <a:br/>
            <a:r>
              <a:t>• Prompt injection bloqueado.</a:t>
            </a:r>
            <a:br/>
            <a:r>
              <a:t>• Exposición de datos.</a:t>
            </a:r>
            <a:br/>
            <a:r>
              <a:t>• Cambios de distribución.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 13 + Guía 10 + Guía 11 · aplicación al NLP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H. INCIDENTES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Guía 14 — Un incidente debe convertirse en un proceso visible</a:t>
            </a:r>
          </a:p>
        </p:txBody>
      </p:sp>
      <p:pic>
        <p:nvPicPr>
          <p:cNvPr id="4" name="Picture 3" descr="G14_flow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5623560" cy="59101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234440"/>
            <a:ext cx="52120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El resumen visual de la guía muestra la secuencia de decisión y actuación.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Para un LLM clínico: detectar → evaluar impacto → aplicar medidas → escalar/notificar cuando corresponda → documentar.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El diagrama es útil para enseñar que la respuesta no depende de una sola persona ni de una sola capa técnica.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 clasificación del evento debe seguir el marco aplicable.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 14 · p. 18 · resumen visual del procedimiento · material adjunto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H. INCIDENTES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Caso de incidente — omisión de medicación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3152" cy="4983480"/>
          </a:xfrm>
          <a:prstGeom prst="rect">
            <a:avLst/>
          </a:prstGeom>
          <a:solidFill>
            <a:srgbClr val="12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CADENA DEL EVENTO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Nota contiene anticoagulante.</a:t>
            </a:r>
            <a:br/>
            <a:r>
              <a:t>• LLM genera resumen y omite el fármaco.</a:t>
            </a:r>
            <a:br/>
            <a:r>
              <a:t>• Usuario usa el resumen.</a:t>
            </a:r>
            <a:br/>
            <a:r>
              <a:t>• La fuente original no se consulta.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73152" cy="4983480"/>
          </a:xfrm>
          <a:prstGeom prst="rect">
            <a:avLst/>
          </a:prstGeom>
          <a:solidFill>
            <a:srgbClr val="DA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INVESTIGACIÓN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¿Qué modelo/prompt?</a:t>
            </a:r>
            <a:br/>
            <a:r>
              <a:t>• ¿Qué texto recibió?</a:t>
            </a:r>
            <a:br/>
            <a:r>
              <a:t>• ¿Qué evidencia recuperó?</a:t>
            </a:r>
            <a:br/>
            <a:r>
              <a:t>• ¿Quién revisó?</a:t>
            </a:r>
            <a:br/>
            <a:r>
              <a:t>• ¿Qué log quedó?</a:t>
            </a:r>
            <a:br/>
            <a:r>
              <a:t>• ¿Qué control falló?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Guías 9, 12, 13 y 14 · caso didáctico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I. DOCUMENTACIÓN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Guía 15 — La documentación técnica es la memoria del sistema</a:t>
            </a:r>
          </a:p>
        </p:txBody>
      </p:sp>
      <p:pic>
        <p:nvPicPr>
          <p:cNvPr id="4" name="Picture 3" descr="G15_backup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5623560" cy="62682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234440"/>
            <a:ext cx="52120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 guía incluye conservación, disponibilidad, copias de seguridad y acceso a la documentación.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Para LLM: documentar arquitectura, modelo, datos, prompts, retrieval, rendimiento, riesgos, supervisión y cambios.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 documentación no es un informe escrito una vez: acompaña al ciclo de vida.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Debe existir una relación entre documentación, logs y vigilancia.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 15 · conservación de documentación · material adjunto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I. DOCUMENTACIÓN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Ficha técnica de un LLM clínico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3152" cy="4983480"/>
          </a:xfrm>
          <a:prstGeom prst="rect">
            <a:avLst/>
          </a:prstGeom>
          <a:solidFill>
            <a:srgbClr val="12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Finalidad prevista.</a:t>
            </a:r>
            <a:br/>
            <a:r>
              <a:t>• Usuarios.</a:t>
            </a:r>
            <a:br/>
            <a:r>
              <a:t>• Arquitectura.</a:t>
            </a:r>
            <a:br/>
            <a:r>
              <a:t>• Modelo y versión.</a:t>
            </a:r>
            <a:br/>
            <a:r>
              <a:t>• RAG/herramientas.</a:t>
            </a:r>
            <a:br/>
            <a:r>
              <a:t>• Recursos HW/SW.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73152" cy="4983480"/>
          </a:xfrm>
          <a:prstGeom prst="rect">
            <a:avLst/>
          </a:prstGeom>
          <a:solidFill>
            <a:srgbClr val="DA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EVALUACIÓN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Datos de entrada.</a:t>
            </a:r>
            <a:br/>
            <a:r>
              <a:t>• Métricas.</a:t>
            </a:r>
            <a:br/>
            <a:r>
              <a:t>• Limitaciones.</a:t>
            </a:r>
            <a:br/>
            <a:r>
              <a:t>• Riesgos.</a:t>
            </a:r>
            <a:br/>
            <a:r>
              <a:t>• Supervisión humana.</a:t>
            </a:r>
            <a:br/>
            <a:r>
              <a:t>• Plan de vigilancia.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 15 · documentación técnica + Sesión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J.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Guía 16 — convertir una norma en un checklist ejecutable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3152" cy="4983480"/>
          </a:xfrm>
          <a:prstGeom prst="rect">
            <a:avLst/>
          </a:prstGeom>
          <a:solidFill>
            <a:srgbClr val="12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PREGUNTA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¿La salida se interpreta correctamente?</a:t>
            </a:r>
            <a:br/>
            <a:r>
              <a:t>• ¿Se mide la precisión?</a:t>
            </a:r>
            <a:br/>
            <a:r>
              <a:t>• ¿Se prueban ataques?</a:t>
            </a:r>
            <a:br/>
            <a:r>
              <a:t>• ¿Se generan logs?</a:t>
            </a:r>
            <a:br/>
            <a:r>
              <a:t>• ¿Existe vigilancia?</a:t>
            </a:r>
            <a:br/>
            <a:r>
              <a:t>• ¿Se documentan cambios?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73152" cy="4983480"/>
          </a:xfrm>
          <a:prstGeom prst="rect">
            <a:avLst/>
          </a:prstGeom>
          <a:solidFill>
            <a:srgbClr val="DA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EVIDENCIA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Manual.</a:t>
            </a:r>
            <a:br/>
            <a:r>
              <a:t>• Benchmark.</a:t>
            </a:r>
            <a:br/>
            <a:r>
              <a:t>• Red-team.</a:t>
            </a:r>
            <a:br/>
            <a:r>
              <a:t>• Registro de eventos.</a:t>
            </a:r>
            <a:br/>
            <a:r>
              <a:t>• Dashboard.</a:t>
            </a:r>
            <a:br/>
            <a:r>
              <a:t>• Control de versiones.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 16 · p. 9 · estructura de la herramienta de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J.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Guía 16 — el checklist como mapa de madurez</a:t>
            </a:r>
          </a:p>
        </p:txBody>
      </p:sp>
      <p:pic>
        <p:nvPicPr>
          <p:cNvPr id="4" name="Picture 3" descr="G16_check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5623560" cy="58742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234440"/>
            <a:ext cx="52120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 guía muestra una secuencia: recorrer artículos → aportar medidas adicionales → indicar dónde aplican.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Para un hospital, esto permite transformar una política de IA en una matriz de cumplimiento verificable.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Para el estudiante: cada requisito debe tener una evidencia concreta.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 madurez se demuestra con artefactos, no solo con declaraciones.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 16 · p. 9 · material adjunto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K. INTEGRACIÓN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Ahora conectamos todo con NLP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3152" cy="4983480"/>
          </a:xfrm>
          <a:prstGeom prst="rect">
            <a:avLst/>
          </a:prstGeom>
          <a:solidFill>
            <a:srgbClr val="12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Texto clínico.</a:t>
            </a:r>
            <a:br/>
            <a:r>
              <a:t>• Tokenización.</a:t>
            </a:r>
            <a:br/>
            <a:r>
              <a:t>• Representación.</a:t>
            </a:r>
            <a:br/>
            <a:r>
              <a:t>• Transformer/LLM.</a:t>
            </a:r>
            <a:br/>
            <a:r>
              <a:t>• Salida estructurada.</a:t>
            </a:r>
            <a:br/>
            <a:r>
              <a:t>• Revisión.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73152" cy="4983480"/>
          </a:xfrm>
          <a:prstGeom prst="rect">
            <a:avLst/>
          </a:prstGeom>
          <a:solidFill>
            <a:srgbClr val="DA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GOBERNANZA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Transparencia.</a:t>
            </a:r>
            <a:br/>
            <a:r>
              <a:t>• Precisión.</a:t>
            </a:r>
            <a:br/>
            <a:r>
              <a:t>• Solidez.</a:t>
            </a:r>
            <a:br/>
            <a:r>
              <a:t>• Ciberseguridad.</a:t>
            </a:r>
            <a:br/>
            <a:r>
              <a:t>• Logs.</a:t>
            </a:r>
            <a:br/>
            <a:r>
              <a:t>• Vigilancia.</a:t>
            </a:r>
            <a:br/>
            <a:r>
              <a:t>• Documentación.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Sesión 9 + Guías 8–16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K. INTEGRACIÓN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Extracción estructurada — por qué JSON es útil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3152" cy="4983480"/>
          </a:xfrm>
          <a:prstGeom prst="rect">
            <a:avLst/>
          </a:prstGeom>
          <a:solidFill>
            <a:srgbClr val="12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TEXTO LIBRE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“Paciente con HTA conocida, sin fiebre actualmente, refiere dolor desde ayer.”</a:t>
            </a:r>
            <a:br/>
            <a:r>
              <a:t>• Información mezclada.</a:t>
            </a:r>
            <a:br/>
            <a:r>
              <a:t>• Difícil de validar automáticamente.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73152" cy="4983480"/>
          </a:xfrm>
          <a:prstGeom prst="rect">
            <a:avLst/>
          </a:prstGeom>
          <a:solidFill>
            <a:srgbClr val="DA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diagnóstico: HTA</a:t>
            </a:r>
            <a:br/>
            <a:r>
              <a:t>• fiebre_actual: false</a:t>
            </a:r>
            <a:br/>
            <a:r>
              <a:t>• dolor: true</a:t>
            </a:r>
            <a:br/>
            <a:r>
              <a:t>• inicio_dolor: ayer</a:t>
            </a:r>
            <a:br/>
            <a:r>
              <a:t>• evidencia_textual: 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Sesión 9 adjunta · producto práctico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K. INTEGRACIÓN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RAG: no basta con 'meter más contexto'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3152" cy="4983480"/>
          </a:xfrm>
          <a:prstGeom prst="rect">
            <a:avLst/>
          </a:prstGeom>
          <a:solidFill>
            <a:srgbClr val="12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RIESGO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Más documentos pueden introducir ruido.</a:t>
            </a:r>
            <a:br/>
            <a:r>
              <a:t>• El contexto puede contener instrucciones maliciosas.</a:t>
            </a:r>
            <a:br/>
            <a:r>
              <a:t>• La fuente puede ser antigua.</a:t>
            </a:r>
            <a:br/>
            <a:r>
              <a:t>• El modelo puede ignorar la evidencia.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73152" cy="4983480"/>
          </a:xfrm>
          <a:prstGeom prst="rect">
            <a:avLst/>
          </a:prstGeom>
          <a:solidFill>
            <a:srgbClr val="DA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DISEÑO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Recuperar fragmentos relevantes.</a:t>
            </a:r>
            <a:br/>
            <a:r>
              <a:t>• Registrar IDs de fuente.</a:t>
            </a:r>
            <a:br/>
            <a:r>
              <a:t>• Mostrar evidencia.</a:t>
            </a:r>
            <a:br/>
            <a:r>
              <a:t>• Validar esquema.</a:t>
            </a:r>
            <a:br/>
            <a:r>
              <a:t>• Revisar salida.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Sesión 9 adjunta + Guía 11 + Guía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L.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Caso de práctica — SOAP + JSON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3152" cy="4983480"/>
          </a:xfrm>
          <a:prstGeom prst="rect">
            <a:avLst/>
          </a:prstGeom>
          <a:solidFill>
            <a:srgbClr val="12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PASO 1–3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Cargar nota ficticia/anónima.</a:t>
            </a:r>
            <a:br/>
            <a:r>
              <a:t>• Generar SOAP.</a:t>
            </a:r>
            <a:br/>
            <a:r>
              <a:t>• Extraer JSON.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73152" cy="4983480"/>
          </a:xfrm>
          <a:prstGeom prst="rect">
            <a:avLst/>
          </a:prstGeom>
          <a:solidFill>
            <a:srgbClr val="DA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PASO 4–6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Evaluar exactitud.</a:t>
            </a:r>
            <a:br/>
            <a:r>
              <a:t>• Generar versión para paciente.</a:t>
            </a:r>
            <a:br/>
            <a:r>
              <a:t>• Registrar riesgos y correcciones.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Sesión 9 adjunta · práctica guiada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L.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Rúbrica de evaluación de la salida LLM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3152" cy="4983480"/>
          </a:xfrm>
          <a:prstGeom prst="rect">
            <a:avLst/>
          </a:prstGeom>
          <a:solidFill>
            <a:srgbClr val="12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CONTENIDO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¿Incluyó datos relevantes?</a:t>
            </a:r>
            <a:br/>
            <a:r>
              <a:t>• ¿Omitió datos críticos?</a:t>
            </a:r>
            <a:br/>
            <a:r>
              <a:t>• ¿Inventó datos?</a:t>
            </a:r>
            <a:br/>
            <a:r>
              <a:t>• ¿Respetó negación y tiempo?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73152" cy="4983480"/>
          </a:xfrm>
          <a:prstGeom prst="rect">
            <a:avLst/>
          </a:prstGeom>
          <a:solidFill>
            <a:srgbClr val="DA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AUDITABILIDAD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¿Cada campo tiene evidencia?</a:t>
            </a:r>
            <a:br/>
            <a:r>
              <a:t>• ¿Se conoce el modelo?</a:t>
            </a:r>
            <a:br/>
            <a:r>
              <a:t>• ¿Se conoce la versión?</a:t>
            </a:r>
            <a:br/>
            <a:r>
              <a:t>• ¿Quedó registrada la revisión?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Guías 9, 12, 15 + práctica Sesión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L. PRÁCTICA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Red-team de 5 minutos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3152" cy="4983480"/>
          </a:xfrm>
          <a:prstGeom prst="rect">
            <a:avLst/>
          </a:prstGeom>
          <a:solidFill>
            <a:srgbClr val="12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ATAQUES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Prompt injection.</a:t>
            </a:r>
            <a:br/>
            <a:r>
              <a:t>• Documento malicioso.</a:t>
            </a:r>
            <a:br/>
            <a:r>
              <a:t>• Texto contradictorio.</a:t>
            </a:r>
            <a:br/>
            <a:r>
              <a:t>• Abreviatura ambigua.</a:t>
            </a:r>
            <a:br/>
            <a:r>
              <a:t>• Información sensible.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73152" cy="4983480"/>
          </a:xfrm>
          <a:prstGeom prst="rect">
            <a:avLst/>
          </a:prstGeom>
          <a:solidFill>
            <a:srgbClr val="DA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RESPUESTA ESPERADA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Detectar.</a:t>
            </a:r>
            <a:br/>
            <a:r>
              <a:t>• Bloquear o limitar.</a:t>
            </a:r>
            <a:br/>
            <a:r>
              <a:t>• Registrar.</a:t>
            </a:r>
            <a:br/>
            <a:r>
              <a:t>• Escalar.</a:t>
            </a:r>
            <a:br/>
            <a:r>
              <a:t>• Aprender del evento.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 11 + Guía 12 + Guía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M.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La arquitectura segura de documentación clínica</a:t>
            </a:r>
          </a:p>
        </p:txBody>
      </p:sp>
      <p:pic>
        <p:nvPicPr>
          <p:cNvPr id="4" name="Picture 3" descr="G8_cor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5623560" cy="60892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234440"/>
            <a:ext cx="52120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 guía de transparencia aporta una idea especialmente importante: la salida debe poder interpretarse en el contexto de su finalidad.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Por eso la arquitectura debe mantener una relación entre fuente → transformación → salida → revisión.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En el aula, esto permite enseñar NLP como una cadena verificable y no como una caja negra aislada.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 8 · aplicación a documentación clínica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M.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Qué NO debe hacer un LLM clínico en este curso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3152" cy="4983480"/>
          </a:xfrm>
          <a:prstGeom prst="rect">
            <a:avLst/>
          </a:prstGeom>
          <a:solidFill>
            <a:srgbClr val="12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Inventar información ausente.</a:t>
            </a:r>
            <a:br/>
            <a:r>
              <a:t>• Convertir posibilidad en diagnóstico confirmado.</a:t>
            </a:r>
            <a:br/>
            <a:r>
              <a:t>• Ocultar incertidumbre.</a:t>
            </a:r>
            <a:br/>
            <a:r>
              <a:t>• Entrar directamente al EHR sin revisión.</a:t>
            </a:r>
            <a:br/>
            <a:r>
              <a:t>• Usar datos reales en herramientas no aprobadas.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73152" cy="4983480"/>
          </a:xfrm>
          <a:prstGeom prst="rect">
            <a:avLst/>
          </a:prstGeom>
          <a:solidFill>
            <a:srgbClr val="DA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SÍ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Generar borradores.</a:t>
            </a:r>
            <a:br/>
            <a:r>
              <a:t>• Extraer datos con evidencia.</a:t>
            </a:r>
            <a:br/>
            <a:r>
              <a:t>• Marcar incertidumbre.</a:t>
            </a:r>
            <a:br/>
            <a:r>
              <a:t>• Permitir corrección humana.</a:t>
            </a:r>
            <a:br/>
            <a:r>
              <a:t>• Dejar trazabilidad.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Sesión 9 adjunta · workflow seguro + Guías 8–15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N. DISCUSIÓN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15 preguntas de discusión avanzada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3152" cy="4983480"/>
          </a:xfrm>
          <a:prstGeom prst="rect">
            <a:avLst/>
          </a:prstGeom>
          <a:solidFill>
            <a:srgbClr val="12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NLP / 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¿Por qué la fluidez no garantiza factualidad?</a:t>
            </a:r>
            <a:br/>
            <a:r>
              <a:t>• ¿Cómo detectamos una omisión?</a:t>
            </a:r>
            <a:br/>
            <a:r>
              <a:t>• ¿Qué representa una entidad clínica?</a:t>
            </a:r>
            <a:br/>
            <a:r>
              <a:t>• ¿Por qué conservar evidencia textual?</a:t>
            </a:r>
            <a:br/>
            <a:r>
              <a:t>• ¿Cuándo usar RAG?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73152" cy="4983480"/>
          </a:xfrm>
          <a:prstGeom prst="rect">
            <a:avLst/>
          </a:prstGeom>
          <a:solidFill>
            <a:srgbClr val="DA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GOBERNANZA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¿Qué debe registrarse?</a:t>
            </a:r>
            <a:br/>
            <a:r>
              <a:t>• ¿Qué es drift?</a:t>
            </a:r>
            <a:br/>
            <a:r>
              <a:t>• ¿Qué cambia con una nueva versión?</a:t>
            </a:r>
            <a:br/>
            <a:r>
              <a:t>• ¿Qué constituye un incidente?</a:t>
            </a:r>
            <a:br/>
            <a:r>
              <a:t>• ¿Qué evidencia exige un piloto?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Guías 8–16 + Sesión 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N. DISCUSIÓN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Quiz — precisión y seguridad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3152" cy="4983480"/>
          </a:xfrm>
          <a:prstGeom prst="rect">
            <a:avLst/>
          </a:prstGeom>
          <a:solidFill>
            <a:srgbClr val="12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PREGUNTAS 1–5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¿Accuracy alta implica seguridad?</a:t>
            </a:r>
            <a:br/>
            <a:r>
              <a:t>• ¿Qué diferencia hay entre omisión y alucinación?</a:t>
            </a:r>
            <a:br/>
            <a:r>
              <a:t>• ¿Qué es data drift?</a:t>
            </a:r>
            <a:br/>
            <a:r>
              <a:t>• ¿Qué es model drift?</a:t>
            </a:r>
            <a:br/>
            <a:r>
              <a:t>• ¿Por qué una métrica no basta?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73152" cy="4983480"/>
          </a:xfrm>
          <a:prstGeom prst="rect">
            <a:avLst/>
          </a:prstGeom>
          <a:solidFill>
            <a:srgbClr val="DA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PREGUNTAS 6–10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¿Qué es prompt injection?</a:t>
            </a:r>
            <a:br/>
            <a:r>
              <a:t>• ¿Por qué proteger logs?</a:t>
            </a:r>
            <a:br/>
            <a:r>
              <a:t>• ¿Qué debe registrar un sistema?</a:t>
            </a:r>
            <a:br/>
            <a:r>
              <a:t>• ¿Qué vigila el post-market?</a:t>
            </a:r>
            <a:br/>
            <a:r>
              <a:t>• ¿Qué hace la supervisión humana?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Guías 8–13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N. DISCUSIÓN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Quiz — documentación e incidentes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73152" cy="4983480"/>
          </a:xfrm>
          <a:prstGeom prst="rect">
            <a:avLst/>
          </a:prstGeom>
          <a:solidFill>
            <a:srgbClr val="128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PREGUNTAS 11–15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¿Qué contiene la documentación técnica?</a:t>
            </a:r>
            <a:br/>
            <a:r>
              <a:t>• ¿Qué debe versionarse?</a:t>
            </a:r>
            <a:br/>
            <a:r>
              <a:t>• ¿Cómo se reconstruye una generación?</a:t>
            </a:r>
            <a:br/>
            <a:r>
              <a:t>• ¿Qué información necesita una investigación?</a:t>
            </a:r>
            <a:br/>
            <a:r>
              <a:t>• ¿Qué debe hacer el equipo tras un incidente?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234440"/>
            <a:ext cx="5486400" cy="4983480"/>
          </a:xfrm>
          <a:prstGeom prst="roundRect">
            <a:avLst/>
          </a:prstGeom>
          <a:solidFill>
            <a:srgbClr val="F4F7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234440"/>
            <a:ext cx="73152" cy="4983480"/>
          </a:xfrm>
          <a:prstGeom prst="rect">
            <a:avLst/>
          </a:prstGeom>
          <a:solidFill>
            <a:srgbClr val="DA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371600"/>
            <a:ext cx="5166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2D52"/>
                </a:solidFill>
              </a:defRPr>
            </a:pPr>
            <a:r>
              <a:t>RESPUESTA DEL ESTUDIANTE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01368"/>
            <a:ext cx="5166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20">
                <a:solidFill>
                  <a:srgbClr val="222C37"/>
                </a:solidFill>
              </a:defRPr>
            </a:pPr>
            <a:r>
              <a:t>• Requisito.</a:t>
            </a:r>
            <a:br/>
            <a:r>
              <a:t>• Evidencia.</a:t>
            </a:r>
            <a:br/>
            <a:r>
              <a:t>• Métrica.</a:t>
            </a:r>
            <a:br/>
            <a:r>
              <a:t>• Registro.</a:t>
            </a:r>
            <a:br/>
            <a:r>
              <a:t>• Acción correctiva.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Guías 12, 14, 15 y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O. 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La frase que resume toda la sesión</a:t>
            </a:r>
          </a:p>
        </p:txBody>
      </p:sp>
      <p:pic>
        <p:nvPicPr>
          <p:cNvPr id="4" name="Picture 3" descr="G14_flow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5669280" cy="59581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234440"/>
            <a:ext cx="52120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Un LLM puede transformar texto clínico, pero el sistema clínico necesita mucho más que generación de lenguaje.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 cadena completa es: finalidad → transparencia → precisión → solidez → seguridad → registro → vigilancia → incidentes → documentación → checklist.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La decisión clínica permanece vinculada a la fuente, al paciente y a la revisión profesional.</a:t>
            </a:r>
          </a:p>
          <a:p>
            <a:pPr>
              <a:spcAft>
                <a:spcPts val="800"/>
              </a:spcAft>
              <a:defRPr sz="1520">
                <a:solidFill>
                  <a:srgbClr val="222C37"/>
                </a:solidFill>
              </a:defRPr>
            </a:pPr>
            <a:r>
              <a:t>Producto final del estudiante: nota estructurada + JSON + evaluación + evidencia de seguridad.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Guías 8–16 + Sesión 9 adjunta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64592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28F91"/>
                </a:solidFill>
              </a:defRPr>
            </a:pPr>
            <a:r>
              <a:t>O. 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0642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02D52"/>
                </a:solidFill>
              </a:defRPr>
            </a:pPr>
            <a:r>
              <a:t>Fuentes visuales y documentales de la sesión</a:t>
            </a:r>
          </a:p>
        </p:txBody>
      </p:sp>
      <p:pic>
        <p:nvPicPr>
          <p:cNvPr id="4" name="Picture 3" descr="G8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234440" cy="17453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308152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Guía 8</a:t>
            </a:r>
          </a:p>
        </p:txBody>
      </p:sp>
      <p:pic>
        <p:nvPicPr>
          <p:cNvPr id="6" name="Picture 5" descr="G9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234440"/>
            <a:ext cx="1234440" cy="17453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0" y="308152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Guía 9</a:t>
            </a:r>
          </a:p>
        </p:txBody>
      </p:sp>
      <p:pic>
        <p:nvPicPr>
          <p:cNvPr id="8" name="Picture 7" descr="G10_co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234440"/>
            <a:ext cx="1234440" cy="17453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83480" y="308152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Guía 10</a:t>
            </a:r>
          </a:p>
        </p:txBody>
      </p:sp>
      <p:pic>
        <p:nvPicPr>
          <p:cNvPr id="10" name="Picture 9" descr="G11_co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234440"/>
            <a:ext cx="1234440" cy="174533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23760" y="308152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Guía 11</a:t>
            </a:r>
          </a:p>
        </p:txBody>
      </p:sp>
      <p:pic>
        <p:nvPicPr>
          <p:cNvPr id="12" name="Picture 11" descr="G12_co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0" y="1234440"/>
            <a:ext cx="1234440" cy="17453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464040" y="308152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Guía 12</a:t>
            </a:r>
          </a:p>
        </p:txBody>
      </p:sp>
      <p:pic>
        <p:nvPicPr>
          <p:cNvPr id="14" name="Picture 13" descr="G13_co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566160"/>
            <a:ext cx="1234440" cy="174533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2920" y="541324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Guía 13</a:t>
            </a:r>
          </a:p>
        </p:txBody>
      </p:sp>
      <p:pic>
        <p:nvPicPr>
          <p:cNvPr id="16" name="Picture 15" descr="G14_cov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0" y="3566160"/>
            <a:ext cx="1234440" cy="174533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743200" y="541324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Guía 14</a:t>
            </a:r>
          </a:p>
        </p:txBody>
      </p:sp>
      <p:pic>
        <p:nvPicPr>
          <p:cNvPr id="18" name="Picture 17" descr="G15_cov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3566160"/>
            <a:ext cx="1234440" cy="17453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983480" y="541324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Guía 15</a:t>
            </a:r>
          </a:p>
        </p:txBody>
      </p:sp>
      <p:pic>
        <p:nvPicPr>
          <p:cNvPr id="20" name="Picture 19" descr="G16_cov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3760" y="3566160"/>
            <a:ext cx="1234440" cy="174533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23760" y="5413248"/>
            <a:ext cx="1554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Guía 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48640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Guías 8–16 del Reglamento Europeo de IA, versiones 2026, proporcionadas en los archivos adjuntos.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Sesión 9 adjunta: NLP, LLM y documentación clínica, con workflow seguro, práctica guiada y bloque avanzado de evidencia.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Las imágenes de esta presentación proceden directamente de las páginas de las guías y se acompañan de su número de página.</a:t>
            </a:r>
          </a:p>
          <a:p>
            <a:pPr>
              <a:spcAft>
                <a:spcPts val="800"/>
              </a:spcAft>
              <a:defRPr sz="1050">
                <a:solidFill>
                  <a:srgbClr val="FFFFFF"/>
                </a:solidFill>
              </a:defRPr>
            </a:pPr>
            <a:r>
              <a:t>Las guías se utilizan aquí como material docente; su propio contenido indica que ofrecen apoyo introductorio y no sustituyen la normativa aplicable.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0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01968"/>
            <a:ext cx="10881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80">
                <a:solidFill>
                  <a:srgbClr val="FFFFFF"/>
                </a:solidFill>
              </a:defRPr>
            </a:pPr>
            <a:r>
              <a:t>Fuentes: Guías 8–16 + Sesión 9 adjunta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92824"/>
            <a:ext cx="502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FFFFFF"/>
                </a:solidFill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