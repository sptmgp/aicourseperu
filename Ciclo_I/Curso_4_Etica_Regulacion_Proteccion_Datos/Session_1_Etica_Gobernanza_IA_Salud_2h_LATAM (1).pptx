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Sesión 1 · Ética y Gobernanza de IA en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Clase magistral avanzada · 120 min · Medicina + Enfermería + Gestión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2642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F2642"/>
                </a:solidFill>
                <a:latin typeface="Aptos"/>
              </a:rPr>
              <a:t>¿Puede un algoritmo ser clínicamente preciso y aun así ser éticamente inaceptable?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10896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8529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10 FUENTES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200400"/>
            <a:ext cx="2816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LATAM + OMS + BMJ + evidencia clínica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310896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8529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291A4"/>
                </a:solidFill>
                <a:latin typeface="Aptos"/>
              </a:rPr>
              <a:t>4 CAPAS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3200400"/>
            <a:ext cx="2816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Paciente · Datos · Modelo · Institución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10896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8529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1 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200400"/>
            <a:ext cx="28163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Diseñar IA que pueda ser defendida ante un paciente y un comité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Curso: Ética, regulación y protección de datos en IA · Sesión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Mapa de las 2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No es una clase de definiciones: es una secuencia de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369AF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789920" cy="758952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344168"/>
            <a:ext cx="10497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0–20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691640"/>
            <a:ext cx="104973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Dilema clínico + por qué accuracy no basta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0789920" cy="758952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304288"/>
            <a:ext cx="10497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20–50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651760"/>
            <a:ext cx="104973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OMS + derechos humanos + sesgo LATAM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10789920" cy="758952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264408"/>
            <a:ext cx="10497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50–80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11880"/>
            <a:ext cx="104973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Gobernanza, privacidad, LLM/LMM, responsabilidad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14800"/>
            <a:ext cx="10789920" cy="758952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4224528"/>
            <a:ext cx="10497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80–110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4572000"/>
            <a:ext cx="104973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10 artículos: figuras, tablas y evidencia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74920"/>
            <a:ext cx="10789920" cy="758952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5184648"/>
            <a:ext cx="10497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110–120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5532120"/>
            <a:ext cx="104973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Caso final + decisión de despliegue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9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Caso de apertura: AI-TRIAGE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Un sistema predice deterioro clínico en 12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3941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93941"/>
                </a:solidFill>
                <a:latin typeface="Aptos"/>
              </a:rPr>
              <a:t>P(deterioro | X)=0.83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642"/>
                </a:solidFill>
                <a:latin typeface="Aptos"/>
              </a:rPr>
              <a:t>X = {HR, BP, SpO₂, RR, T°, labs, edad, antecedentes}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02920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4" y="1481328"/>
            <a:ext cx="4736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REGLA PROPUESTA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4" y="1828800"/>
            <a:ext cx="47365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&gt;0.80 → alerta roja</a:t>
            </a:r>
            <a:br/>
            <a:r>
              <a:rPr sz="1300" b="0">
                <a:solidFill>
                  <a:srgbClr val="2A323A"/>
                </a:solidFill>
                <a:latin typeface="Aptos"/>
              </a:rPr>
              <a:t>0.50–0.80 → revisión</a:t>
            </a:r>
            <a:br/>
            <a:r>
              <a:rPr sz="1300" b="0">
                <a:solidFill>
                  <a:srgbClr val="2A323A"/>
                </a:solidFill>
                <a:latin typeface="Aptos"/>
              </a:rPr>
              <a:t>≤0.50 → 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31089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3101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Pregunta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657600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¿Qué falso negativo sería inaceptable?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00400"/>
            <a:ext cx="31089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3101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Pregunta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3657600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¿Quién responde a las 02:00?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200400"/>
            <a:ext cx="310896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33101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Pregunta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657600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¿Puede enfermería invalidar la IA?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2642"/>
                </a:solidFill>
                <a:latin typeface="Aptos"/>
              </a:rPr>
              <a:t>Ética = convertir estas preguntas en requisitos del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La ecuación que cambia la conversación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Desempeño técnico ≠ seguridad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5862B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F2642"/>
                </a:solidFill>
                <a:latin typeface="Aptos"/>
              </a:rPr>
              <a:t>Riesgo esperado = Σᵢ  P(errorᵢ) × Severidad(errorᵢ)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10896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6243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971800"/>
            <a:ext cx="2816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AUROC, sensibilidad, especificidad, calibración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14600"/>
            <a:ext cx="310896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6243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291A4"/>
                </a:solidFill>
                <a:latin typeface="Aptos"/>
              </a:rPr>
              <a:t>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971800"/>
            <a:ext cx="2816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alert fatigue, retraso, override, escalamiento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14600"/>
            <a:ext cx="310896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62432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PACIENTE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971800"/>
            <a:ext cx="2816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daño, inequidad, autonomía, privacidad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3941"/>
                </a:solidFill>
                <a:latin typeface="Aptos"/>
              </a:rPr>
              <a:t>Una IA de 95% puede ser peor que una de 90% si el 5% de error cae sistemáticamente sobre el grupo equivocado.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LATAM #1 · Alegre et al., OPS/PAHO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Salud digital en América Latina: legislación actual y aspectos éticos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369AF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383280" cy="12801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38988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21 PAÍSES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737360"/>
            <a:ext cx="309067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Revisión de normativa oficial sobre HCE y telesalud.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3383280" cy="12801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85292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RESULTADO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200400"/>
            <a:ext cx="309067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HCE regulada: 16/21 (76.2%)</a:t>
            </a:r>
            <a:br/>
            <a:r>
              <a:rPr sz="1300" b="0">
                <a:solidFill>
                  <a:srgbClr val="2A323A"/>
                </a:solidFill>
                <a:latin typeface="Aptos"/>
              </a:rPr>
              <a:t>Telesalud: 19/21 (90.5%)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06240"/>
            <a:ext cx="3383280" cy="12801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431596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BRECHA ÉTICA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663440"/>
            <a:ext cx="3090672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Confidencialidad explícita en telesalud: 11 países; en HCE: 9.</a:t>
            </a:r>
          </a:p>
        </p:txBody>
      </p:sp>
      <p:pic>
        <p:nvPicPr>
          <p:cNvPr id="15" name="Picture 14" descr="paho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509" y="1234440"/>
            <a:ext cx="3815541" cy="4937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Alegre V et al. Rev Panam Salud Publica. 2024;48:e40. doi:10.26633/RPSP.2024.40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8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De la ley al diseño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¿Qué significa confidencialidad cuando hay APIs, cloud y modelos?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84C9D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F2642"/>
                </a:solidFill>
                <a:latin typeface="Aptos"/>
              </a:rPr>
              <a:t>Paciente → EHR → API → Modelo → Dashboard → Profesional → Auditoría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256032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532888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Minimización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88036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Solo variables necesarias para la finalidad clínica.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23160"/>
            <a:ext cx="256032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532888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Control de acceso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88036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RBAC/ABAC + mínimo privilegio.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23160"/>
            <a:ext cx="256032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2532888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Trazabilidad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8036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¿Quién accedió, cuándo, para qué y qué cambió?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423160"/>
            <a:ext cx="2560320" cy="18288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2532888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Retención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88036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¿Cuánto tiempo vive el dato y quién puede borrarlo?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93941"/>
                </a:solidFill>
                <a:latin typeface="Aptos"/>
              </a:rPr>
              <a:t>Pregunta para enfermería: ¿un dato visible en el dashboard es automáticamente un dato que todos deben poder ver?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LATAM #2 · Sierra-Castillo et al.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IA en salud en América Latina y Colombia: cerrando brechas y aprovechando oportunidades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A895B"/>
                </a:solidFill>
                <a:latin typeface="Aptos"/>
              </a:rPr>
              <a:t>7</a:t>
            </a:r>
          </a:p>
        </p:txBody>
      </p:sp>
      <p:pic>
        <p:nvPicPr>
          <p:cNvPr id="6" name="Picture 5" descr="cuidarte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115" y="1234440"/>
            <a:ext cx="3921529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325880"/>
            <a:ext cx="448056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1435607"/>
            <a:ext cx="4187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TESIS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024" y="1783080"/>
            <a:ext cx="41879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La IA puede cerrar o amplificar brechas.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606040"/>
            <a:ext cx="4480560" cy="14630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0024" y="2715768"/>
            <a:ext cx="4187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CONDICIONES HABILITADORAS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3063240"/>
            <a:ext cx="4187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Gobernanza de datos · regulación · ética · talento humano · validación local.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343400"/>
            <a:ext cx="4480560" cy="11887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4453128"/>
            <a:ext cx="4187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RIESGO LATAM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4800600"/>
            <a:ext cx="4187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Modelos externos + datos no representativos + baja interoperabilidad → validez externa incierta.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Sierra-Castillo S, Aristizábal-Colorado D, Reyes-Sarmiento ME. Rev Cuid. 2026;17(2):e6342.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9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Una ecuación mínima para la equidad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El promedio puede esconder daño sistemático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3941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F2642"/>
                </a:solidFill>
                <a:latin typeface="Aptos"/>
              </a:rPr>
              <a:t>ΔTPR = |TPR(grupo A) − TPR(grupo B)|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F2642"/>
                </a:solidFill>
                <a:latin typeface="Aptos"/>
              </a:rPr>
              <a:t>ΔFPR = |FPR(grupo A) − FPR(grupo B)|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108960"/>
            <a:ext cx="29260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32186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Ejemplo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566160"/>
            <a:ext cx="2633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Sensibilidad total 94%</a:t>
            </a:r>
            <a:br/>
            <a:r>
              <a:rPr sz="1300" b="0">
                <a:solidFill>
                  <a:srgbClr val="2A323A"/>
                </a:solidFill>
                <a:latin typeface="Aptos"/>
              </a:rPr>
              <a:t>Grupo rural 78%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108960"/>
            <a:ext cx="29260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32186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3566160"/>
            <a:ext cx="2633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El promedio institucional oculta quién absorbe el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108960"/>
            <a:ext cx="292608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32186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Gobernanza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566160"/>
            <a:ext cx="2633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Reportar desempeño por subgrupo + IC + tamaño muestral.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0F2642"/>
                </a:solidFill>
                <a:latin typeface="Aptos"/>
              </a:rPr>
              <a:t>Fairness no significa idéntico tratamiento; significa examinar si el sistema distribuye beneficios y errores de forma defendible.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9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LATAM #3 · Derechos humanos y sesgo algorítmico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Bárcenas Vidal, Martínez Montenegro &amp; Fuertes Iglesias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3941"/>
                </a:solidFill>
                <a:latin typeface="Aptos"/>
              </a:rPr>
              <a:t>9</a:t>
            </a:r>
          </a:p>
        </p:txBody>
      </p:sp>
      <p:pic>
        <p:nvPicPr>
          <p:cNvPr id="6" name="Picture 5" descr="bia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04" y="1234440"/>
            <a:ext cx="3850870" cy="4983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325880"/>
            <a:ext cx="612648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8344" y="1435607"/>
            <a:ext cx="5833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8344" y="1783080"/>
            <a:ext cx="5833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Datos poco representativos + regulación débil pueden exacerbar desigualdades existentes.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743200"/>
            <a:ext cx="283464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8344" y="28529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DERECHOS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44" y="3200400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Salud · no discriminación · seguridad · vida.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283464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8529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200400"/>
            <a:ext cx="2542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Instrumentos vinculantes + educación digital + supervisión.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434840"/>
            <a:ext cx="608076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8344" y="4544568"/>
            <a:ext cx="5788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CASOS REGIONALES CITADOS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4892040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Chile: chatbots · Brasil: IA para deterioro · Costa Rica: diabetes · Perú: robot Ropi.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Protección de los DD.HH. frente a sesgos algorítmicos en IA aplicada a salud en América Latina. Vol.21(1),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8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El sesgo no nace solo en el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Pipeline de daño algorítmico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84C9D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50" b="1">
                <a:solidFill>
                  <a:srgbClr val="0F2642"/>
                </a:solidFill>
                <a:latin typeface="Aptos"/>
              </a:rPr>
              <a:t>Población → Muestreo → Medición → Etiqueta → Entrenamiento → Umbral → Workflow → Resultado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62432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Representación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97180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¿Quién falta?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51460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262432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291A4"/>
                </a:solidFill>
                <a:latin typeface="Aptos"/>
              </a:rPr>
              <a:t>Medición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97180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¿El sensor funciona igual?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51460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62432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Etiqueta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97180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¿La 'verdad' clínica ya tenía sesgo?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51460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262432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Umbral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297180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¿Quién paga el FN/FP?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3941"/>
                </a:solidFill>
                <a:latin typeface="Aptos"/>
              </a:rPr>
              <a:t>Regla de clase: antes de preguntar «¿es justo el modelo?», pregunte «¿dónde puede entrar la injusticia en todo el pipeline?»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LATAM #4 · Enfermedades raras, genómica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Revista Iberoamericana de Bioética ·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A895B"/>
                </a:solidFill>
                <a:latin typeface="Aptos"/>
              </a:rPr>
              <a:t>11</a:t>
            </a:r>
          </a:p>
        </p:txBody>
      </p:sp>
      <p:pic>
        <p:nvPicPr>
          <p:cNvPr id="6" name="Picture 5" descr="rar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87" y="1234440"/>
            <a:ext cx="3491345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83480" y="1325880"/>
            <a:ext cx="5852160" cy="12344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9784" y="1435607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DOBLE VULNERABILIDAD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784" y="1783080"/>
            <a:ext cx="5559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La enfermedad + el riesgo de que IA/genómica revele identidad, imagen o datos sensibles.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834640"/>
            <a:ext cx="274320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9784" y="294436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PARADOJA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9784" y="329184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Más datos → mejor diagnóstico</a:t>
            </a:r>
            <a:br/>
            <a:r>
              <a:rPr sz="1300" b="0">
                <a:solidFill>
                  <a:srgbClr val="2A323A"/>
                </a:solidFill>
                <a:latin typeface="Aptos"/>
              </a:rPr>
              <a:t>pero también → mayor singularidad.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834640"/>
            <a:ext cx="274320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94436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PREGUNTA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29184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¿Puede un dataset estar «sin nombre» y seguir siendo reidentificable?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4572000"/>
            <a:ext cx="585216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4" y="4681728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5029200"/>
            <a:ext cx="55595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23A"/>
                </a:solidFill>
                <a:latin typeface="Aptos"/>
              </a:rPr>
              <a:t>En enfermedades raras, combinación de rasgos clínicos + genómicos puede hacer al paciente altamente identificable.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Gubert IC et al. Rev Iberoamericana de Bioética. 2024;(26):1–15. doi:10.14422/rib.i26.y2024.004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Privacidad ≠ simplemente quitar el nombre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Riesgo de reidentificación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5862B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642"/>
                </a:solidFill>
                <a:latin typeface="Aptos"/>
              </a:rPr>
              <a:t>Identidad ≈ f(edad, localidad, diagnóstico raro, fecha, genómica, eventos clínicos)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017520" cy="14630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62432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ANONIMIZACIÓN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971800"/>
            <a:ext cx="2724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Pretende impedir razonablemente volver al individuo.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14600"/>
            <a:ext cx="3017520" cy="14630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62432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PSEUDONIMIZACIÓN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971800"/>
            <a:ext cx="2724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Sustituye identificadores; existe una clave o vía de reversión.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14600"/>
            <a:ext cx="3017520" cy="14630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62432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RIESGO RESIDUAL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971800"/>
            <a:ext cx="2724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Linkage con otras fuentes puede reconstruir identidad.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50" b="1">
                <a:solidFill>
                  <a:srgbClr val="0F2642"/>
                </a:solidFill>
                <a:latin typeface="Aptos"/>
              </a:rPr>
              <a:t>Para salud: privacidad debe evaluarse contra el contexto y la singularidad del dato, no solo contra la presencia del nombre.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Marco OMS: seis principios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Ética y gobernanza de IA para la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369AF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4290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81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Autonomía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828800"/>
            <a:ext cx="31363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La persona conserva agencia.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481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Bienestar/seguridad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28800"/>
            <a:ext cx="31363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Beneficio y no daño.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4290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481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Transparencia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1828800"/>
            <a:ext cx="31363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Información comprensible y trazable.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34290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5387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Responsabilidad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3886200"/>
            <a:ext cx="31363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Roles y reparación.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29000"/>
            <a:ext cx="34290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35387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Inclusión/equidad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886200"/>
            <a:ext cx="31363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No amplificar desigualdad.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429000"/>
            <a:ext cx="34290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35387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291A4"/>
                </a:solidFill>
                <a:latin typeface="Aptos"/>
              </a:rPr>
              <a:t>Sostenibilidad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3886200"/>
            <a:ext cx="31363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Monitoreo y adaptación.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WHO. Ethics and governance of artificial intelligence for health. 2021.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9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Human-in-the-loop no es un checkbox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La supervisión humana puede ser ficticia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394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2642"/>
                </a:solidFill>
                <a:latin typeface="Aptos"/>
              </a:rPr>
              <a:t>Supervisión efectiva = información × autoridad × tiempo × competencia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2926080" cy="14630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5328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700 alertas/turno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88036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Hay humano, pero no capacidad real de revisión.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423160"/>
            <a:ext cx="2926080" cy="14630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25328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Override bloqueado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88036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Hay profesional, pero no autoridad.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23160"/>
            <a:ext cx="2926080" cy="146304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5328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Caja negra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88036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Hay tiempo, pero no contexto para cuestionar.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93941"/>
                </a:solidFill>
                <a:latin typeface="Aptos"/>
              </a:rPr>
              <a:t>Pregunta: ¿cuándo «human-in-the-loop» se convierte en «human-as-rubber-stamp»?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Automation bias: el riesgo silencioso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Cuando la recomendación cambia el juicio humano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5862B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81328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OMISSION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28800"/>
            <a:ext cx="2999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No actuar porque la IA no alertó.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29184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481328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COMMISSION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828800"/>
            <a:ext cx="2999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Actuar porque la IA recomendó, aunque el contexto contradiga.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29184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81328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DEPENDENCIA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828800"/>
            <a:ext cx="2999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La experiencia clínica se atrofia si todo se delega.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642"/>
                </a:solidFill>
                <a:latin typeface="Aptos"/>
              </a:rPr>
              <a:t>Diseño defensivo: mostrar incertidumbre + contexto + datos faltantes + posibilidad de desacuerdo.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B93941"/>
                </a:solidFill>
                <a:latin typeface="Aptos"/>
              </a:rPr>
              <a:t>No diseñar interfaces que conviertan probabilidad en orden clínica.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internacional #5 · FUTURE-AI (BMJ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117 expertos · 50 países · 30 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369AF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2642"/>
                </a:solidFill>
                <a:latin typeface="Aptos"/>
              </a:rPr>
              <a:t>F U T U R 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331720"/>
            <a:ext cx="16916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44144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788920"/>
            <a:ext cx="1399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23A"/>
                </a:solidFill>
                <a:latin typeface="Aptos"/>
              </a:rPr>
              <a:t>Fairness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31720"/>
            <a:ext cx="16916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244144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788920"/>
            <a:ext cx="1399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23A"/>
                </a:solidFill>
                <a:latin typeface="Aptos"/>
              </a:rPr>
              <a:t>Universality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331720"/>
            <a:ext cx="16916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44144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88920"/>
            <a:ext cx="1399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23A"/>
                </a:solidFill>
                <a:latin typeface="Aptos"/>
              </a:rPr>
              <a:t>Traceability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2331720"/>
            <a:ext cx="16916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44144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788920"/>
            <a:ext cx="1399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23A"/>
                </a:solidFill>
                <a:latin typeface="Aptos"/>
              </a:rPr>
              <a:t>Usability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331720"/>
            <a:ext cx="16916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244144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788920"/>
            <a:ext cx="1399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23A"/>
                </a:solidFill>
                <a:latin typeface="Aptos"/>
              </a:rPr>
              <a:t>Robustness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331720"/>
            <a:ext cx="169164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0424" y="244144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291A4"/>
                </a:solidFill>
                <a:latin typeface="Aptos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0424" y="2788920"/>
            <a:ext cx="1399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323A"/>
                </a:solidFill>
                <a:latin typeface="Aptos"/>
              </a:rPr>
              <a:t>Explainability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251960"/>
            <a:ext cx="9966960" cy="11430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3584" y="4361688"/>
            <a:ext cx="9674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F2642"/>
                </a:solidFill>
                <a:latin typeface="Aptos"/>
              </a:rPr>
              <a:t>CAMBIO DE PARADIGMA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4709160"/>
            <a:ext cx="9674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Trustworthy AI se evalúa durante TODO el ciclo de vida: diseño → validación → despliegue → monitorización.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Lekadir K et al. FUTURE-AI. BMJ. 2025;388:e081554. doi:10.1136/bmj-2024-081554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9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La métrica que los clínicos deben exigir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Calibración: ¿0.8 significa realmente ≈80%?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291A4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2642"/>
                </a:solidFill>
                <a:latin typeface="Aptos"/>
              </a:rPr>
              <a:t>Calibración ideal:  P(Y=1 | p̂≈p) ≈ 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30175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57860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DISCRIMINACIÓN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926080"/>
            <a:ext cx="2724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¿Ordena correctamente pacientes de mayor a menor riesgo?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0175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57860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291A4"/>
                </a:solidFill>
                <a:latin typeface="Aptos"/>
              </a:rPr>
              <a:t>CALIBRACIÓN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926080"/>
            <a:ext cx="2724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¿La probabilidad tiene significado clínico?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68880"/>
            <a:ext cx="30175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57860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UTILIDAD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926080"/>
            <a:ext cx="2724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¿Cambiar el umbral mejora decisiones y resultados?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3941"/>
                </a:solidFill>
                <a:latin typeface="Aptos"/>
              </a:rPr>
              <a:t>Un AUROC alto no demuestra que el umbral elegido sea seguro para su hospital.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8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internacional #6 · OMS y LMM/IA 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Guidance on large multi-modal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84C9D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¿QUÉ CAMBIA?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783080"/>
            <a:ext cx="3090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Un modelo puede recibir texto, imagen u otros datos y generar salidas diversas.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RIESGO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783080"/>
            <a:ext cx="3090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Respuesta plausible ≠ respuesta verdadera; riesgo de automatización no supervisada.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GOBERNANZA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783080"/>
            <a:ext cx="3090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Evaluar usos, usuarios, datos, evidencia, transparencia y responsabilidad.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F2642"/>
                </a:solidFill>
                <a:latin typeface="Aptos"/>
              </a:rPr>
              <a:t>Prompt clínico + EHR + imagen + LLM ≠ «chatbot»: es una cadena de procesamiento de datos sensibles.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3941"/>
                </a:solidFill>
                <a:latin typeface="Aptos"/>
              </a:rPr>
              <a:t>Pregunta: si el LLM redacta una nota incorrecta y el médico la firma, ¿dónde debe existir la barrera de seguridad?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WHO. Ethics and governance of AI for health: guidance on large multi-modal models. 2024/2025.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/ evidencia #7 · PAHO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IA y fuerza laboral de salud en las Américas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A895B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83080"/>
            <a:ext cx="3090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La gran mayoría de profesionales/estudiantes encuestados ya había usado alguna herramienta de 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8328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BRECHA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783080"/>
            <a:ext cx="3090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Solo una minoría había recibido formación formal.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BARRERAS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783080"/>
            <a:ext cx="3090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Competencias digitales, presupuesto, regulación e interoperabilidad.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F2642"/>
                </a:solidFill>
                <a:latin typeface="Aptos"/>
              </a:rPr>
              <a:t>Ética práctica = no introducir IA más rápido de lo que la organización puede comprenderla y gobernarla.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3941"/>
                </a:solidFill>
                <a:latin typeface="Aptos"/>
              </a:rPr>
              <a:t>Para enfermería: alfabetización en IA se convierte en una competencia de seguridad del paciente.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PAHO/WHO. Artificial Intelligence and the Health Workforce: regional study results. 18 Nov 2025.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internacional #8 · LMM en países de ingresos medios/bajos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La pregunta no es solo «¿funciona?» sino «¿para quién y bajo qué infraestructura?»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5862B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2461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2704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1874519"/>
            <a:ext cx="2953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¿Quién participó en construir el sistema?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52704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BENEFICIARIO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1874519"/>
            <a:ext cx="2953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¿Quién recibe valor y quién asume riesgo?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2461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52704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COMERCIALIZACIÓN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874519"/>
            <a:ext cx="2953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Dependencia de proveedores, nube y soberanía de datos.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2642"/>
                </a:solidFill>
                <a:latin typeface="Aptos"/>
              </a:rPr>
              <a:t>LATAM: una solución técnicamente excelente puede fallar por conectividad, idioma, workflow, costo o datos no representativos.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International Health. 2025;17(5):853… Large multimodal models: boon or burden for low- and middle-income countries?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internacional #9 · DECIDE-AI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Evaluar IA clínica temprana como intervención humano–IA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369AF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F2642"/>
                </a:solidFill>
                <a:latin typeface="Aptos"/>
              </a:rPr>
              <a:t>Modelo aislado → no basta. Debemos evaluar: humano + interfaz + workflow + contexto.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297180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578608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USABILIDAD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926080"/>
            <a:ext cx="2679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¿El profesional entiende y usa correctamente la salida?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468880"/>
            <a:ext cx="297180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2578608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926080"/>
            <a:ext cx="2679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¿Qué errores aparecen durante uso real?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468880"/>
            <a:ext cx="297180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1624" y="2578608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INTEGRACIÓN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1624" y="2926080"/>
            <a:ext cx="2679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323A"/>
                </a:solidFill>
                <a:latin typeface="Aptos"/>
              </a:rPr>
              <a:t>¿Cambia tiempos, decisiones o carga cognitiva?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Vasey B et al. DECIDE-AI. BMJ. 2022;377:e070904.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8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Artículo internacional #10 · CONSORT-AI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La evidencia clínica de IA también necesita transparencia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84C9D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INTERVENCIÓN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83080"/>
            <a:ext cx="3090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Definir claramente qué hace la IA y dónde entra en la ruta clínica.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8328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INPUT/OUTPUT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783080"/>
            <a:ext cx="3090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Especificar datos de entrada, salida y manejo de errores.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435607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HUMANO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783080"/>
            <a:ext cx="3090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Describir interacción, expertise y posibilidad de override.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B93941"/>
                </a:solidFill>
                <a:latin typeface="Aptos"/>
              </a:rPr>
              <a:t>Si un paper no describe cómo interactuó el clínico con la IA, no conocemos realmente la intervención.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7717A"/>
                </a:solidFill>
                <a:latin typeface="Aptos"/>
              </a:rPr>
              <a:t>Liu X et al. CONSORT-AI Extension. BMJ. 2020;370:m3164.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9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Responsabilidad: diseñe una matriz RACI antes del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Evitar «todos responsables = nadie responsable»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93941"/>
                </a:solidFill>
                <a:latin typeface="Aptos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011680" cy="658368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Evento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417320"/>
            <a:ext cx="1554480" cy="658368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55448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Médico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417320"/>
            <a:ext cx="1645920" cy="658368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Enfermería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1417320"/>
            <a:ext cx="1645920" cy="658368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TI/Datos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417320"/>
            <a:ext cx="1645920" cy="658368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Proveedor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417320"/>
            <a:ext cx="1645920" cy="658368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554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Comité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75688"/>
            <a:ext cx="201168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21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A323A"/>
                </a:solidFill>
                <a:latin typeface="Aptos"/>
              </a:rPr>
              <a:t>Alerta crítica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075688"/>
            <a:ext cx="155448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2221992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A/R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2075688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22219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2075688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2219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2075688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2219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075688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22199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34056"/>
            <a:ext cx="2011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A323A"/>
                </a:solidFill>
                <a:latin typeface="Aptos"/>
              </a:rPr>
              <a:t>Modelo fuera de servicio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2734056"/>
            <a:ext cx="1554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2880360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2734056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2880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0" y="2734056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880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A/R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2734056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2880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2734056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2880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392424"/>
            <a:ext cx="201168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5387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A323A"/>
                </a:solidFill>
                <a:latin typeface="Aptos"/>
              </a:rPr>
              <a:t>Sesgo detectado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3392424"/>
            <a:ext cx="155448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353872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69080" y="3392424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3538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3392424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3538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3392424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3538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3392424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35387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050791"/>
            <a:ext cx="20116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19709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A323A"/>
                </a:solidFill>
                <a:latin typeface="Aptos"/>
              </a:rPr>
              <a:t>Incidente de datos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4050791"/>
            <a:ext cx="1554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4197096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69080" y="4050791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0" y="41970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0" y="4050791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0" y="41970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A/R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60920" y="4050791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41970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6840" y="4050791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41970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709159"/>
            <a:ext cx="201168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8554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A323A"/>
                </a:solidFill>
                <a:latin typeface="Aptos"/>
              </a:rPr>
              <a:t>Retiro del modelo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14600" y="4709159"/>
            <a:ext cx="155448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0" y="4855464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69080" y="4709159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0" y="48554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15000" y="4709159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60720" y="48554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60920" y="4709159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06640" y="48554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06840" y="4709159"/>
            <a:ext cx="1645920" cy="658368"/>
          </a:xfrm>
          <a:prstGeom prst="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48554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A323A"/>
                </a:solidFill>
                <a:latin typeface="Aptos"/>
              </a:rPr>
              <a:t>A/R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2578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7717A"/>
                </a:solidFill>
                <a:latin typeface="Aptos"/>
              </a:rPr>
              <a:t>R = Responsible · A = Accountable · C = Consulted · I = Informed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Model drift: una aprobación no dura para siempre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El hospital cambia; la población cambia; el modelo puede degradarse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5862B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F2642"/>
                </a:solidFill>
                <a:latin typeface="Aptos"/>
              </a:rPr>
              <a:t>Pₜ(X,Y) ≠ Pₜ₊₁(X,Y)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2316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53288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DATA 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88036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Cambian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42316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253288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CONCEPT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88036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Cambia relación X→Y.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2316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253288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WORKFLOW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88036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Cambia cómo se usa.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423160"/>
            <a:ext cx="260604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2532888"/>
            <a:ext cx="2313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PERFORMANCE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3" y="2880360"/>
            <a:ext cx="2313432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Cambia resultado clínico.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895B"/>
                </a:solidFill>
                <a:latin typeface="Aptos"/>
              </a:rPr>
              <a:t>Gobernanza = monitorizar → detectar → investigar → corregir → revalidar → retirar si es necesario.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Mini-lab: ¿aprobaría este sistema?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No responda sí/no: defina condiciones de aprobación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A895B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38328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38988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VENDOR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737360"/>
            <a:ext cx="3090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AUROC 0.91; dataset propietario; no entrega datos de subgrupos.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38988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HOSPITAL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737360"/>
            <a:ext cx="3090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Quiere usarlo para priorizar 1,000 pacientes/día.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383280" cy="13716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389888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ENFERMERÍA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737360"/>
            <a:ext cx="3090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Recibirá alertas; no participó en diseño del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A323A"/>
                </a:solidFill>
                <a:latin typeface="Aptos"/>
              </a:rPr>
              <a:t>1) Exija 5 evidencias antes del piloto.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A323A"/>
                </a:solidFill>
                <a:latin typeface="Aptos"/>
              </a:rPr>
              <a:t>2) Defina 3 métricas de seguridad y 2 de equidad.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A323A"/>
                </a:solidFill>
                <a:latin typeface="Aptos"/>
              </a:rPr>
              <a:t>3) Defina quién puede hacer override y cómo se documenta.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A323A"/>
                </a:solidFill>
                <a:latin typeface="Aptos"/>
              </a:rPr>
              <a:t>4) Defina criterio de STOP: ¿cuándo se apaga el sistema?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2642"/>
                </a:solidFill>
                <a:latin typeface="Aptos"/>
              </a:rPr>
              <a:t>Tiempo: 8 minutos · grupos de 3–5 personas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Solución del mini-lab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Un comité serio aprueba condiciones, no promesas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369AF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07492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35607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EVIDENCIA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83080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Validación local + calibración + subgrupos + external validation + intended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07492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435607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783080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FN crítico, tiempo de respuesta, alertas/turno, overrides, eventos adversos.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07492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44728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EQUIDAD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794760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TPR/FPR/calibración por edad, sexo, territorio y grupos clínicamente relevantes.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07492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3447288"/>
            <a:ext cx="4782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OPERACIÓN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794760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RACI + SLA + downtime + rollback + auditoría.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2642"/>
                </a:solidFill>
                <a:latin typeface="Aptos"/>
              </a:rPr>
              <a:t>Resultado: piloto limitado, monitorizado y reversible — no despliegue ciego.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8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Cinco preguntas GRE/USMLE-style para discusión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Educativas; no son preguntas oficiales de GRE ni USMLE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84C9D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A323A"/>
                </a:solidFill>
                <a:latin typeface="Aptos"/>
              </a:rPr>
              <a:t>1. Un modelo mantiene AUROC pero cae la sensibilidad rural. ¿Qué auditoría es prioritaria?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A323A"/>
                </a:solidFill>
                <a:latin typeface="Aptos"/>
              </a:rPr>
              <a:t>2. Un LLM redacta notas con datos de terceros. ¿Qué control protege mejor trazabilidad y privacidad?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A323A"/>
                </a:solidFill>
                <a:latin typeface="Aptos"/>
              </a:rPr>
              <a:t>3. Una enfermera recibe 600 alertas/día. ¿Qué principio falla aunque exista human-in-the-loop?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A323A"/>
                </a:solidFill>
                <a:latin typeface="Aptos"/>
              </a:rPr>
              <a:t>4. Un modelo entrenado fuera de LATAM funciona peor localmente. ¿Qué evidencia falta?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A323A"/>
                </a:solidFill>
                <a:latin typeface="Aptos"/>
              </a:rPr>
              <a:t>5. Un sistema es preciso pero no permite override. ¿Qué dimensión de gobernanza está comprometida?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93941"/>
                </a:solidFill>
                <a:latin typeface="Aptos"/>
              </a:rPr>
              <a:t>Responder con: principio → evidencia → riesgo → control.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Respuestas razonadas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La respuesta correcta debe conducir a una acción de gobernanza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A895B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A323A"/>
                </a:solidFill>
                <a:latin typeface="Aptos"/>
              </a:rPr>
              <a:t>1. Auditoría por subgrupos + calibración/local validation; el promedio oculta inequidad.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A323A"/>
                </a:solidFill>
                <a:latin typeface="Aptos"/>
              </a:rPr>
              <a:t>2. Minimización + control de acceso + logs + política explícita de terceros/retención.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A323A"/>
                </a:solidFill>
                <a:latin typeface="Aptos"/>
              </a:rPr>
              <a:t>3. Supervisión humana efectiva/usabilidad: volumen de alertas hace imposible revisar.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A323A"/>
                </a:solidFill>
                <a:latin typeface="Aptos"/>
              </a:rPr>
              <a:t>4. Validación externa/local y representatividad de datos.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A323A"/>
                </a:solidFill>
                <a:latin typeface="Aptos"/>
              </a:rPr>
              <a:t>5. Autonomía profesional + accountability: debe existir override documentado y escalamiento.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>
                <a:solidFill>
                  <a:srgbClr val="0F2642"/>
                </a:solidFill>
                <a:latin typeface="Aptos"/>
              </a:rPr>
              <a:t>No basta identificar el principio: el alumno debe proponer el control técnico/organizacional.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La arquitectura ética que quiero que recuerden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De principio abstracto a sistema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2642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F2642"/>
                </a:solidFill>
                <a:latin typeface="Aptos"/>
              </a:rPr>
              <a:t>PRINCIPIO → RIESGO → CONTROL → MÉTRICA → RESPONSABLE → AUDITORÍA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23160"/>
            <a:ext cx="169164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253288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684C9D"/>
                </a:solidFill>
                <a:latin typeface="Aptos"/>
              </a:rPr>
              <a:t>PRINCIPIO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88036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23A"/>
                </a:solidFill>
                <a:latin typeface="Aptos"/>
              </a:rPr>
              <a:t>Equidad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4288" y="2423160"/>
            <a:ext cx="169164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253288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88036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23A"/>
                </a:solidFill>
                <a:latin typeface="Aptos"/>
              </a:rPr>
              <a:t>FN en grupo rural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2423160"/>
            <a:ext cx="169164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3288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8036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23A"/>
                </a:solidFill>
                <a:latin typeface="Aptos"/>
              </a:rPr>
              <a:t>Validación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423160"/>
            <a:ext cx="169164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53288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291A4"/>
                </a:solidFill>
                <a:latin typeface="Aptos"/>
              </a:rPr>
              <a:t>MÉTRICA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88036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23A"/>
                </a:solidFill>
                <a:latin typeface="Aptos"/>
              </a:rPr>
              <a:t>ΔTPR + calibración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423160"/>
            <a:ext cx="169164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53288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RESPONSABLE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88036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23A"/>
                </a:solidFill>
                <a:latin typeface="Aptos"/>
              </a:rPr>
              <a:t>Comité + clínica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423160"/>
            <a:ext cx="1691640" cy="155448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04704" y="2532888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704" y="288036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323A"/>
                </a:solidFill>
                <a:latin typeface="Aptos"/>
              </a:rPr>
              <a:t>Mensual + trigger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17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B93941"/>
                </a:solidFill>
                <a:latin typeface="Aptos"/>
              </a:rPr>
              <a:t>Ética útil = requisito verificable. Si no puede medirse, asignarse o auditarse, todavía no está gobernado.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Cierre: la IA clínica es un sistema sociotécnico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El algoritmo es solo una pieza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F2642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2642"/>
                </a:solidFill>
                <a:latin typeface="Aptos"/>
              </a:rPr>
              <a:t>IA segura = Modelo + Datos + Workflow + Personas + Gobernanza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0175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62432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369AF"/>
                </a:solidFill>
                <a:latin typeface="Aptos"/>
              </a:rPr>
              <a:t>MÉDICO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971800"/>
            <a:ext cx="2724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¿Puedo entender, cuestionar y documentar la recomendación?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14600"/>
            <a:ext cx="30175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62432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A895B"/>
                </a:solidFill>
                <a:latin typeface="Aptos"/>
              </a:rPr>
              <a:t>ENFERMERÍA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971800"/>
            <a:ext cx="2724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¿Puedo detectar deterioro, escalar y hacer override de forma segura?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14600"/>
            <a:ext cx="30175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624328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93941"/>
                </a:solidFill>
                <a:latin typeface="Aptos"/>
              </a:rPr>
              <a:t>INSTITUCIÓN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971800"/>
            <a:ext cx="27249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323A"/>
                </a:solidFill>
                <a:latin typeface="Aptos"/>
              </a:rPr>
              <a:t>¿Puedo demostrar por qué lo desplegué y cuándo lo retiraré?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50" b="1">
                <a:solidFill>
                  <a:srgbClr val="0F2642"/>
                </a:solidFill>
                <a:latin typeface="Aptos"/>
              </a:rPr>
              <a:t>Exit ticket: escriba una IA que usaría mañana + un daño posible + una salvaguarda medible.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369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642"/>
                </a:solidFill>
                <a:latin typeface="Aptos"/>
              </a:rPr>
              <a:t>Lecturas esenciales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69AF"/>
                </a:solidFill>
                <a:latin typeface="Aptos"/>
              </a:rPr>
              <a:t>10 fuentes para continuar la discusión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8346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369AF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1. Alegre V et al. Rev Panam Salud Publica. 2024;48:e40. doi:10.26633/RPSP.2024.40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2. Sierra-Castillo S et al. Rev Cuid. 2026;17(2):e6342. doi:10.15649/cuidarte.6342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3. Bárcenas Vidal J et al. Protección de DD.HH. frente a sesgos algorítmicos en IA aplicada a salud en LATAM. 2026.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4. Gubert IC et al. Rev Iberoamericana de Bioética. 2024;(26):1–15. doi:10.14422/rib.i26.y2024.004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5. WHO. Ethics and governance of AI for health. 2021.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6. WHO. Ethics and governance of AI for health: large multi-modal models. 2024/2025.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7. Lekadir K et al. FUTURE-AI. BMJ. 2025;388:e081554.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8. PAHO/WHO. AI and the Health Workforce: strategic vision for the Region. 2025.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9. Vasey B et al. DECIDE-AI. BMJ. 2022;377:e070904.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2A323A"/>
                </a:solidFill>
                <a:latin typeface="Aptos"/>
              </a:rPr>
              <a:t>10. Liu X et al. CONSORT-AI Extension. BMJ. 2020;370:m3164.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