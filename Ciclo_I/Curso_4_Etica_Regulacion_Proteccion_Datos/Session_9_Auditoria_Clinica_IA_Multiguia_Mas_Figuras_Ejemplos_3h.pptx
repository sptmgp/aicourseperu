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Sesión 9 · Auditoría Clínica de IA: del Modelo al Paciente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0C2541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77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F66AE"/>
                </a:solidFill>
                <a:latin typeface="Aptos"/>
              </a:rPr>
              <a:t>3 horas · laboratorio integrador con figuras y ejemplos de todas las guías adjuntas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C2541"/>
                </a:solidFill>
                <a:latin typeface="Aptos"/>
              </a:rPr>
              <a:t>El hospital ya compró la IA. ¿Qué evidencia necesita antes de permitir que influya en un paciente?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033272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834640"/>
            <a:ext cx="10076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8373F"/>
                </a:solidFill>
                <a:latin typeface="Aptos"/>
              </a:rPr>
              <a:t>RUTA DE AUDITORÍA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182112"/>
            <a:ext cx="1007668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32F39"/>
                </a:solidFill>
                <a:latin typeface="Aptos"/>
              </a:rPr>
              <a:t>FINALIDAD → DATOS → RENDIMIENTO → ROBUSTEZ → TRANSPARENCIA → HUMANO → CIBERSEGURIDAD → LOGS → VIGILANCIA → INCIDENTE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4389120"/>
            <a:ext cx="97840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16736" y="4480559"/>
            <a:ext cx="9528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Método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4828031"/>
            <a:ext cx="952804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Cada bloque combina una página/figura real de los PDFs + un caso clínico + una pregunta de auditoría + evidencia mínima.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Plan de 180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0–25 mapa de auditoría · 25–60 datos/riesgos · 60–90 rendimiento/robustez · 90–100 pausa · 100–130 transparencia/humano · 130–155 ciberseguridad/logs · 155–180 vigilancia, incidentes y comité go-live.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1. Gestión de riesgos: el auditor empieza antes del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C9E"/>
                </a:solidFill>
                <a:latin typeface="Aptos"/>
              </a:rPr>
              <a:t>3</a:t>
            </a:r>
          </a:p>
        </p:txBody>
      </p:sp>
      <p:pic>
        <p:nvPicPr>
          <p:cNvPr id="5" name="Picture 4" descr="RISK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04" y="1024128"/>
            <a:ext cx="375379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89320" y="1170432"/>
            <a:ext cx="5440680" cy="33832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17336" y="1261872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QUÉ LEER EN LA FIGURA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7336" y="1609344"/>
            <a:ext cx="518464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El sistema de gestión de riesgos es iterativo y continuo durante el ciclo de vida. La auditoría pregunta por riesgos conocidos/previsibles, uso previsto y usos razonablemente previsibles, medidas y riesgo residual.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754880"/>
            <a:ext cx="544068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17336" y="4846320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7336" y="5193792"/>
            <a:ext cx="518464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¿Existe un registro de riesgos vivo o solo un documento creado para aprobar el proyecto?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Figura/página tomada del PDF adjunto: session-1-11-5.pdf, p. 13.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Ejemplo 1 · Predictor de sepsis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El proveedor reporta AUC 0,91. El hospital quiere usarlo en urgencias. Antes de hablar de AUC: ¿qué decisión modifica?, ¿qué daño produce un FN?, ¿qué pasa con un FP?, ¿qué pacientes quedan fuera?, ¿qué uso no está permitido?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Riesgo → medida → prueba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C9E"/>
                </a:solidFill>
                <a:latin typeface="Aptos"/>
              </a:rPr>
              <a:t>5</a:t>
            </a:r>
          </a:p>
        </p:txBody>
      </p:sp>
      <p:pic>
        <p:nvPicPr>
          <p:cNvPr id="5" name="Picture 4" descr="RISK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04" y="1024128"/>
            <a:ext cx="375379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89320" y="1170432"/>
            <a:ext cx="5440680" cy="33832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17336" y="1261872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QUÉ LEER EN LA FIGURA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7336" y="1609344"/>
            <a:ext cx="518464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Use la figura/proceso de la guía para mostrar que identificar riesgo no basta: el control debe implementarse y probarse.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754880"/>
            <a:ext cx="544068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17336" y="4846320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7336" y="5193792"/>
            <a:ext cx="518464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Para cada riesgo clínico, ¿qué control existe y qué prueba demuestra que funciona?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Figura/página tomada del PDF adjunto: session-1-11-5.pdf, p. 20.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2. Supervisión humana: ¿puede el clínico contradecir la 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C9E"/>
                </a:solidFill>
                <a:latin typeface="Aptos"/>
              </a:rPr>
              <a:t>6</a:t>
            </a:r>
          </a:p>
        </p:txBody>
      </p:sp>
      <p:pic>
        <p:nvPicPr>
          <p:cNvPr id="5" name="Picture 4" descr="HUMAN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04" y="1024128"/>
            <a:ext cx="375379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89320" y="1170432"/>
            <a:ext cx="5440680" cy="33832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17336" y="1261872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QUÉ LEER EN LA FIGURA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7336" y="1609344"/>
            <a:ext cx="518464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La guía exige que quienes supervisan conozcan capacidades/limitaciones y puedan detectar anomalías o comportamiento inesperado.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754880"/>
            <a:ext cx="544068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17336" y="4846320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7336" y="5193792"/>
            <a:ext cx="518464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¿El profesional tiene conocimiento, tiempo y autoridad para cuestionar la salida?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Figura/página tomada del PDF adjunto: session-1-11-6.pdf, p. 18.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Ejemplo 2 · Radiología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IA: «nódulo no sospechoso». Radióloga observa borde espiculado. Una supervisión real permite revisar evidencia, descartar la salida y continuar el proceso clínico; una interfaz que fuerza aceptación convierte al humano en sello administrativo.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Override y parada segura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C9E"/>
                </a:solidFill>
                <a:latin typeface="Aptos"/>
              </a:rPr>
              <a:t>8</a:t>
            </a:r>
          </a:p>
        </p:txBody>
      </p:sp>
      <p:pic>
        <p:nvPicPr>
          <p:cNvPr id="5" name="Picture 4" descr="HUMAN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04" y="1024128"/>
            <a:ext cx="375379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89320" y="1170432"/>
            <a:ext cx="5440680" cy="33832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17336" y="1261872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QUÉ LEER EN LA FIGURA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7336" y="1609344"/>
            <a:ext cx="518464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La supervisión incluye capacidad de no usar, invalidar/revertir y, cuando corresponda, interrumpir de forma segura.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754880"/>
            <a:ext cx="544068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17336" y="4846320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7336" y="5193792"/>
            <a:ext cx="518464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¿Dónde está el botón/procedimiento de override y qué queda registrado después?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Figura/página tomada del PDF adjunto: session-1-11-6.pdf, p. 21.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3. Gobernanza del dato: el modelo hereda sus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C9E"/>
                </a:solidFill>
                <a:latin typeface="Aptos"/>
              </a:rPr>
              <a:t>9</a:t>
            </a:r>
          </a:p>
        </p:txBody>
      </p:sp>
      <p:pic>
        <p:nvPicPr>
          <p:cNvPr id="5" name="Picture 4" descr="DATA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04" y="1024128"/>
            <a:ext cx="375379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89320" y="1170432"/>
            <a:ext cx="5440680" cy="33832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17336" y="1261872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QUÉ LEER EN LA FIGURA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7336" y="1609344"/>
            <a:ext cx="518464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La gestión del dato cubre recopilación, preparación, calidad, uso en entrenamiento/validación y monitorización/actualización.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754880"/>
            <a:ext cx="544068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17336" y="4846320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7336" y="5193792"/>
            <a:ext cx="518464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¿Puede reconstruirse de dónde vino cada conjunto de datos y qué transformación sufrió?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Figura/página tomada del PDF adjunto: session-1-11-7.pdf, p.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Ejemplo 3 · Obstetricia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Modelo de hemorragia posparto entrenado principalmente con un centro urbano. El nuevo hospital atiende otra mezcla de pacientes y protocolos. La pregunta no es solo «¿funciona el algoritmo?» sino «¿representan los datos la población objetivo?»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Dimensiones de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C9E"/>
                </a:solidFill>
                <a:latin typeface="Aptos"/>
              </a:rPr>
              <a:t>11</a:t>
            </a:r>
          </a:p>
        </p:txBody>
      </p:sp>
      <p:pic>
        <p:nvPicPr>
          <p:cNvPr id="5" name="Picture 4" descr="DATA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04" y="1024128"/>
            <a:ext cx="375379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89320" y="1170432"/>
            <a:ext cx="5440680" cy="33832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17336" y="1261872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QUÉ LEER EN LA FIGURA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7336" y="1609344"/>
            <a:ext cx="518464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La guía enumera múltiples dimensiones de calidad. En auditoría clínica, seleccione las que pueden alterar una decisión: completitud, precisión, consistencia, relevancia, representatividad, etc.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754880"/>
            <a:ext cx="544068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17336" y="4846320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7336" y="5193792"/>
            <a:ext cx="518464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dimensión de calidad podría generar el daño más grave en este caso?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Figura/página tomada del PDF adjunto: session-1-11-7.pdf, p. 48.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Ejemplo 4 · Creatinina con unidades mezcladas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Dos laboratorios envían mg/dL y µmol/L, pero el pipeline asume una sola unidad. El modelo es matemáticamente correcto y clínicamente peligroso. Evidencia requerida: diccionario, validación de rango/unidad, rechazo de entradas y 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4. Transparencia: capacidades y limitaciones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C9E"/>
                </a:solidFill>
                <a:latin typeface="Aptos"/>
              </a:rPr>
              <a:t>13</a:t>
            </a:r>
          </a:p>
        </p:txBody>
      </p:sp>
      <p:pic>
        <p:nvPicPr>
          <p:cNvPr id="5" name="Picture 4" descr="TRANS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04" y="1024128"/>
            <a:ext cx="375379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89320" y="1170432"/>
            <a:ext cx="5440680" cy="33832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17336" y="1261872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QUÉ LEER EN LA FIGURA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7336" y="1609344"/>
            <a:ext cx="518464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La guía pide comunicar finalidad, precisión, circunstancias que afectan rendimiento, riesgos previsibles, capacidades de explicación y comportamiento relevante.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754880"/>
            <a:ext cx="544068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17336" y="4846320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7336" y="5193792"/>
            <a:ext cx="518464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información necesita el usuario para saber cuándo NO confiar en la salida?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Figura/página tomada del PDF adjunto: session-1-1108-guia-transparencia(2).pdf, p. 20.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Ejemplo 5 · LLM para resumen clínico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El LLM produce un resumen convincente pero omite anticoagulación. Auditoría: finalidad exacta, datos visibles, limitaciones, verificación humana, indicación de incertidumbre/errores y ruta para corregir el resumen.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Transparencia y supervisión se necesitan mutuamente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C9E"/>
                </a:solidFill>
                <a:latin typeface="Aptos"/>
              </a:rPr>
              <a:t>15</a:t>
            </a:r>
          </a:p>
        </p:txBody>
      </p:sp>
      <p:pic>
        <p:nvPicPr>
          <p:cNvPr id="5" name="Picture 4" descr="TRANS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04" y="1024128"/>
            <a:ext cx="375379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89320" y="1170432"/>
            <a:ext cx="5440680" cy="33832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17336" y="1261872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QUÉ LEER EN LA FIGURA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7336" y="1609344"/>
            <a:ext cx="518464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La guía conecta comprensión del sistema con posibilidad de supervisión efectiva.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754880"/>
            <a:ext cx="544068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17336" y="4846320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7336" y="5193792"/>
            <a:ext cx="518464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¿Puede alguien supervisar una salida que no sabe interpretar?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Figura/página tomada del PDF adjunto: session-1-1108-guia-transparencia(2).pdf, p. 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5. Precisión: mire la matriz, no el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C9E"/>
                </a:solidFill>
                <a:latin typeface="Aptos"/>
              </a:rPr>
              <a:t>16</a:t>
            </a:r>
          </a:p>
        </p:txBody>
      </p:sp>
      <p:pic>
        <p:nvPicPr>
          <p:cNvPr id="5" name="Picture 4" descr="ACC_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04" y="1024128"/>
            <a:ext cx="375379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89320" y="1170432"/>
            <a:ext cx="5440680" cy="33832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17336" y="1261872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QUÉ LEER EN LA FIGURA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7336" y="1609344"/>
            <a:ext cx="518464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Use la figura de métricas para separar TP, FP, TN y FN y discutir sensibilidad/especificidad/PPV según el daño clínico.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754880"/>
            <a:ext cx="544068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17336" y="4846320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7336" y="5193792"/>
            <a:ext cx="518464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¿Cuál error importa más para esta finalidad y por qué?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Figura/página tomada del PDF adjunto: session-1-11-09-guia-de-precision(3).pdf, p. 36.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Ejemplo 6 · 1.000 pacientes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100 tienen deterioro; IA detecta 85, pierde 15 y genera 90 FP. Sensibilidad = 85%. PPV = 85/(85+90) ≈ 48,6%. Pregunta: ¿qué significa operacionalmente una alerta con casi la mitad de positivos verdaderos?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Ejemplo 7 · Mismo AUC, distinto hospital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Centro A: prevalencia 20%; Centro B: 3%. Aunque discriminación sea similar, el valor predictivo y carga de alertas pueden cambiar. La auditoría debe mirar el contexto de despliegue.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Monitorización de precisión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C9E"/>
                </a:solidFill>
                <a:latin typeface="Aptos"/>
              </a:rPr>
              <a:t>19</a:t>
            </a:r>
          </a:p>
        </p:txBody>
      </p:sp>
      <p:pic>
        <p:nvPicPr>
          <p:cNvPr id="5" name="Picture 4" descr="ACC_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04" y="1024128"/>
            <a:ext cx="375379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89320" y="1170432"/>
            <a:ext cx="5440680" cy="33832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17336" y="1261872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QUÉ LEER EN LA FIGURA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7336" y="1609344"/>
            <a:ext cx="518464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La precisión debe vigilarse después del despliegue; una validación pre-go-live no garantiza rendimiento futuro.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754880"/>
            <a:ext cx="544068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17336" y="4846320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7336" y="5193792"/>
            <a:ext cx="518464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métrica se recalcula en producción, con qué frecuencia y quién actúa si cae?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Figura/página tomada del PDF adjunto: session-1-11-09-guia-de-precision(3).pdf, p. 42.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6. Solidez: ¿qué pasa cuando el mundo no es limpio?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C9E"/>
                </a:solidFill>
                <a:latin typeface="Aptos"/>
              </a:rPr>
              <a:t>20</a:t>
            </a:r>
          </a:p>
        </p:txBody>
      </p:sp>
      <p:pic>
        <p:nvPicPr>
          <p:cNvPr id="5" name="Picture 4" descr="ROB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04" y="1024128"/>
            <a:ext cx="375379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89320" y="1170432"/>
            <a:ext cx="5440680" cy="33832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17336" y="1261872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QUÉ LEER EN LA FIGURA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7336" y="1609344"/>
            <a:ext cx="518464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La guía trata robustez/solidez frente a errores, fallos, incoherencias y cambios; monitorización forma parte del enfoque.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754880"/>
            <a:ext cx="544068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17336" y="4846320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7336" y="5193792"/>
            <a:ext cx="518464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perturbaciones reales del hospital fueron probadas?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Figura/página tomada del PDF adjunto: session-1-11-10-guia-solidez(3).pdf, p. 25.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Ejemplo 8 · Sensor con artefacto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SpO₂ cae a 82% durante movimiento y vuelve a 97%. El sistema no debe tratar cualquier número como verdad. Pruebe ruido, missingness, valores extremos, desconexión y retraso.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Incertidumbre y resistencia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C9E"/>
                </a:solidFill>
                <a:latin typeface="Aptos"/>
              </a:rPr>
              <a:t>22</a:t>
            </a:r>
          </a:p>
        </p:txBody>
      </p:sp>
      <p:pic>
        <p:nvPicPr>
          <p:cNvPr id="5" name="Picture 4" descr="ROB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04" y="1024128"/>
            <a:ext cx="375379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89320" y="1170432"/>
            <a:ext cx="5440680" cy="33832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17336" y="1261872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QUÉ LEER EN LA FIGURA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7336" y="1609344"/>
            <a:ext cx="518464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La figura permite discutir condiciones donde la evidencia es insuficiente o la entrada se aparta de lo esperado.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754880"/>
            <a:ext cx="544068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17336" y="4846320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7336" y="5193792"/>
            <a:ext cx="518464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¿El sistema sabe abstenerse o siempre produce una respuesta?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Figura/página tomada del PDF adjunto: session-1-11-10-guia-solidez(3).pdf, p. 35.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Ejemplo 9 · 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Modelo dermatológico recibe una imagen tomada con iluminación/dispositivo no vistos. Respuesta segura posible: detectar baja compatibilidad, abstenerse y escalar; no fabricar confianza.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7. Ciberseguridad: data/model poisoning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C9E"/>
                </a:solidFill>
                <a:latin typeface="Aptos"/>
              </a:rPr>
              <a:t>24</a:t>
            </a:r>
          </a:p>
        </p:txBody>
      </p:sp>
      <p:pic>
        <p:nvPicPr>
          <p:cNvPr id="5" name="Picture 4" descr="CYBER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04" y="1024128"/>
            <a:ext cx="375379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89320" y="1170432"/>
            <a:ext cx="5440680" cy="33832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17336" y="1261872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QUÉ LEER EN LA FIGURA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7336" y="1609344"/>
            <a:ext cx="518464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La guía incluye manipulación de datos/modelos como amenazas específicas del ciclo de 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754880"/>
            <a:ext cx="544068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17336" y="4846320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7336" y="5193792"/>
            <a:ext cx="518464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¿Cómo verifica el hospital integridad y procedencia de datos/modelos antes de desplegar?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Figura/página tomada del PDF adjunto: session-1-11-11-guia-ciberseguridad(2).pdf, p. 28.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Ejemplo 10 · Modelo preentrenado de tercero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El hospital descarga pesos externos. Auditoría: procedencia, hash/versión, pruebas internas, dependencias, permisos, actualizaciones y plan de retirada.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Ataques adversarios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C9E"/>
                </a:solidFill>
                <a:latin typeface="Aptos"/>
              </a:rPr>
              <a:t>26</a:t>
            </a:r>
          </a:p>
        </p:txBody>
      </p:sp>
      <p:pic>
        <p:nvPicPr>
          <p:cNvPr id="5" name="Picture 4" descr="CYBER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04" y="1024128"/>
            <a:ext cx="375379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89320" y="1170432"/>
            <a:ext cx="5440680" cy="33832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17336" y="1261872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QUÉ LEER EN LA FIGURA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7336" y="1609344"/>
            <a:ext cx="518464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La guía aborda entradas diseñadas para provocar comportamiento incorrecto; la respuesta incluye prevención, detección, control y resolución.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754880"/>
            <a:ext cx="544068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17336" y="4846320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7336" y="5193792"/>
            <a:ext cx="518464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barreras evitan que una salida manipulada llegue directamente a una decisión clínica?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Figura/página tomada del PDF adjunto: session-1-11-11-guia-ciberseguridad(2).pdf, p. 33.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Ejemplo 11 · Chatbot clínico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Un usuario intenta inducir al sistema a revelar datos o ignorar restricciones. Evalúe autenticación, autorización, aislamiento de datos, filtros, logging, escalamiento y revisión humana.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8. Logs: la caja negra operacional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C9E"/>
                </a:solidFill>
                <a:latin typeface="Aptos"/>
              </a:rPr>
              <a:t>28</a:t>
            </a:r>
          </a:p>
        </p:txBody>
      </p:sp>
      <p:pic>
        <p:nvPicPr>
          <p:cNvPr id="5" name="Picture 4" descr="LOG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04" y="1024128"/>
            <a:ext cx="375379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89320" y="1170432"/>
            <a:ext cx="5440680" cy="33832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17336" y="1261872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QUÉ LEER EN LA FIGURA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7336" y="1609344"/>
            <a:ext cx="518464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La guía propone registrar identidad/contexto, fecha-hora, modelo/versión, inputs, outputs, métricas, rendimiento, seguridad y alertas según necesidad.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754880"/>
            <a:ext cx="544068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17336" y="4846320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7336" y="5193792"/>
            <a:ext cx="518464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¿Podemos reconstruir exactamente una inferencia seis semanas después?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Figura/página tomada del PDF adjunto: session-1-11-12-guia-de-registros(1).pdf, p. 14.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Ejemplo 12 · Alerta de sepsis tardía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14:03 inferencia; 14:04 alerta; 14:22 apertura; 15:10 tratamiento. Sin timestamps de cada etapa, «el sistema fue lento» no puede investigarse.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Ejemplo 13 · Qué NO registrar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Guardar cada nota clínica completa «por si acaso» aumenta exposición. Diseñe logs mínimos pero suficientes: identificadores adecuados, versión, evento, resultado, acción y evidencia necesaria.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9. Vigilancia poscomercialización: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C9E"/>
                </a:solidFill>
                <a:latin typeface="Aptos"/>
              </a:rPr>
              <a:t>31</a:t>
            </a:r>
          </a:p>
        </p:txBody>
      </p:sp>
      <p:pic>
        <p:nvPicPr>
          <p:cNvPr id="5" name="Picture 4" descr="PMS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04" y="1024128"/>
            <a:ext cx="375379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89320" y="1170432"/>
            <a:ext cx="5440680" cy="33832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17336" y="1261872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QUÉ LEER EN LA FIGURA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7336" y="1609344"/>
            <a:ext cx="518464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La guía transforma datos de producción en indicadores, registros, alertas e interfaces de supervisión.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754880"/>
            <a:ext cx="544068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17336" y="4846320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7336" y="5193792"/>
            <a:ext cx="518464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señal temprana mostraría que el sistema empieza a degradarse?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Figura/página tomada del PDF adjunto: session-1-11-13-guia-vigilancia-poscomercializacion(1).pdf, p. 8.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Ejemplo 14 · Dashboard hospitalario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8 indicadores: sensibilidad observada, PPV, tasa de abstención/OOD, override clínico, latencia, error API, acceso anómalo y quejas/incidentes. Cada uno necesita umbral y responsable.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Alertas e interfaz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C9E"/>
                </a:solidFill>
                <a:latin typeface="Aptos"/>
              </a:rPr>
              <a:t>33</a:t>
            </a:r>
          </a:p>
        </p:txBody>
      </p:sp>
      <p:pic>
        <p:nvPicPr>
          <p:cNvPr id="5" name="Picture 4" descr="PMS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04" y="1024128"/>
            <a:ext cx="375379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89320" y="1170432"/>
            <a:ext cx="5440680" cy="33832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17336" y="1261872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QUÉ LEER EN LA FIGURA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7336" y="1609344"/>
            <a:ext cx="518464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La vigilancia requiere alertas tempranas e interfaces que permitan reconocer desviaciones y explorar evidencia.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754880"/>
            <a:ext cx="544068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17336" y="4846320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7336" y="5193792"/>
            <a:ext cx="518464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¿La alerta conduce a una acción definida o solo añade otra notificación?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Figura/página tomada del PDF adjunto: session-1-11-13-guia-vigilancia-poscomercializacion(1).pdf, p. 16.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Ejemplo 15 · Drift silencioso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Durante 8 semanas cae sensibilidad tras cambio de protocolo. No hubo alerta porque solo se vigilaba uptime. Lección: disponibilidad técnica ≠ seguridad clínica.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10. Incidente grave: del evento a la investigación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C9E"/>
                </a:solidFill>
                <a:latin typeface="Aptos"/>
              </a:rPr>
              <a:t>35</a:t>
            </a:r>
          </a:p>
        </p:txBody>
      </p:sp>
      <p:pic>
        <p:nvPicPr>
          <p:cNvPr id="5" name="Picture 4" descr="INC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04" y="1024128"/>
            <a:ext cx="375379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89320" y="1170432"/>
            <a:ext cx="5440680" cy="33832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17336" y="1261872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QUÉ LEER EN LA FIGURA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7336" y="1609344"/>
            <a:ext cx="518464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La guía organiza escenarios, actores, notificación e investigación. Para docencia, enfoque primero en contención, evidencia, causalidad y medidas correctoras.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754880"/>
            <a:ext cx="544068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17336" y="4846320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7336" y="5193792"/>
            <a:ext cx="518464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debe preservarse antes de modificar el sistema?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Figura/página tomada del PDF adjunto: session-1-11-14-guia-gestion-de-incidentes(1).pdf, p. 12.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Ejemplo 16 · Falso negativo con daño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Paciente se deteriora después de una salida de bajo riesgo. Equipo reconstruye: datos → versión → inferencia → interfaz → supervisión → acción → outcome. Evite concluir «culpa del algoritmo» antes del análisis causal.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Ejemplo 17 · Incidente de privacidad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37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Logs de chatbot contienen texto sensible accesible a usuarios no autorizados. Puede involucrar diseño de logging, permisos, seguridad, gobernanza y proceso organizacional simultáneamente.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11. Documentación técnica: anatomía auditable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C9E"/>
                </a:solidFill>
                <a:latin typeface="Aptos"/>
              </a:rPr>
              <a:t>38</a:t>
            </a:r>
          </a:p>
        </p:txBody>
      </p:sp>
      <p:pic>
        <p:nvPicPr>
          <p:cNvPr id="5" name="Picture 4" descr="DOC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04" y="1024128"/>
            <a:ext cx="375379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89320" y="1170432"/>
            <a:ext cx="5440680" cy="33832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17336" y="1261872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QUÉ LEER EN LA FIGURA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7336" y="1609344"/>
            <a:ext cx="518464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La Guía 15 integra elementos/procesos del sistema dentro de un expediente que conecta desarrollo, datos, rendimiento, riesgos, supervisión, cambios y vigilancia.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754880"/>
            <a:ext cx="544068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17336" y="4846320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7336" y="5193792"/>
            <a:ext cx="518464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¿Puede un auditor externo entender el sistema sin depender de conocimiento oral del equipo?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Figura/página tomada del PDF adjunto: session-1-11-15-guia-documentacion-tecnica.pdf, p. 34.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Ejemplo 18 · Evidence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Para una afirmación «validado externamente», pida: protocolo, dataset/centro, fechas, versión, población, métricas, IC, fallos/subgrupos, responsable y decisión resultante.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Control de cambios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C9E"/>
                </a:solidFill>
                <a:latin typeface="Aptos"/>
              </a:rPr>
              <a:t>40</a:t>
            </a:r>
          </a:p>
        </p:txBody>
      </p:sp>
      <p:pic>
        <p:nvPicPr>
          <p:cNvPr id="5" name="Picture 4" descr="DOC_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04" y="1024128"/>
            <a:ext cx="375379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89320" y="1170432"/>
            <a:ext cx="5440680" cy="33832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17336" y="1261872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QUÉ LEER EN LA FIGURA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7336" y="1609344"/>
            <a:ext cx="518464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La documentación debe relacionar cambios del sistema con las secciones documentales afectadas y mantener relación entre fecha, versión del sistema y versión documental.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754880"/>
            <a:ext cx="544068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17336" y="4846320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7336" y="5193792"/>
            <a:ext cx="518464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obliga a revalidar una actualización del EHR, dataset, umbral o modelo?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Figura/página tomada del PDF adjunto: session-1-11-15-guia-documentacion-tecnica.pdf, p. 52.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Ejemplo 19 · Modelo v3.2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Se cambia preprocesamiento sin cambiar nombre comercial. Auditoría detecta que validación corresponde a v3.1. Resultado: la evidencia ya no corresponde exactamente al sistema desplegado.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12. Checklist: convertir requisitos en brechas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C9E"/>
                </a:solidFill>
                <a:latin typeface="Aptos"/>
              </a:rPr>
              <a:t>42</a:t>
            </a:r>
          </a:p>
        </p:txBody>
      </p:sp>
      <p:pic>
        <p:nvPicPr>
          <p:cNvPr id="5" name="Picture 4" descr="CHK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04" y="1024128"/>
            <a:ext cx="375379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89320" y="1170432"/>
            <a:ext cx="5440680" cy="33832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17336" y="1261872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QUÉ LEER EN LA FIGURA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7336" y="1609344"/>
            <a:ext cx="518464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El manual propone autodiagnóstico y Plan de Adaptación sobre 12 áreas, desde calidad/riesgos hasta incidentes.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754880"/>
            <a:ext cx="544068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17336" y="4846320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7336" y="5193792"/>
            <a:ext cx="518464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requisito está incompleto y qué acción concreta cerrará la brecha?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Figura/página tomada del PDF adjunto: session-1-1116-manual-de-checklist-de-guias-de-requisitos.pdf, p. 6.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Herramienta operativa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C9E"/>
                </a:solidFill>
                <a:latin typeface="Aptos"/>
              </a:rPr>
              <a:t>43</a:t>
            </a:r>
          </a:p>
        </p:txBody>
      </p:sp>
      <p:pic>
        <p:nvPicPr>
          <p:cNvPr id="5" name="Picture 4" descr="CHK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04" y="1024128"/>
            <a:ext cx="375379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89320" y="1170432"/>
            <a:ext cx="5440680" cy="33832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17336" y="1261872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QUÉ LEER EN LA FIGURA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7336" y="1609344"/>
            <a:ext cx="518464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El manual organiza el checklist en pestañas informativas y operativas para pasar del diagnóstico al plan de adaptación.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754880"/>
            <a:ext cx="544068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17336" y="4846320"/>
            <a:ext cx="5184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PREGUNTA DE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7336" y="5193792"/>
            <a:ext cx="518464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¿Una casilla 'sí' tiene evidencia verificable detrás?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Figura/página tomada del PDF adjunto: session-1-1116-manual-de-checklist-de-guias-de-requisitos.pdf, p. 8.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Caso integrador A · Sepsis EHR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44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Equipo A audita: finalidad, población, calidad de datos, sensibilidad/FN, calibración, OOD, transparencia, override, ciberseguridad, logs, vigilancia e incidentes. Entregable: 12 evidencias + 5 brechas.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Caso integrador B · IA de radiología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Equipo B audita: DICOM/preprocesamiento, equipos/centros, representatividad, sensibilidad por subgrupo, robustez a artefactos, explicación, revisión del radiólogo, versiones y drift.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Caso integrador C · LLM clínico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46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Equipo C audita: finalidad (resumen vs decisión), datos enviados, privacidad, alucinación/omisión, verificación, prompt/versión, acceso, logs, actualizaciones del proveedor y ruta de incidente.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Caso integrador D · Obstetricia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Equipo D audita: población local, variables faltantes, sesgo, FN crítico, umbral, señales clínicas que deben prevalecer, override, vigilancia por subgrupo y escalamiento.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Caso integrador E · Farmacia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48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IA recomienda dosis. Audite función renal, unidades, interacciones, fuentes de datos, actualización, explicación, doble chequeo, override, registro de decisión y farmacovigilancia relacionada.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Caso integrador F · RPM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Sensor domiciliario → app → nube → algoritmo → dashboard. Audite conectividad, ruido, missingness, identidad, ciberseguridad, latencia, alert fatigue, escalamiento y continuidad del servicio.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Actividad · 12 estaciones de auditoría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C9E"/>
                </a:solidFill>
                <a:latin typeface="Aptos"/>
              </a:rPr>
              <a:t>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Grupos rotan por estaciones: calidad, riesgo, humano, datos, transparencia, precisión, solidez, ciberseguridad, logs, documentación, vigilancia, incidentes. En cada estación: 1 pregunta + 1 evidencia + 1 brecha.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Actividad · Red team documental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C9E"/>
                </a:solidFill>
                <a:latin typeface="Aptos"/>
              </a:rPr>
              <a:t>51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Intercambie expedientes. Encuentre: 5 afirmaciones sin evidencia, 3 métricas sin contexto, 3 riesgos sin control, 2 controles sin propietario y 1 cambio sin revalidación.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Actividad · Comité de go-live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C9E"/>
                </a:solidFill>
                <a:latin typeface="Aptos"/>
              </a:rPr>
              <a:t>52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Roles: clínica, enfermería, datos/IA, TI, seguridad, privacidad, calidad. Cada rol formula una pregunta bloqueante y una condición de despliegue. No se puntúa «mejor»; se documentan evidencias y brechas.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Plantilla de decisión basada en 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53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Para cada dominio escriba: HECHO OBSERVADO → EVIDENCIA → LIMITACIÓN → RIESGO → CONTROL → RESPONSABLE → MÉTRICA → REVISIÓN. Esta es la columna vertebral del informe final.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Evaluación final · 10 preguntas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6AE"/>
                </a:solidFill>
                <a:latin typeface="Aptos"/>
              </a:rPr>
              <a:t>54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1 Riesgo vs error. 2 Representatividad. 3 FN/FP. 4 Calibración. 5 OOD. 6 Override. 7 Poisoning. 8 Log mínimo. 9 Drift. 10 Evidencia necesaria para una actualización.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0C2541"/>
                </a:solidFill>
                <a:latin typeface="Aptos"/>
              </a:rPr>
              <a:t>55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6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280160"/>
            <a:ext cx="10396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CASO / 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27632"/>
            <a:ext cx="1039672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Una IA puede ser excelente en el laboratorio y aun fallar como sistema clínico. La auditoría integra evidencia del MODELO + DATOS + PERSONAS + INFRAESTRUCTURA + GOBERNANZA durante todo el ciclo de vida.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95B"/>
                </a:solidFill>
                <a:latin typeface="Aptos"/>
              </a:rPr>
              <a:t>DECISIÓN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No evalúe solo el modelo: evalúe datos, interfaz, workflow y respuesta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46320"/>
            <a:ext cx="489204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937759"/>
            <a:ext cx="4636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88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5285231"/>
            <a:ext cx="4636007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¿Qué evidencia pediría antes de usarlo con pacientes?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Ejemplo docente construido a partir de los requisitos y controles de los PDFs adjuntos.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50" b="1">
                <a:solidFill>
                  <a:srgbClr val="0C2541"/>
                </a:solidFill>
                <a:latin typeface="Aptos"/>
              </a:rPr>
              <a:t>Mapa de fuentes utilizadas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468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0C2541"/>
                </a:solidFill>
                <a:latin typeface="Aptos"/>
              </a:rPr>
              <a:t>56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5394960" cy="45262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143000"/>
            <a:ext cx="5138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6AE"/>
                </a:solidFill>
                <a:latin typeface="Aptos"/>
              </a:rPr>
              <a:t>PDFs integrados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490472"/>
            <a:ext cx="5138928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Guía 5 Riesgos</a:t>
            </a:r>
            <a:br/>
            <a:r>
              <a:rPr sz="1200" b="0">
                <a:solidFill>
                  <a:srgbClr val="232F39"/>
                </a:solidFill>
                <a:latin typeface="Aptos"/>
              </a:rPr>
              <a:t>Guía 6 Supervisión humana</a:t>
            </a:r>
            <a:br/>
            <a:r>
              <a:rPr sz="1200" b="0">
                <a:solidFill>
                  <a:srgbClr val="232F39"/>
                </a:solidFill>
                <a:latin typeface="Aptos"/>
              </a:rPr>
              <a:t>Guía 7 Datos y gobernanza</a:t>
            </a:r>
            <a:br/>
            <a:r>
              <a:rPr sz="1200" b="0">
                <a:solidFill>
                  <a:srgbClr val="232F39"/>
                </a:solidFill>
                <a:latin typeface="Aptos"/>
              </a:rPr>
              <a:t>Guía 8 Transparencia</a:t>
            </a:r>
            <a:br/>
            <a:r>
              <a:rPr sz="1200" b="0">
                <a:solidFill>
                  <a:srgbClr val="232F39"/>
                </a:solidFill>
                <a:latin typeface="Aptos"/>
              </a:rPr>
              <a:t>Guía 9 Precisión</a:t>
            </a:r>
            <a:br/>
            <a:r>
              <a:rPr sz="1200" b="0">
                <a:solidFill>
                  <a:srgbClr val="232F39"/>
                </a:solidFill>
                <a:latin typeface="Aptos"/>
              </a:rPr>
              <a:t>Guía 10 Solidez</a:t>
            </a:r>
            <a:br/>
            <a:r>
              <a:rPr sz="1200" b="0">
                <a:solidFill>
                  <a:srgbClr val="232F39"/>
                </a:solidFill>
                <a:latin typeface="Aptos"/>
              </a:rPr>
              <a:t>Guía 11 Ciberseguridad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51560"/>
            <a:ext cx="5394960" cy="452628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216" y="1143000"/>
            <a:ext cx="5138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4C9E"/>
                </a:solidFill>
                <a:latin typeface="Aptos"/>
              </a:rPr>
              <a:t>PDFs integrados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0216" y="1490472"/>
            <a:ext cx="5138928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Guía 12 Registros</a:t>
            </a:r>
            <a:br/>
            <a:r>
              <a:rPr sz="1200" b="0">
                <a:solidFill>
                  <a:srgbClr val="232F39"/>
                </a:solidFill>
                <a:latin typeface="Aptos"/>
              </a:rPr>
              <a:t>Guía 13 Vigilancia poscomercialización</a:t>
            </a:r>
            <a:br/>
            <a:r>
              <a:rPr sz="1200" b="0">
                <a:solidFill>
                  <a:srgbClr val="232F39"/>
                </a:solidFill>
                <a:latin typeface="Aptos"/>
              </a:rPr>
              <a:t>Guía 14 Gestión de incidentes</a:t>
            </a:r>
            <a:br/>
            <a:r>
              <a:rPr sz="1200" b="0">
                <a:solidFill>
                  <a:srgbClr val="232F39"/>
                </a:solidFill>
                <a:latin typeface="Aptos"/>
              </a:rPr>
              <a:t>Guía 15 Documentación técnica</a:t>
            </a:r>
            <a:br/>
            <a:r>
              <a:rPr sz="1200" b="0">
                <a:solidFill>
                  <a:srgbClr val="232F39"/>
                </a:solidFill>
                <a:latin typeface="Aptos"/>
              </a:rPr>
              <a:t>Manual de checklist</a:t>
            </a:r>
            <a:br/>
            <a:br/>
            <a:r>
              <a:rPr sz="1200" b="0">
                <a:solidFill>
                  <a:srgbClr val="232F39"/>
                </a:solidFill>
                <a:latin typeface="Aptos"/>
              </a:rPr>
              <a:t>Las figuras/páginas reproducidas se identifican en el pie de cada diapositiva.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26C76"/>
                </a:solidFill>
                <a:latin typeface="Aptos"/>
              </a:rPr>
              <a:t>Los ejemplos clínicos son adaptaciones docentes; las figuras y requisitos se basan en los PDFs adjuntos.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