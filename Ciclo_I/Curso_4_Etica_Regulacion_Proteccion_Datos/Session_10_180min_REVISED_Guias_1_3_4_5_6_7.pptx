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305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914400"/>
            <a:ext cx="1097280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300"/>
              </a:spcAft>
              <a:defRPr sz="2800" b="1">
                <a:solidFill>
                  <a:srgbClr val="AADCEB"/>
                </a:solidFill>
              </a:defRPr>
            </a:pPr>
            <a:r>
              <a:t>SESIÓN 10</a:t>
            </a:r>
          </a:p>
          <a:p>
            <a:pPr>
              <a:spcAft>
                <a:spcPts val="1300"/>
              </a:spcAft>
              <a:defRPr sz="3100" b="1">
                <a:solidFill>
                  <a:srgbClr val="FFFFFF"/>
                </a:solidFill>
              </a:defRPr>
            </a:pPr>
            <a:r>
              <a:t>GESTIÓN DE RIESGOS, DATOS, SUPERVISIÓN Y VALIDACIÓN DE IA EN SALUD</a:t>
            </a:r>
          </a:p>
          <a:p>
            <a:pPr>
              <a:spcAft>
                <a:spcPts val="1300"/>
              </a:spcAft>
              <a:defRPr sz="2300" b="0">
                <a:solidFill>
                  <a:srgbClr val="FFFFFF"/>
                </a:solidFill>
              </a:defRPr>
            </a:pPr>
            <a:r>
              <a:t>Del modelo clínico al sistema clínico confiable</a:t>
            </a:r>
          </a:p>
          <a:p>
            <a:pPr>
              <a:spcAft>
                <a:spcPts val="1300"/>
              </a:spcAft>
              <a:defRPr sz="1700" b="0">
                <a:solidFill>
                  <a:srgbClr val="D7E6F0"/>
                </a:solidFill>
              </a:defRPr>
            </a:pPr>
            <a:r>
              <a:t>180 minutos · Reglamento IA · Guías 1, 3, 4, 5, 6 y 7 · casos clínicos · taller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556248"/>
            <a:ext cx="12191695" cy="301752"/>
          </a:xfrm>
          <a:prstGeom prst="rect">
            <a:avLst/>
          </a:prstGeom>
          <a:solidFill>
            <a:srgbClr val="0F3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6583680"/>
            <a:ext cx="1152144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FFFFFF"/>
                </a:solidFill>
              </a:defRPr>
            </a:pPr>
            <a:r>
              <a:t>Material docente construido sobre las Guías 1, 3, 4, 5, 6 y 7, versiones 17/07/2026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37160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118F91"/>
                </a:solidFill>
              </a:defRPr>
            </a:pPr>
            <a:r>
              <a:t>A. MAPA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365760"/>
            <a:ext cx="110642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0F3052"/>
                </a:solidFill>
              </a:defRPr>
            </a:pPr>
            <a:r>
              <a:t>La sesión completa: seis guías forman un solo sistema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207008"/>
            <a:ext cx="5486400" cy="5029200"/>
          </a:xfrm>
          <a:prstGeom prst="roundRect">
            <a:avLst/>
          </a:prstGeom>
          <a:solidFill>
            <a:srgbClr val="F4F7FA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1207008"/>
            <a:ext cx="73152" cy="5029200"/>
          </a:xfrm>
          <a:prstGeom prst="rect">
            <a:avLst/>
          </a:prstGeom>
          <a:solidFill>
            <a:srgbClr val="118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316736"/>
            <a:ext cx="51663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50" b="1">
                <a:solidFill>
                  <a:srgbClr val="0F3052"/>
                </a:solidFill>
              </a:defRPr>
            </a:pPr>
            <a:r>
              <a:t>ANTES DEL MODELO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73936"/>
            <a:ext cx="5166360" cy="437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20">
                <a:solidFill>
                  <a:srgbClr val="232D38"/>
                </a:solidFill>
              </a:defRPr>
            </a:pPr>
            <a:r>
              <a:t>• Guía 1: qué nivel de riesgo y qué operador.</a:t>
            </a:r>
            <a:br/>
            <a:r>
              <a:t>• Guía 7: qué datos, qué calidad y qué sesgos.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99632" y="1207008"/>
            <a:ext cx="5486400" cy="5029200"/>
          </a:xfrm>
          <a:prstGeom prst="roundRect">
            <a:avLst/>
          </a:prstGeom>
          <a:solidFill>
            <a:srgbClr val="F4F7FA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99632" y="1207008"/>
            <a:ext cx="73152" cy="5029200"/>
          </a:xfrm>
          <a:prstGeom prst="rect">
            <a:avLst/>
          </a:prstGeom>
          <a:solidFill>
            <a:srgbClr val="D76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82512" y="1316736"/>
            <a:ext cx="51663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50" b="1">
                <a:solidFill>
                  <a:srgbClr val="0F3052"/>
                </a:solidFill>
              </a:defRPr>
            </a:pPr>
            <a:r>
              <a:t>DURANTE Y DESPUÉS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82512" y="1773936"/>
            <a:ext cx="5166360" cy="437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20">
                <a:solidFill>
                  <a:srgbClr val="232D38"/>
                </a:solidFill>
              </a:defRPr>
            </a:pPr>
            <a:r>
              <a:t>• Guía 5: riesgo.</a:t>
            </a:r>
            <a:br/>
            <a:r>
              <a:t>• Guía 6: supervisión humana.</a:t>
            </a:r>
            <a:br/>
            <a:r>
              <a:t>• Guía 4: calidad.</a:t>
            </a:r>
            <a:br/>
            <a:r>
              <a:t>• Guía 3: conformidad.</a:t>
            </a:r>
            <a:br/>
            <a:r>
              <a:t>• Pruebas + vigilancia.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56248"/>
            <a:ext cx="12191695" cy="301752"/>
          </a:xfrm>
          <a:prstGeom prst="rect">
            <a:avLst/>
          </a:prstGeom>
          <a:solidFill>
            <a:srgbClr val="0F3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2608" y="6583680"/>
            <a:ext cx="1152144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FFFFFF"/>
                </a:solidFill>
              </a:defRPr>
            </a:pPr>
            <a:r>
              <a:t>Guías 1, 3, 4, 5, 6 y 7 · estructura integrada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37160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118F91"/>
                </a:solidFill>
              </a:defRPr>
            </a:pPr>
            <a:r>
              <a:t>A. MAPA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365760"/>
            <a:ext cx="110642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0F3052"/>
                </a:solidFill>
              </a:defRPr>
            </a:pPr>
            <a:r>
              <a:t>Guía 1 — el marco regulatorio conecta riesgo con obligaciones</a:t>
            </a:r>
          </a:p>
        </p:txBody>
      </p:sp>
      <p:pic>
        <p:nvPicPr>
          <p:cNvPr id="4" name="Picture 3" descr="G1_p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115568"/>
            <a:ext cx="5669280" cy="801309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309360" y="1143000"/>
            <a:ext cx="5394960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80">
                <a:solidFill>
                  <a:srgbClr val="232D38"/>
                </a:solidFill>
              </a:defRPr>
            </a:pPr>
            <a:r>
              <a:t>• La Guía 1 es introductoria: presenta alcance, niveles de riesgo, operadores, obligaciones y espacios controlados de pruebas.</a:t>
            </a:r>
          </a:p>
          <a:p>
            <a:pPr>
              <a:spcAft>
                <a:spcPts val="700"/>
              </a:spcAft>
              <a:defRPr sz="1380">
                <a:solidFill>
                  <a:srgbClr val="232D38"/>
                </a:solidFill>
              </a:defRPr>
            </a:pPr>
            <a:r>
              <a:t>• La guía explica que las guías especializadas se relacionan entre sí para formar una comprensión coherente del Reglamento.</a:t>
            </a:r>
          </a:p>
          <a:p>
            <a:pPr>
              <a:spcAft>
                <a:spcPts val="700"/>
              </a:spcAft>
              <a:defRPr sz="1380">
                <a:solidFill>
                  <a:srgbClr val="232D38"/>
                </a:solidFill>
              </a:defRPr>
            </a:pPr>
            <a:r>
              <a:t>• Para el clínico: primero identificar qué sistema se está utilizando y cuál es su finalidad prevista.</a:t>
            </a:r>
          </a:p>
          <a:p>
            <a:pPr>
              <a:spcAft>
                <a:spcPts val="700"/>
              </a:spcAft>
              <a:defRPr sz="1380">
                <a:solidFill>
                  <a:srgbClr val="232D38"/>
                </a:solidFill>
              </a:defRPr>
            </a:pPr>
            <a:r>
              <a:t>• No empezar la validación sin definir el contexto regulatorio y operativo.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56248"/>
            <a:ext cx="12191695" cy="301752"/>
          </a:xfrm>
          <a:prstGeom prst="rect">
            <a:avLst/>
          </a:prstGeom>
          <a:solidFill>
            <a:srgbClr val="0F3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2608" y="6583680"/>
            <a:ext cx="1152144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FFFFFF"/>
                </a:solidFill>
              </a:defRPr>
            </a:pPr>
            <a:r>
              <a:t>Guía 1, pp. 4–6, índice y objetivo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37160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118F91"/>
                </a:solidFill>
              </a:defRPr>
            </a:pPr>
            <a:r>
              <a:t>A. MAPA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365760"/>
            <a:ext cx="110642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0F3052"/>
                </a:solidFill>
              </a:defRPr>
            </a:pPr>
            <a:r>
              <a:t>Guía 1 — riesgo, seguridad y calidad están conectados</a:t>
            </a:r>
          </a:p>
        </p:txBody>
      </p:sp>
      <p:pic>
        <p:nvPicPr>
          <p:cNvPr id="4" name="Picture 3" descr="G1_p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115568"/>
            <a:ext cx="5669280" cy="801309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309360" y="1143000"/>
            <a:ext cx="5394960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80">
                <a:solidFill>
                  <a:srgbClr val="232D38"/>
                </a:solidFill>
              </a:defRPr>
            </a:pPr>
            <a:r>
              <a:t>• La guía introductoria destaca la necesidad de requisitos de seguridad y calidad según el nivel de riesgo.</a:t>
            </a:r>
          </a:p>
          <a:p>
            <a:pPr>
              <a:spcAft>
                <a:spcPts val="700"/>
              </a:spcAft>
              <a:defRPr sz="1380">
                <a:solidFill>
                  <a:srgbClr val="232D38"/>
                </a:solidFill>
              </a:defRPr>
            </a:pPr>
            <a:r>
              <a:t>• También identifica sesgos, delegación excesiva de decisiones críticas y la necesidad de mantener al ser humano en el centro.</a:t>
            </a:r>
          </a:p>
          <a:p>
            <a:pPr>
              <a:spcAft>
                <a:spcPts val="700"/>
              </a:spcAft>
              <a:defRPr sz="1380">
                <a:solidFill>
                  <a:srgbClr val="232D38"/>
                </a:solidFill>
              </a:defRPr>
            </a:pPr>
            <a:r>
              <a:t>• La misma página vincula ciberseguridad, solidez, precisión, calidad y gestión de riesgos.</a:t>
            </a:r>
          </a:p>
          <a:p>
            <a:pPr>
              <a:spcAft>
                <a:spcPts val="700"/>
              </a:spcAft>
              <a:defRPr sz="1380">
                <a:solidFill>
                  <a:srgbClr val="232D38"/>
                </a:solidFill>
              </a:defRPr>
            </a:pPr>
            <a:r>
              <a:t>• Esto prepara el mapa de la sesión.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56248"/>
            <a:ext cx="12191695" cy="301752"/>
          </a:xfrm>
          <a:prstGeom prst="rect">
            <a:avLst/>
          </a:prstGeom>
          <a:solidFill>
            <a:srgbClr val="0F3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2608" y="6583680"/>
            <a:ext cx="1152144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FFFFFF"/>
                </a:solidFill>
              </a:defRPr>
            </a:pPr>
            <a:r>
              <a:t>Guía 1, p. 7 · principios del marco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37160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118F91"/>
                </a:solidFill>
              </a:defRPr>
            </a:pPr>
            <a:r>
              <a:t>A. MAPA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365760"/>
            <a:ext cx="110642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0F3052"/>
                </a:solidFill>
              </a:defRPr>
            </a:pPr>
            <a:r>
              <a:t>Caso de entrada: IA que recomienda priorización clínica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207008"/>
            <a:ext cx="5486400" cy="5029200"/>
          </a:xfrm>
          <a:prstGeom prst="roundRect">
            <a:avLst/>
          </a:prstGeom>
          <a:solidFill>
            <a:srgbClr val="F4F7FA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1207008"/>
            <a:ext cx="73152" cy="5029200"/>
          </a:xfrm>
          <a:prstGeom prst="rect">
            <a:avLst/>
          </a:prstGeom>
          <a:solidFill>
            <a:srgbClr val="118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316736"/>
            <a:ext cx="51663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50" b="1">
                <a:solidFill>
                  <a:srgbClr val="0F3052"/>
                </a:solidFill>
              </a:defRPr>
            </a:pPr>
            <a:r>
              <a:t>EL SISTEMA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73936"/>
            <a:ext cx="5166360" cy="437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20">
                <a:solidFill>
                  <a:srgbClr val="232D38"/>
                </a:solidFill>
              </a:defRPr>
            </a:pPr>
            <a:r>
              <a:t>• Entrada: variables clínicas.</a:t>
            </a:r>
            <a:br/>
            <a:r>
              <a:t>• Salida: prioridad/riesgo.</a:t>
            </a:r>
            <a:br/>
            <a:r>
              <a:t>• Usuario: profesional sanitario.</a:t>
            </a:r>
            <a:br/>
            <a:r>
              <a:t>• Finalidad: apoyo, no sustitución automática.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99632" y="1207008"/>
            <a:ext cx="5486400" cy="5029200"/>
          </a:xfrm>
          <a:prstGeom prst="roundRect">
            <a:avLst/>
          </a:prstGeom>
          <a:solidFill>
            <a:srgbClr val="F4F7FA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99632" y="1207008"/>
            <a:ext cx="73152" cy="5029200"/>
          </a:xfrm>
          <a:prstGeom prst="rect">
            <a:avLst/>
          </a:prstGeom>
          <a:solidFill>
            <a:srgbClr val="D76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82512" y="1316736"/>
            <a:ext cx="51663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50" b="1">
                <a:solidFill>
                  <a:srgbClr val="0F3052"/>
                </a:solidFill>
              </a:defRPr>
            </a:pPr>
            <a:r>
              <a:t>LAS PREGUNTAS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82512" y="1773936"/>
            <a:ext cx="5166360" cy="437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20">
                <a:solidFill>
                  <a:srgbClr val="232D38"/>
                </a:solidFill>
              </a:defRPr>
            </a:pPr>
            <a:r>
              <a:t>• ¿Qué riesgo?</a:t>
            </a:r>
            <a:br/>
            <a:r>
              <a:t>• ¿Qué datos?</a:t>
            </a:r>
            <a:br/>
            <a:r>
              <a:t>• ¿Quién supervisa?</a:t>
            </a:r>
            <a:br/>
            <a:r>
              <a:t>• ¿Cómo se prueba?</a:t>
            </a:r>
            <a:br/>
            <a:r>
              <a:t>• ¿Qué documentación?</a:t>
            </a:r>
            <a:br/>
            <a:r>
              <a:t>• ¿Qué pasa tras un incidente?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56248"/>
            <a:ext cx="12191695" cy="301752"/>
          </a:xfrm>
          <a:prstGeom prst="rect">
            <a:avLst/>
          </a:prstGeom>
          <a:solidFill>
            <a:srgbClr val="0F3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2608" y="6583680"/>
            <a:ext cx="1152144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FFFFFF"/>
                </a:solidFill>
              </a:defRPr>
            </a:pPr>
            <a:r>
              <a:t>Integración de Guías 1, 4, 5, 6 y 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37160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118F91"/>
                </a:solidFill>
              </a:defRPr>
            </a:pPr>
            <a:r>
              <a:t>B. DATOS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365760"/>
            <a:ext cx="110642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0F3052"/>
                </a:solidFill>
              </a:defRPr>
            </a:pPr>
            <a:r>
              <a:t>Guía 7 — la gestión de datos es parte del sistema de IA</a:t>
            </a:r>
          </a:p>
        </p:txBody>
      </p:sp>
      <p:pic>
        <p:nvPicPr>
          <p:cNvPr id="4" name="Picture 3" descr="G7_p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115568"/>
            <a:ext cx="5669280" cy="801309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309360" y="1143000"/>
            <a:ext cx="5394960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80">
                <a:solidFill>
                  <a:srgbClr val="232D38"/>
                </a:solidFill>
              </a:defRPr>
            </a:pPr>
            <a:r>
              <a:t>• La Guía 7 desarrolla el artículo 10 sobre datos y gobernanza de datos.</a:t>
            </a:r>
          </a:p>
          <a:p>
            <a:pPr>
              <a:spcAft>
                <a:spcPts val="700"/>
              </a:spcAft>
              <a:defRPr sz="1380">
                <a:solidFill>
                  <a:srgbClr val="232D38"/>
                </a:solidFill>
              </a:defRPr>
            </a:pPr>
            <a:r>
              <a:t>• Su índice incluye recopilación, preparación, calidad, transformación, muestreo, características, enriquecimiento, etiquetado y sesgo.</a:t>
            </a:r>
          </a:p>
          <a:p>
            <a:pPr>
              <a:spcAft>
                <a:spcPts val="700"/>
              </a:spcAft>
              <a:defRPr sz="1380">
                <a:solidFill>
                  <a:srgbClr val="232D38"/>
                </a:solidFill>
              </a:defRPr>
            </a:pPr>
            <a:r>
              <a:t>• También incluye disposición/eliminación de datos y categorías especiales de datos personales.</a:t>
            </a:r>
          </a:p>
          <a:p>
            <a:pPr>
              <a:spcAft>
                <a:spcPts val="700"/>
              </a:spcAft>
              <a:defRPr sz="1380">
                <a:solidFill>
                  <a:srgbClr val="232D38"/>
                </a:solidFill>
              </a:defRPr>
            </a:pPr>
            <a:r>
              <a:t>• Para IA clínica: la evaluación del riesgo comienza antes de entrenar el modelo.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56248"/>
            <a:ext cx="12191695" cy="301752"/>
          </a:xfrm>
          <a:prstGeom prst="rect">
            <a:avLst/>
          </a:prstGeom>
          <a:solidFill>
            <a:srgbClr val="0F3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2608" y="6583680"/>
            <a:ext cx="1152144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FFFFFF"/>
                </a:solidFill>
              </a:defRPr>
            </a:pPr>
            <a:r>
              <a:t>Guía 7, pp. 4–6 · Art. 10 y estructura de la guía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37160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118F91"/>
                </a:solidFill>
              </a:defRPr>
            </a:pPr>
            <a:r>
              <a:t>B. DATOS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365760"/>
            <a:ext cx="110642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0F3052"/>
                </a:solidFill>
              </a:defRPr>
            </a:pPr>
            <a:r>
              <a:t>Guía 7 — medir y mejorar la calidad del dato</a:t>
            </a:r>
          </a:p>
        </p:txBody>
      </p:sp>
      <p:pic>
        <p:nvPicPr>
          <p:cNvPr id="4" name="Picture 3" descr="G7_p3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115568"/>
            <a:ext cx="5669280" cy="801309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309360" y="1143000"/>
            <a:ext cx="5394960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80">
                <a:solidFill>
                  <a:srgbClr val="232D38"/>
                </a:solidFill>
              </a:defRPr>
            </a:pPr>
            <a:r>
              <a:t>• La preparación incluye una sección específica de medición y mejora de la calidad de los datos.</a:t>
            </a:r>
          </a:p>
          <a:p>
            <a:pPr>
              <a:spcAft>
                <a:spcPts val="700"/>
              </a:spcAft>
              <a:defRPr sz="1380">
                <a:solidFill>
                  <a:srgbClr val="232D38"/>
                </a:solidFill>
              </a:defRPr>
            </a:pPr>
            <a:r>
              <a:t>• La guía separa dimensiones de calidad y controles de calidad en sus anexos.</a:t>
            </a:r>
          </a:p>
          <a:p>
            <a:pPr>
              <a:spcAft>
                <a:spcPts val="700"/>
              </a:spcAft>
              <a:defRPr sz="1380">
                <a:solidFill>
                  <a:srgbClr val="232D38"/>
                </a:solidFill>
              </a:defRPr>
            </a:pPr>
            <a:r>
              <a:t>• Esto permite convertir 'datos malos' en criterios verificables.</a:t>
            </a:r>
          </a:p>
          <a:p>
            <a:pPr>
              <a:spcAft>
                <a:spcPts val="700"/>
              </a:spcAft>
              <a:defRPr sz="1380">
                <a:solidFill>
                  <a:srgbClr val="232D38"/>
                </a:solidFill>
              </a:defRPr>
            </a:pPr>
            <a:r>
              <a:t>• Actividad: seleccionar 5 dimensiones de calidad relevantes para un dataset clínico.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56248"/>
            <a:ext cx="12191695" cy="301752"/>
          </a:xfrm>
          <a:prstGeom prst="rect">
            <a:avLst/>
          </a:prstGeom>
          <a:solidFill>
            <a:srgbClr val="0F3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2608" y="6583680"/>
            <a:ext cx="1152144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FFFFFF"/>
                </a:solidFill>
              </a:defRPr>
            </a:pPr>
            <a:r>
              <a:t>Guía 7, índice detallado + Anexo B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37160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118F91"/>
                </a:solidFill>
              </a:defRPr>
            </a:pPr>
            <a:r>
              <a:t>B. DATOS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365760"/>
            <a:ext cx="110642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0F3052"/>
                </a:solidFill>
              </a:defRPr>
            </a:pPr>
            <a:r>
              <a:t>Guía 7 — el sesgo debe evaluarse y tratarse, no solo mencionarse</a:t>
            </a:r>
          </a:p>
        </p:txBody>
      </p:sp>
      <p:pic>
        <p:nvPicPr>
          <p:cNvPr id="4" name="Picture 3" descr="G7_p4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115568"/>
            <a:ext cx="5669280" cy="801309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309360" y="1143000"/>
            <a:ext cx="5394960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80">
                <a:solidFill>
                  <a:srgbClr val="232D38"/>
                </a:solidFill>
              </a:defRPr>
            </a:pPr>
            <a:r>
              <a:t>• La guía incluye explícitamente el análisis de sesgos dentro de la preparación de datos.</a:t>
            </a:r>
          </a:p>
          <a:p>
            <a:pPr>
              <a:spcAft>
                <a:spcPts val="700"/>
              </a:spcAft>
              <a:defRPr sz="1380">
                <a:solidFill>
                  <a:srgbClr val="232D38"/>
                </a:solidFill>
              </a:defRPr>
            </a:pPr>
            <a:r>
              <a:t>• El Anexo C organiza fuentes de sesgo, técnicas de evaluación y medidas de tratamiento.</a:t>
            </a:r>
          </a:p>
          <a:p>
            <a:pPr>
              <a:spcAft>
                <a:spcPts val="700"/>
              </a:spcAft>
              <a:defRPr sz="1380">
                <a:solidFill>
                  <a:srgbClr val="232D38"/>
                </a:solidFill>
              </a:defRPr>
            </a:pPr>
            <a:r>
              <a:t>• Esto encaja con la Sesión 11, pero aquí se usa para demostrar que el sesgo también es un componente de gestión de riesgo.</a:t>
            </a:r>
          </a:p>
          <a:p>
            <a:pPr>
              <a:spcAft>
                <a:spcPts val="700"/>
              </a:spcAft>
              <a:defRPr sz="1380">
                <a:solidFill>
                  <a:srgbClr val="232D38"/>
                </a:solidFill>
              </a:defRPr>
            </a:pPr>
            <a:r>
              <a:t>• Producto: una hipótesis de sesgo + prueba + medida de tratamiento.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56248"/>
            <a:ext cx="12191695" cy="301752"/>
          </a:xfrm>
          <a:prstGeom prst="rect">
            <a:avLst/>
          </a:prstGeom>
          <a:solidFill>
            <a:srgbClr val="0F3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2608" y="6583680"/>
            <a:ext cx="1152144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FFFFFF"/>
                </a:solidFill>
              </a:defRPr>
            </a:pPr>
            <a:r>
              <a:t>Guía 7, pp. 30 y 58–64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37160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118F91"/>
                </a:solidFill>
              </a:defRPr>
            </a:pPr>
            <a:r>
              <a:t>B. DATOS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365760"/>
            <a:ext cx="110642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0F3052"/>
                </a:solidFill>
              </a:defRPr>
            </a:pPr>
            <a:r>
              <a:t>Datos clínicos: convertir una preocupación en una prueba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207008"/>
            <a:ext cx="5486400" cy="5029200"/>
          </a:xfrm>
          <a:prstGeom prst="roundRect">
            <a:avLst/>
          </a:prstGeom>
          <a:solidFill>
            <a:srgbClr val="F4F7FA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1207008"/>
            <a:ext cx="73152" cy="5029200"/>
          </a:xfrm>
          <a:prstGeom prst="rect">
            <a:avLst/>
          </a:prstGeom>
          <a:solidFill>
            <a:srgbClr val="118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316736"/>
            <a:ext cx="51663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50" b="1">
                <a:solidFill>
                  <a:srgbClr val="0F3052"/>
                </a:solidFill>
              </a:defRPr>
            </a:pPr>
            <a:r>
              <a:t>PROBLEMA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73936"/>
            <a:ext cx="5166360" cy="437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20">
                <a:solidFill>
                  <a:srgbClr val="232D38"/>
                </a:solidFill>
              </a:defRPr>
            </a:pPr>
            <a:r>
              <a:t>• Datos hospitalarios de una sola sede.</a:t>
            </a:r>
            <a:br/>
            <a:r>
              <a:t>• Pocos casos de una población.</a:t>
            </a:r>
            <a:br/>
            <a:r>
              <a:t>• Etiquetas inconsistentes.</a:t>
            </a:r>
            <a:br/>
            <a:r>
              <a:t>• Variables faltantes.</a:t>
            </a:r>
            <a:br/>
            <a:r>
              <a:t>• Cambio de protocolo.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99632" y="1207008"/>
            <a:ext cx="5486400" cy="5029200"/>
          </a:xfrm>
          <a:prstGeom prst="roundRect">
            <a:avLst/>
          </a:prstGeom>
          <a:solidFill>
            <a:srgbClr val="F4F7FA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99632" y="1207008"/>
            <a:ext cx="73152" cy="5029200"/>
          </a:xfrm>
          <a:prstGeom prst="rect">
            <a:avLst/>
          </a:prstGeom>
          <a:solidFill>
            <a:srgbClr val="D76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82512" y="1316736"/>
            <a:ext cx="51663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50" b="1">
                <a:solidFill>
                  <a:srgbClr val="0F3052"/>
                </a:solidFill>
              </a:defRPr>
            </a:pPr>
            <a:r>
              <a:t>PRUEBA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82512" y="1773936"/>
            <a:ext cx="5166360" cy="437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20">
                <a:solidFill>
                  <a:srgbClr val="232D38"/>
                </a:solidFill>
              </a:defRPr>
            </a:pPr>
            <a:r>
              <a:t>• Describir población.</a:t>
            </a:r>
            <a:br/>
            <a:r>
              <a:t>• Medir missingness.</a:t>
            </a:r>
            <a:br/>
            <a:r>
              <a:t>• Auditar etiquetas.</a:t>
            </a:r>
            <a:br/>
            <a:r>
              <a:t>• Comparar subgrupos.</a:t>
            </a:r>
            <a:br/>
            <a:r>
              <a:t>• Evaluar cambio temporal.</a:t>
            </a:r>
            <a:br/>
            <a:r>
              <a:t>• Documentar criterios.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56248"/>
            <a:ext cx="12191695" cy="301752"/>
          </a:xfrm>
          <a:prstGeom prst="rect">
            <a:avLst/>
          </a:prstGeom>
          <a:solidFill>
            <a:srgbClr val="0F3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2608" y="6583680"/>
            <a:ext cx="1152144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FFFFFF"/>
                </a:solidFill>
              </a:defRPr>
            </a:pPr>
            <a:r>
              <a:t>Guía 7, calidad y sesgo · aplicación clínica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37160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118F91"/>
                </a:solidFill>
              </a:defRPr>
            </a:pPr>
            <a:r>
              <a:t>C. RIESGO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365760"/>
            <a:ext cx="110642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0F3052"/>
                </a:solidFill>
              </a:defRPr>
            </a:pPr>
            <a:r>
              <a:t>Guía 5 — el sistema de gestión de riesgos es el núcleo operativo</a:t>
            </a:r>
          </a:p>
        </p:txBody>
      </p:sp>
      <p:pic>
        <p:nvPicPr>
          <p:cNvPr id="4" name="Picture 3" descr="G5_p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115568"/>
            <a:ext cx="5669280" cy="801309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309360" y="1143000"/>
            <a:ext cx="5394960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80">
                <a:solidFill>
                  <a:srgbClr val="232D38"/>
                </a:solidFill>
              </a:defRPr>
            </a:pPr>
            <a:r>
              <a:t>• La Guía 5 desarrolla el artículo 9 sobre sistema de gestión de riesgos.</a:t>
            </a:r>
          </a:p>
          <a:p>
            <a:pPr>
              <a:spcAft>
                <a:spcPts val="700"/>
              </a:spcAft>
              <a:defRPr sz="1380">
                <a:solidFill>
                  <a:srgbClr val="232D38"/>
                </a:solidFill>
              </a:defRPr>
            </a:pPr>
            <a:r>
              <a:t>• Su estructura incluye apetito al riesgo, contexto, identificación, análisis/evaluación, respuesta, documentación, comunicación, seguimiento y mejora continua.</a:t>
            </a:r>
          </a:p>
          <a:p>
            <a:pPr>
              <a:spcAft>
                <a:spcPts val="700"/>
              </a:spcAft>
              <a:defRPr sz="1380">
                <a:solidFill>
                  <a:srgbClr val="232D38"/>
                </a:solidFill>
              </a:defRPr>
            </a:pPr>
            <a:r>
              <a:t>• También incluye procedimientos de prueba y vigilancia poscomercialización.</a:t>
            </a:r>
          </a:p>
          <a:p>
            <a:pPr>
              <a:spcAft>
                <a:spcPts val="700"/>
              </a:spcAft>
              <a:defRPr sz="1380">
                <a:solidFill>
                  <a:srgbClr val="232D38"/>
                </a:solidFill>
              </a:defRPr>
            </a:pPr>
            <a:r>
              <a:t>• Por eso será la columna vertebral de esta sesión.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56248"/>
            <a:ext cx="12191695" cy="301752"/>
          </a:xfrm>
          <a:prstGeom prst="rect">
            <a:avLst/>
          </a:prstGeom>
          <a:solidFill>
            <a:srgbClr val="0F3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2608" y="6583680"/>
            <a:ext cx="1152144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FFFFFF"/>
                </a:solidFill>
              </a:defRPr>
            </a:pPr>
            <a:r>
              <a:t>Guía 5, pp. 4–6 · estructura del sistema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37160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118F91"/>
                </a:solidFill>
              </a:defRPr>
            </a:pPr>
            <a:r>
              <a:t>C. RIESGO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365760"/>
            <a:ext cx="110642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0F3052"/>
                </a:solidFill>
              </a:defRPr>
            </a:pPr>
            <a:r>
              <a:t>Guía 5 — proporcionalidad y contexto</a:t>
            </a:r>
          </a:p>
        </p:txBody>
      </p:sp>
      <p:pic>
        <p:nvPicPr>
          <p:cNvPr id="4" name="Picture 3" descr="G5_p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115568"/>
            <a:ext cx="5669280" cy="801309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309360" y="1143000"/>
            <a:ext cx="5394960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80">
                <a:solidFill>
                  <a:srgbClr val="232D38"/>
                </a:solidFill>
              </a:defRPr>
            </a:pPr>
            <a:r>
              <a:t>• El sistema de gestión de riesgos comienza por determinar el apetito al riesgo y describir el contexto del sistema.</a:t>
            </a:r>
          </a:p>
          <a:p>
            <a:pPr>
              <a:spcAft>
                <a:spcPts val="700"/>
              </a:spcAft>
              <a:defRPr sz="1380">
                <a:solidFill>
                  <a:srgbClr val="232D38"/>
                </a:solidFill>
              </a:defRPr>
            </a:pPr>
            <a:r>
              <a:t>• La guía trata la gestión del riesgo como un proceso estructurado y proporcional.</a:t>
            </a:r>
          </a:p>
          <a:p>
            <a:pPr>
              <a:spcAft>
                <a:spcPts val="700"/>
              </a:spcAft>
              <a:defRPr sz="1380">
                <a:solidFill>
                  <a:srgbClr val="232D38"/>
                </a:solidFill>
              </a:defRPr>
            </a:pPr>
            <a:r>
              <a:t>• En salud, la finalidad prevista, población y posible daño deben quedar explícitos.</a:t>
            </a:r>
          </a:p>
          <a:p>
            <a:pPr>
              <a:spcAft>
                <a:spcPts val="700"/>
              </a:spcAft>
              <a:defRPr sz="1380">
                <a:solidFill>
                  <a:srgbClr val="232D38"/>
                </a:solidFill>
              </a:defRPr>
            </a:pPr>
            <a:r>
              <a:t>• No existe una matriz de riesgo útil sin contexto.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56248"/>
            <a:ext cx="12191695" cy="301752"/>
          </a:xfrm>
          <a:prstGeom prst="rect">
            <a:avLst/>
          </a:prstGeom>
          <a:solidFill>
            <a:srgbClr val="0F3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2608" y="6583680"/>
            <a:ext cx="1152144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FFFFFF"/>
                </a:solidFill>
              </a:defRPr>
            </a:pPr>
            <a:r>
              <a:t>Guía 5, capítulo 4: apetito y contexto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37160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118F91"/>
                </a:solidFill>
              </a:defRPr>
            </a:pPr>
            <a:r>
              <a:t>C. RIESGO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365760"/>
            <a:ext cx="110642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0F3052"/>
                </a:solidFill>
              </a:defRPr>
            </a:pPr>
            <a:r>
              <a:t>Registro de riesgos — plantilla de clase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207008"/>
            <a:ext cx="5486400" cy="5029200"/>
          </a:xfrm>
          <a:prstGeom prst="roundRect">
            <a:avLst/>
          </a:prstGeom>
          <a:solidFill>
            <a:srgbClr val="F4F7FA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1207008"/>
            <a:ext cx="73152" cy="5029200"/>
          </a:xfrm>
          <a:prstGeom prst="rect">
            <a:avLst/>
          </a:prstGeom>
          <a:solidFill>
            <a:srgbClr val="118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316736"/>
            <a:ext cx="51663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50" b="1">
                <a:solidFill>
                  <a:srgbClr val="0F3052"/>
                </a:solidFill>
              </a:defRPr>
            </a:pPr>
            <a:r>
              <a:t>IDENTIFICACIÓN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73936"/>
            <a:ext cx="5166360" cy="437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20">
                <a:solidFill>
                  <a:srgbClr val="232D38"/>
                </a:solidFill>
              </a:defRPr>
            </a:pPr>
            <a:r>
              <a:t>• Peligro.</a:t>
            </a:r>
            <a:br/>
            <a:r>
              <a:t>• Causa.</a:t>
            </a:r>
            <a:br/>
            <a:r>
              <a:t>• Evento peligroso.</a:t>
            </a:r>
            <a:br/>
            <a:r>
              <a:t>• Población afectada.</a:t>
            </a:r>
            <a:br/>
            <a:r>
              <a:t>• Finalidad prevista.</a:t>
            </a:r>
            <a:br/>
            <a:r>
              <a:t>• Uso indebido razonablemente previsible.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99632" y="1207008"/>
            <a:ext cx="5486400" cy="5029200"/>
          </a:xfrm>
          <a:prstGeom prst="roundRect">
            <a:avLst/>
          </a:prstGeom>
          <a:solidFill>
            <a:srgbClr val="F4F7FA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99632" y="1207008"/>
            <a:ext cx="73152" cy="5029200"/>
          </a:xfrm>
          <a:prstGeom prst="rect">
            <a:avLst/>
          </a:prstGeom>
          <a:solidFill>
            <a:srgbClr val="D76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82512" y="1316736"/>
            <a:ext cx="51663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50" b="1">
                <a:solidFill>
                  <a:srgbClr val="0F3052"/>
                </a:solidFill>
              </a:defRPr>
            </a:pPr>
            <a:r>
              <a:t>EVALUACIÓN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82512" y="1773936"/>
            <a:ext cx="5166360" cy="437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20">
                <a:solidFill>
                  <a:srgbClr val="232D38"/>
                </a:solidFill>
              </a:defRPr>
            </a:pPr>
            <a:r>
              <a:t>• Probabilidad.</a:t>
            </a:r>
            <a:br/>
            <a:r>
              <a:t>• Impacto.</a:t>
            </a:r>
            <a:br/>
            <a:r>
              <a:t>• Nivel inicial.</a:t>
            </a:r>
            <a:br/>
            <a:r>
              <a:t>• Control.</a:t>
            </a:r>
            <a:br/>
            <a:r>
              <a:t>• Evidencia del control.</a:t>
            </a:r>
            <a:br/>
            <a:r>
              <a:t>• Riesgo residual.</a:t>
            </a:r>
            <a:br/>
            <a:r>
              <a:t>• Responsable.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56248"/>
            <a:ext cx="12191695" cy="301752"/>
          </a:xfrm>
          <a:prstGeom prst="rect">
            <a:avLst/>
          </a:prstGeom>
          <a:solidFill>
            <a:srgbClr val="0F3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2608" y="6583680"/>
            <a:ext cx="1152144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FFFFFF"/>
                </a:solidFill>
              </a:defRPr>
            </a:pPr>
            <a:r>
              <a:t>Guía 5, capítulos 4.1–4.6 · plantilla docente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37160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118F91"/>
                </a:solidFill>
              </a:defRPr>
            </a:pPr>
            <a:r>
              <a:t>C. RIESGO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365760"/>
            <a:ext cx="110642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0F3052"/>
                </a:solidFill>
              </a:defRPr>
            </a:pPr>
            <a:r>
              <a:t>Guía 5 — identificación, análisis y evaluación</a:t>
            </a:r>
          </a:p>
        </p:txBody>
      </p:sp>
      <p:pic>
        <p:nvPicPr>
          <p:cNvPr id="4" name="Picture 3" descr="G5_p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115568"/>
            <a:ext cx="5669280" cy="801309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309360" y="1143000"/>
            <a:ext cx="5394960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80">
                <a:solidFill>
                  <a:srgbClr val="232D38"/>
                </a:solidFill>
              </a:defRPr>
            </a:pPr>
            <a:r>
              <a:t>• La guía separa identificación de riesgos de análisis y evaluación.</a:t>
            </a:r>
          </a:p>
          <a:p>
            <a:pPr>
              <a:spcAft>
                <a:spcPts val="700"/>
              </a:spcAft>
              <a:defRPr sz="1380">
                <a:solidFill>
                  <a:srgbClr val="232D38"/>
                </a:solidFill>
              </a:defRPr>
            </a:pPr>
            <a:r>
              <a:t>• Esto es pedagógicamente importante: primero describir el riesgo; después valorar su relevancia.</a:t>
            </a:r>
          </a:p>
          <a:p>
            <a:pPr>
              <a:spcAft>
                <a:spcPts val="700"/>
              </a:spcAft>
              <a:defRPr sz="1380">
                <a:solidFill>
                  <a:srgbClr val="232D38"/>
                </a:solidFill>
              </a:defRPr>
            </a:pPr>
            <a:r>
              <a:t>• Los estudiantes deben evitar saltar directamente a 'alto/medio/bajo'.</a:t>
            </a:r>
          </a:p>
          <a:p>
            <a:pPr>
              <a:spcAft>
                <a:spcPts val="700"/>
              </a:spcAft>
              <a:defRPr sz="1380">
                <a:solidFill>
                  <a:srgbClr val="232D38"/>
                </a:solidFill>
              </a:defRPr>
            </a:pPr>
            <a:r>
              <a:t>• Cada nivel debe poder justificarse con evidencia.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56248"/>
            <a:ext cx="12191695" cy="301752"/>
          </a:xfrm>
          <a:prstGeom prst="rect">
            <a:avLst/>
          </a:prstGeom>
          <a:solidFill>
            <a:srgbClr val="0F3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2608" y="6583680"/>
            <a:ext cx="1152144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FFFFFF"/>
                </a:solidFill>
              </a:defRPr>
            </a:pPr>
            <a:r>
              <a:t>Guía 5, índice detallado, pp. 19–23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37160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118F91"/>
                </a:solidFill>
              </a:defRPr>
            </a:pPr>
            <a:r>
              <a:t>C. RIESGO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365760"/>
            <a:ext cx="110642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0F3052"/>
                </a:solidFill>
              </a:defRPr>
            </a:pPr>
            <a:r>
              <a:t>Riesgo inicial → control → riesgo residual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207008"/>
            <a:ext cx="5486400" cy="5029200"/>
          </a:xfrm>
          <a:prstGeom prst="roundRect">
            <a:avLst/>
          </a:prstGeom>
          <a:solidFill>
            <a:srgbClr val="F4F7FA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1207008"/>
            <a:ext cx="73152" cy="5029200"/>
          </a:xfrm>
          <a:prstGeom prst="rect">
            <a:avLst/>
          </a:prstGeom>
          <a:solidFill>
            <a:srgbClr val="118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316736"/>
            <a:ext cx="51663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50" b="1">
                <a:solidFill>
                  <a:srgbClr val="0F3052"/>
                </a:solidFill>
              </a:defRPr>
            </a:pPr>
            <a:r>
              <a:t>ANTES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73936"/>
            <a:ext cx="5166360" cy="437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20">
                <a:solidFill>
                  <a:srgbClr val="232D38"/>
                </a:solidFill>
              </a:defRPr>
            </a:pPr>
            <a:r>
              <a:t>• Probabilidad × impacto.</a:t>
            </a:r>
            <a:br/>
            <a:r>
              <a:t>• Sin control suficiente.</a:t>
            </a:r>
            <a:br/>
            <a:r>
              <a:t>• Riesgo inicial documentado.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99632" y="1207008"/>
            <a:ext cx="5486400" cy="5029200"/>
          </a:xfrm>
          <a:prstGeom prst="roundRect">
            <a:avLst/>
          </a:prstGeom>
          <a:solidFill>
            <a:srgbClr val="F4F7FA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99632" y="1207008"/>
            <a:ext cx="73152" cy="5029200"/>
          </a:xfrm>
          <a:prstGeom prst="rect">
            <a:avLst/>
          </a:prstGeom>
          <a:solidFill>
            <a:srgbClr val="D76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82512" y="1316736"/>
            <a:ext cx="51663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50" b="1">
                <a:solidFill>
                  <a:srgbClr val="0F3052"/>
                </a:solidFill>
              </a:defRPr>
            </a:pPr>
            <a:r>
              <a:t>DESPUÉS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82512" y="1773936"/>
            <a:ext cx="5166360" cy="437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20">
                <a:solidFill>
                  <a:srgbClr val="232D38"/>
                </a:solidFill>
              </a:defRPr>
            </a:pPr>
            <a:r>
              <a:t>• Mitigación implementada.</a:t>
            </a:r>
            <a:br/>
            <a:r>
              <a:t>• Medir efectividad.</a:t>
            </a:r>
            <a:br/>
            <a:r>
              <a:t>• Recalcular/revaluar.</a:t>
            </a:r>
            <a:br/>
            <a:r>
              <a:t>• Decidir sobre riesgo residual.</a:t>
            </a:r>
            <a:br/>
            <a:r>
              <a:t>• Registrar versión.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56248"/>
            <a:ext cx="12191695" cy="301752"/>
          </a:xfrm>
          <a:prstGeom prst="rect">
            <a:avLst/>
          </a:prstGeom>
          <a:solidFill>
            <a:srgbClr val="0F3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2608" y="6583680"/>
            <a:ext cx="1152144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FFFFFF"/>
                </a:solidFill>
              </a:defRPr>
            </a:pPr>
            <a:r>
              <a:t>Guía 5, respuesta al riesgo + Anexo 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37160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118F91"/>
                </a:solidFill>
              </a:defRPr>
            </a:pPr>
            <a:r>
              <a:t>C. RIESGO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365760"/>
            <a:ext cx="110642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0F3052"/>
                </a:solidFill>
              </a:defRPr>
            </a:pPr>
            <a:r>
              <a:t>Guía 5 — la respuesta al riesgo debe convertirse en controles</a:t>
            </a:r>
          </a:p>
        </p:txBody>
      </p:sp>
      <p:pic>
        <p:nvPicPr>
          <p:cNvPr id="4" name="Picture 3" descr="G5_p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115568"/>
            <a:ext cx="5669280" cy="801309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309360" y="1143000"/>
            <a:ext cx="5394960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80">
                <a:solidFill>
                  <a:srgbClr val="232D38"/>
                </a:solidFill>
              </a:defRPr>
            </a:pPr>
            <a:r>
              <a:t>• La guía dedica una sección específica a la respuesta al riesgo.</a:t>
            </a:r>
          </a:p>
          <a:p>
            <a:pPr>
              <a:spcAft>
                <a:spcPts val="700"/>
              </a:spcAft>
              <a:defRPr sz="1380">
                <a:solidFill>
                  <a:srgbClr val="232D38"/>
                </a:solidFill>
              </a:defRPr>
            </a:pPr>
            <a:r>
              <a:t>• Los controles deben vincularse con los riesgos identificados.</a:t>
            </a:r>
          </a:p>
          <a:p>
            <a:pPr>
              <a:spcAft>
                <a:spcPts val="700"/>
              </a:spcAft>
              <a:defRPr sz="1380">
                <a:solidFill>
                  <a:srgbClr val="232D38"/>
                </a:solidFill>
              </a:defRPr>
            </a:pPr>
            <a:r>
              <a:t>• Un control sin indicador de efectividad deja una pregunta abierta: ¿realmente redujo el riesgo?</a:t>
            </a:r>
          </a:p>
          <a:p>
            <a:pPr>
              <a:spcAft>
                <a:spcPts val="700"/>
              </a:spcAft>
              <a:defRPr sz="1380">
                <a:solidFill>
                  <a:srgbClr val="232D38"/>
                </a:solidFill>
              </a:defRPr>
            </a:pPr>
            <a:r>
              <a:t>• Por eso el taller pedirá control + métrica + evidencia.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56248"/>
            <a:ext cx="12191695" cy="301752"/>
          </a:xfrm>
          <a:prstGeom prst="rect">
            <a:avLst/>
          </a:prstGeom>
          <a:solidFill>
            <a:srgbClr val="0F3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2608" y="6583680"/>
            <a:ext cx="1152144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FFFFFF"/>
                </a:solidFill>
              </a:defRPr>
            </a:pPr>
            <a:r>
              <a:t>Guía 5, capítulo 4.5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37160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118F91"/>
                </a:solidFill>
              </a:defRPr>
            </a:pPr>
            <a:r>
              <a:t>D. VALIDACIÓN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365760"/>
            <a:ext cx="110642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0F3052"/>
                </a:solidFill>
              </a:defRPr>
            </a:pPr>
            <a:r>
              <a:t>Guía 5 — pruebas en condiciones reales</a:t>
            </a:r>
          </a:p>
        </p:txBody>
      </p:sp>
      <p:pic>
        <p:nvPicPr>
          <p:cNvPr id="4" name="Picture 3" descr="G5_p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115568"/>
            <a:ext cx="5669280" cy="801309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309360" y="1143000"/>
            <a:ext cx="5394960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80">
                <a:solidFill>
                  <a:srgbClr val="232D38"/>
                </a:solidFill>
              </a:defRPr>
            </a:pPr>
            <a:r>
              <a:t>• La guía incluye procedimientos para comprobar que los sistemas funcionan conforme a su finalidad prevista.</a:t>
            </a:r>
          </a:p>
          <a:p>
            <a:pPr>
              <a:spcAft>
                <a:spcPts val="700"/>
              </a:spcAft>
              <a:defRPr sz="1380">
                <a:solidFill>
                  <a:srgbClr val="232D38"/>
                </a:solidFill>
              </a:defRPr>
            </a:pPr>
            <a:r>
              <a:t>• También contempla pruebas de requisitos y pruebas en condiciones reales.</a:t>
            </a:r>
          </a:p>
          <a:p>
            <a:pPr>
              <a:spcAft>
                <a:spcPts val="700"/>
              </a:spcAft>
              <a:defRPr sz="1380">
                <a:solidFill>
                  <a:srgbClr val="232D38"/>
                </a:solidFill>
              </a:defRPr>
            </a:pPr>
            <a:r>
              <a:t>• La prueba debe conectarse con finalidad, riesgos y criterios definidos.</a:t>
            </a:r>
          </a:p>
          <a:p>
            <a:pPr>
              <a:spcAft>
                <a:spcPts val="700"/>
              </a:spcAft>
              <a:defRPr sz="1380">
                <a:solidFill>
                  <a:srgbClr val="232D38"/>
                </a:solidFill>
              </a:defRPr>
            </a:pPr>
            <a:r>
              <a:t>• En clase: diseñar un piloto antes de pensar en despliegue amplio.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56248"/>
            <a:ext cx="12191695" cy="301752"/>
          </a:xfrm>
          <a:prstGeom prst="rect">
            <a:avLst/>
          </a:prstGeom>
          <a:solidFill>
            <a:srgbClr val="0F3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2608" y="6583680"/>
            <a:ext cx="1152144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FFFFFF"/>
                </a:solidFill>
              </a:defRPr>
            </a:pPr>
            <a:r>
              <a:t>Guía 5, capítulo 5.1, pp. 28–30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37160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118F91"/>
                </a:solidFill>
              </a:defRPr>
            </a:pPr>
            <a:r>
              <a:t>D. VALIDACIÓN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365760"/>
            <a:ext cx="110642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0F3052"/>
                </a:solidFill>
              </a:defRPr>
            </a:pPr>
            <a:r>
              <a:t>Validación clínica: cuatro capas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207008"/>
            <a:ext cx="5486400" cy="5029200"/>
          </a:xfrm>
          <a:prstGeom prst="roundRect">
            <a:avLst/>
          </a:prstGeom>
          <a:solidFill>
            <a:srgbClr val="F4F7FA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1207008"/>
            <a:ext cx="73152" cy="5029200"/>
          </a:xfrm>
          <a:prstGeom prst="rect">
            <a:avLst/>
          </a:prstGeom>
          <a:solidFill>
            <a:srgbClr val="118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316736"/>
            <a:ext cx="51663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50" b="1">
                <a:solidFill>
                  <a:srgbClr val="0F3052"/>
                </a:solidFill>
              </a:defRPr>
            </a:pPr>
            <a:r>
              <a:t>CAPA 1 — DATOS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73936"/>
            <a:ext cx="5166360" cy="437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20">
                <a:solidFill>
                  <a:srgbClr val="232D38"/>
                </a:solidFill>
              </a:defRPr>
            </a:pPr>
            <a:r>
              <a:t>• Calidad.</a:t>
            </a:r>
            <a:br/>
            <a:r>
              <a:t>• Representatividad.</a:t>
            </a:r>
            <a:br/>
            <a:r>
              <a:t>• Etiquetas.</a:t>
            </a:r>
            <a:br/>
            <a:r>
              <a:t>• Sesgo.</a:t>
            </a:r>
            <a:br/>
            <a:r>
              <a:t>• Población.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99632" y="1207008"/>
            <a:ext cx="5486400" cy="5029200"/>
          </a:xfrm>
          <a:prstGeom prst="roundRect">
            <a:avLst/>
          </a:prstGeom>
          <a:solidFill>
            <a:srgbClr val="F4F7FA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99632" y="1207008"/>
            <a:ext cx="73152" cy="5029200"/>
          </a:xfrm>
          <a:prstGeom prst="rect">
            <a:avLst/>
          </a:prstGeom>
          <a:solidFill>
            <a:srgbClr val="D76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82512" y="1316736"/>
            <a:ext cx="51663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50" b="1">
                <a:solidFill>
                  <a:srgbClr val="0F3052"/>
                </a:solidFill>
              </a:defRPr>
            </a:pPr>
            <a:r>
              <a:t>CAPA 2–4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82512" y="1773936"/>
            <a:ext cx="5166360" cy="437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20">
                <a:solidFill>
                  <a:srgbClr val="232D38"/>
                </a:solidFill>
              </a:defRPr>
            </a:pPr>
            <a:r>
              <a:t>• Modelo: rendimiento.</a:t>
            </a:r>
            <a:br/>
            <a:r>
              <a:t>• Sistema: seguridad/robustez.</a:t>
            </a:r>
            <a:br/>
            <a:r>
              <a:t>• Clínica: flujo real + supervisión + impacto.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56248"/>
            <a:ext cx="12191695" cy="301752"/>
          </a:xfrm>
          <a:prstGeom prst="rect">
            <a:avLst/>
          </a:prstGeom>
          <a:solidFill>
            <a:srgbClr val="0F3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2608" y="6583680"/>
            <a:ext cx="1152144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FFFFFF"/>
                </a:solidFill>
              </a:defRPr>
            </a:pPr>
            <a:r>
              <a:t>Guías 5 y 7; integración docente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37160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118F91"/>
                </a:solidFill>
              </a:defRPr>
            </a:pPr>
            <a:r>
              <a:t>E. CALIDAD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365760"/>
            <a:ext cx="110642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0F3052"/>
                </a:solidFill>
              </a:defRPr>
            </a:pPr>
            <a:r>
              <a:t>Guía 4 — la validación forma parte del sistema de calidad</a:t>
            </a:r>
          </a:p>
        </p:txBody>
      </p:sp>
      <p:pic>
        <p:nvPicPr>
          <p:cNvPr id="4" name="Picture 3" descr="G4_p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115568"/>
            <a:ext cx="5669280" cy="801309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309360" y="1143000"/>
            <a:ext cx="5394960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80">
                <a:solidFill>
                  <a:srgbClr val="232D38"/>
                </a:solidFill>
              </a:defRPr>
            </a:pPr>
            <a:r>
              <a:t>• La Guía 4 organiza el sistema de gestión de calidad e incluye examen, prueba y validación.</a:t>
            </a:r>
          </a:p>
          <a:p>
            <a:pPr>
              <a:spcAft>
                <a:spcPts val="700"/>
              </a:spcAft>
              <a:defRPr sz="1380">
                <a:solidFill>
                  <a:srgbClr val="232D38"/>
                </a:solidFill>
              </a:defRPr>
            </a:pPr>
            <a:r>
              <a:t>• También integra gestión de datos, gestión de riesgos, vigilancia poscomercialización, incidentes graves, documentación, recursos y rendición de cuentas.</a:t>
            </a:r>
          </a:p>
          <a:p>
            <a:pPr>
              <a:spcAft>
                <a:spcPts val="700"/>
              </a:spcAft>
              <a:defRPr sz="1380">
                <a:solidFill>
                  <a:srgbClr val="232D38"/>
                </a:solidFill>
              </a:defRPr>
            </a:pPr>
            <a:r>
              <a:t>• La validación, por tanto, no es una actividad aislada del modelo.</a:t>
            </a:r>
          </a:p>
          <a:p>
            <a:pPr>
              <a:spcAft>
                <a:spcPts val="700"/>
              </a:spcAft>
              <a:defRPr sz="1380">
                <a:solidFill>
                  <a:srgbClr val="232D38"/>
                </a:solidFill>
              </a:defRPr>
            </a:pPr>
            <a:r>
              <a:t>• Debe quedar integrada en un sistema de calidad.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56248"/>
            <a:ext cx="12191695" cy="301752"/>
          </a:xfrm>
          <a:prstGeom prst="rect">
            <a:avLst/>
          </a:prstGeom>
          <a:solidFill>
            <a:srgbClr val="0F3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2608" y="6583680"/>
            <a:ext cx="1152144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FFFFFF"/>
                </a:solidFill>
              </a:defRPr>
            </a:pPr>
            <a:r>
              <a:t>Guía 4, pp. 4–5 · estructura del sistema de calidad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37160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118F91"/>
                </a:solidFill>
              </a:defRPr>
            </a:pPr>
            <a:r>
              <a:t>E. CALIDAD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365760"/>
            <a:ext cx="110642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0F3052"/>
                </a:solidFill>
              </a:defRPr>
            </a:pPr>
            <a:r>
              <a:t>Guía 4 — examen, prueba y validación</a:t>
            </a:r>
          </a:p>
        </p:txBody>
      </p:sp>
      <p:pic>
        <p:nvPicPr>
          <p:cNvPr id="4" name="Picture 3" descr="G4_p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115568"/>
            <a:ext cx="5669280" cy="801309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309360" y="1143000"/>
            <a:ext cx="5394960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80">
                <a:solidFill>
                  <a:srgbClr val="232D38"/>
                </a:solidFill>
              </a:defRPr>
            </a:pPr>
            <a:r>
              <a:t>• La guía identifica explícitamente examen, prueba y validación como componente del sistema de gestión de calidad.</a:t>
            </a:r>
          </a:p>
          <a:p>
            <a:pPr>
              <a:spcAft>
                <a:spcPts val="700"/>
              </a:spcAft>
              <a:defRPr sz="1380">
                <a:solidFill>
                  <a:srgbClr val="232D38"/>
                </a:solidFill>
              </a:defRPr>
            </a:pPr>
            <a:r>
              <a:t>• Esto permite enseñar una diferencia práctica: una métrica de laboratorio no equivale por sí sola a validación del sistema.</a:t>
            </a:r>
          </a:p>
          <a:p>
            <a:pPr>
              <a:spcAft>
                <a:spcPts val="700"/>
              </a:spcAft>
              <a:defRPr sz="1380">
                <a:solidFill>
                  <a:srgbClr val="232D38"/>
                </a:solidFill>
              </a:defRPr>
            </a:pPr>
            <a:r>
              <a:t>• El estudiante debe demostrar qué se examinó, qué se probó, con qué criterio y qué evidencia se obtuvo.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56248"/>
            <a:ext cx="12191695" cy="301752"/>
          </a:xfrm>
          <a:prstGeom prst="rect">
            <a:avLst/>
          </a:prstGeom>
          <a:solidFill>
            <a:srgbClr val="0F3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2608" y="6583680"/>
            <a:ext cx="1152144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FFFFFF"/>
                </a:solidFill>
              </a:defRPr>
            </a:pPr>
            <a:r>
              <a:t>Guía 4, índice detallado, apartado 4.4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37160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118F91"/>
                </a:solidFill>
              </a:defRPr>
            </a:pPr>
            <a:r>
              <a:t>E. CALIDAD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365760"/>
            <a:ext cx="110642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0F3052"/>
                </a:solidFill>
              </a:defRPr>
            </a:pPr>
            <a:r>
              <a:t>Calidad vs. riesgo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207008"/>
            <a:ext cx="5486400" cy="5029200"/>
          </a:xfrm>
          <a:prstGeom prst="roundRect">
            <a:avLst/>
          </a:prstGeom>
          <a:solidFill>
            <a:srgbClr val="F4F7FA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1207008"/>
            <a:ext cx="73152" cy="5029200"/>
          </a:xfrm>
          <a:prstGeom prst="rect">
            <a:avLst/>
          </a:prstGeom>
          <a:solidFill>
            <a:srgbClr val="118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316736"/>
            <a:ext cx="51663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50" b="1">
                <a:solidFill>
                  <a:srgbClr val="0F3052"/>
                </a:solidFill>
              </a:defRPr>
            </a:pPr>
            <a:r>
              <a:t>GESTIÓN DE CALIDAD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73936"/>
            <a:ext cx="5166360" cy="437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20">
                <a:solidFill>
                  <a:srgbClr val="232D38"/>
                </a:solidFill>
              </a:defRPr>
            </a:pPr>
            <a:r>
              <a:t>• ¿El proceso está controlado?</a:t>
            </a:r>
            <a:br/>
            <a:r>
              <a:t>• ¿Se documenta?</a:t>
            </a:r>
            <a:br/>
            <a:r>
              <a:t>• ¿Se verifica?</a:t>
            </a:r>
            <a:br/>
            <a:r>
              <a:t>• ¿Se mantiene?</a:t>
            </a:r>
            <a:br/>
            <a:r>
              <a:t>• ¿Se gestionan cambios?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99632" y="1207008"/>
            <a:ext cx="5486400" cy="5029200"/>
          </a:xfrm>
          <a:prstGeom prst="roundRect">
            <a:avLst/>
          </a:prstGeom>
          <a:solidFill>
            <a:srgbClr val="F4F7FA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99632" y="1207008"/>
            <a:ext cx="73152" cy="5029200"/>
          </a:xfrm>
          <a:prstGeom prst="rect">
            <a:avLst/>
          </a:prstGeom>
          <a:solidFill>
            <a:srgbClr val="D76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82512" y="1316736"/>
            <a:ext cx="51663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50" b="1">
                <a:solidFill>
                  <a:srgbClr val="0F3052"/>
                </a:solidFill>
              </a:defRPr>
            </a:pPr>
            <a:r>
              <a:t>GESTIÓN DE RIESGOS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82512" y="1773936"/>
            <a:ext cx="5166360" cy="437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20">
                <a:solidFill>
                  <a:srgbClr val="232D38"/>
                </a:solidFill>
              </a:defRPr>
            </a:pPr>
            <a:r>
              <a:t>• ¿Qué puede salir mal?</a:t>
            </a:r>
            <a:br/>
            <a:r>
              <a:t>• ¿Qué impacto tendría?</a:t>
            </a:r>
            <a:br/>
            <a:r>
              <a:t>• ¿Qué control existe?</a:t>
            </a:r>
            <a:br/>
            <a:r>
              <a:t>• ¿Funciona el control?</a:t>
            </a:r>
            <a:br/>
            <a:r>
              <a:t>• ¿Cuál es el riesgo residual?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56248"/>
            <a:ext cx="12191695" cy="301752"/>
          </a:xfrm>
          <a:prstGeom prst="rect">
            <a:avLst/>
          </a:prstGeom>
          <a:solidFill>
            <a:srgbClr val="0F3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2608" y="6583680"/>
            <a:ext cx="1152144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FFFFFF"/>
                </a:solidFill>
              </a:defRPr>
            </a:pPr>
            <a:r>
              <a:t>Guía 4 + Guía 5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37160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118F91"/>
                </a:solidFill>
              </a:defRPr>
            </a:pPr>
            <a:r>
              <a:t>F. SUPERVISIÓN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365760"/>
            <a:ext cx="110642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0F3052"/>
                </a:solidFill>
              </a:defRPr>
            </a:pPr>
            <a:r>
              <a:t>Guía 6 — supervisión humana no significa simplemente 'hay un médico'</a:t>
            </a:r>
          </a:p>
        </p:txBody>
      </p:sp>
      <p:pic>
        <p:nvPicPr>
          <p:cNvPr id="4" name="Picture 3" descr="G6_p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115568"/>
            <a:ext cx="5669280" cy="801309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309360" y="1143000"/>
            <a:ext cx="5394960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80">
                <a:solidFill>
                  <a:srgbClr val="232D38"/>
                </a:solidFill>
              </a:defRPr>
            </a:pPr>
            <a:r>
              <a:t>• La Guía 6 trata la supervisión humana del artículo 14.</a:t>
            </a:r>
          </a:p>
          <a:p>
            <a:pPr>
              <a:spcAft>
                <a:spcPts val="700"/>
              </a:spcAft>
              <a:defRPr sz="1380">
                <a:solidFill>
                  <a:srgbClr val="232D38"/>
                </a:solidFill>
              </a:defRPr>
            </a:pPr>
            <a:r>
              <a:t>• Su contenido incluye diseño para vigilancia efectiva, riesgos sobre derechos fundamentales, tipos de medidas, entendimiento y autonomía.</a:t>
            </a:r>
          </a:p>
          <a:p>
            <a:pPr>
              <a:spcAft>
                <a:spcPts val="700"/>
              </a:spcAft>
              <a:defRPr sz="1380">
                <a:solidFill>
                  <a:srgbClr val="232D38"/>
                </a:solidFill>
              </a:defRPr>
            </a:pPr>
            <a:r>
              <a:t>• También desarrolla HMI, gobernanza y human-in/on-the-loop.</a:t>
            </a:r>
          </a:p>
          <a:p>
            <a:pPr>
              <a:spcAft>
                <a:spcPts val="700"/>
              </a:spcAft>
              <a:defRPr sz="1380">
                <a:solidFill>
                  <a:srgbClr val="232D38"/>
                </a:solidFill>
              </a:defRPr>
            </a:pPr>
            <a:r>
              <a:t>• La supervisión debe estar diseñada en el sistema.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56248"/>
            <a:ext cx="12191695" cy="301752"/>
          </a:xfrm>
          <a:prstGeom prst="rect">
            <a:avLst/>
          </a:prstGeom>
          <a:solidFill>
            <a:srgbClr val="0F3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2608" y="6583680"/>
            <a:ext cx="1152144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FFFFFF"/>
                </a:solidFill>
              </a:defRPr>
            </a:pPr>
            <a:r>
              <a:t>Guía 6, pp. 4–7 · Art. 14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37160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118F91"/>
                </a:solidFill>
              </a:defRPr>
            </a:pPr>
            <a:r>
              <a:t>F. SUPERVISIÓN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365760"/>
            <a:ext cx="110642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0F3052"/>
                </a:solidFill>
              </a:defRPr>
            </a:pPr>
            <a:r>
              <a:t>Guía 6 — el humano debe poder comprender e interactuar</a:t>
            </a:r>
          </a:p>
        </p:txBody>
      </p:sp>
      <p:pic>
        <p:nvPicPr>
          <p:cNvPr id="4" name="Picture 3" descr="G6_p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115568"/>
            <a:ext cx="5669280" cy="801309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309360" y="1143000"/>
            <a:ext cx="5394960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80">
                <a:solidFill>
                  <a:srgbClr val="232D38"/>
                </a:solidFill>
              </a:defRPr>
            </a:pPr>
            <a:r>
              <a:t>• La guía plantea que las personas deben poder tomar decisiones autónomas con conocimiento de causa en relación con los sistemas de IA.</a:t>
            </a:r>
          </a:p>
          <a:p>
            <a:pPr>
              <a:spcAft>
                <a:spcPts val="700"/>
              </a:spcAft>
              <a:defRPr sz="1380">
                <a:solidFill>
                  <a:srgbClr val="232D38"/>
                </a:solidFill>
              </a:defRPr>
            </a:pPr>
            <a:r>
              <a:t>• Para ello necesitan conocimientos y herramientas para comprender e interactuar con el sistema.</a:t>
            </a:r>
          </a:p>
          <a:p>
            <a:pPr>
              <a:spcAft>
                <a:spcPts val="700"/>
              </a:spcAft>
              <a:defRPr sz="1380">
                <a:solidFill>
                  <a:srgbClr val="232D38"/>
                </a:solidFill>
              </a:defRPr>
            </a:pPr>
            <a:r>
              <a:t>• En clínica: la interfaz, alertas, explicaciones operativas y posibilidad de intervención son parte del diseño.</a:t>
            </a:r>
          </a:p>
          <a:p>
            <a:pPr>
              <a:spcAft>
                <a:spcPts val="700"/>
              </a:spcAft>
              <a:defRPr sz="1380">
                <a:solidFill>
                  <a:srgbClr val="232D38"/>
                </a:solidFill>
              </a:defRPr>
            </a:pPr>
            <a:r>
              <a:t>• La supervisión no puede depender de buena voluntad solamente.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56248"/>
            <a:ext cx="12191695" cy="301752"/>
          </a:xfrm>
          <a:prstGeom prst="rect">
            <a:avLst/>
          </a:prstGeom>
          <a:solidFill>
            <a:srgbClr val="0F3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2608" y="6583680"/>
            <a:ext cx="1152144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FFFFFF"/>
                </a:solidFill>
              </a:defRPr>
            </a:pPr>
            <a:r>
              <a:t>Guía 6, p. 8 · definición de supervisión humana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37160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118F91"/>
                </a:solidFill>
              </a:defRPr>
            </a:pPr>
            <a:r>
              <a:t>F. SUPERVISIÓN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365760"/>
            <a:ext cx="110642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0F3052"/>
                </a:solidFill>
              </a:defRPr>
            </a:pPr>
            <a:r>
              <a:t>Human-in-the-loop vs. human-on-the-loop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207008"/>
            <a:ext cx="5486400" cy="5029200"/>
          </a:xfrm>
          <a:prstGeom prst="roundRect">
            <a:avLst/>
          </a:prstGeom>
          <a:solidFill>
            <a:srgbClr val="F4F7FA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1207008"/>
            <a:ext cx="73152" cy="5029200"/>
          </a:xfrm>
          <a:prstGeom prst="rect">
            <a:avLst/>
          </a:prstGeom>
          <a:solidFill>
            <a:srgbClr val="118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316736"/>
            <a:ext cx="51663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50" b="1">
                <a:solidFill>
                  <a:srgbClr val="0F3052"/>
                </a:solidFill>
              </a:defRPr>
            </a:pPr>
            <a:r>
              <a:t>EN EL BUCLE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73936"/>
            <a:ext cx="5166360" cy="437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20">
                <a:solidFill>
                  <a:srgbClr val="232D38"/>
                </a:solidFill>
              </a:defRPr>
            </a:pPr>
            <a:r>
              <a:t>• Profesional revisa antes de una acción crítica.</a:t>
            </a:r>
            <a:br/>
            <a:r>
              <a:t>• Puede aceptar/rechazar.</a:t>
            </a:r>
            <a:br/>
            <a:r>
              <a:t>• Adecuado para tareas de mayor riesgo.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99632" y="1207008"/>
            <a:ext cx="5486400" cy="5029200"/>
          </a:xfrm>
          <a:prstGeom prst="roundRect">
            <a:avLst/>
          </a:prstGeom>
          <a:solidFill>
            <a:srgbClr val="F4F7FA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99632" y="1207008"/>
            <a:ext cx="73152" cy="5029200"/>
          </a:xfrm>
          <a:prstGeom prst="rect">
            <a:avLst/>
          </a:prstGeom>
          <a:solidFill>
            <a:srgbClr val="D76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82512" y="1316736"/>
            <a:ext cx="51663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50" b="1">
                <a:solidFill>
                  <a:srgbClr val="0F3052"/>
                </a:solidFill>
              </a:defRPr>
            </a:pPr>
            <a:r>
              <a:t>EN SUPERVISIÓN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82512" y="1773936"/>
            <a:ext cx="5166360" cy="437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20">
                <a:solidFill>
                  <a:srgbClr val="232D38"/>
                </a:solidFill>
              </a:defRPr>
            </a:pPr>
            <a:r>
              <a:t>• Sistema opera dentro de límites.</a:t>
            </a:r>
            <a:br/>
            <a:r>
              <a:t>• Humano monitoriza y puede intervenir.</a:t>
            </a:r>
            <a:br/>
            <a:r>
              <a:t>• Requiere alertas, umbrales y mecanismos de parada.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56248"/>
            <a:ext cx="12191695" cy="301752"/>
          </a:xfrm>
          <a:prstGeom prst="rect">
            <a:avLst/>
          </a:prstGeom>
          <a:solidFill>
            <a:srgbClr val="0F3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2608" y="6583680"/>
            <a:ext cx="1152144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FFFFFF"/>
                </a:solidFill>
              </a:defRPr>
            </a:pPr>
            <a:r>
              <a:t>Guía 6, apartados 4.2.5 y medidas de supervisión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37160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118F91"/>
                </a:solidFill>
              </a:defRPr>
            </a:pPr>
            <a:r>
              <a:t>F. SUPERVISIÓN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365760"/>
            <a:ext cx="110642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0F3052"/>
                </a:solidFill>
              </a:defRPr>
            </a:pPr>
            <a:r>
              <a:t>Guía 6 — HMI y gobernanza</a:t>
            </a:r>
          </a:p>
        </p:txBody>
      </p:sp>
      <p:pic>
        <p:nvPicPr>
          <p:cNvPr id="4" name="Picture 3" descr="G6_p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115568"/>
            <a:ext cx="5669280" cy="801309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309360" y="1143000"/>
            <a:ext cx="5394960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80">
                <a:solidFill>
                  <a:srgbClr val="232D38"/>
                </a:solidFill>
              </a:defRPr>
            </a:pPr>
            <a:r>
              <a:t>• La guía identifica una interfaz humano-máquina como medida para conseguir supervisión humana.</a:t>
            </a:r>
          </a:p>
          <a:p>
            <a:pPr>
              <a:spcAft>
                <a:spcPts val="700"/>
              </a:spcAft>
              <a:defRPr sz="1380">
                <a:solidFill>
                  <a:srgbClr val="232D38"/>
                </a:solidFill>
              </a:defRPr>
            </a:pPr>
            <a:r>
              <a:t>• También incluye un modelo de gobernanza.</a:t>
            </a:r>
          </a:p>
          <a:p>
            <a:pPr>
              <a:spcAft>
                <a:spcPts val="700"/>
              </a:spcAft>
              <a:defRPr sz="1380">
                <a:solidFill>
                  <a:srgbClr val="232D38"/>
                </a:solidFill>
              </a:defRPr>
            </a:pPr>
            <a:r>
              <a:t>• En un sistema clínico, la HMI debe hacer visibles estado, incertidumbre/limitaciones relevantes, alertas y acciones disponibles.</a:t>
            </a:r>
          </a:p>
          <a:p>
            <a:pPr>
              <a:spcAft>
                <a:spcPts val="700"/>
              </a:spcAft>
              <a:defRPr sz="1380">
                <a:solidFill>
                  <a:srgbClr val="232D38"/>
                </a:solidFill>
              </a:defRPr>
            </a:pPr>
            <a:r>
              <a:t>• La gobernanza define quién puede actuar y cuándo.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56248"/>
            <a:ext cx="12191695" cy="301752"/>
          </a:xfrm>
          <a:prstGeom prst="rect">
            <a:avLst/>
          </a:prstGeom>
          <a:solidFill>
            <a:srgbClr val="0F3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2608" y="6583680"/>
            <a:ext cx="1152144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FFFFFF"/>
                </a:solidFill>
              </a:defRPr>
            </a:pPr>
            <a:r>
              <a:t>Guía 6, capítulo 4.2 · HMI y gobernanza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37160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118F91"/>
                </a:solidFill>
              </a:defRPr>
            </a:pPr>
            <a:r>
              <a:t>F. SUPERVISIÓN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365760"/>
            <a:ext cx="110642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0F3052"/>
                </a:solidFill>
              </a:defRPr>
            </a:pPr>
            <a:r>
              <a:t>Caso de uso de la Guía 6 — bomba de insulina inteligente</a:t>
            </a:r>
          </a:p>
        </p:txBody>
      </p:sp>
      <p:pic>
        <p:nvPicPr>
          <p:cNvPr id="4" name="Picture 3" descr="G6_p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115568"/>
            <a:ext cx="5669280" cy="801309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309360" y="1143000"/>
            <a:ext cx="5394960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80">
                <a:solidFill>
                  <a:srgbClr val="232D38"/>
                </a:solidFill>
              </a:defRPr>
            </a:pPr>
            <a:r>
              <a:t>• La guía utiliza como caso didáctico la gestión de enfermedades crónicas mediante una bomba de insulina inteligente.</a:t>
            </a:r>
          </a:p>
          <a:p>
            <a:pPr>
              <a:spcAft>
                <a:spcPts val="700"/>
              </a:spcAft>
              <a:defRPr sz="1380">
                <a:solidFill>
                  <a:srgbClr val="232D38"/>
                </a:solidFill>
              </a:defRPr>
            </a:pPr>
            <a:r>
              <a:t>• El caso es útil para discutir una IA con potencial impacto directo sobre una persona.</a:t>
            </a:r>
          </a:p>
          <a:p>
            <a:pPr>
              <a:spcAft>
                <a:spcPts val="700"/>
              </a:spcAft>
              <a:defRPr sz="1380">
                <a:solidFill>
                  <a:srgbClr val="232D38"/>
                </a:solidFill>
              </a:defRPr>
            </a:pPr>
            <a:r>
              <a:t>• Permite preguntar: ¿qué debe vigilar el humano?, ¿qué información necesita?, ¿qué acción puede detener o modificar?</a:t>
            </a:r>
          </a:p>
          <a:p>
            <a:pPr>
              <a:spcAft>
                <a:spcPts val="700"/>
              </a:spcAft>
              <a:defRPr sz="1380">
                <a:solidFill>
                  <a:srgbClr val="232D38"/>
                </a:solidFill>
              </a:defRPr>
            </a:pPr>
            <a:r>
              <a:t>• Usarlo como ejercicio de diseño de supervisión, no como protocolo clínico real.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56248"/>
            <a:ext cx="12191695" cy="301752"/>
          </a:xfrm>
          <a:prstGeom prst="rect">
            <a:avLst/>
          </a:prstGeom>
          <a:solidFill>
            <a:srgbClr val="0F3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2608" y="6583680"/>
            <a:ext cx="1152144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FFFFFF"/>
                </a:solidFill>
              </a:defRPr>
            </a:pPr>
            <a:r>
              <a:t>Guía 6, p. 7–8 · caso de uso didáctico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37160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118F91"/>
                </a:solidFill>
              </a:defRPr>
            </a:pPr>
            <a:r>
              <a:t>F. SUPERVISIÓN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365760"/>
            <a:ext cx="110642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0F3052"/>
                </a:solidFill>
              </a:defRPr>
            </a:pPr>
            <a:r>
              <a:t>Diseñar supervisión para un sistema de triage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207008"/>
            <a:ext cx="5486400" cy="5029200"/>
          </a:xfrm>
          <a:prstGeom prst="roundRect">
            <a:avLst/>
          </a:prstGeom>
          <a:solidFill>
            <a:srgbClr val="F4F7FA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1207008"/>
            <a:ext cx="73152" cy="5029200"/>
          </a:xfrm>
          <a:prstGeom prst="rect">
            <a:avLst/>
          </a:prstGeom>
          <a:solidFill>
            <a:srgbClr val="118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316736"/>
            <a:ext cx="51663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50" b="1">
                <a:solidFill>
                  <a:srgbClr val="0F3052"/>
                </a:solidFill>
              </a:defRPr>
            </a:pPr>
            <a:r>
              <a:t>EL SISTEMA DEBE MOSTRAR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73936"/>
            <a:ext cx="5166360" cy="437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20">
                <a:solidFill>
                  <a:srgbClr val="232D38"/>
                </a:solidFill>
              </a:defRPr>
            </a:pPr>
            <a:r>
              <a:t>• Salida.</a:t>
            </a:r>
            <a:br/>
            <a:r>
              <a:t>• Nivel/criterio relevante.</a:t>
            </a:r>
            <a:br/>
            <a:r>
              <a:t>• Alertas.</a:t>
            </a:r>
            <a:br/>
            <a:r>
              <a:t>• Limitaciones conocidas.</a:t>
            </a:r>
            <a:br/>
            <a:r>
              <a:t>• Estado del sistema.</a:t>
            </a:r>
            <a:br/>
            <a:r>
              <a:t>• Datos faltantes.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99632" y="1207008"/>
            <a:ext cx="5486400" cy="5029200"/>
          </a:xfrm>
          <a:prstGeom prst="roundRect">
            <a:avLst/>
          </a:prstGeom>
          <a:solidFill>
            <a:srgbClr val="F4F7FA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99632" y="1207008"/>
            <a:ext cx="73152" cy="5029200"/>
          </a:xfrm>
          <a:prstGeom prst="rect">
            <a:avLst/>
          </a:prstGeom>
          <a:solidFill>
            <a:srgbClr val="D76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82512" y="1316736"/>
            <a:ext cx="51663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50" b="1">
                <a:solidFill>
                  <a:srgbClr val="0F3052"/>
                </a:solidFill>
              </a:defRPr>
            </a:pPr>
            <a:r>
              <a:t>EL HUMANO DEBE PODER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82512" y="1773936"/>
            <a:ext cx="5166360" cy="437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20">
                <a:solidFill>
                  <a:srgbClr val="232D38"/>
                </a:solidFill>
              </a:defRPr>
            </a:pPr>
            <a:r>
              <a:t>• Revisar.</a:t>
            </a:r>
            <a:br/>
            <a:r>
              <a:t>• Aceptar/rechazar.</a:t>
            </a:r>
            <a:br/>
            <a:r>
              <a:t>• Solicitar información.</a:t>
            </a:r>
            <a:br/>
            <a:r>
              <a:t>• Escalar.</a:t>
            </a:r>
            <a:br/>
            <a:r>
              <a:t>• Detener el uso.</a:t>
            </a:r>
            <a:br/>
            <a:r>
              <a:t>• Registrar la decisión.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56248"/>
            <a:ext cx="12191695" cy="301752"/>
          </a:xfrm>
          <a:prstGeom prst="rect">
            <a:avLst/>
          </a:prstGeom>
          <a:solidFill>
            <a:srgbClr val="0F3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2608" y="6583680"/>
            <a:ext cx="1152144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FFFFFF"/>
                </a:solidFill>
              </a:defRPr>
            </a:pPr>
            <a:r>
              <a:t>Guía 6 + aplicación docente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37160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118F91"/>
                </a:solidFill>
              </a:defRPr>
            </a:pPr>
            <a:r>
              <a:t>G. CONFORMIDAD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365760"/>
            <a:ext cx="110642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0F3052"/>
                </a:solidFill>
              </a:defRPr>
            </a:pPr>
            <a:r>
              <a:t>Guía 3 — validación no termina con una métrica</a:t>
            </a:r>
          </a:p>
        </p:txBody>
      </p:sp>
      <p:pic>
        <p:nvPicPr>
          <p:cNvPr id="4" name="Picture 3" descr="G3_p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115568"/>
            <a:ext cx="5669280" cy="801309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309360" y="1143000"/>
            <a:ext cx="5394960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80">
                <a:solidFill>
                  <a:srgbClr val="232D38"/>
                </a:solidFill>
              </a:defRPr>
            </a:pPr>
            <a:r>
              <a:t>• La Guía 3 aborda la evaluación de la conformidad para sistemas de IA de alto riesgo.</a:t>
            </a:r>
          </a:p>
          <a:p>
            <a:pPr>
              <a:spcAft>
                <a:spcPts val="700"/>
              </a:spcAft>
              <a:defRPr sz="1380">
                <a:solidFill>
                  <a:srgbClr val="232D38"/>
                </a:solidFill>
              </a:defRPr>
            </a:pPr>
            <a:r>
              <a:t>• Su estructura incluye el proceso de evaluación durante desarrollo/puesta en mercado, evaluación de conformidad, modificaciones sustanciales y herramientas como declaración UE de conformidad y marcado CE.</a:t>
            </a:r>
          </a:p>
          <a:p>
            <a:pPr>
              <a:spcAft>
                <a:spcPts val="700"/>
              </a:spcAft>
              <a:defRPr sz="1380">
                <a:solidFill>
                  <a:srgbClr val="232D38"/>
                </a:solidFill>
              </a:defRPr>
            </a:pPr>
            <a:r>
              <a:t>• Para el estudiante: separar validación científica, evaluación de conformidad y despliegue clínico.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56248"/>
            <a:ext cx="12191695" cy="301752"/>
          </a:xfrm>
          <a:prstGeom prst="rect">
            <a:avLst/>
          </a:prstGeom>
          <a:solidFill>
            <a:srgbClr val="0F3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2608" y="6583680"/>
            <a:ext cx="1152144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FFFFFF"/>
                </a:solidFill>
              </a:defRPr>
            </a:pPr>
            <a:r>
              <a:t>Guía 3, pp. 4–5 · estructura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37160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118F91"/>
                </a:solidFill>
              </a:defRPr>
            </a:pPr>
            <a:r>
              <a:t>G. CONFORMIDAD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365760"/>
            <a:ext cx="110642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0F3052"/>
                </a:solidFill>
              </a:defRPr>
            </a:pPr>
            <a:r>
              <a:t>Guía 3 — modificación sustancial</a:t>
            </a:r>
          </a:p>
        </p:txBody>
      </p:sp>
      <p:pic>
        <p:nvPicPr>
          <p:cNvPr id="4" name="Picture 3" descr="G3_p3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115568"/>
            <a:ext cx="5669280" cy="801309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309360" y="1143000"/>
            <a:ext cx="5394960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80">
                <a:solidFill>
                  <a:srgbClr val="232D38"/>
                </a:solidFill>
              </a:defRPr>
            </a:pPr>
            <a:r>
              <a:t>• La guía contiene un apartado específico sobre evaluación de conformidad ante una modificación sustancial.</a:t>
            </a:r>
          </a:p>
          <a:p>
            <a:pPr>
              <a:spcAft>
                <a:spcPts val="700"/>
              </a:spcAft>
              <a:defRPr sz="1380">
                <a:solidFill>
                  <a:srgbClr val="232D38"/>
                </a:solidFill>
              </a:defRPr>
            </a:pPr>
            <a:r>
              <a:t>• Esto conecta directamente con IA clínica: cambiar modelo, finalidad o componentes puede exigir una nueva evaluación según el marco aplicable.</a:t>
            </a:r>
          </a:p>
          <a:p>
            <a:pPr>
              <a:spcAft>
                <a:spcPts val="700"/>
              </a:spcAft>
              <a:defRPr sz="1380">
                <a:solidFill>
                  <a:srgbClr val="232D38"/>
                </a:solidFill>
              </a:defRPr>
            </a:pPr>
            <a:r>
              <a:t>• El estudiante debe aprender a registrar cambios y no asumir que una validación antigua cubre automáticamente una versión nueva.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56248"/>
            <a:ext cx="12191695" cy="301752"/>
          </a:xfrm>
          <a:prstGeom prst="rect">
            <a:avLst/>
          </a:prstGeom>
          <a:solidFill>
            <a:srgbClr val="0F3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2608" y="6583680"/>
            <a:ext cx="1152144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FFFFFF"/>
                </a:solidFill>
              </a:defRPr>
            </a:pPr>
            <a:r>
              <a:t>Guía 3, apartado 4.4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37160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118F91"/>
                </a:solidFill>
              </a:defRPr>
            </a:pPr>
            <a:r>
              <a:t>G. CONFORMIDAD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365760"/>
            <a:ext cx="110642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0F3052"/>
                </a:solidFill>
              </a:defRPr>
            </a:pPr>
            <a:r>
              <a:t>Cambio de IA = nuevo evento de validación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207008"/>
            <a:ext cx="5486400" cy="5029200"/>
          </a:xfrm>
          <a:prstGeom prst="roundRect">
            <a:avLst/>
          </a:prstGeom>
          <a:solidFill>
            <a:srgbClr val="F4F7FA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1207008"/>
            <a:ext cx="73152" cy="5029200"/>
          </a:xfrm>
          <a:prstGeom prst="rect">
            <a:avLst/>
          </a:prstGeom>
          <a:solidFill>
            <a:srgbClr val="118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316736"/>
            <a:ext cx="51663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50" b="1">
                <a:solidFill>
                  <a:srgbClr val="0F3052"/>
                </a:solidFill>
              </a:defRPr>
            </a:pPr>
            <a:r>
              <a:t>CAMBIOS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73936"/>
            <a:ext cx="5166360" cy="437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20">
                <a:solidFill>
                  <a:srgbClr val="232D38"/>
                </a:solidFill>
              </a:defRPr>
            </a:pPr>
            <a:r>
              <a:t>• Modelo.</a:t>
            </a:r>
            <a:br/>
            <a:r>
              <a:t>• Datos.</a:t>
            </a:r>
            <a:br/>
            <a:r>
              <a:t>• Umbrales.</a:t>
            </a:r>
            <a:br/>
            <a:r>
              <a:t>• Finalidad prevista.</a:t>
            </a:r>
            <a:br/>
            <a:r>
              <a:t>• Integración.</a:t>
            </a:r>
            <a:br/>
            <a:r>
              <a:t>• Interfaz.</a:t>
            </a:r>
            <a:br/>
            <a:r>
              <a:t>• Hardware/software.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99632" y="1207008"/>
            <a:ext cx="5486400" cy="5029200"/>
          </a:xfrm>
          <a:prstGeom prst="roundRect">
            <a:avLst/>
          </a:prstGeom>
          <a:solidFill>
            <a:srgbClr val="F4F7FA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99632" y="1207008"/>
            <a:ext cx="73152" cy="5029200"/>
          </a:xfrm>
          <a:prstGeom prst="rect">
            <a:avLst/>
          </a:prstGeom>
          <a:solidFill>
            <a:srgbClr val="D76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82512" y="1316736"/>
            <a:ext cx="51663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50" b="1">
                <a:solidFill>
                  <a:srgbClr val="0F3052"/>
                </a:solidFill>
              </a:defRPr>
            </a:pPr>
            <a:r>
              <a:t>RESPUESTA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82512" y="1773936"/>
            <a:ext cx="5166360" cy="437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20">
                <a:solidFill>
                  <a:srgbClr val="232D38"/>
                </a:solidFill>
              </a:defRPr>
            </a:pPr>
            <a:r>
              <a:t>• Evaluar impacto del cambio.</a:t>
            </a:r>
            <a:br/>
            <a:r>
              <a:t>• Revisar riesgos.</a:t>
            </a:r>
            <a:br/>
            <a:r>
              <a:t>• Repetir pruebas pertinentes.</a:t>
            </a:r>
            <a:br/>
            <a:r>
              <a:t>• Actualizar documentación.</a:t>
            </a:r>
            <a:br/>
            <a:r>
              <a:t>• Registrar versión.</a:t>
            </a:r>
            <a:br/>
            <a:r>
              <a:t>• Revisar conformidad aplicable.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56248"/>
            <a:ext cx="12191695" cy="301752"/>
          </a:xfrm>
          <a:prstGeom prst="rect">
            <a:avLst/>
          </a:prstGeom>
          <a:solidFill>
            <a:srgbClr val="0F3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2608" y="6583680"/>
            <a:ext cx="1152144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FFFFFF"/>
                </a:solidFill>
              </a:defRPr>
            </a:pPr>
            <a:r>
              <a:t>Guía 3 + Guía 4 + Guía 5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37160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118F91"/>
                </a:solidFill>
              </a:defRPr>
            </a:pPr>
            <a:r>
              <a:t>H. SESGO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365760"/>
            <a:ext cx="110642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0F3052"/>
                </a:solidFill>
              </a:defRPr>
            </a:pPr>
            <a:r>
              <a:t>Guía 7 + Guía 5 — el sesgo se convierte en riesgo cuando afecta al uso</a:t>
            </a:r>
          </a:p>
        </p:txBody>
      </p:sp>
      <p:pic>
        <p:nvPicPr>
          <p:cNvPr id="4" name="Picture 3" descr="G7_p5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115568"/>
            <a:ext cx="5669280" cy="801309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309360" y="1143000"/>
            <a:ext cx="5394960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80">
                <a:solidFill>
                  <a:srgbClr val="232D38"/>
                </a:solidFill>
              </a:defRPr>
            </a:pPr>
            <a:r>
              <a:t>• La Guía 7 dedica un anexo específico a técnicas de evaluación del sesgo.</a:t>
            </a:r>
          </a:p>
          <a:p>
            <a:pPr>
              <a:spcAft>
                <a:spcPts val="700"/>
              </a:spcAft>
              <a:defRPr sz="1380">
                <a:solidFill>
                  <a:srgbClr val="232D38"/>
                </a:solidFill>
              </a:defRPr>
            </a:pPr>
            <a:r>
              <a:t>• También incluye medidas para su tratamiento.</a:t>
            </a:r>
          </a:p>
          <a:p>
            <a:pPr>
              <a:spcAft>
                <a:spcPts val="700"/>
              </a:spcAft>
              <a:defRPr sz="1380">
                <a:solidFill>
                  <a:srgbClr val="232D38"/>
                </a:solidFill>
              </a:defRPr>
            </a:pPr>
            <a:r>
              <a:t>• La Guía 5 permite conectar ese hallazgo con identificación, evaluación y mitigación del riesgo.</a:t>
            </a:r>
          </a:p>
          <a:p>
            <a:pPr>
              <a:spcAft>
                <a:spcPts val="700"/>
              </a:spcAft>
              <a:defRPr sz="1380">
                <a:solidFill>
                  <a:srgbClr val="232D38"/>
                </a:solidFill>
              </a:defRPr>
            </a:pPr>
            <a:r>
              <a:t>• Ejemplo: diferencia de desempeño por sexo/edad/grupo → hipótesis de riesgo → prueba → control → reevaluación.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56248"/>
            <a:ext cx="12191695" cy="301752"/>
          </a:xfrm>
          <a:prstGeom prst="rect">
            <a:avLst/>
          </a:prstGeom>
          <a:solidFill>
            <a:srgbClr val="0F3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2608" y="6583680"/>
            <a:ext cx="1152144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FFFFFF"/>
                </a:solidFill>
              </a:defRPr>
            </a:pPr>
            <a:r>
              <a:t>Guía 7, Anexo C + Guía 5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37160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118F91"/>
                </a:solidFill>
              </a:defRPr>
            </a:pPr>
            <a:r>
              <a:t>H. SESGO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365760"/>
            <a:ext cx="110642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0F3052"/>
                </a:solidFill>
              </a:defRPr>
            </a:pPr>
            <a:r>
              <a:t>Caso: modelo de imagen médica con población local pequeña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207008"/>
            <a:ext cx="5486400" cy="5029200"/>
          </a:xfrm>
          <a:prstGeom prst="roundRect">
            <a:avLst/>
          </a:prstGeom>
          <a:solidFill>
            <a:srgbClr val="F4F7FA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1207008"/>
            <a:ext cx="73152" cy="5029200"/>
          </a:xfrm>
          <a:prstGeom prst="rect">
            <a:avLst/>
          </a:prstGeom>
          <a:solidFill>
            <a:srgbClr val="118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316736"/>
            <a:ext cx="51663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50" b="1">
                <a:solidFill>
                  <a:srgbClr val="0F3052"/>
                </a:solidFill>
              </a:defRPr>
            </a:pPr>
            <a:r>
              <a:t>DATOS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73936"/>
            <a:ext cx="5166360" cy="437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20">
                <a:solidFill>
                  <a:srgbClr val="232D38"/>
                </a:solidFill>
              </a:defRPr>
            </a:pPr>
            <a:r>
              <a:t>• Distribución local.</a:t>
            </a:r>
            <a:br/>
            <a:r>
              <a:t>• Calidad de imagen.</a:t>
            </a:r>
            <a:br/>
            <a:r>
              <a:t>• Subgrupos.</a:t>
            </a:r>
            <a:br/>
            <a:r>
              <a:t>• Etiquetas.</a:t>
            </a:r>
            <a:br/>
            <a:r>
              <a:t>• Prevalencia.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99632" y="1207008"/>
            <a:ext cx="5486400" cy="5029200"/>
          </a:xfrm>
          <a:prstGeom prst="roundRect">
            <a:avLst/>
          </a:prstGeom>
          <a:solidFill>
            <a:srgbClr val="F4F7FA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99632" y="1207008"/>
            <a:ext cx="73152" cy="5029200"/>
          </a:xfrm>
          <a:prstGeom prst="rect">
            <a:avLst/>
          </a:prstGeom>
          <a:solidFill>
            <a:srgbClr val="D76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82512" y="1316736"/>
            <a:ext cx="51663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50" b="1">
                <a:solidFill>
                  <a:srgbClr val="0F3052"/>
                </a:solidFill>
              </a:defRPr>
            </a:pPr>
            <a:r>
              <a:t>RIESGO / PRUEBA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82512" y="1773936"/>
            <a:ext cx="5166360" cy="437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20">
                <a:solidFill>
                  <a:srgbClr val="232D38"/>
                </a:solidFill>
              </a:defRPr>
            </a:pPr>
            <a:r>
              <a:t>• Falso negativo por subgrupo.</a:t>
            </a:r>
            <a:br/>
            <a:r>
              <a:t>• Sensibilidad estratificada.</a:t>
            </a:r>
            <a:br/>
            <a:r>
              <a:t>• Prueba externa local.</a:t>
            </a:r>
            <a:br/>
            <a:r>
              <a:t>• Revisión experta.</a:t>
            </a:r>
            <a:br/>
            <a:r>
              <a:t>• Riesgo residual.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56248"/>
            <a:ext cx="12191695" cy="301752"/>
          </a:xfrm>
          <a:prstGeom prst="rect">
            <a:avLst/>
          </a:prstGeom>
          <a:solidFill>
            <a:srgbClr val="0F3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2608" y="6583680"/>
            <a:ext cx="1152144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FFFFFF"/>
                </a:solidFill>
              </a:defRPr>
            </a:pPr>
            <a:r>
              <a:t>Guías 7, 5 y 4 · aplicación clínica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37160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118F91"/>
                </a:solidFill>
              </a:defRPr>
            </a:pPr>
            <a:r>
              <a:t>I. LATAM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365760"/>
            <a:ext cx="110642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0F3052"/>
                </a:solidFill>
              </a:defRPr>
            </a:pPr>
            <a:r>
              <a:t>Artículo latinoamericano — validación local como condición de implementación</a:t>
            </a:r>
          </a:p>
        </p:txBody>
      </p:sp>
      <p:pic>
        <p:nvPicPr>
          <p:cNvPr id="4" name="Picture 3" descr="LATAM_p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115568"/>
            <a:ext cx="5669280" cy="733535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309360" y="1143000"/>
            <a:ext cx="5394960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80">
                <a:solidFill>
                  <a:srgbClr val="232D38"/>
                </a:solidFill>
              </a:defRPr>
            </a:pPr>
            <a:r>
              <a:t>• Sierra-Castillo et al. (2026) señalan que la implementación de IA en América Latina depende, entre otros factores, de gobernanza de datos, regulación, ética y validación local.</a:t>
            </a:r>
          </a:p>
          <a:p>
            <a:pPr>
              <a:spcAft>
                <a:spcPts val="700"/>
              </a:spcAft>
              <a:defRPr sz="1380">
                <a:solidFill>
                  <a:srgbClr val="232D38"/>
                </a:solidFill>
              </a:defRPr>
            </a:pPr>
            <a:r>
              <a:t>• El artículo describe interoperabilidad, representatividad de datos y capacidad institucional como retos regionales.</a:t>
            </a:r>
          </a:p>
          <a:p>
            <a:pPr>
              <a:spcAft>
                <a:spcPts val="700"/>
              </a:spcAft>
              <a:defRPr sz="1380">
                <a:solidFill>
                  <a:srgbClr val="232D38"/>
                </a:solidFill>
              </a:defRPr>
            </a:pPr>
            <a:r>
              <a:t>• Esto complementa las guías regulatorias con un contexto latinoamericano.</a:t>
            </a:r>
          </a:p>
          <a:p>
            <a:pPr>
              <a:spcAft>
                <a:spcPts val="700"/>
              </a:spcAft>
              <a:defRPr sz="1380">
                <a:solidFill>
                  <a:srgbClr val="232D38"/>
                </a:solidFill>
              </a:defRPr>
            </a:pPr>
            <a:r>
              <a:t>• Pregunta: ¿qué parte de tu prueba demostraría validez local?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56248"/>
            <a:ext cx="12191695" cy="301752"/>
          </a:xfrm>
          <a:prstGeom prst="rect">
            <a:avLst/>
          </a:prstGeom>
          <a:solidFill>
            <a:srgbClr val="0F3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2608" y="6583680"/>
            <a:ext cx="1152144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FFFFFF"/>
                </a:solidFill>
              </a:defRPr>
            </a:pPr>
            <a:r>
              <a:t>Sierra-Castillo S, Aristizábal-Colorado D, Reyes-Sarmiento ME. Rev Cuidarte. 2026;17(2):e6342.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37160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118F91"/>
                </a:solidFill>
              </a:defRPr>
            </a:pPr>
            <a:r>
              <a:t>I. LATAM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365760"/>
            <a:ext cx="110642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0F3052"/>
                </a:solidFill>
              </a:defRPr>
            </a:pPr>
            <a:r>
              <a:t>Figura 1 del artículo — condiciones habilitadoras</a:t>
            </a:r>
          </a:p>
        </p:txBody>
      </p:sp>
      <p:pic>
        <p:nvPicPr>
          <p:cNvPr id="4" name="Picture 3" descr="LATAM_p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115568"/>
            <a:ext cx="5669280" cy="733535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309360" y="1143000"/>
            <a:ext cx="5394960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80">
                <a:solidFill>
                  <a:srgbClr val="232D38"/>
                </a:solidFill>
              </a:defRPr>
            </a:pPr>
            <a:r>
              <a:t>• La figura presenta la IA en salud latinoamericana como una encrucijada condicionada por gobernanza de datos, regulación, ética, talento humano y validación local.</a:t>
            </a:r>
          </a:p>
          <a:p>
            <a:pPr>
              <a:spcAft>
                <a:spcPts val="700"/>
              </a:spcAft>
              <a:defRPr sz="1380">
                <a:solidFill>
                  <a:srgbClr val="232D38"/>
                </a:solidFill>
              </a:defRPr>
            </a:pPr>
            <a:r>
              <a:t>• En clase, cada elemento puede convertirse en una pregunta de auditoría.</a:t>
            </a:r>
          </a:p>
          <a:p>
            <a:pPr>
              <a:spcAft>
                <a:spcPts val="700"/>
              </a:spcAft>
              <a:defRPr sz="1380">
                <a:solidFill>
                  <a:srgbClr val="232D38"/>
                </a:solidFill>
              </a:defRPr>
            </a:pPr>
            <a:r>
              <a:t>• Ejemplo: 'validación local' → ¿qué población?, ¿qué muestra?, ¿qué comparación?, ¿qué criterio?</a:t>
            </a:r>
          </a:p>
          <a:p>
            <a:pPr>
              <a:spcAft>
                <a:spcPts val="700"/>
              </a:spcAft>
              <a:defRPr sz="1380">
                <a:solidFill>
                  <a:srgbClr val="232D38"/>
                </a:solidFill>
              </a:defRPr>
            </a:pPr>
            <a:r>
              <a:t>• No tratar la figura como resultado cuantitativo: es un marco conceptual de los autores.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56248"/>
            <a:ext cx="12191695" cy="301752"/>
          </a:xfrm>
          <a:prstGeom prst="rect">
            <a:avLst/>
          </a:prstGeom>
          <a:solidFill>
            <a:srgbClr val="0F3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2608" y="6583680"/>
            <a:ext cx="1152144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FFFFFF"/>
                </a:solidFill>
              </a:defRPr>
            </a:pPr>
            <a:r>
              <a:t>Sierra-Castillo et al., Revista Cuidarte 2026, Figura 1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37160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118F91"/>
                </a:solidFill>
              </a:defRPr>
            </a:pPr>
            <a:r>
              <a:t>I. LATAM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365760"/>
            <a:ext cx="110642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0F3052"/>
                </a:solidFill>
              </a:defRPr>
            </a:pPr>
            <a:r>
              <a:t>De una figura conceptual a un protocolo de validación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207008"/>
            <a:ext cx="5486400" cy="5029200"/>
          </a:xfrm>
          <a:prstGeom prst="roundRect">
            <a:avLst/>
          </a:prstGeom>
          <a:solidFill>
            <a:srgbClr val="F4F7FA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1207008"/>
            <a:ext cx="73152" cy="5029200"/>
          </a:xfrm>
          <a:prstGeom prst="rect">
            <a:avLst/>
          </a:prstGeom>
          <a:solidFill>
            <a:srgbClr val="118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316736"/>
            <a:ext cx="51663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50" b="1">
                <a:solidFill>
                  <a:srgbClr val="0F3052"/>
                </a:solidFill>
              </a:defRPr>
            </a:pPr>
            <a:r>
              <a:t>CONDICIÓN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73936"/>
            <a:ext cx="5166360" cy="437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20">
                <a:solidFill>
                  <a:srgbClr val="232D38"/>
                </a:solidFill>
              </a:defRPr>
            </a:pPr>
            <a:r>
              <a:t>• Gobernanza de datos.</a:t>
            </a:r>
            <a:br/>
            <a:r>
              <a:t>• Regulación.</a:t>
            </a:r>
            <a:br/>
            <a:r>
              <a:t>• Ética.</a:t>
            </a:r>
            <a:br/>
            <a:r>
              <a:t>• Talento.</a:t>
            </a:r>
            <a:br/>
            <a:r>
              <a:t>• Validación local.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99632" y="1207008"/>
            <a:ext cx="5486400" cy="5029200"/>
          </a:xfrm>
          <a:prstGeom prst="roundRect">
            <a:avLst/>
          </a:prstGeom>
          <a:solidFill>
            <a:srgbClr val="F4F7FA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99632" y="1207008"/>
            <a:ext cx="73152" cy="5029200"/>
          </a:xfrm>
          <a:prstGeom prst="rect">
            <a:avLst/>
          </a:prstGeom>
          <a:solidFill>
            <a:srgbClr val="D76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82512" y="1316736"/>
            <a:ext cx="51663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50" b="1">
                <a:solidFill>
                  <a:srgbClr val="0F3052"/>
                </a:solidFill>
              </a:defRPr>
            </a:pPr>
            <a:r>
              <a:t>PRUEBA OBSERVABLE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82512" y="1773936"/>
            <a:ext cx="5166360" cy="437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20">
                <a:solidFill>
                  <a:srgbClr val="232D38"/>
                </a:solidFill>
              </a:defRPr>
            </a:pPr>
            <a:r>
              <a:t>• Responsable de datos.</a:t>
            </a:r>
            <a:br/>
            <a:r>
              <a:t>• Finalidad y uso autorizado.</a:t>
            </a:r>
            <a:br/>
            <a:r>
              <a:t>• Revisión ética/gobernanza.</a:t>
            </a:r>
            <a:br/>
            <a:r>
              <a:t>• Capacitación.</a:t>
            </a:r>
            <a:br/>
            <a:r>
              <a:t>• Muestra/contexto local.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56248"/>
            <a:ext cx="12191695" cy="301752"/>
          </a:xfrm>
          <a:prstGeom prst="rect">
            <a:avLst/>
          </a:prstGeom>
          <a:solidFill>
            <a:srgbClr val="0F3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2608" y="6583680"/>
            <a:ext cx="1152144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FFFFFF"/>
                </a:solidFill>
              </a:defRPr>
            </a:pPr>
            <a:r>
              <a:t>Artículo LATAM 2026 + Guías 1, 4, 5, 6, 7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37160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118F91"/>
                </a:solidFill>
              </a:defRPr>
            </a:pPr>
            <a:r>
              <a:t>J. POST-DESPLIEGUE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365760"/>
            <a:ext cx="110642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0F3052"/>
                </a:solidFill>
              </a:defRPr>
            </a:pPr>
            <a:r>
              <a:t>Guía 4 — vigilancia poscomercialización e incidentes</a:t>
            </a:r>
          </a:p>
        </p:txBody>
      </p:sp>
      <p:pic>
        <p:nvPicPr>
          <p:cNvPr id="4" name="Picture 3" descr="G4_p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115568"/>
            <a:ext cx="5669280" cy="801309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309360" y="1143000"/>
            <a:ext cx="5394960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80">
                <a:solidFill>
                  <a:srgbClr val="232D38"/>
                </a:solidFill>
              </a:defRPr>
            </a:pPr>
            <a:r>
              <a:t>• La estructura de la Guía 4 incorpora sistema de vigilancia poscomercialización y notificación de incidentes graves.</a:t>
            </a:r>
          </a:p>
          <a:p>
            <a:pPr>
              <a:spcAft>
                <a:spcPts val="700"/>
              </a:spcAft>
              <a:defRPr sz="1380">
                <a:solidFill>
                  <a:srgbClr val="232D38"/>
                </a:solidFill>
              </a:defRPr>
            </a:pPr>
            <a:r>
              <a:t>• Esto convierte el despliegue en el inicio de una fase de observación, no en el final de la evaluación.</a:t>
            </a:r>
          </a:p>
          <a:p>
            <a:pPr>
              <a:spcAft>
                <a:spcPts val="700"/>
              </a:spcAft>
              <a:defRPr sz="1380">
                <a:solidFill>
                  <a:srgbClr val="232D38"/>
                </a:solidFill>
              </a:defRPr>
            </a:pPr>
            <a:r>
              <a:t>• Los resultados operativos deben alimentar la calidad, el riesgo y la documentación.</a:t>
            </a:r>
          </a:p>
          <a:p>
            <a:pPr>
              <a:spcAft>
                <a:spcPts val="700"/>
              </a:spcAft>
              <a:defRPr sz="1380">
                <a:solidFill>
                  <a:srgbClr val="232D38"/>
                </a:solidFill>
              </a:defRPr>
            </a:pPr>
            <a:r>
              <a:t>• El estudiante debe diseñar el circuito de retroalimentación.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56248"/>
            <a:ext cx="12191695" cy="301752"/>
          </a:xfrm>
          <a:prstGeom prst="rect">
            <a:avLst/>
          </a:prstGeom>
          <a:solidFill>
            <a:srgbClr val="0F3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2608" y="6583680"/>
            <a:ext cx="1152144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FFFFFF"/>
                </a:solidFill>
              </a:defRPr>
            </a:pPr>
            <a:r>
              <a:t>Guía 4, apartados 4.8–4.9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37160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118F91"/>
                </a:solidFill>
              </a:defRPr>
            </a:pPr>
            <a:r>
              <a:t>J. POST-DESPLIEGUE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365760"/>
            <a:ext cx="110642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0F3052"/>
                </a:solidFill>
              </a:defRPr>
            </a:pPr>
            <a:r>
              <a:t>Bucle post-despliegue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207008"/>
            <a:ext cx="5486400" cy="5029200"/>
          </a:xfrm>
          <a:prstGeom prst="roundRect">
            <a:avLst/>
          </a:prstGeom>
          <a:solidFill>
            <a:srgbClr val="F4F7FA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1207008"/>
            <a:ext cx="73152" cy="5029200"/>
          </a:xfrm>
          <a:prstGeom prst="rect">
            <a:avLst/>
          </a:prstGeom>
          <a:solidFill>
            <a:srgbClr val="118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316736"/>
            <a:ext cx="51663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50" b="1">
                <a:solidFill>
                  <a:srgbClr val="0F3052"/>
                </a:solidFill>
              </a:defRPr>
            </a:pPr>
            <a:r>
              <a:t>OPERACIÓN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73936"/>
            <a:ext cx="5166360" cy="437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20">
                <a:solidFill>
                  <a:srgbClr val="232D38"/>
                </a:solidFill>
              </a:defRPr>
            </a:pPr>
            <a:r>
              <a:t>• Errores.</a:t>
            </a:r>
            <a:br/>
            <a:r>
              <a:t>• Incidentes.</a:t>
            </a:r>
            <a:br/>
            <a:r>
              <a:t>• Quejas.</a:t>
            </a:r>
            <a:br/>
            <a:r>
              <a:t>• Drift.</a:t>
            </a:r>
            <a:br/>
            <a:r>
              <a:t>• Cambios de población.</a:t>
            </a:r>
            <a:br/>
            <a:r>
              <a:t>• Cambios de infraestructura.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99632" y="1207008"/>
            <a:ext cx="5486400" cy="5029200"/>
          </a:xfrm>
          <a:prstGeom prst="roundRect">
            <a:avLst/>
          </a:prstGeom>
          <a:solidFill>
            <a:srgbClr val="F4F7FA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99632" y="1207008"/>
            <a:ext cx="73152" cy="5029200"/>
          </a:xfrm>
          <a:prstGeom prst="rect">
            <a:avLst/>
          </a:prstGeom>
          <a:solidFill>
            <a:srgbClr val="D76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82512" y="1316736"/>
            <a:ext cx="51663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50" b="1">
                <a:solidFill>
                  <a:srgbClr val="0F3052"/>
                </a:solidFill>
              </a:defRPr>
            </a:pPr>
            <a:r>
              <a:t>RESPUESTA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82512" y="1773936"/>
            <a:ext cx="5166360" cy="437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20">
                <a:solidFill>
                  <a:srgbClr val="232D38"/>
                </a:solidFill>
              </a:defRPr>
            </a:pPr>
            <a:r>
              <a:t>• Registrar.</a:t>
            </a:r>
            <a:br/>
            <a:r>
              <a:t>• Investigar.</a:t>
            </a:r>
            <a:br/>
            <a:r>
              <a:t>• Actualizar riesgo.</a:t>
            </a:r>
            <a:br/>
            <a:r>
              <a:t>• Modificar controles.</a:t>
            </a:r>
            <a:br/>
            <a:r>
              <a:t>• Revalidar.</a:t>
            </a:r>
            <a:br/>
            <a:r>
              <a:t>• Actualizar documentación.</a:t>
            </a:r>
            <a:br/>
            <a:r>
              <a:t>• Escalar cuando corresponda.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56248"/>
            <a:ext cx="12191695" cy="301752"/>
          </a:xfrm>
          <a:prstGeom prst="rect">
            <a:avLst/>
          </a:prstGeom>
          <a:solidFill>
            <a:srgbClr val="0F3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2608" y="6583680"/>
            <a:ext cx="1152144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FFFFFF"/>
                </a:solidFill>
              </a:defRPr>
            </a:pPr>
            <a:r>
              <a:t>Guías 4 y 5 · vigilancia poscomercialización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37160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118F91"/>
                </a:solidFill>
              </a:defRPr>
            </a:pPr>
            <a:r>
              <a:t>K. DOCUMENTACIÓN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365760"/>
            <a:ext cx="110642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0F3052"/>
                </a:solidFill>
              </a:defRPr>
            </a:pPr>
            <a:r>
              <a:t>Guía 4 — documentación y rendición de cuentas</a:t>
            </a:r>
          </a:p>
        </p:txBody>
      </p:sp>
      <p:pic>
        <p:nvPicPr>
          <p:cNvPr id="4" name="Picture 3" descr="G4_p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115568"/>
            <a:ext cx="5669280" cy="801309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309360" y="1143000"/>
            <a:ext cx="5394960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80">
                <a:solidFill>
                  <a:srgbClr val="232D38"/>
                </a:solidFill>
              </a:defRPr>
            </a:pPr>
            <a:r>
              <a:t>• La guía incluye documentación y un marco de rendición de cuentas.</a:t>
            </a:r>
          </a:p>
          <a:p>
            <a:pPr>
              <a:spcAft>
                <a:spcPts val="700"/>
              </a:spcAft>
              <a:defRPr sz="1380">
                <a:solidFill>
                  <a:srgbClr val="232D38"/>
                </a:solidFill>
              </a:defRPr>
            </a:pPr>
            <a:r>
              <a:t>• La documentación debe permitir reconstruir qué se hizo, con qué evidencia y quién fue responsable.</a:t>
            </a:r>
          </a:p>
          <a:p>
            <a:pPr>
              <a:spcAft>
                <a:spcPts val="700"/>
              </a:spcAft>
              <a:defRPr sz="1380">
                <a:solidFill>
                  <a:srgbClr val="232D38"/>
                </a:solidFill>
              </a:defRPr>
            </a:pPr>
            <a:r>
              <a:t>• En un sistema clínico, esto se conecta con versión, datos, pruebas, riesgos, supervisión y cambios.</a:t>
            </a:r>
          </a:p>
          <a:p>
            <a:pPr>
              <a:spcAft>
                <a:spcPts val="700"/>
              </a:spcAft>
              <a:defRPr sz="1380">
                <a:solidFill>
                  <a:srgbClr val="232D38"/>
                </a:solidFill>
              </a:defRPr>
            </a:pPr>
            <a:r>
              <a:t>• Una buena auditoría necesita trazabilidad.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56248"/>
            <a:ext cx="12191695" cy="301752"/>
          </a:xfrm>
          <a:prstGeom prst="rect">
            <a:avLst/>
          </a:prstGeom>
          <a:solidFill>
            <a:srgbClr val="0F3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2608" y="6583680"/>
            <a:ext cx="1152144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FFFFFF"/>
                </a:solidFill>
              </a:defRPr>
            </a:pPr>
            <a:r>
              <a:t>Guía 4, apartados 4.11–4.13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37160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118F91"/>
                </a:solidFill>
              </a:defRPr>
            </a:pPr>
            <a:r>
              <a:t>K. DOCUMENTACIÓN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365760"/>
            <a:ext cx="110642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0F3052"/>
                </a:solidFill>
              </a:defRPr>
            </a:pPr>
            <a:r>
              <a:t>El expediente mínimo de una IA clínica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207008"/>
            <a:ext cx="5486400" cy="5029200"/>
          </a:xfrm>
          <a:prstGeom prst="roundRect">
            <a:avLst/>
          </a:prstGeom>
          <a:solidFill>
            <a:srgbClr val="F4F7FA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1207008"/>
            <a:ext cx="73152" cy="5029200"/>
          </a:xfrm>
          <a:prstGeom prst="rect">
            <a:avLst/>
          </a:prstGeom>
          <a:solidFill>
            <a:srgbClr val="118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316736"/>
            <a:ext cx="51663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50" b="1">
                <a:solidFill>
                  <a:srgbClr val="0F3052"/>
                </a:solidFill>
              </a:defRPr>
            </a:pPr>
            <a:r>
              <a:t>ANTES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73936"/>
            <a:ext cx="5166360" cy="437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20">
                <a:solidFill>
                  <a:srgbClr val="232D38"/>
                </a:solidFill>
              </a:defRPr>
            </a:pPr>
            <a:r>
              <a:t>• Finalidad.</a:t>
            </a:r>
            <a:br/>
            <a:r>
              <a:t>• Contexto.</a:t>
            </a:r>
            <a:br/>
            <a:r>
              <a:t>• Datos.</a:t>
            </a:r>
            <a:br/>
            <a:r>
              <a:t>• Riesgos.</a:t>
            </a:r>
            <a:br/>
            <a:r>
              <a:t>• Supervisión.</a:t>
            </a:r>
            <a:br/>
            <a:r>
              <a:t>• Plan de pruebas.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99632" y="1207008"/>
            <a:ext cx="5486400" cy="5029200"/>
          </a:xfrm>
          <a:prstGeom prst="roundRect">
            <a:avLst/>
          </a:prstGeom>
          <a:solidFill>
            <a:srgbClr val="F4F7FA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99632" y="1207008"/>
            <a:ext cx="73152" cy="5029200"/>
          </a:xfrm>
          <a:prstGeom prst="rect">
            <a:avLst/>
          </a:prstGeom>
          <a:solidFill>
            <a:srgbClr val="D76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82512" y="1316736"/>
            <a:ext cx="51663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50" b="1">
                <a:solidFill>
                  <a:srgbClr val="0F3052"/>
                </a:solidFill>
              </a:defRPr>
            </a:pPr>
            <a:r>
              <a:t>DESPUÉS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82512" y="1773936"/>
            <a:ext cx="5166360" cy="437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20">
                <a:solidFill>
                  <a:srgbClr val="232D38"/>
                </a:solidFill>
              </a:defRPr>
            </a:pPr>
            <a:r>
              <a:t>• Resultados.</a:t>
            </a:r>
            <a:br/>
            <a:r>
              <a:t>• Incidentes.</a:t>
            </a:r>
            <a:br/>
            <a:r>
              <a:t>• Cambios.</a:t>
            </a:r>
            <a:br/>
            <a:r>
              <a:t>• Riesgo residual.</a:t>
            </a:r>
            <a:br/>
            <a:r>
              <a:t>• Vigilancia.</a:t>
            </a:r>
            <a:br/>
            <a:r>
              <a:t>• Decisión de continuidad/revisión.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56248"/>
            <a:ext cx="12191695" cy="301752"/>
          </a:xfrm>
          <a:prstGeom prst="rect">
            <a:avLst/>
          </a:prstGeom>
          <a:solidFill>
            <a:srgbClr val="0F3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2608" y="6583680"/>
            <a:ext cx="1152144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FFFFFF"/>
                </a:solidFill>
              </a:defRPr>
            </a:pPr>
            <a:r>
              <a:t>Integración Guías 4, 5, 6 y 7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37160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118F91"/>
                </a:solidFill>
              </a:defRPr>
            </a:pPr>
            <a:r>
              <a:t>L. TALLER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365760"/>
            <a:ext cx="110642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0F3052"/>
                </a:solidFill>
              </a:defRPr>
            </a:pPr>
            <a:r>
              <a:t>Guía 7 — dimensiones y controles de calidad del dato</a:t>
            </a:r>
          </a:p>
        </p:txBody>
      </p:sp>
      <p:pic>
        <p:nvPicPr>
          <p:cNvPr id="4" name="Picture 3" descr="G7_p5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115568"/>
            <a:ext cx="5669280" cy="801309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309360" y="1143000"/>
            <a:ext cx="5394960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80">
                <a:solidFill>
                  <a:srgbClr val="232D38"/>
                </a:solidFill>
              </a:defRPr>
            </a:pPr>
            <a:r>
              <a:t>• Los anexos de la Guía 7 están diseñados como catálogos para completar la gobernanza y calidad del dato.</a:t>
            </a:r>
          </a:p>
          <a:p>
            <a:pPr>
              <a:spcAft>
                <a:spcPts val="700"/>
              </a:spcAft>
              <a:defRPr sz="1380">
                <a:solidFill>
                  <a:srgbClr val="232D38"/>
                </a:solidFill>
              </a:defRPr>
            </a:pPr>
            <a:r>
              <a:t>• El estudiante puede usar sus dimensiones y controles para construir una ficha de dataset.</a:t>
            </a:r>
          </a:p>
          <a:p>
            <a:pPr>
              <a:spcAft>
                <a:spcPts val="700"/>
              </a:spcAft>
              <a:defRPr sz="1380">
                <a:solidFill>
                  <a:srgbClr val="232D38"/>
                </a:solidFill>
              </a:defRPr>
            </a:pPr>
            <a:r>
              <a:t>• Ejercicio: seleccionar dimensiones → definir control → definir umbral → registrar resultado.</a:t>
            </a:r>
          </a:p>
          <a:p>
            <a:pPr>
              <a:spcAft>
                <a:spcPts val="700"/>
              </a:spcAft>
              <a:defRPr sz="1380">
                <a:solidFill>
                  <a:srgbClr val="232D38"/>
                </a:solidFill>
              </a:defRPr>
            </a:pPr>
            <a:r>
              <a:t>• Después conectar los fallos con el registro de riesgos.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56248"/>
            <a:ext cx="12191695" cy="301752"/>
          </a:xfrm>
          <a:prstGeom prst="rect">
            <a:avLst/>
          </a:prstGeom>
          <a:solidFill>
            <a:srgbClr val="0F3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2608" y="6583680"/>
            <a:ext cx="1152144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FFFFFF"/>
                </a:solidFill>
              </a:defRPr>
            </a:pPr>
            <a:r>
              <a:t>Guía 7, Anexo B · dimensiones y controles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37160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118F91"/>
                </a:solidFill>
              </a:defRPr>
            </a:pPr>
            <a:r>
              <a:t>L. TALLER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365760"/>
            <a:ext cx="110642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0F3052"/>
                </a:solidFill>
              </a:defRPr>
            </a:pPr>
            <a:r>
              <a:t>Taller 1 — Data Risk Card | 20 minutos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207008"/>
            <a:ext cx="5486400" cy="5029200"/>
          </a:xfrm>
          <a:prstGeom prst="roundRect">
            <a:avLst/>
          </a:prstGeom>
          <a:solidFill>
            <a:srgbClr val="F4F7FA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1207008"/>
            <a:ext cx="73152" cy="5029200"/>
          </a:xfrm>
          <a:prstGeom prst="rect">
            <a:avLst/>
          </a:prstGeom>
          <a:solidFill>
            <a:srgbClr val="118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316736"/>
            <a:ext cx="51663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50" b="1">
                <a:solidFill>
                  <a:srgbClr val="0F3052"/>
                </a:solidFill>
              </a:defRPr>
            </a:pPr>
            <a:r>
              <a:t>INDIVIDUAL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73936"/>
            <a:ext cx="5166360" cy="437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20">
                <a:solidFill>
                  <a:srgbClr val="232D38"/>
                </a:solidFill>
              </a:defRPr>
            </a:pPr>
            <a:r>
              <a:t>• Elegir un caso clínico.</a:t>
            </a:r>
            <a:br/>
            <a:r>
              <a:t>• Describir dataset.</a:t>
            </a:r>
            <a:br/>
            <a:r>
              <a:t>• Identificar 3 riesgos de datos.</a:t>
            </a:r>
            <a:br/>
            <a:r>
              <a:t>• Seleccionar 3 controles.</a:t>
            </a:r>
            <a:br/>
            <a:r>
              <a:t>• Definir una métrica por control.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99632" y="1207008"/>
            <a:ext cx="5486400" cy="5029200"/>
          </a:xfrm>
          <a:prstGeom prst="roundRect">
            <a:avLst/>
          </a:prstGeom>
          <a:solidFill>
            <a:srgbClr val="F4F7FA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99632" y="1207008"/>
            <a:ext cx="73152" cy="5029200"/>
          </a:xfrm>
          <a:prstGeom prst="rect">
            <a:avLst/>
          </a:prstGeom>
          <a:solidFill>
            <a:srgbClr val="D76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82512" y="1316736"/>
            <a:ext cx="51663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50" b="1">
                <a:solidFill>
                  <a:srgbClr val="0F3052"/>
                </a:solidFill>
              </a:defRPr>
            </a:pPr>
            <a:r>
              <a:t>ENTREGABLE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82512" y="1773936"/>
            <a:ext cx="5166360" cy="437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20">
                <a:solidFill>
                  <a:srgbClr val="232D38"/>
                </a:solidFill>
              </a:defRPr>
            </a:pPr>
            <a:r>
              <a:t>• 1 página.</a:t>
            </a:r>
            <a:br/>
            <a:r>
              <a:t>• Fuente de datos.</a:t>
            </a:r>
            <a:br/>
            <a:r>
              <a:t>• Población.</a:t>
            </a:r>
            <a:br/>
            <a:r>
              <a:t>• Calidad.</a:t>
            </a:r>
            <a:br/>
            <a:r>
              <a:t>• Sesgo potencial.</a:t>
            </a:r>
            <a:br/>
            <a:r>
              <a:t>• Controles.</a:t>
            </a:r>
            <a:br/>
            <a:r>
              <a:t>• Evidencia requerida.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56248"/>
            <a:ext cx="12191695" cy="301752"/>
          </a:xfrm>
          <a:prstGeom prst="rect">
            <a:avLst/>
          </a:prstGeom>
          <a:solidFill>
            <a:srgbClr val="0F3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2608" y="6583680"/>
            <a:ext cx="1152144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FFFFFF"/>
                </a:solidFill>
              </a:defRPr>
            </a:pPr>
            <a:r>
              <a:t>Guía 7 + Guía 5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37160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118F91"/>
                </a:solidFill>
              </a:defRPr>
            </a:pPr>
            <a:r>
              <a:t>L. TALLER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365760"/>
            <a:ext cx="110642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0F3052"/>
                </a:solidFill>
              </a:defRPr>
            </a:pPr>
            <a:r>
              <a:t>Taller 2 — Human Oversight Card | 15 minutos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207008"/>
            <a:ext cx="5486400" cy="5029200"/>
          </a:xfrm>
          <a:prstGeom prst="roundRect">
            <a:avLst/>
          </a:prstGeom>
          <a:solidFill>
            <a:srgbClr val="F4F7FA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1207008"/>
            <a:ext cx="73152" cy="5029200"/>
          </a:xfrm>
          <a:prstGeom prst="rect">
            <a:avLst/>
          </a:prstGeom>
          <a:solidFill>
            <a:srgbClr val="118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316736"/>
            <a:ext cx="51663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50" b="1">
                <a:solidFill>
                  <a:srgbClr val="0F3052"/>
                </a:solidFill>
              </a:defRPr>
            </a:pPr>
            <a:r>
              <a:t>DISEÑAR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73936"/>
            <a:ext cx="5166360" cy="437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20">
                <a:solidFill>
                  <a:srgbClr val="232D38"/>
                </a:solidFill>
              </a:defRPr>
            </a:pPr>
            <a:r>
              <a:t>• Qué ve el profesional.</a:t>
            </a:r>
            <a:br/>
            <a:r>
              <a:t>• Qué puede aceptar/rechazar.</a:t>
            </a:r>
            <a:br/>
            <a:r>
              <a:t>• Cuándo debe intervenir.</a:t>
            </a:r>
            <a:br/>
            <a:r>
              <a:t>• Qué alerta recibe.</a:t>
            </a:r>
            <a:br/>
            <a:r>
              <a:t>• Qué registra.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99632" y="1207008"/>
            <a:ext cx="5486400" cy="5029200"/>
          </a:xfrm>
          <a:prstGeom prst="roundRect">
            <a:avLst/>
          </a:prstGeom>
          <a:solidFill>
            <a:srgbClr val="F4F7FA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99632" y="1207008"/>
            <a:ext cx="73152" cy="5029200"/>
          </a:xfrm>
          <a:prstGeom prst="rect">
            <a:avLst/>
          </a:prstGeom>
          <a:solidFill>
            <a:srgbClr val="D76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82512" y="1316736"/>
            <a:ext cx="51663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50" b="1">
                <a:solidFill>
                  <a:srgbClr val="0F3052"/>
                </a:solidFill>
              </a:defRPr>
            </a:pPr>
            <a:r>
              <a:t>PRUEBAR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82512" y="1773936"/>
            <a:ext cx="5166360" cy="437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20">
                <a:solidFill>
                  <a:srgbClr val="232D38"/>
                </a:solidFill>
              </a:defRPr>
            </a:pPr>
            <a:r>
              <a:t>• Caso normal.</a:t>
            </a:r>
            <a:br/>
            <a:r>
              <a:t>• Caso ambiguo.</a:t>
            </a:r>
            <a:br/>
            <a:r>
              <a:t>• Caso peligroso.</a:t>
            </a:r>
            <a:br/>
            <a:r>
              <a:t>• Dato faltante.</a:t>
            </a:r>
            <a:br/>
            <a:r>
              <a:t>• Fallo del sistema.</a:t>
            </a:r>
            <a:br/>
            <a:r>
              <a:t>• Decisión de parada.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56248"/>
            <a:ext cx="12191695" cy="301752"/>
          </a:xfrm>
          <a:prstGeom prst="rect">
            <a:avLst/>
          </a:prstGeom>
          <a:solidFill>
            <a:srgbClr val="0F3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2608" y="6583680"/>
            <a:ext cx="1152144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FFFFFF"/>
                </a:solidFill>
              </a:defRPr>
            </a:pPr>
            <a:r>
              <a:t>Guía 6 · supervisión humana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37160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118F91"/>
                </a:solidFill>
              </a:defRPr>
            </a:pPr>
            <a:r>
              <a:t>L. TALLER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365760"/>
            <a:ext cx="110642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0F3052"/>
                </a:solidFill>
              </a:defRPr>
            </a:pPr>
            <a:r>
              <a:t>Taller 3 — Validation Matrix | 20 minutos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207008"/>
            <a:ext cx="5486400" cy="5029200"/>
          </a:xfrm>
          <a:prstGeom prst="roundRect">
            <a:avLst/>
          </a:prstGeom>
          <a:solidFill>
            <a:srgbClr val="F4F7FA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1207008"/>
            <a:ext cx="73152" cy="5029200"/>
          </a:xfrm>
          <a:prstGeom prst="rect">
            <a:avLst/>
          </a:prstGeom>
          <a:solidFill>
            <a:srgbClr val="118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316736"/>
            <a:ext cx="51663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50" b="1">
                <a:solidFill>
                  <a:srgbClr val="0F3052"/>
                </a:solidFill>
              </a:defRPr>
            </a:pPr>
            <a:r>
              <a:t>EJE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73936"/>
            <a:ext cx="5166360" cy="437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20">
                <a:solidFill>
                  <a:srgbClr val="232D38"/>
                </a:solidFill>
              </a:defRPr>
            </a:pPr>
            <a:r>
              <a:t>• Datos.</a:t>
            </a:r>
            <a:br/>
            <a:r>
              <a:t>• Modelo.</a:t>
            </a:r>
            <a:br/>
            <a:r>
              <a:t>• Sistema.</a:t>
            </a:r>
            <a:br/>
            <a:r>
              <a:t>• Humano.</a:t>
            </a:r>
            <a:br/>
            <a:r>
              <a:t>• Contexto clínico.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99632" y="1207008"/>
            <a:ext cx="5486400" cy="5029200"/>
          </a:xfrm>
          <a:prstGeom prst="roundRect">
            <a:avLst/>
          </a:prstGeom>
          <a:solidFill>
            <a:srgbClr val="F4F7FA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99632" y="1207008"/>
            <a:ext cx="73152" cy="5029200"/>
          </a:xfrm>
          <a:prstGeom prst="rect">
            <a:avLst/>
          </a:prstGeom>
          <a:solidFill>
            <a:srgbClr val="D76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82512" y="1316736"/>
            <a:ext cx="51663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50" b="1">
                <a:solidFill>
                  <a:srgbClr val="0F3052"/>
                </a:solidFill>
              </a:defRPr>
            </a:pPr>
            <a:r>
              <a:t>PARA CADA EJE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82512" y="1773936"/>
            <a:ext cx="5166360" cy="437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20">
                <a:solidFill>
                  <a:srgbClr val="232D38"/>
                </a:solidFill>
              </a:defRPr>
            </a:pPr>
            <a:r>
              <a:t>• Prueba.</a:t>
            </a:r>
            <a:br/>
            <a:r>
              <a:t>• Métrica.</a:t>
            </a:r>
            <a:br/>
            <a:r>
              <a:t>• Umbral.</a:t>
            </a:r>
            <a:br/>
            <a:r>
              <a:t>• Muestra.</a:t>
            </a:r>
            <a:br/>
            <a:r>
              <a:t>• Resultado esperado.</a:t>
            </a:r>
            <a:br/>
            <a:r>
              <a:t>• Criterio de fallo.</a:t>
            </a:r>
            <a:br/>
            <a:r>
              <a:t>• Acción.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56248"/>
            <a:ext cx="12191695" cy="301752"/>
          </a:xfrm>
          <a:prstGeom prst="rect">
            <a:avLst/>
          </a:prstGeom>
          <a:solidFill>
            <a:srgbClr val="0F3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2608" y="6583680"/>
            <a:ext cx="1152144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FFFFFF"/>
                </a:solidFill>
              </a:defRPr>
            </a:pPr>
            <a:r>
              <a:t>Guías 4, 5, 6 y 7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37160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118F91"/>
                </a:solidFill>
              </a:defRPr>
            </a:pPr>
            <a:r>
              <a:t>L. TALLER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365760"/>
            <a:ext cx="110642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0F3052"/>
                </a:solidFill>
              </a:defRPr>
            </a:pPr>
            <a:r>
              <a:t>Taller 4 — Conformity &amp; Change Card | 15 minutos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207008"/>
            <a:ext cx="5486400" cy="5029200"/>
          </a:xfrm>
          <a:prstGeom prst="roundRect">
            <a:avLst/>
          </a:prstGeom>
          <a:solidFill>
            <a:srgbClr val="F4F7FA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1207008"/>
            <a:ext cx="73152" cy="5029200"/>
          </a:xfrm>
          <a:prstGeom prst="rect">
            <a:avLst/>
          </a:prstGeom>
          <a:solidFill>
            <a:srgbClr val="118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316736"/>
            <a:ext cx="51663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50" b="1">
                <a:solidFill>
                  <a:srgbClr val="0F3052"/>
                </a:solidFill>
              </a:defRPr>
            </a:pPr>
            <a:r>
              <a:t>ESCENARIO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73936"/>
            <a:ext cx="5166360" cy="437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20">
                <a:solidFill>
                  <a:srgbClr val="232D38"/>
                </a:solidFill>
              </a:defRPr>
            </a:pPr>
            <a:r>
              <a:t>• Modelo actualizado.</a:t>
            </a:r>
            <a:br/>
            <a:r>
              <a:t>• Nueva población.</a:t>
            </a:r>
            <a:br/>
            <a:r>
              <a:t>• Nueva finalidad.</a:t>
            </a:r>
            <a:br/>
            <a:r>
              <a:t>• Nuevo dispositivo.</a:t>
            </a:r>
            <a:br/>
            <a:r>
              <a:t>• Cambio de umbral.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99632" y="1207008"/>
            <a:ext cx="5486400" cy="5029200"/>
          </a:xfrm>
          <a:prstGeom prst="roundRect">
            <a:avLst/>
          </a:prstGeom>
          <a:solidFill>
            <a:srgbClr val="F4F7FA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99632" y="1207008"/>
            <a:ext cx="73152" cy="5029200"/>
          </a:xfrm>
          <a:prstGeom prst="rect">
            <a:avLst/>
          </a:prstGeom>
          <a:solidFill>
            <a:srgbClr val="D76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82512" y="1316736"/>
            <a:ext cx="51663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50" b="1">
                <a:solidFill>
                  <a:srgbClr val="0F3052"/>
                </a:solidFill>
              </a:defRPr>
            </a:pPr>
            <a:r>
              <a:t>PREGUNTAS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82512" y="1773936"/>
            <a:ext cx="5166360" cy="437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20">
                <a:solidFill>
                  <a:srgbClr val="232D38"/>
                </a:solidFill>
              </a:defRPr>
            </a:pPr>
            <a:r>
              <a:t>• ¿Qué cambió?</a:t>
            </a:r>
            <a:br/>
            <a:r>
              <a:t>• ¿Afecta riesgo?</a:t>
            </a:r>
            <a:br/>
            <a:r>
              <a:t>• ¿Qué pruebas repetir?</a:t>
            </a:r>
            <a:br/>
            <a:r>
              <a:t>• ¿Qué documentación actualizar?</a:t>
            </a:r>
            <a:br/>
            <a:r>
              <a:t>• ¿Qué evaluación de conformidad aplica?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56248"/>
            <a:ext cx="12191695" cy="301752"/>
          </a:xfrm>
          <a:prstGeom prst="rect">
            <a:avLst/>
          </a:prstGeom>
          <a:solidFill>
            <a:srgbClr val="0F3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2608" y="6583680"/>
            <a:ext cx="1152144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FFFFFF"/>
                </a:solidFill>
              </a:defRPr>
            </a:pPr>
            <a:r>
              <a:t>Guía 3 + Guía 4 + Guía 5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37160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118F91"/>
                </a:solidFill>
              </a:defRPr>
            </a:pPr>
            <a:r>
              <a:t>M. CASO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365760"/>
            <a:ext cx="110642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0F3052"/>
                </a:solidFill>
              </a:defRPr>
            </a:pPr>
            <a:r>
              <a:t>Caso integrador — IA para priorización en urgencias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207008"/>
            <a:ext cx="5486400" cy="5029200"/>
          </a:xfrm>
          <a:prstGeom prst="roundRect">
            <a:avLst/>
          </a:prstGeom>
          <a:solidFill>
            <a:srgbClr val="F4F7FA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1207008"/>
            <a:ext cx="73152" cy="5029200"/>
          </a:xfrm>
          <a:prstGeom prst="rect">
            <a:avLst/>
          </a:prstGeom>
          <a:solidFill>
            <a:srgbClr val="118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316736"/>
            <a:ext cx="51663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50" b="1">
                <a:solidFill>
                  <a:srgbClr val="0F3052"/>
                </a:solidFill>
              </a:defRPr>
            </a:pPr>
            <a:r>
              <a:t>ENTRADA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73936"/>
            <a:ext cx="5166360" cy="437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20">
                <a:solidFill>
                  <a:srgbClr val="232D38"/>
                </a:solidFill>
              </a:defRPr>
            </a:pPr>
            <a:r>
              <a:t>• Datos locales.</a:t>
            </a:r>
            <a:br/>
            <a:r>
              <a:t>• Modelo externo.</a:t>
            </a:r>
            <a:br/>
            <a:r>
              <a:t>• Salida de prioridad.</a:t>
            </a:r>
            <a:br/>
            <a:r>
              <a:t>• Profesional supervisa.</a:t>
            </a:r>
            <a:br/>
            <a:r>
              <a:t>• Hospital quiere piloto de 4 semanas.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99632" y="1207008"/>
            <a:ext cx="5486400" cy="5029200"/>
          </a:xfrm>
          <a:prstGeom prst="roundRect">
            <a:avLst/>
          </a:prstGeom>
          <a:solidFill>
            <a:srgbClr val="F4F7FA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99632" y="1207008"/>
            <a:ext cx="73152" cy="5029200"/>
          </a:xfrm>
          <a:prstGeom prst="rect">
            <a:avLst/>
          </a:prstGeom>
          <a:solidFill>
            <a:srgbClr val="D76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82512" y="1316736"/>
            <a:ext cx="51663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50" b="1">
                <a:solidFill>
                  <a:srgbClr val="0F3052"/>
                </a:solidFill>
              </a:defRPr>
            </a:pPr>
            <a:r>
              <a:t>GRUPO DEBE ENTREGAR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82512" y="1773936"/>
            <a:ext cx="5166360" cy="437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20">
                <a:solidFill>
                  <a:srgbClr val="232D38"/>
                </a:solidFill>
              </a:defRPr>
            </a:pPr>
            <a:r>
              <a:t>• Mapa regulatorio.</a:t>
            </a:r>
            <a:br/>
            <a:r>
              <a:t>• Data Risk Card.</a:t>
            </a:r>
            <a:br/>
            <a:r>
              <a:t>• Risk Register.</a:t>
            </a:r>
            <a:br/>
            <a:r>
              <a:t>• Human Oversight Card.</a:t>
            </a:r>
            <a:br/>
            <a:r>
              <a:t>• Validation Matrix.</a:t>
            </a:r>
            <a:br/>
            <a:r>
              <a:t>• Plan de vigilancia.</a:t>
            </a:r>
            <a:br/>
            <a:r>
              <a:t>• Criterios de parada.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56248"/>
            <a:ext cx="12191695" cy="301752"/>
          </a:xfrm>
          <a:prstGeom prst="rect">
            <a:avLst/>
          </a:prstGeom>
          <a:solidFill>
            <a:srgbClr val="0F3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2608" y="6583680"/>
            <a:ext cx="1152144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FFFFFF"/>
                </a:solidFill>
              </a:defRPr>
            </a:pPr>
            <a:r>
              <a:t>Guías 1, 3, 4, 5, 6 y 7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37160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118F91"/>
                </a:solidFill>
              </a:defRPr>
            </a:pPr>
            <a:r>
              <a:t>M. CASO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365760"/>
            <a:ext cx="110642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0F3052"/>
                </a:solidFill>
              </a:defRPr>
            </a:pPr>
            <a:r>
              <a:t>Caso integrador — preguntas que deben defender oralmente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207008"/>
            <a:ext cx="5486400" cy="5029200"/>
          </a:xfrm>
          <a:prstGeom prst="roundRect">
            <a:avLst/>
          </a:prstGeom>
          <a:solidFill>
            <a:srgbClr val="F4F7FA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1207008"/>
            <a:ext cx="73152" cy="5029200"/>
          </a:xfrm>
          <a:prstGeom prst="rect">
            <a:avLst/>
          </a:prstGeom>
          <a:solidFill>
            <a:srgbClr val="118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316736"/>
            <a:ext cx="51663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50" b="1">
                <a:solidFill>
                  <a:srgbClr val="0F3052"/>
                </a:solidFill>
              </a:defRPr>
            </a:pPr>
            <a:r>
              <a:t>CIENCIA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73936"/>
            <a:ext cx="5166360" cy="437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20">
                <a:solidFill>
                  <a:srgbClr val="232D38"/>
                </a:solidFill>
              </a:defRPr>
            </a:pPr>
            <a:r>
              <a:t>• ¿Qué evidencia demuestra rendimiento?</a:t>
            </a:r>
            <a:br/>
            <a:r>
              <a:t>• ¿Qué población representa?</a:t>
            </a:r>
            <a:br/>
            <a:r>
              <a:t>• ¿Qué errores son clínicamente relevantes?</a:t>
            </a:r>
            <a:br/>
            <a:r>
              <a:t>• ¿Qué sesgo puede existir?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99632" y="1207008"/>
            <a:ext cx="5486400" cy="5029200"/>
          </a:xfrm>
          <a:prstGeom prst="roundRect">
            <a:avLst/>
          </a:prstGeom>
          <a:solidFill>
            <a:srgbClr val="F4F7FA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99632" y="1207008"/>
            <a:ext cx="73152" cy="5029200"/>
          </a:xfrm>
          <a:prstGeom prst="rect">
            <a:avLst/>
          </a:prstGeom>
          <a:solidFill>
            <a:srgbClr val="D76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82512" y="1316736"/>
            <a:ext cx="51663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50" b="1">
                <a:solidFill>
                  <a:srgbClr val="0F3052"/>
                </a:solidFill>
              </a:defRPr>
            </a:pPr>
            <a:r>
              <a:t>GOBERNANZA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82512" y="1773936"/>
            <a:ext cx="5166360" cy="437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20">
                <a:solidFill>
                  <a:srgbClr val="232D38"/>
                </a:solidFill>
              </a:defRPr>
            </a:pPr>
            <a:r>
              <a:t>• ¿Quién supervisa?</a:t>
            </a:r>
            <a:br/>
            <a:r>
              <a:t>• ¿Quién puede detener?</a:t>
            </a:r>
            <a:br/>
            <a:r>
              <a:t>• ¿Qué queda registrado?</a:t>
            </a:r>
            <a:br/>
            <a:r>
              <a:t>• ¿Qué ocurre después de un incidente?</a:t>
            </a:r>
            <a:br/>
            <a:r>
              <a:t>• ¿Qué cambia si actualizamos el modelo?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56248"/>
            <a:ext cx="12191695" cy="301752"/>
          </a:xfrm>
          <a:prstGeom prst="rect">
            <a:avLst/>
          </a:prstGeom>
          <a:solidFill>
            <a:srgbClr val="0F3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2608" y="6583680"/>
            <a:ext cx="1152144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FFFFFF"/>
                </a:solidFill>
              </a:defRPr>
            </a:pPr>
            <a:r>
              <a:t>Integración de todas las guías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37160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118F91"/>
                </a:solidFill>
              </a:defRPr>
            </a:pPr>
            <a:r>
              <a:t>N. SÍNTESIS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365760"/>
            <a:ext cx="110642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0F3052"/>
                </a:solidFill>
              </a:defRPr>
            </a:pPr>
            <a:r>
              <a:t>Guía 3 + Guía 4 + Guía 5 — tres niveles de evidencia</a:t>
            </a:r>
          </a:p>
        </p:txBody>
      </p:sp>
      <p:pic>
        <p:nvPicPr>
          <p:cNvPr id="4" name="Picture 3" descr="G3_p3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115568"/>
            <a:ext cx="5669280" cy="801309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309360" y="1143000"/>
            <a:ext cx="5394960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80">
                <a:solidFill>
                  <a:srgbClr val="232D38"/>
                </a:solidFill>
              </a:defRPr>
            </a:pPr>
            <a:r>
              <a:t>• Nivel 1: evidencia de funcionamiento y pruebas del sistema.</a:t>
            </a:r>
          </a:p>
          <a:p>
            <a:pPr>
              <a:spcAft>
                <a:spcPts val="700"/>
              </a:spcAft>
              <a:defRPr sz="1380">
                <a:solidFill>
                  <a:srgbClr val="232D38"/>
                </a:solidFill>
              </a:defRPr>
            </a:pPr>
            <a:r>
              <a:t>• Nivel 2: sistema de calidad, documentación, riesgos y vigilancia.</a:t>
            </a:r>
          </a:p>
          <a:p>
            <a:pPr>
              <a:spcAft>
                <a:spcPts val="700"/>
              </a:spcAft>
              <a:defRPr sz="1380">
                <a:solidFill>
                  <a:srgbClr val="232D38"/>
                </a:solidFill>
              </a:defRPr>
            </a:pPr>
            <a:r>
              <a:t>• Nivel 3: evaluación de conformidad aplicable y gestión de modificaciones.</a:t>
            </a:r>
          </a:p>
          <a:p>
            <a:pPr>
              <a:spcAft>
                <a:spcPts val="700"/>
              </a:spcAft>
              <a:defRPr sz="1380">
                <a:solidFill>
                  <a:srgbClr val="232D38"/>
                </a:solidFill>
              </a:defRPr>
            </a:pPr>
            <a:r>
              <a:t>• La clase debe aprender a no confundir estos niveles.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56248"/>
            <a:ext cx="12191695" cy="301752"/>
          </a:xfrm>
          <a:prstGeom prst="rect">
            <a:avLst/>
          </a:prstGeom>
          <a:solidFill>
            <a:srgbClr val="0F3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2608" y="6583680"/>
            <a:ext cx="1152144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FFFFFF"/>
                </a:solidFill>
              </a:defRPr>
            </a:pPr>
            <a:r>
              <a:t>Guías 3, 4 y 5 · evaluación de conformidad, calidad y riesgo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37160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118F91"/>
                </a:solidFill>
              </a:defRPr>
            </a:pPr>
            <a:r>
              <a:t>O. EVALUACIÓN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365760"/>
            <a:ext cx="110642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0F3052"/>
                </a:solidFill>
              </a:defRPr>
            </a:pPr>
            <a:r>
              <a:t>10 preguntas de examen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207008"/>
            <a:ext cx="5486400" cy="5029200"/>
          </a:xfrm>
          <a:prstGeom prst="roundRect">
            <a:avLst/>
          </a:prstGeom>
          <a:solidFill>
            <a:srgbClr val="F4F7FA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1207008"/>
            <a:ext cx="73152" cy="5029200"/>
          </a:xfrm>
          <a:prstGeom prst="rect">
            <a:avLst/>
          </a:prstGeom>
          <a:solidFill>
            <a:srgbClr val="118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316736"/>
            <a:ext cx="51663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50" b="1">
                <a:solidFill>
                  <a:srgbClr val="0F3052"/>
                </a:solidFill>
              </a:defRPr>
            </a:pPr>
            <a:r>
              <a:t>1–5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73936"/>
            <a:ext cx="5166360" cy="437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20">
                <a:solidFill>
                  <a:srgbClr val="232D38"/>
                </a:solidFill>
              </a:defRPr>
            </a:pPr>
            <a:r>
              <a:t>• ¿Qué aporta la Guía 7 antes del modelo?</a:t>
            </a:r>
            <a:br/>
            <a:r>
              <a:t>• ¿Qué es riesgo residual?</a:t>
            </a:r>
            <a:br/>
            <a:r>
              <a:t>• ¿Por qué la supervisión humana debe diseñarse?</a:t>
            </a:r>
            <a:br/>
            <a:r>
              <a:t>• ¿Qué diferencia hay entre calidad y riesgo?</a:t>
            </a:r>
            <a:br/>
            <a:r>
              <a:t>• ¿Por qué importa la validación local?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99632" y="1207008"/>
            <a:ext cx="5486400" cy="5029200"/>
          </a:xfrm>
          <a:prstGeom prst="roundRect">
            <a:avLst/>
          </a:prstGeom>
          <a:solidFill>
            <a:srgbClr val="F4F7FA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99632" y="1207008"/>
            <a:ext cx="73152" cy="5029200"/>
          </a:xfrm>
          <a:prstGeom prst="rect">
            <a:avLst/>
          </a:prstGeom>
          <a:solidFill>
            <a:srgbClr val="D76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82512" y="1316736"/>
            <a:ext cx="51663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50" b="1">
                <a:solidFill>
                  <a:srgbClr val="0F3052"/>
                </a:solidFill>
              </a:defRPr>
            </a:pPr>
            <a:r>
              <a:t>6–10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82512" y="1773936"/>
            <a:ext cx="5166360" cy="437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20">
                <a:solidFill>
                  <a:srgbClr val="232D38"/>
                </a:solidFill>
              </a:defRPr>
            </a:pPr>
            <a:r>
              <a:t>• ¿Qué es vigilancia poscomercialización?</a:t>
            </a:r>
            <a:br/>
            <a:r>
              <a:t>• ¿Qué cambia una modificación sustancial?</a:t>
            </a:r>
            <a:br/>
            <a:r>
              <a:t>• ¿Qué evidencia debe conservarse?</a:t>
            </a:r>
            <a:br/>
            <a:r>
              <a:t>• ¿Qué hace auditable una prueba?</a:t>
            </a:r>
            <a:br/>
            <a:r>
              <a:t>• ¿Qué debe poder hacer el humano ante una salida peligrosa?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56248"/>
            <a:ext cx="12191695" cy="301752"/>
          </a:xfrm>
          <a:prstGeom prst="rect">
            <a:avLst/>
          </a:prstGeom>
          <a:solidFill>
            <a:srgbClr val="0F3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2608" y="6583680"/>
            <a:ext cx="1152144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FFFFFF"/>
                </a:solidFill>
              </a:defRPr>
            </a:pPr>
            <a:r>
              <a:t>Guías 1, 3, 4, 5, 6 y 7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37160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118F91"/>
                </a:solidFill>
              </a:defRPr>
            </a:pPr>
            <a:r>
              <a:t>O. EVALUACIÓN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365760"/>
            <a:ext cx="110642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0F3052"/>
                </a:solidFill>
              </a:defRPr>
            </a:pPr>
            <a:r>
              <a:t>10 preguntas clínicas de aplicación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207008"/>
            <a:ext cx="5486400" cy="5029200"/>
          </a:xfrm>
          <a:prstGeom prst="roundRect">
            <a:avLst/>
          </a:prstGeom>
          <a:solidFill>
            <a:srgbClr val="F4F7FA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1207008"/>
            <a:ext cx="73152" cy="5029200"/>
          </a:xfrm>
          <a:prstGeom prst="rect">
            <a:avLst/>
          </a:prstGeom>
          <a:solidFill>
            <a:srgbClr val="118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316736"/>
            <a:ext cx="51663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50" b="1">
                <a:solidFill>
                  <a:srgbClr val="0F3052"/>
                </a:solidFill>
              </a:defRPr>
            </a:pPr>
            <a:r>
              <a:t>CASOS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73936"/>
            <a:ext cx="5166360" cy="437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20">
                <a:solidFill>
                  <a:srgbClr val="232D38"/>
                </a:solidFill>
              </a:defRPr>
            </a:pPr>
            <a:r>
              <a:t>• LLM omite alergia.</a:t>
            </a:r>
            <a:br/>
            <a:r>
              <a:t>• Imagen falla en otro equipo.</a:t>
            </a:r>
            <a:br/>
            <a:r>
              <a:t>• Triage falla en un subgrupo.</a:t>
            </a:r>
            <a:br/>
            <a:r>
              <a:t>• Alarma remota genera fatiga.</a:t>
            </a:r>
            <a:br/>
            <a:r>
              <a:t>• Modelo se actualiza.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99632" y="1207008"/>
            <a:ext cx="5486400" cy="5029200"/>
          </a:xfrm>
          <a:prstGeom prst="roundRect">
            <a:avLst/>
          </a:prstGeom>
          <a:solidFill>
            <a:srgbClr val="F4F7FA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99632" y="1207008"/>
            <a:ext cx="73152" cy="5029200"/>
          </a:xfrm>
          <a:prstGeom prst="rect">
            <a:avLst/>
          </a:prstGeom>
          <a:solidFill>
            <a:srgbClr val="D76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82512" y="1316736"/>
            <a:ext cx="51663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50" b="1">
                <a:solidFill>
                  <a:srgbClr val="0F3052"/>
                </a:solidFill>
              </a:defRPr>
            </a:pPr>
            <a:r>
              <a:t>RESPONDER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82512" y="1773936"/>
            <a:ext cx="5166360" cy="437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20">
                <a:solidFill>
                  <a:srgbClr val="232D38"/>
                </a:solidFill>
              </a:defRPr>
            </a:pPr>
            <a:r>
              <a:t>• Dato → riesgo → control → supervisión → prueba → métrica → documentación → vigilancia.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56248"/>
            <a:ext cx="12191695" cy="301752"/>
          </a:xfrm>
          <a:prstGeom prst="rect">
            <a:avLst/>
          </a:prstGeom>
          <a:solidFill>
            <a:srgbClr val="0F3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2608" y="6583680"/>
            <a:ext cx="1152144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FFFFFF"/>
                </a:solidFill>
              </a:defRPr>
            </a:pPr>
            <a:r>
              <a:t>Aplicación integrada de las seis guías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37160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118F91"/>
                </a:solidFill>
              </a:defRPr>
            </a:pPr>
            <a:r>
              <a:t>P. PRODUCTO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365760"/>
            <a:ext cx="110642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0F3052"/>
                </a:solidFill>
              </a:defRPr>
            </a:pPr>
            <a:r>
              <a:t>Producto final del estudiante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207008"/>
            <a:ext cx="5486400" cy="5029200"/>
          </a:xfrm>
          <a:prstGeom prst="roundRect">
            <a:avLst/>
          </a:prstGeom>
          <a:solidFill>
            <a:srgbClr val="F4F7FA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1207008"/>
            <a:ext cx="73152" cy="5029200"/>
          </a:xfrm>
          <a:prstGeom prst="rect">
            <a:avLst/>
          </a:prstGeom>
          <a:solidFill>
            <a:srgbClr val="118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316736"/>
            <a:ext cx="51663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50" b="1">
                <a:solidFill>
                  <a:srgbClr val="0F3052"/>
                </a:solidFill>
              </a:defRPr>
            </a:pPr>
            <a:r>
              <a:t>DOCUMENTO DE 2–4 PÁGINAS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73936"/>
            <a:ext cx="5166360" cy="437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20">
                <a:solidFill>
                  <a:srgbClr val="232D38"/>
                </a:solidFill>
              </a:defRPr>
            </a:pPr>
            <a:r>
              <a:t>• Finalidad prevista.</a:t>
            </a:r>
            <a:br/>
            <a:r>
              <a:t>• Contexto.</a:t>
            </a:r>
            <a:br/>
            <a:r>
              <a:t>• Data Risk Card.</a:t>
            </a:r>
            <a:br/>
            <a:r>
              <a:t>• Risk Register.</a:t>
            </a:r>
            <a:br/>
            <a:r>
              <a:t>• Human Oversight Card.</a:t>
            </a:r>
            <a:br/>
            <a:r>
              <a:t>• Validation Matrix.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99632" y="1207008"/>
            <a:ext cx="5486400" cy="5029200"/>
          </a:xfrm>
          <a:prstGeom prst="roundRect">
            <a:avLst/>
          </a:prstGeom>
          <a:solidFill>
            <a:srgbClr val="F4F7FA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99632" y="1207008"/>
            <a:ext cx="73152" cy="5029200"/>
          </a:xfrm>
          <a:prstGeom prst="rect">
            <a:avLst/>
          </a:prstGeom>
          <a:solidFill>
            <a:srgbClr val="D76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82512" y="1316736"/>
            <a:ext cx="51663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50" b="1">
                <a:solidFill>
                  <a:srgbClr val="0F3052"/>
                </a:solidFill>
              </a:defRPr>
            </a:pPr>
            <a:r>
              <a:t>DEFENSA ORAL DE 5 MIN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82512" y="1773936"/>
            <a:ext cx="5166360" cy="437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20">
                <a:solidFill>
                  <a:srgbClr val="232D38"/>
                </a:solidFill>
              </a:defRPr>
            </a:pPr>
            <a:r>
              <a:t>• Qué puede salir mal.</a:t>
            </a:r>
            <a:br/>
            <a:r>
              <a:t>• Qué evidencia lo demuestra.</a:t>
            </a:r>
            <a:br/>
            <a:r>
              <a:t>• Cómo se controla.</a:t>
            </a:r>
            <a:br/>
            <a:r>
              <a:t>• Cómo se prueba.</a:t>
            </a:r>
            <a:br/>
            <a:r>
              <a:t>• Cuándo se detiene.</a:t>
            </a:r>
            <a:br/>
            <a:r>
              <a:t>• Cómo se vigila.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56248"/>
            <a:ext cx="12191695" cy="301752"/>
          </a:xfrm>
          <a:prstGeom prst="rect">
            <a:avLst/>
          </a:prstGeom>
          <a:solidFill>
            <a:srgbClr val="0F3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2608" y="6583680"/>
            <a:ext cx="1152144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FFFFFF"/>
                </a:solidFill>
              </a:defRPr>
            </a:pPr>
            <a:r>
              <a:t>Producto integrador de la sesión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37160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118F91"/>
                </a:solidFill>
              </a:defRPr>
            </a:pPr>
            <a:r>
              <a:t>Q.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365760"/>
            <a:ext cx="110642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0F3052"/>
                </a:solidFill>
              </a:defRPr>
            </a:pPr>
            <a:r>
              <a:t>Fuentes principales utilizadas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1143000"/>
            <a:ext cx="5577840" cy="5212080"/>
          </a:xfrm>
          <a:prstGeom prst="roundRect">
            <a:avLst/>
          </a:prstGeom>
          <a:solidFill>
            <a:srgbClr val="F4F7FA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" y="1143000"/>
            <a:ext cx="73152" cy="5212080"/>
          </a:xfrm>
          <a:prstGeom prst="rect">
            <a:avLst/>
          </a:prstGeom>
          <a:solidFill>
            <a:srgbClr val="118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252728"/>
            <a:ext cx="5257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50" b="1">
                <a:solidFill>
                  <a:srgbClr val="0F3052"/>
                </a:solidFill>
              </a:defRPr>
            </a:pPr>
            <a:r>
              <a:t>GUÍAS DEL SANDBOX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709928"/>
            <a:ext cx="5257800" cy="45537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20">
                <a:solidFill>
                  <a:srgbClr val="232D38"/>
                </a:solidFill>
              </a:defRPr>
            </a:pPr>
            <a:r>
              <a:t>• Guía 1 — Introducción al Reglamento IA.</a:t>
            </a:r>
            <a:br/>
            <a:r>
              <a:t>• Guía 3 — Evaluación de conformidad.</a:t>
            </a:r>
            <a:br/>
            <a:r>
              <a:t>• Guía 4 — Sistema de gestión de calidad.</a:t>
            </a:r>
            <a:br/>
            <a:r>
              <a:t>• Guía 5 — Sistema de gestión de riesgos.</a:t>
            </a:r>
            <a:br/>
            <a:r>
              <a:t>• Guía 6 — Supervisión humana.</a:t>
            </a:r>
            <a:br/>
            <a:r>
              <a:t>• Guía 7 — Datos y gobernanza del dato.</a:t>
            </a:r>
            <a:br/>
            <a:br/>
            <a:r>
              <a:t>Versiones consultadas: 17 de julio de 2026.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143000"/>
            <a:ext cx="5532120" cy="5212080"/>
          </a:xfrm>
          <a:prstGeom prst="roundRect">
            <a:avLst/>
          </a:prstGeom>
          <a:solidFill>
            <a:srgbClr val="F4F7FA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0" y="1143000"/>
            <a:ext cx="73152" cy="5212080"/>
          </a:xfrm>
          <a:prstGeom prst="rect">
            <a:avLst/>
          </a:prstGeom>
          <a:solidFill>
            <a:srgbClr val="D76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252728"/>
            <a:ext cx="52120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50" b="1">
                <a:solidFill>
                  <a:srgbClr val="0F3052"/>
                </a:solidFill>
              </a:defRPr>
            </a:pPr>
            <a:r>
              <a:t>ARTÍCULO LATINOAMERICANO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709928"/>
            <a:ext cx="5212080" cy="45537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20">
                <a:solidFill>
                  <a:srgbClr val="232D38"/>
                </a:solidFill>
              </a:defRPr>
            </a:pPr>
            <a:r>
              <a:t>Sierra-Castillo S, Aristizábal-Colorado D, Reyes-Sarmiento ME.</a:t>
            </a:r>
            <a:br/>
            <a:br/>
            <a:r>
              <a:t>“Inteligencia artificial en salud en América Latina y Colombia: cerrando brechas y aprovechando oportunidades.”</a:t>
            </a:r>
            <a:br/>
            <a:r>
              <a:t>Revista Cuidarte. 2026;17(2):e6342.</a:t>
            </a:r>
            <a:br/>
            <a:r>
              <a:t>DOI: 10.15649/cuidarte.6342</a:t>
            </a:r>
            <a:br/>
            <a:br/>
            <a:r>
              <a:t>Usado para contextualizar gobernanza, infraestructura, equidad y validación local.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56248"/>
            <a:ext cx="12191695" cy="301752"/>
          </a:xfrm>
          <a:prstGeom prst="rect">
            <a:avLst/>
          </a:prstGeom>
          <a:solidFill>
            <a:srgbClr val="0F3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2608" y="6583680"/>
            <a:ext cx="1152144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FFFFFF"/>
                </a:solidFill>
              </a:defRPr>
            </a:pPr>
            <a:r>
              <a:t>Las guías son materiales orientativos/no vinculantes del sandbox; revisar siempre el marco jurídico aplicable.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