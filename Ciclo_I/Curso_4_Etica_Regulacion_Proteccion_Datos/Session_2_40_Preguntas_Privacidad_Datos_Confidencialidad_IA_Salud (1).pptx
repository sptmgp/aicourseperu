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1/40 · ¿Qué significa gobernanza del dato en un sistema de IA clínica?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1</a:t>
            </a:r>
          </a:p>
        </p:txBody>
      </p:sp>
      <p:pic>
        <p:nvPicPr>
          <p:cNvPr id="5" name="Picture 4" descr="G7_p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No es solo almacenamiento. Incluye reglas, responsables y evidencias para recopilar, preparar, transformar, disponer, conservar y eliminar datos durante el ciclo de vida.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Datos y gobernanza del dato, secciones 2 y 4.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2/40 · ¿Qué datos del EHR deberían salir hacia una API de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Solo los datos necesarios para la finalidad prevista. El diseño debe justificar qué campos se envían y evitar recopilar información adicional por conveniencia.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G7 · Recopilación/preparación; G4 · gestión de datos.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Recopilación/preparación; G4 · gestión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3/40 · ¿Por qué los datos de salud requieren especial protección?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los incluye entre las categorías especiales de datos personales, junto con datos genéticos y ciertos datos biométricos, por su especial riesgo para derechos y libertades.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G7 · sección 5.1, categorías especiales.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sección 5.1, categorías especiales.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4/40 · ¿Pseudonimizar equivale a anonimizar?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4</a:t>
            </a:r>
          </a:p>
        </p:txBody>
      </p:sp>
      <p:pic>
        <p:nvPicPr>
          <p:cNvPr id="5" name="Picture 4" descr="G7_p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No. La seudonimización sustituye identificadores y reduce la identificación directa, pero puede existir información adicional que permita volver a vincular el dato con la persona.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tratamiento de datos personales, ejemplo de seudonimización.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5/40 · ¿Qué ocurre con un dato cuando pasa de EHR a nube?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94D9E"/>
                </a:solidFill>
                <a:latin typeface="Aptos"/>
              </a:rPr>
              <a:t>5</a:t>
            </a:r>
          </a:p>
        </p:txBody>
      </p:sp>
      <p:pic>
        <p:nvPicPr>
          <p:cNvPr id="5" name="Picture 4" descr="G7_p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Se crea una nueva frontera de confianza: hay que documentar destino, almacenamiento, accesos, seguridad, versiones, terceros y condiciones de conservación.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disposición de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6/40 · ¿Qué debe documentarse sobre la disposición de los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6</a:t>
            </a:r>
          </a:p>
        </p:txBody>
      </p:sp>
      <p:pic>
        <p:nvPicPr>
          <p:cNvPr id="5" name="Picture 4" descr="G7_p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Dónde se almacenan, procesos de autenticación/acceso, control de versiones, procesos previos, presencia de datos personales, medidas de privacidad y posibles usos indebidos.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disposición de datos, p. 33.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7/40 · ¿Qué significa minimización en un flujo clínico de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Usar el conjunto mínimo de datos compatible con la finalidad. Minimización no significa sacrificar información clínica esencial, sino justificar cada dato transmitido.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G4/G7 · gestión y gobernanza de datos.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G4/G7 · gestión y gobernanza de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8/40 · ¿Puede una IA usar categorías especiales para detectar sesgos?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guía describe un tratamiento excepcional cuando sea estrictamente necesario para detectar/corregir sesgos y con garantías adicionales.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G7 · sección 5.1.1.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sección 5.1.1.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9/40 · ¿Qué garantías adicionales se exigen en ese tratamiento excepcional?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Limitaciones de reutilización, seguridad y privacidad, seudonimización, controles estrictos de acceso, confidencialidad, no transferencia a terceros, eliminación y registro de la necesidad.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G7 · artículo citado sobre categorías especiales.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artículo citado sobre categorías especiales.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10/40 · ¿Por qué debe existir trazabilidad de acceso?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94D9E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Porque la institución necesita saber quién accedió, cuándo, a qué datos y bajo qué finalidad para prevenir uso indebido y permitir auditoría.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G7 · categorías especiales y controles de acceso.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categorías especiales y controles de acceso.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11/40 · ¿Qué diferencia hay entre privacidad y confidencialidad?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Privacidad gobierna el tratamiento legítimo y proporcional del dato; confidencialidad se centra en impedir divulgación o acceso no autorizado dentro de la relación asistencial y organizativa.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Síntesis docente basada en G7/G4.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Síntesis docente basada en G7/G4.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12/40 · ¿Qué aporta un sistema de gestión de calidad a la privacidad?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Integra procedimientos de gestión de datos, responsabilidades, documentación, pruebas, comunicación, vigilancia e incidentes dentro de un marco institucional repetible.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G4 · Sistema de gestión de la calidad.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G4 · Sistema de gestión de la calidad.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13/40 · ¿Qué operaciones de datos deben estar dentro del sistema de calidad?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13</a:t>
            </a:r>
          </a:p>
        </p:txBody>
      </p:sp>
      <p:pic>
        <p:nvPicPr>
          <p:cNvPr id="5" name="Picture 4" descr="G4_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Recopilación, análisis, etiquetado, almacenamiento, filtrado, prospección, agregación, conservación y otras operaciones relevantes antes de la puesta en servicio.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G4 · sección 4.6.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14/40 · ¿Por qué el etiquetado es también un problema de gobernanza?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Porque una etiqueta clínica puede incorporar error, interpretación humana o sesgo y luego convertirse en la 'verdad' usada para entrenar o evaluar el modelo.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G7 · preparación/etiquetado/análisis de sesgos.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preparación/etiquetado/análisis de sesgos.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15/40 · ¿Qué significa que un dataset sea representativo?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94D9E"/>
                </a:solidFill>
                <a:latin typeface="Aptos"/>
              </a:rP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Que refleje de manera adecuada la población y el contexto de uso previstos, incluidas características geográficas, conductuales o funcionales relevantes.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G4 · prácticas de gobernanza; G7 · calidad.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G4 · prácticas de gobernanza; G7 · calidad.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16/40 · ¿Un dataset completo es automáticamente bueno?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No. Además de completitud, importan pertinencia, representatividad, errores, propiedades estadísticas y adecuación a la finalidad prevista.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G4/G7 · calidad del dato.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G4/G7 · calidad del dato.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17/40 · ¿Qué pasa si el modelo recibe datos correctos pero en unidades equivocadas?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Puede producir una salida clínicamente errónea aunque no exista fuga de privacidad. La gobernanza debe incluir transformación, validación y control de interfaces.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G9 · preprocesamiento y precisión.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G9 · preprocesamiento y precisión.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18/40 · ¿Por qué el preprocesamiento debe quedar documentado?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Porque imputación, normalización, exclusión, transformación y selección de variables cambian lo que el modelo realmente 've' y pueden afectar precisión y sesgo.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G9 · sección 4.1.1; G7 · preparación.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G9 · sección 4.1.1; G7 · preparación.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19/40 · ¿Qué es una tarjeta de base de datos y para qué sirve?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19</a:t>
            </a:r>
          </a:p>
        </p:txBody>
      </p:sp>
      <p:pic>
        <p:nvPicPr>
          <p:cNvPr id="5" name="Picture 4" descr="G9_p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Es una forma estructurada de documentar el dataset: origen, composición, finalidad, transformaciones, calidad, límites y otros elementos necesarios para uso responsable.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G9 · sección 5.2, Tarjeta de base de datos.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20/40 · ¿Por qué precisión y privacidad deben enseñarse juntas?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94D9E"/>
                </a:solidFill>
                <a:latin typeface="Aptos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Porque proteger un dato incorrecto no evita daño clínico. La privacidad controla exposición; la precisión ayuda a verificar que el dato/modelo cumple su finalidad.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G9 · precisión y ciclo de vida.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G9 · precisión y ciclo de vida.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21/40 · ¿Qué significa transparencia sobre los datos utilizados?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21</a:t>
            </a:r>
          </a:p>
        </p:txBody>
      </p:sp>
      <p:pic>
        <p:nvPicPr>
          <p:cNvPr id="5" name="Picture 4" descr="G8_p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Que usuarios relevantes deben poder conocer qué datos alimentan el sistema y disponer de información suficiente sobre características, capacidades, limitaciones y uso.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G8 · sección 5.4.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22/40 · ¿Todos los usuarios necesitan el mismo nivel de transparencia?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No. La información debe adaptarse al rol: paciente, profesional, responsable de despliegue, auditor o técnico necesitan diferentes niveles de detalle.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G8 · adaptar lenguaje y gestionar complejidad.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G8 · adaptar lenguaje y gestionar complejidad.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23/40 · ¿Qué papel tienen los archivos de registro (logs)?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Apoyan trazabilidad y supervisión, pero deben diseñarse con propósito: registrar lo necesario sin convertir el logging en una copia ilimitada de datos clínicos.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G8 · archivos de registro; síntesis docente.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G8 · archivos de registro; síntesis docente.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24/40 · ¿Puede el médico aceptar automáticamente la salida de la 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No debería. La guía de supervisión exige capacidad para entender límites, interpretar salidas y reconocer el sesgo de automatización.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G6 · artículo 14 y sección 4.1.4.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G6 · artículo 14 y sección 4.1.4.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25/40 · ¿Qué debe poder hacer un supervisor humano?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94D9E"/>
                </a:solidFill>
                <a:latin typeface="Aptos"/>
              </a:rPr>
              <a:t>25</a:t>
            </a:r>
          </a:p>
        </p:txBody>
      </p:sp>
      <p:pic>
        <p:nvPicPr>
          <p:cNvPr id="5" name="Picture 4" descr="G6_p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Vigilar anomalías, comprender capacidades/limitaciones, interpretar resultados, decidir no usar la IA, invalidar/revertir la salida e intervenir o detener el sistema cuando proceda.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G6 · supervisión humana.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26/40 · ¿Qué es sesgo de automatización en salud?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tendencia a confiar automáticamente o en exceso en la recomendación de la IA, especialmente cuando apoya decisiones humanas.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G6 · artículo 14, entendimiento y autonomía.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G6 · artículo 14, entendimiento y autonomía.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27/40 · ¿Quién responde por el flujo de datos: proveedor o hospital?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Las guías distinguen obligaciones y medidas del proveedor y del responsable del despliegue. En la práctica, la gobernanza debe asignar responsabilidades explícitas a ambos lados.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G4/G6/G7 · proveedor y responsable del despliegue.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G4/G6/G7 · proveedor y responsable del despliegue.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28/40 · ¿Qué es gestión de riesgos aplicada a privacidad clínica?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28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proceso continuo: establecer contexto y apetito de riesgo, identificar riesgos, analizarlos, responder, documentar, comunicar y revisar.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G5 · Sistema de gestión de riesgos.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G5 · Sistema de gestión de riesgos.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29/40 · ¿Qué riesgos deben considerarse además de una filtración?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Uso indebido, errores de datos, sesgos, fallos de acceso, cambios de contexto, pérdida de disponibilidad, decisiones incorrectas y riesgos para derechos fundamentales.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G5 · identificación/evaluación de riesgos; G7/G10.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G5 · identificación/evaluación de riesgos; G7/G10.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30/40 · ¿Qué significa proporcionalidad del riesgo?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94D9E"/>
                </a:solidFill>
                <a:latin typeface="Aptos"/>
              </a:rPr>
              <a:t>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La intensidad de controles y supervisión debe corresponder al nivel de riesgo, autonomía y contexto de uso del sistema.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G5 · proporcionalidad; G6 · supervisión proporcional.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G5 · proporcionalidad; G6 · supervisión proporcional.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31/40 · ¿Por qué un backup también es un problema de privacidad?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31</a:t>
            </a:r>
          </a:p>
        </p:txBody>
      </p:sp>
      <p:pic>
        <p:nvPicPr>
          <p:cNvPr id="5" name="Picture 4" descr="G10_p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Aumenta resiliencia, pero crea copias adicionales. La institución debe saber dónde están, quién accede y cómo se aplica retención/eliminación.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G10 · redundancia y planes de respaldo.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32/40 · ¿Qué ocurre si un paciente solicita eliminar o corregir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32</a:t>
            </a:r>
          </a:p>
        </p:txBody>
      </p:sp>
      <p:pic>
        <p:nvPicPr>
          <p:cNvPr id="5" name="Picture 4" descr="G7_p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La guía de gobernanza propone evaluar impacto, documentar la solicitud y asegurar que la eliminación se aplique en las ubicaciones pertinentes sin romper requisitos funcionales.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eliminación de datos.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33/40 · ¿Eliminar una fila del dataset siempre es seguro?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33</a:t>
            </a:r>
          </a:p>
        </p:txBody>
      </p:sp>
      <p:pic>
        <p:nvPicPr>
          <p:cNvPr id="5" name="Picture 4" descr="G7_p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09" y="1142999"/>
            <a:ext cx="3654061" cy="5166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2344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3441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550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No. La eliminación parcial puede afectar representatividad, calidad o funcionamiento del sistema; debe evaluarse el impacto y documentarse.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2606040"/>
            <a:ext cx="5486400" cy="11430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715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¿POR QUÉ IMPORTA EN SALUD?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26664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Conecte el requisito con una decisión real: EHR → API/nube → modelo → profesional → paciente.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977639"/>
            <a:ext cx="5486400" cy="132588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4087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PARA DISCUSIÓN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4398264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232F39"/>
                </a:solidFill>
                <a:latin typeface="Aptos"/>
              </a:rPr>
              <a:t>Pida al grupo identificar un riesgo, un control y un responsable institucional.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G7 · eliminación de datos.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34/40 · ¿Qué es drift de datos y por qué importa a privacidad?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Es degradación por cambios en datos/contexto. Monitorizarlo es necesario para solidez, pero la monitorización debe tener límites de finalidad y retención.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G10 · sistemas que continúan aprendiendo/degradación; síntesis docente.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G10 · sistemas que continúan aprendiendo/degradación; síntesis docente.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35/40 · ¿Qué debe ocurrir si la IA opera fuera de su dominio previsto?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94D9E"/>
                </a:solidFill>
                <a:latin typeface="Aptos"/>
              </a:rPr>
              <a:t>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sistema de alto riesgo debe poder detectar funcionamiento fuera del dominio previsto y prevenir salidas erróneas o decisiones equivocadas; debe existir respuesta segura.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G10 · objetivo de solidez.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G10 · objetivo de solidez.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36/40 · ¿Por qué la incertidumbre debe mostrarse al profesional?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Porque una probabilidad o salida no equivale a certeza. La supervisión humana necesita información suficiente para interpretar límites y decidir cuándo no usar la recomendación.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G10 · incertidumbre; G6 · interpretación.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G10 · incertidumbre; G6 · interpretación.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37/40 · ¿Qué es un uso secundario de datos?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37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Un uso distinto del propósito asistencial inicial, por ejemplo investigación, entrenamiento o evaluación. Debe analizarse bajo gobernanza, finalidad, acceso y normativa aplicable.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Síntesis docente basada en G7/G4.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Síntesis docente basada en G7/G4.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38/40 · ¿Qué pregunta debe hacerse antes de enviar datos a un modelo externo?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¿Es estrictamente necesario enviar estos datos a este tercero para esta finalidad y están documentados acceso, almacenamiento, reutilización, conservación y eliminación?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Síntesis docente basada en G7/G5/G8.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Síntesis docente basada en G7/G5/G8.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39/40 · ¿Cuál es el error más peligroso al conectar un LLM al EHR?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2268B1"/>
                </a:solidFill>
                <a:latin typeface="Aptos"/>
              </a:rPr>
              <a:t>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Asumir que la conexión técnica equivale a gobernanza. El flujo necesita finalidad, minimización, controles, trazabilidad, supervisión, calidad y respuesta ante incidentes.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Síntesis de G4–G10.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Síntesis de G4–G10.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Pregunta 40/40 · ¿Cuál es la regla final para un hospital?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694D9E"/>
                </a:solidFill>
                <a:latin typeface="Aptos"/>
              </a:rPr>
              <a:t>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578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35607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A895B"/>
                </a:solidFill>
                <a:latin typeface="Aptos"/>
              </a:rPr>
              <a:t>RESPUESTA EXPLICADA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498348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Debe poder dibujar el viaje completo del dato y responder: qué sale, por qué, quién accede, dónde se almacena, cómo se protege, cuándo se elimina y quién puede detener la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35607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APLICACIÓN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4650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Imagine el mismo problema en una nota médica, imagen, laboratorio, señal de monitor o dato genético.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063240"/>
            <a:ext cx="5166360" cy="150876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17296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E5862B"/>
                </a:solidFill>
                <a:latin typeface="Aptos"/>
              </a:rPr>
              <a:t>PREGUNTA AL GRUPO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83864"/>
            <a:ext cx="4892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32F39"/>
                </a:solidFill>
                <a:latin typeface="Aptos"/>
              </a:rPr>
              <a:t>¿Qué cambiaría si el dato pasa a una nube o API externa?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800600"/>
            <a:ext cx="5166360" cy="91440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10328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CONCEPTO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221224"/>
            <a:ext cx="489204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32F39"/>
                </a:solidFill>
                <a:latin typeface="Aptos"/>
              </a:rPr>
              <a:t>Síntesis de las Guías 4–10.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Síntesis de las Guías 4–10.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Referencias principales utilizadas en las 40 preguntas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D2642"/>
                </a:solidFill>
                <a:latin typeface="Aptos"/>
              </a:rPr>
              <a:t>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143000"/>
            <a:ext cx="10607040" cy="566928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52728"/>
            <a:ext cx="10332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1. Guía 4. Sistema de gestión de la calidad (2026).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232F39"/>
                </a:solidFill>
                <a:latin typeface="Aptos"/>
              </a:rPr>
              <a:t>Ministerio para la Transformación Digital y de la Función Pública · Sandbox regulatorio español de IA · versión 17/07/2026.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56232"/>
            <a:ext cx="10607040" cy="566928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0332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2. Guía 5. Sistema de gestión de riesgos (2026).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76856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232F39"/>
                </a:solidFill>
                <a:latin typeface="Aptos"/>
              </a:rPr>
              <a:t>Ministerio para la Transformación Digital y de la Función Pública · Sandbox regulatorio español de IA · versión 17/07/2026.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69464"/>
            <a:ext cx="10607040" cy="566928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79192"/>
            <a:ext cx="10332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3. Guía 6. Supervisión humana (2026).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232F39"/>
                </a:solidFill>
                <a:latin typeface="Aptos"/>
              </a:rPr>
              <a:t>Ministerio para la Transformación Digital y de la Función Pública · Sandbox regulatorio español de IA · versión 17/07/2026.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82696"/>
            <a:ext cx="10607040" cy="566928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92424"/>
            <a:ext cx="10332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2268B1"/>
                </a:solidFill>
                <a:latin typeface="Aptos"/>
              </a:rPr>
              <a:t>4. Guía 7. Datos y gobernanza del dato (2026).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232F39"/>
                </a:solidFill>
                <a:latin typeface="Aptos"/>
              </a:rPr>
              <a:t>Ministerio para la Transformación Digital y de la Función Pública · Sandbox regulatorio español de IA · versión 17/07/2026.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95928"/>
            <a:ext cx="10607040" cy="566928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05656"/>
            <a:ext cx="10332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5. Guía 8. Transparencia y provisión de información a los usuarios (2026).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16552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232F39"/>
                </a:solidFill>
                <a:latin typeface="Aptos"/>
              </a:rPr>
              <a:t>Ministerio para la Transformación Digital y de la Función Pública · Sandbox regulatorio español de IA · versión 17/07/2026.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09160"/>
            <a:ext cx="10607040" cy="566928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818888"/>
            <a:ext cx="10332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6. Guía 9. Precisión (2026).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129784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232F39"/>
                </a:solidFill>
                <a:latin typeface="Aptos"/>
              </a:rPr>
              <a:t>Ministerio para la Transformación Digital y de la Función Pública · Sandbox regulatorio español de IA · versión 17/07/2026.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422392"/>
            <a:ext cx="10607040" cy="566928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532120"/>
            <a:ext cx="10332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694D9E"/>
                </a:solidFill>
                <a:latin typeface="Aptos"/>
              </a:rPr>
              <a:t>7. Guía 10. Solidez (2026).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843016"/>
            <a:ext cx="10332719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" b="0">
                <a:solidFill>
                  <a:srgbClr val="232F39"/>
                </a:solidFill>
                <a:latin typeface="Aptos"/>
              </a:rPr>
              <a:t>Ministerio para la Transformación Digital y de la Función Pública · Sandbox regulatorio español de IA · versión 17/07/2026.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0">
                <a:solidFill>
                  <a:srgbClr val="646E76"/>
                </a:solidFill>
                <a:latin typeface="Aptos"/>
              </a:rPr>
              <a:t>Material docente derivado de los siete documentos adjuntos. Las guías indican que son orientativas/no vinculantes.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50" b="1">
                <a:solidFill>
                  <a:srgbClr val="0D2642"/>
                </a:solidFill>
                <a:latin typeface="Aptos"/>
              </a:rPr>
              <a:t>Mapa final · ¿Qué ocurre con los datos del paciente?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274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0D2642"/>
                </a:solidFill>
                <a:latin typeface="Aptos"/>
              </a:rPr>
              <a:t>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920240"/>
            <a:ext cx="1417320" cy="868680"/>
          </a:xfrm>
          <a:prstGeom prst="roundRect">
            <a:avLst/>
          </a:prstGeom>
          <a:solidFill>
            <a:srgbClr val="226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216712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Paciente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1920240"/>
            <a:ext cx="1417320" cy="868680"/>
          </a:xfrm>
          <a:prstGeom prst="roundRect">
            <a:avLst/>
          </a:prstGeom>
          <a:solidFill>
            <a:srgbClr val="0F91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12264" y="216712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EHR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9896" y="1920240"/>
            <a:ext cx="1417320" cy="868680"/>
          </a:xfrm>
          <a:prstGeom prst="roundRect">
            <a:avLst/>
          </a:prstGeom>
          <a:solidFill>
            <a:srgbClr val="694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216712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4104" y="1920240"/>
            <a:ext cx="1417320" cy="868680"/>
          </a:xfrm>
          <a:prstGeom prst="roundRect">
            <a:avLst/>
          </a:prstGeom>
          <a:solidFill>
            <a:srgbClr val="E58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16712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Nube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68312" y="1920240"/>
            <a:ext cx="1417320" cy="868680"/>
          </a:xfrm>
          <a:prstGeom prst="roundRect">
            <a:avLst/>
          </a:prstGeom>
          <a:solidFill>
            <a:srgbClr val="B83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4888" y="216712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Modelo 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19" y="1920240"/>
            <a:ext cx="1417320" cy="868680"/>
          </a:xfrm>
          <a:prstGeom prst="roundRect">
            <a:avLst/>
          </a:prstGeom>
          <a:solidFill>
            <a:srgbClr val="2A8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9095" y="216712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96728" y="1920240"/>
            <a:ext cx="1417320" cy="868680"/>
          </a:xfrm>
          <a:prstGeom prst="roundRect">
            <a:avLst/>
          </a:prstGeom>
          <a:solidFill>
            <a:srgbClr val="0D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33303" y="216712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Profesional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2642"/>
                </a:solidFill>
                <a:latin typeface="Aptos"/>
              </a:rPr>
              <a:t>FINALIDAD → MINIMIZACIÓN → CALIDAD → ACCESO → TRANSPARENCIA → SUPERVISIÓN → RETENCIÓN/ELIMINACIÓN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206240"/>
            <a:ext cx="10149840" cy="1234440"/>
          </a:xfrm>
          <a:prstGeom prst="roundRect">
            <a:avLst/>
          </a:prstGeom>
          <a:solidFill>
            <a:srgbClr val="F6F9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315968"/>
            <a:ext cx="9875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40" b="1">
                <a:solidFill>
                  <a:srgbClr val="B8373F"/>
                </a:solidFill>
                <a:latin typeface="Aptos"/>
              </a:rPr>
              <a:t>MENSAJE DE LA SESIÓN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26864"/>
            <a:ext cx="9875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32F39"/>
                </a:solidFill>
                <a:latin typeface="Aptos"/>
              </a:rPr>
              <a:t>El dato no simplemente «entra» en la IA. Viaja por una cadena técnica y organizativa; cada transición crea obligaciones, riesgos, controles y responsables.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