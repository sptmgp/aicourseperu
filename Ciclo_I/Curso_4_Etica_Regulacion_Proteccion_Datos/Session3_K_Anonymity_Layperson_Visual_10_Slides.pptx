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3400" b="1">
                <a:solidFill>
                  <a:srgbClr val="FFFFFF"/>
                </a:solidFill>
              </a:defRPr>
            </a:pPr>
            <a:r>
              <a:t>K-ANONYMITY EN SALUD</a:t>
            </a:r>
          </a:p>
          <a:p>
            <a:pPr>
              <a:spcAft>
                <a:spcPts val="1300"/>
              </a:spcAft>
              <a:defRPr sz="1900" b="0">
                <a:solidFill>
                  <a:srgbClr val="BEE1EB"/>
                </a:solidFill>
              </a:defRPr>
            </a:pPr>
            <a:r>
              <a:t>La ecuación que responde una pregunta muy sencilla:</a:t>
            </a:r>
          </a:p>
          <a:p>
            <a:pPr>
              <a:spcAft>
                <a:spcPts val="1300"/>
              </a:spcAft>
              <a:defRPr sz="2500" b="1">
                <a:solidFill>
                  <a:srgbClr val="FFFFFF"/>
                </a:solidFill>
              </a:defRPr>
            </a:pPr>
            <a:r>
              <a:t>“¿Cuántas personas podrían parecerse a este paciente dentro de mi base de datos?”</a:t>
            </a:r>
          </a:p>
          <a:p>
            <a:pPr>
              <a:spcAft>
                <a:spcPts val="1300"/>
              </a:spcAft>
              <a:defRPr sz="1700" b="0">
                <a:solidFill>
                  <a:srgbClr val="DCEBF2"/>
                </a:solidFill>
              </a:defRPr>
            </a:pPr>
            <a:r>
              <a:t>EHR → cuasi-identificadores → grupos de pacientes → k → menor singularidad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Basado en Jonnagaddala &amp; Wong, npj Digital Medicine (2025), artículo adjunto.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1. Explicación para una persona no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Imagina que tienes una lista de pacientes y borras sus nombres.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474720" cy="438912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3737"/>
                </a:solidFill>
              </a:defRPr>
            </a:pPr>
            <a:r>
              <a:t>PACIENTE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7"/>
            <a:ext cx="310896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</a:defRPr>
            </a:pPr>
            <a:r>
              <a:t>Nombre: Ana</a:t>
            </a:r>
            <a:br/>
            <a:r>
              <a:t>Edad: 67</a:t>
            </a:r>
            <a:br/>
            <a:r>
              <a:t>Zona: Norte</a:t>
            </a:r>
            <a:br/>
            <a:r>
              <a:t>Sexo: mujer</a:t>
            </a:r>
            <a:br/>
            <a:r>
              <a:t>Fecha: 14 marzo</a:t>
            </a:r>
            <a:br/>
            <a:r>
              <a:t>Diagnóstico: diabetes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447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319"/>
                </a:solidFill>
              </a:defRPr>
            </a:pPr>
            <a:r>
              <a:t>BORRO EL NOMBRE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92807"/>
            <a:ext cx="310896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Ya no veo “Ana”.</a:t>
            </a:r>
            <a:br/>
            <a:br/>
            <a:r>
              <a:t>Pero todavía veo:</a:t>
            </a:r>
            <a:br/>
            <a:r>
              <a:t>67 + Norte + mujer + 14 marzo + diabetes</a:t>
            </a:r>
            <a:br/>
            <a:br/>
            <a:r>
              <a:t>Esa combinación puede ser muy rara.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474720" cy="438912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447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8289"/>
                </a:solidFill>
              </a:defRPr>
            </a:pPr>
            <a:r>
              <a:t>LA PREGUNTA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92807"/>
            <a:ext cx="310896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¿Hay otras personas en la base que tengan la misma combinación?</a:t>
            </a:r>
            <a:br/>
            <a:br/>
            <a:r>
              <a:t>Si solo hay una → muy fácil de distinguir.</a:t>
            </a:r>
            <a:br/>
            <a:br/>
            <a:r>
              <a:t>Si hay muchas → más difícil.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El artículo advierte que fechas, diagnósticos y tratamientos pueden permitir reidentificación aun sin identificadores directos. fileciteturn97file0L61-L76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2. La ecuación, sin miedo a las matemáticas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La fórmula solo cuenta cuántas personas comparten la misma descripción.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1234440"/>
          </a:xfrm>
          <a:prstGeom prst="roundRect">
            <a:avLst/>
          </a:prstGeom>
          <a:solidFill>
            <a:srgbClr val="E7F4F6"/>
          </a:solidFill>
          <a:ln>
            <a:solidFill>
              <a:srgbClr val="C8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304B"/>
                </a:solidFill>
              </a:defRPr>
            </a:pPr>
            <a:r>
              <a:t>|E(q)|  ≥  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71800"/>
            <a:ext cx="3429000" cy="22860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906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8289"/>
                </a:solidFill>
              </a:defRPr>
            </a:pPr>
            <a:r>
              <a:t>q = 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38728"/>
            <a:ext cx="30632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q reúne los cuasi-identificadores: edad + zona + sexo + fecha,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71800"/>
            <a:ext cx="3429000" cy="22860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0906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B52"/>
                </a:solidFill>
              </a:defRPr>
            </a:pPr>
            <a:r>
              <a:t>E(q) = grupo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38728"/>
            <a:ext cx="30632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Todas las personas que tienen la misma q.</a:t>
            </a:r>
            <a:br/>
            <a:br/>
            <a:r>
              <a:t>Como meter pacientes en la misma “caja”.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971800"/>
            <a:ext cx="3429000" cy="22860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30906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319"/>
                </a:solidFill>
              </a:defRPr>
            </a:pPr>
            <a:r>
              <a:t>k = mínimo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538728"/>
            <a:ext cx="30632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k dice cuántas personas, como mínimo, queremos dentro de cada caja.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Definición matemática de k-anonymity; se añade aquí para explicar la técnica. El artículo adjunto aporta el contexto clínico de privacidad EHR.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3. Ahora la ecuación se vuelve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Ejemplo docente: agrupamos pacientes por edad + zona + sexo.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0876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67,N,F</a:t>
            </a:r>
          </a:p>
        </p:txBody>
      </p:sp>
      <p:sp>
        <p:nvSpPr>
          <p:cNvPr id="6" name="Oval 5"/>
          <p:cNvSpPr/>
          <p:nvPr/>
        </p:nvSpPr>
        <p:spPr>
          <a:xfrm>
            <a:off x="2148840" y="150876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81051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67,N,F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50876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1051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67,N,F</a:t>
            </a:r>
          </a:p>
        </p:txBody>
      </p:sp>
      <p:sp>
        <p:nvSpPr>
          <p:cNvPr id="10" name="Oval 9"/>
          <p:cNvSpPr/>
          <p:nvPr/>
        </p:nvSpPr>
        <p:spPr>
          <a:xfrm>
            <a:off x="4800600" y="150876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81051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67,N,F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150876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1051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67,N,F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2900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075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52,S,M</a:t>
            </a:r>
          </a:p>
        </p:txBody>
      </p:sp>
      <p:sp>
        <p:nvSpPr>
          <p:cNvPr id="16" name="Oval 15"/>
          <p:cNvSpPr/>
          <p:nvPr/>
        </p:nvSpPr>
        <p:spPr>
          <a:xfrm>
            <a:off x="2148840" y="342900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373075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52,S,M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342900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73075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52,S,M</a:t>
            </a:r>
          </a:p>
        </p:txBody>
      </p:sp>
      <p:sp>
        <p:nvSpPr>
          <p:cNvPr id="20" name="Oval 19"/>
          <p:cNvSpPr/>
          <p:nvPr/>
        </p:nvSpPr>
        <p:spPr>
          <a:xfrm>
            <a:off x="4800600" y="342900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73075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52,S,M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3429000"/>
            <a:ext cx="960120" cy="960120"/>
          </a:xfrm>
          <a:prstGeom prst="ellipse">
            <a:avLst/>
          </a:prstGeom>
          <a:solidFill>
            <a:srgbClr val="E7F4F6"/>
          </a:solidFill>
          <a:ln>
            <a:solidFill>
              <a:srgbClr val="15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73075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304B"/>
                </a:solidFill>
              </a:defRPr>
            </a:pPr>
            <a:r>
              <a:t>52,S,M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1371600"/>
            <a:ext cx="406908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1490472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B52"/>
                </a:solidFill>
              </a:defRPr>
            </a:pPr>
            <a:r>
              <a:t>GRUPO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938528"/>
            <a:ext cx="3703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</a:defRPr>
            </a:pPr>
            <a:r>
              <a:t>5 pacientes tienen la misma q.</a:t>
            </a:r>
            <a:br/>
            <a:br/>
            <a:r>
              <a:t>|E(q)| = 5 → k = 5 cumple.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474720"/>
            <a:ext cx="406908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593591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B52"/>
                </a:solidFill>
              </a:defRPr>
            </a:pPr>
            <a:r>
              <a:t>GRUPO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041648"/>
            <a:ext cx="3703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</a:defRPr>
            </a:pPr>
            <a:r>
              <a:t>5 pacientes tienen la misma q.</a:t>
            </a:r>
            <a:br/>
            <a:br/>
            <a:r>
              <a:t>|E(q)| = 5 → k = 5 cumple.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La ecuación se convierte en un conteo: tamaño de cada clase de equivalencia.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4. ¿Qué pasa si encuentro solo UNA persona?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Aquí es donde la ecuación se vuelve útil.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3737"/>
                </a:solidFill>
              </a:defRPr>
            </a:pPr>
            <a:r>
              <a:t>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310896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</a:defRPr>
            </a:pPr>
            <a:r>
              <a:t>67 años</a:t>
            </a:r>
            <a:br/>
            <a:r>
              <a:t>Quito Norte</a:t>
            </a:r>
            <a:br/>
            <a:r>
              <a:t>Mujer</a:t>
            </a:r>
            <a:br/>
            <a:r>
              <a:t>14 marzo</a:t>
            </a:r>
            <a:br/>
            <a:r>
              <a:t>Diabetes</a:t>
            </a:r>
            <a:br/>
            <a:br/>
            <a:r>
              <a:t>→ solo 1 registro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0116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43737"/>
                </a:solidFill>
              </a:defRPr>
            </a:pPr>
            <a:r>
              <a:t>|E(q)| 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25880"/>
            <a:ext cx="3474720" cy="448056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4447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319"/>
                </a:solidFill>
              </a:defRPr>
            </a:pPr>
            <a: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1892807"/>
            <a:ext cx="310896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Si alguien conoce esa combinación de datos, puede localizar el registro.</a:t>
            </a:r>
            <a:br/>
            <a:br/>
            <a:r>
              <a:t>Para k = 5:</a:t>
            </a:r>
            <a:br/>
            <a:br/>
            <a:r>
              <a:t>1 &lt; 5  → NO cumple.</a:t>
            </a:r>
            <a:br/>
            <a:br/>
            <a:r>
              <a:t>La descripción es demasiado específica.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El artículo describe reidentificación única y de grupo como riesgos persistentes. fileciteturn97file0L69-L76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5. ¿Cómo hacemos que el grupo sea más grande?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Generalizamos los datos: dejamos de describir al paciente con tanta precisión.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429000" cy="45720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3737"/>
                </a:solidFill>
              </a:defRPr>
            </a:pPr>
            <a:r>
              <a:t>MUY ESPECÍFICO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306324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67 años</a:t>
            </a:r>
            <a:br/>
            <a:r>
              <a:t>Quito Norte</a:t>
            </a:r>
            <a:br/>
            <a:r>
              <a:t>14/03/2026</a:t>
            </a:r>
            <a:br/>
            <a:r>
              <a:t>Mujer</a:t>
            </a:r>
            <a:br/>
            <a:br/>
            <a:r>
              <a:t>→ puede crear una clase de tamaño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1031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C7319"/>
                </a:solidFill>
              </a:defRPr>
            </a:pPr>
            <a:r>
              <a:t>GENERALIZAR 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234440"/>
            <a:ext cx="3566160" cy="45720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3533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58B52"/>
                </a:solidFill>
              </a:defRPr>
            </a:pPr>
            <a:r>
              <a:t>MÁS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01368"/>
            <a:ext cx="320040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65–69 años</a:t>
            </a:r>
            <a:br/>
            <a:r>
              <a:t>Quito</a:t>
            </a:r>
            <a:br/>
            <a:r>
              <a:t>marzo 2026</a:t>
            </a:r>
            <a:br/>
            <a:r>
              <a:t>Mujer</a:t>
            </a:r>
            <a:br/>
            <a:br/>
            <a:r>
              <a:t>→ más personas entran en la misma clase</a:t>
            </a:r>
            <a:br/>
            <a:br/>
            <a:r>
              <a:t>→ aumenta |E(q)|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El artículo señala el equilibrio entre preservar utilidad y reducir reidentificación. fileciteturn97file0L124-L137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6. ¿Por qué esto importa en medicina?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Porque el EHR no se usa solamente para atender al paciente.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448056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1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t>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310896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</a:defRPr>
            </a:pPr>
            <a:r>
              <a:t>Historia clínica</a:t>
            </a:r>
            <a:br/>
            <a:r>
              <a:t>Seguimiento</a:t>
            </a:r>
            <a:br/>
            <a:r>
              <a:t>Tratamiento</a:t>
            </a:r>
            <a:br/>
            <a:r>
              <a:t>Documentación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448056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99031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8289"/>
                </a:solidFill>
              </a:defRPr>
            </a:pPr>
            <a:r>
              <a:t>INVESTIGACIÓN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47088"/>
            <a:ext cx="310896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</a:defRPr>
            </a:pPr>
            <a:r>
              <a:t>Cohortes</a:t>
            </a:r>
            <a:br/>
            <a:r>
              <a:t>Registros</a:t>
            </a:r>
            <a:br/>
            <a:r>
              <a:t>Vigilancia</a:t>
            </a:r>
            <a:br/>
            <a:r>
              <a:t>Investigación clínica</a:t>
            </a:r>
            <a:br/>
            <a:r>
              <a:t>Calidad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448056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99031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319"/>
                </a:solidFill>
              </a:defRPr>
            </a:pPr>
            <a:r>
              <a:t>IA /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47088"/>
            <a:ext cx="310896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A"/>
                </a:solidFill>
              </a:defRPr>
            </a:pPr>
            <a:r>
              <a:t>Extracción</a:t>
            </a:r>
            <a:br/>
            <a:r>
              <a:t>Resumen</a:t>
            </a:r>
            <a:br/>
            <a:r>
              <a:t>Búsqueda</a:t>
            </a:r>
            <a:br/>
            <a:r>
              <a:t>Identificación de pacientes</a:t>
            </a:r>
            <a:br/>
            <a:r>
              <a:t>Educación</a:t>
            </a:r>
            <a:br/>
            <a:r>
              <a:t>Outcome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El artículo enumera usos primarios y secundarios de EHR, incluyendo investigación, registros, vigilancia, educación y aplicaciones con LLM. fileciteturn97file0L20-L31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7. La figura clave del artículo: privacidad no es una sola ecuación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La técnica debe elegirse según tarea, datos e infraestructura.</a:t>
            </a:r>
          </a:p>
        </p:txBody>
      </p:sp>
      <p:pic>
        <p:nvPicPr>
          <p:cNvPr id="4" name="Picture 3" descr="Session3_article_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4800600" cy="37120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234440"/>
            <a:ext cx="5989320" cy="141732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353312"/>
            <a:ext cx="5623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8289"/>
                </a:solidFill>
              </a:defRPr>
            </a:pPr>
            <a:r>
              <a:t>LEE LA FIGURA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01368"/>
            <a:ext cx="56235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Regulación + políticas → estrategias contextuales → deidentificación / FL / surrogation / DP / datos sintéticos.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880360"/>
            <a:ext cx="5989320" cy="141732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2999232"/>
            <a:ext cx="5623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7319"/>
                </a:solidFill>
              </a:defRPr>
            </a:pPr>
            <a:r>
              <a:t>¿DÓNDE ENTRA 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47288"/>
            <a:ext cx="56235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k-anonymity pertenece al espacio de de-identificación/anonymización de datos estructurados. Hace medible la singularidad de las combinaciones de atributos.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4526280"/>
            <a:ext cx="598932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4645152"/>
            <a:ext cx="5623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3737"/>
                </a:solidFill>
              </a:defRPr>
            </a:pPr>
            <a:r>
              <a:t>MENSAJE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93208"/>
            <a:ext cx="56235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No digas “k-anonymity garantiza privacidad”. Di: “reduce un tipo concreto de riesgo bajo una definición concreta de cuasi-identificadores”.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Figura 1 recortada del artículo adjunto. El artículo presenta varias estrategias contextuales. fileciteturn97file0L180-L199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04B"/>
                </a:solidFill>
              </a:defRPr>
            </a:pPr>
            <a:r>
              <a:t>8. Cómo convertir la ecuación en una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Aquí comienza el trabajo científico.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42900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15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367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2704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4B"/>
                </a:solidFill>
              </a:defRPr>
            </a:pPr>
            <a:r>
              <a:t>Elegir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11680"/>
            <a:ext cx="2331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edad + zona + sexo + fecha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554480"/>
            <a:ext cx="502920" cy="502920"/>
          </a:xfrm>
          <a:prstGeom prst="ellipse">
            <a:avLst/>
          </a:prstGeom>
          <a:solidFill>
            <a:srgbClr val="15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367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52704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4B"/>
                </a:solidFill>
              </a:defRPr>
            </a:pPr>
            <a:r>
              <a:t>Calcular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2331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|E(q)| para cada combinación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42900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554480"/>
            <a:ext cx="502920" cy="502920"/>
          </a:xfrm>
          <a:prstGeom prst="ellipse">
            <a:avLst/>
          </a:prstGeom>
          <a:solidFill>
            <a:srgbClr val="15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367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52704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4B"/>
                </a:solidFill>
              </a:defRPr>
            </a:pPr>
            <a:r>
              <a:t>Definir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11680"/>
            <a:ext cx="2331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por ejemplo k=5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57600"/>
            <a:ext cx="342900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15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6849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5876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4B"/>
                </a:solidFill>
              </a:defRPr>
            </a:pPr>
            <a:r>
              <a:t>Transformar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43400"/>
            <a:ext cx="2331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generalización / supresión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57600"/>
            <a:ext cx="342900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0" y="3886200"/>
            <a:ext cx="502920" cy="502920"/>
          </a:xfrm>
          <a:prstGeom prst="ellipse">
            <a:avLst/>
          </a:prstGeom>
          <a:solidFill>
            <a:srgbClr val="15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96849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85876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4B"/>
                </a:solidFill>
              </a:defRPr>
            </a:pPr>
            <a:r>
              <a:t>Medir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2331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riesgo + utilidad clínica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657600"/>
            <a:ext cx="3429000" cy="1828800"/>
          </a:xfrm>
          <a:prstGeom prst="roundRect">
            <a:avLst/>
          </a:prstGeom>
          <a:solidFill>
            <a:srgbClr val="F7F9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58200" y="3886200"/>
            <a:ext cx="502920" cy="502920"/>
          </a:xfrm>
          <a:prstGeom prst="ellipse">
            <a:avLst/>
          </a:prstGeom>
          <a:solidFill>
            <a:srgbClr val="15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96849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85876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4B"/>
                </a:solidFill>
              </a:defRPr>
            </a:pPr>
            <a:r>
              <a:t>Comparar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343400"/>
            <a:ext cx="2331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6303A"/>
                </a:solidFill>
              </a:defRPr>
            </a:pPr>
            <a:r>
              <a:t>k=2, 3, 5,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El artículo enfatiza la necesidad de estrategias contextuales y el equilibrio entre riesgo y utilidad. fileciteturn97file0L160-L179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La frase que debe recordar el alumno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E1EB"/>
                </a:solidFill>
              </a:defRPr>
            </a:pPr>
            <a:r>
              <a:t>Una ecuación sencilla → una pregunta clínica muy importante.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500" b="1">
                <a:solidFill>
                  <a:srgbClr val="FFFFFF"/>
                </a:solidFill>
              </a:defRPr>
            </a:pPr>
            <a:r>
              <a:t>k-anonymity = “¿cuántas personas se parecen a este registro según los atributos que elegí?”</a:t>
            </a:r>
          </a:p>
          <a:p>
            <a:pPr>
              <a:spcAft>
                <a:spcPts val="1800"/>
              </a:spcAft>
              <a:defRPr sz="2000" b="0">
                <a:solidFill>
                  <a:srgbClr val="DCEEF2"/>
                </a:solidFill>
              </a:defRPr>
            </a:pPr>
            <a:r>
              <a:t>|E(q)| ≥ k = cada combinación de cuasi-identificadores debe pertenecer a un grupo de al menos k registros.</a:t>
            </a:r>
          </a:p>
          <a:p>
            <a:pPr>
              <a:spcAft>
                <a:spcPts val="1800"/>
              </a:spcAft>
              <a:defRPr sz="1800" b="0">
                <a:solidFill>
                  <a:srgbClr val="DCEEF2"/>
                </a:solidFill>
              </a:defRPr>
            </a:pPr>
            <a:r>
              <a:t>Si k aumenta → exigimos grupos más grandes → normalmente generalizamos más → puede bajar la utilidad.</a:t>
            </a:r>
          </a:p>
          <a:p>
            <a:pPr>
              <a:spcAft>
                <a:spcPts val="1800"/>
              </a:spcAft>
              <a:defRPr sz="2100" b="1">
                <a:solidFill>
                  <a:srgbClr val="FFD291"/>
                </a:solidFill>
              </a:defRPr>
            </a:pPr>
            <a:r>
              <a:t>El verdadero experimento es PRIVACIDAD ↔ UTILIDAD, no simplemente “hacer k=5”.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92824"/>
            <a:ext cx="1170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FFFFFF"/>
                </a:solidFill>
              </a:defRPr>
            </a:pPr>
            <a:r>
              <a:t>Jonnagaddala &amp; Wong, npj Digital Medicine, 2025. El artículo destaca riesgos de reidentificación y la necesidad de estrategias según contexto. fileciteturn97file0L203-L212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