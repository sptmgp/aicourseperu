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Sesión 8 · Documentación Técnica, Auditoría y Gobernanza Integral de IA en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68B1"/>
                </a:solidFill>
                <a:latin typeface="Aptos"/>
              </a:rPr>
              <a:t>3 horas · sesión integradora y capstone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50" b="1">
                <a:solidFill>
                  <a:srgbClr val="0D2642"/>
                </a:solidFill>
                <a:latin typeface="Aptos"/>
              </a:rPr>
              <a:t>¿Podemos demostrar —con evidencia— que una IA clínica fue diseñada, validada, desplegada y vigilada responsablemente?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3272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834640"/>
            <a:ext cx="10076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B8373F"/>
                </a:solidFill>
                <a:latin typeface="Aptos"/>
              </a:rPr>
              <a:t>HILO CONDUCTOR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163824"/>
            <a:ext cx="1007668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DESCRIBIR → EVIDENCIAR → TRAZAR → AUDITAR → IDENTIFICAR BRECHAS → ADAPTAR → REEVALUAR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389120"/>
            <a:ext cx="996696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5" y="4480559"/>
            <a:ext cx="9710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Producto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4809744"/>
            <a:ext cx="971092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AI GOVERNANCE FILE: expediente compacto que conecta finalidad, datos, riesgos, supervisión, rendimiento, seguridad, logs, vigilancia e incidentes.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Fuentes adjuntas principales: Guía 15 Documentación Técnica + Manual de Checklist de Guías de Requisitos.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Plan de 180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0–45 documentación técnica · 45–80 evidencia y control de cambios · 80–90 pausa · 90–125 checklist/auditoría · 125–165 capstone clínico · 165–180 defensa + evaluación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La documentación no es burocracia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En el marco adjunto, documentación técnica + registros permiten trazabilidad, evaluación de cumplimiento, vigilancia del funcionamiento y vigilancia poscomercialización.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Documentar durante toda la vida útil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4</a:t>
            </a:r>
          </a:p>
        </p:txBody>
      </p:sp>
      <p:pic>
        <p:nvPicPr>
          <p:cNvPr id="5" name="Picture 4" descr="session-1-11-15-guia-documentacion-tecnica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15 enfatiza que la documentación no termina con la puesta en servicio: debe mantenerse adecuadamente actualizada durante la vida útil del sistema.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concreta demostraría que este requisito está realmente implementado?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session-1-11-15-guia-documentacion-tecnica.pdf, p. 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¿Qué debe demostrar un expediente?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Qué es el sistema · para qué sirve · cómo se desarrolló · qué datos usa · capacidades/limitaciones · cómo se validó · riesgos · supervisión · cambios · vigilancia.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Descripción general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6</a:t>
            </a:r>
          </a:p>
        </p:txBody>
      </p:sp>
      <p:pic>
        <p:nvPicPr>
          <p:cNvPr id="5" name="Picture 4" descr="session-1-11-15-guia-documentacion-tecnica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estructura una sección específica para describir el sistema de IA antes de entrar en elementos técnicos detallados.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concreta demostraría que este requisito está realmente implementado?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session-1-11-15-guia-documentacion-tecnica.pdf, p. 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Finalidad prevista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Debe quedar claro el problema que pretende resolver el sistema, usuarios previstos, contexto, población y condiciones de uso.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Documente componentes, interfaces y dependencias: EHR → API → preprocesamiento → modelo → output → interfaz → profesional → acción.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Algoritmo y 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Nombre/modelo no basta. Se necesita una identificación que permita relacionar versión del sistema con documentación, pruebas, riesgos y cambios.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Datos de entrenamiento, validación y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documentación debe permitir comprender datos y procesos usados en desarrollo y evaluación. Conecta directamente con la gobernanza trabajada en Session 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Descripción detallada de elementos y procesos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11</a:t>
            </a:r>
          </a:p>
        </p:txBody>
      </p:sp>
      <p:pic>
        <p:nvPicPr>
          <p:cNvPr id="5" name="Picture 4" descr="session-1-11-15-guia-documentacion-tecnica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15 dedica su sección 5.2 a los componentes y procesos del sistema: esta es la «anatomía técnica» que hace auditable el sistema.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concreta demostraría que este requisito está realmente implementado?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session-1-11-15-guia-documentacion-tecnica.pdf, p. 34.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Entradas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Especifique naturaleza de inputs, formato, fuente, criterios de aceptación/rechazo y relación con registros.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Salidas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Documente qué produce el modelo, cómo debe interpretarse y qué no debe inferirse de la salida.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Capacidades y 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Una documentación responsable no es un folleto comercial. Debe hacer visibles también los límites conocidos.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Justifique por qué sensibilidad, especificidad, calibración, AUC, error u otras métricas son adecuadas para la finalidad concreta.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Rendimiento por subgrupo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Cuando sea relevante, documente cómo se comporta el sistema en grupos clínicamente importantes; un promedio puede ocultar fallos.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Resultados no deseados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15 reserva una sección a resultados no deseados y fuentes de riesgo. Documentar solo éxitos destruye el valor de la auditoría.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Gestión de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 expediente integra la descripción detallada del sistema de gestión de riesgos y la evidencia de controles/medidas aplicadas.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Supervisión humana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19</a:t>
            </a:r>
          </a:p>
        </p:txBody>
      </p:sp>
      <p:pic>
        <p:nvPicPr>
          <p:cNvPr id="5" name="Picture 4" descr="session-1-11-15-guia-documentacion-tecnica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documentación debe explicar las medidas de supervisión humana: quién supervisa, qué entiende, cuándo interviene y cómo invalida/revierte una salida.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concreta demostraría que este requisito está realmente implementado?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session-1-11-15-guia-documentacion-tecnica.pdf, p. 50.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Seguimiento 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20</a:t>
            </a:r>
          </a:p>
        </p:txBody>
      </p:sp>
      <p:pic>
        <p:nvPicPr>
          <p:cNvPr id="5" name="Picture 4" descr="session-1-11-15-guia-documentacion-tecnica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15 incorpora seguimiento del funcionamiento y control del sistema como parte del expediente técnico.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concreta demostraría que este requisito está realmente implementado?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session-1-11-15-guia-documentacion-tecnica.pdf, p. 48.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Vigilancia poscomercialización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21</a:t>
            </a:r>
          </a:p>
        </p:txBody>
      </p:sp>
      <p:pic>
        <p:nvPicPr>
          <p:cNvPr id="5" name="Picture 4" descr="session-1-11-15-guia-documentacion-tecnica_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documentación técnica conecta con el sistema de vigilancia después del despliegue; el expediente continúa vivo en producción.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concreta demostraría que este requisito está realmente implementado?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session-1-11-15-guia-documentacion-tecnica.pdf, p. 56.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Un documento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MODELO v1.4 + DATASET v3 + PIPELINE v2 + DOC v7. Si uno cambia, pregunte qué pruebas, riesgos y secciones documentales deben actualizarse.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Control de cambios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23</a:t>
            </a:r>
          </a:p>
        </p:txBody>
      </p:sp>
      <p:pic>
        <p:nvPicPr>
          <p:cNvPr id="5" name="Picture 4" descr="session-1-11-15-guia-documentacion-tecnica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exige describir cambios pertinentes durante el ciclo de vida y relacionar fecha, versión del sistema y versión de la documentación.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concreta demostraría que este requisito está realmente implementado?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session-1-11-15-guia-documentacion-tecnica.pdf, p. 52.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Cambio menor o cambio relevante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Actualizar una etiqueta de interfaz no es igual que cambiar arquitectura, población, dataset o umbral. El impacto debe evaluarse y documentarse.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Caso · EHR actualizado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 hospital cambia códigos y unidades. El modelo no cambia, pero sí sus inputs reales. ¿Qué documentación, validación y vigilancia deben revisarse?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Evidencia ≠ afirmación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«El sistema es robusto» es una afirmación. Evidencia: protocolo, dataset, stress test, resultados, fecha, versión, criterios y responsable.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Matriz requisito →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Para cada requisito: ¿qué documento, prueba, registro, métrica o decisión demuestra que fue abordado?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Evidencia negativa también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Limitaciones, fallos, desviaciones y resultados no deseados son parte de un expediente honesto y útil.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Documentación y 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Debe ser posible navegar: requisito → riesgo → control → prueba → resultado → versión → responsable → vigilancia.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¿Qué es auditoría?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En esta sesión usamos auditoría como revisión sistemática de evidencia para comprobar si lo declarado está respaldado, actualizado y conectado con controles.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Checklist ≠ auditoría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Marcar «sí» no demuestra cumplimiento. El checklist ayuda a diagnosticar; la evidencia detrás de cada respuesta es lo importante.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Manual de checklist: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32</a:t>
            </a:r>
          </a:p>
        </p:txBody>
      </p:sp>
      <p:pic>
        <p:nvPicPr>
          <p:cNvPr id="5" name="Picture 4" descr="session-1-1116-manual-de-checklist-de-guias-de-requisitos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El manual adjunto plantea dos objetivos: autodiagnóstico de brecha y diseño de un Plan de Adaptación (PDA).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concreta demostraría que este requisito está realmente implementado?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session-1-1116-manual-de-checklist-de-guias-de-requisitos.pdf, p. 6.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12 áreas de 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Calidad · riesgos · supervisión humana · datos/gobernanza · transparencia · precisión · solidez · ciberseguridad · registros · documentación técnica · vigilancia · incidentes.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La arquitectura del curso aparece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Las sesiones anteriores pueden mapearse sobre esas áreas. El valor de Session 8 es conectarlas en un único sistema de gobernanza.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Estructura de la herramienta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35</a:t>
            </a:r>
          </a:p>
        </p:txBody>
      </p:sp>
      <p:pic>
        <p:nvPicPr>
          <p:cNvPr id="5" name="Picture 4" descr="session-1-1116-manual-de-checklist-de-guias-de-requisitos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El manual describe un Excel con pestañas informativas y operativas para realizar diagnóstico y preparar el plan de adaptación.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concreta demostraría que este requisito está realmente implementado?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session-1-1116-manual-de-checklist-de-guias-de-requisitos.pdf, p. 8.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Pregunta 1: ¿qué existe? Pregunta 2: ¿qué evidencia lo demuestra? Pregunta 3: ¿qué falta? Pregunta 4: ¿qué riesgo crea la brecha?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Plan de Adaptación (PDA)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Brecha → medida → responsable → prioridad → evidencia esperada → fecha → estado. El PDA convierte auditoría en trabajo ejecutable.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Priorización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No todas las brechas tienen el mismo impacto. Priorice según riesgo clínico, derechos, seguridad, exposición y dependencia operacional.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RACI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Responsible ejecuta · Accountable responde · Consulted aporta · Informed conoce. Un control sin propietario tiende a fallar.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Caso capstone · IA para sepsis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Hospital quiere desplegar un predictor de sepsis integrado al EHR. Su equipo debe construir el Governance File antes del go-live.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Capstone 1 · finalidad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Defina: población, evento objetivo, horizonte, usuarios, decisión apoyada y usos explícitamente excluidos.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Capstone 2 ·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Origen, periodo, inclusión/exclusión, missingness, representatividad, etiquetas, calidad, privacidad y linaje.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Capstone 3 · 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Métrica primaria, métricas secundarias, calibración, subgrupos, validación externa/temporal, incertidumbre y umbral.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Capstone 4 ·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Identifique al menos 6: FN, FP, automation bias, drift, dato erróneo, caída de integración, acceso indebido, uso fuera de finalidad.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Capstone 5 · supervisión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Quién recibe alerta, qué información ve, tiempo disponible, cómo puede cuestionarla, override y escalamiento.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Capstone 6 · ciberseguridad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Acceso, autenticación, integridad, entradas anómalas, dependencia de terceros, secretos/API y respuesta ante incidentes.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Capstone 7 ·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Registre versión, timestamp, input identificado, output, confianza/incertidumbre cuando aplique, alerta, usuario, acción y eventos técnicos pertinentes.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Capstone 8 · vigilancia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Seleccione indicadores clínicos, de modelo, infraestructura, usuario y seguridad; asigne umbrales y responsables.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Capstone 9 ·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Defina ruta: detectar → contener → preservar evidencia → investigar → evaluar riesgo → corregir → comunicar/notificar cuando corresponda → verificar.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Capstone 10 · cambio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Si cambia modelo/dataset/EHR/umbral: evaluar impacto → actualizar documentación → revalidar lo afectado → actualizar vigilancia.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Mini-lab · auditoría roja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Cada grupo recibe otro Governance File. Busque 5 afirmaciones sin evidencia, 3 riesgos sin control y 2 controles sin responsable.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Mini-lab · comité de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Roles: clínica, enfermería, TI, datos/IA, seguridad, privacidad, calidad. Cada rol formula una pregunta crítica antes de autorizar el piloto.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Decisión del comité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No usamos una nota mágica. El equipo documenta evidencia disponible, brechas, riesgos residuales, controles y condiciones necesarias antes del despliegue.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Entrega final · AI Governance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1 sistema/finalidad · 2 datos · 3 modelo/métricas · 4 riesgos · 5 transparencia · 6 supervisión · 7 ciberseguridad · 8 logs · 9 vigilancia · 10 incidentes · 11 cambios · 12 responsables/evidencia.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Evaluación final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Explique en 3 minutos: ¿qué hace el sistema? ¿qué puede salir mal? ¿qué evidencia demuestra control? ¿cómo sabremos que empieza a fallar? ¿quién actúa?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Cierre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GOBERNANZA DE IA = EVIDENCIA + RESPONSABILIDAD + TRAZABILIDAD + VIGILANCIA CONTINUA</a:t>
            </a:r>
            <a:br/>
            <a:br/>
            <a:r>
              <a:rPr sz="1400" b="0">
                <a:solidFill>
                  <a:srgbClr val="232F39"/>
                </a:solidFill>
                <a:latin typeface="Aptos"/>
              </a:rPr>
              <a:t>No basta construir un modelo. Hay que poder demostrar cómo se controla durante todo su ciclo de vida.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documento, registro, prueba o métrica lo demostraría?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¿Quién debe mantenerlo actualizado y responder ante una brecha?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Guía 15 + Manual de Checklist adjuntos; los casos clínicos son adaptaciones docentes.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Referencias adjuntas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57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10515600" cy="14630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325880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Guía 15 · Documentación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1655064"/>
            <a:ext cx="1025956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Integra descripción general y detallada, seguimiento/control, resultados no deseados, supervisión humana, inputs, rendimiento, riesgos, cambios, normas, conformidad y vigilancia poscomercialización.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10515600" cy="14630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200400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694D9E"/>
                </a:solidFill>
                <a:latin typeface="Aptos"/>
              </a:rPr>
              <a:t>Manual de Checklist de Guías de Requisitos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529584"/>
            <a:ext cx="1025956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Estructura el autodiagnóstico y Plan de Adaptación sobre 12 áreas de requisitos; funciona como puente entre evaluación de brechas y acciones de mejora.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83480"/>
            <a:ext cx="10515600" cy="8229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5074920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Resultado del 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404104"/>
            <a:ext cx="10259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F39"/>
                </a:solidFill>
                <a:latin typeface="Aptos"/>
              </a:rPr>
              <a:t>El estudiante termina con un AI Governance File defendible y una metodología para convertir brechas en acciones, responsables y evidencia.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Material educativo basado en los PDFs adjuntos. No sustituye evaluación jurídica o de conformidad formal.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