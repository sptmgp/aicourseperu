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859536"/>
            <a:ext cx="1389888" cy="13898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219456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7A4B8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Ethicolegal Autonomy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Checkoff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13–17  •  Dec 24, 2026 – Jan 27, 2027  •  Deep-Dive Deck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7A4B8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UNIT 13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Liability Mapping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· Dec 24–30,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7A4B8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who bears responsibility when an AI recommendation is wrong.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27203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2720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45m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60420" y="3749040"/>
            <a:ext cx="18135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6042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30m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173980" y="3749040"/>
            <a:ext cx="392938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173980" y="3749040"/>
            <a:ext cx="3929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65m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103360" y="3749040"/>
            <a:ext cx="241808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03360" y="3749040"/>
            <a:ext cx="241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40m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13 Deep Dive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Liability Mapping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Liability = P(error) × Severity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AI-assisted decisions deserve equal scrutiny — this formula tells you where to spend your limited attention.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rare but catastrophic misdiagnosis (low P, high severity) may deserve more review time than a common but low-stakes documentation error (high P, low severity).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13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Liability Mapping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Root-Cause / Fishbone Analysis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is rarely one person's fault — fishbone analysis traces an error back through every contributing factor, human and systemic.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misdiagnosis traces back to unclear alert design (system) + high patient volume that day (context) + a missed override (individual) — all three matter.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13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7A4B8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Malpractice insurers (e.g., The Doctors Company) increasingly publish guidance requiring AI-use disclosure in documentation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13 Deep Dive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conference: a de-identified adverse-event report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map the liability chain (clinician/vendor/institution) and justify the split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931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present and compare — expect real disagreement on proportions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 to explain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13 Deep Dive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clinician follows an AI recommendation that turns out to be wrong, who typically bears primary clinical responsibility under the frameworks discussed in this course?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AI vendor exclusively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No one, since AI decisions are considered autonomous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treating clinician, who retains the duty to exercise independent clinical judgment regardless of AI input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The hospital's IT department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13 Deep Dive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liability as P(error)×Severity gives students a concrete way to prioritize WHICH AI-assisted decisions deserve the most scrutiny in a busy shift — high-severity domains first.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13 Deep Dive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P(error)×Severity frame to two tools from this course — which one deserves more of your attention, and why?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7A4B8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14 — EU AI Act Risk Tiers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13 Deep Dive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7A4B8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UNIT 14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AI Act Risk Tiers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Dec 31, 2026–Jan 6, 2027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7A4B8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 clinical AI tool by EU AI Act risk tier.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33248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332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55m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64940" y="3749040"/>
            <a:ext cx="24180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64940" y="3749040"/>
            <a:ext cx="241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383020" y="3749040"/>
            <a:ext cx="332486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83020" y="3749040"/>
            <a:ext cx="332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55m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707880" y="3749040"/>
            <a:ext cx="181356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70788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14 Deep Dive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AI Act Risk Tiers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= Likelihood × Impact (EU AI Act Tiers)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literally how the Act decides which tools need heavy oversight and which don't — it's not arbitrary.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diagnostic CDSS (high impact if wrong) is high-risk; a scheduling chatbot (low impact if wrong) is minimal-risk — same "AI" label, very different obligations.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14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AI Act Risk Tiers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Conformity Assessment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checklist, not a vague legal concept — you can literally ask a vendor which Annex III boxes they've checked.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manufacturer must document training-data provenance, human-oversight design, and robustness testing before a high-risk tool can be marketed in the EU.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14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7A4B8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Healthineers, GE HealthCare and other device manufacturers are actively aligning technical documentation with MDCG 2025-6 guidance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14 Deep Dive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Tier-classification exercise using the hospital's/VCS's actual deployed AI tools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in pairs; resolve disagreements against specific Annex criteria, not by vote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 to explain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14 Deep Dive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combination correctly matches an EU AI Act risk-tiering concern to a clinical AI use case?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Ambient scribing = prohibited AI practice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Diagnostic CDSS influencing treatment decisions = high-risk AI system requiring human oversight, transparency, and robustness obligations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Hospital Wi-Fi = high-risk AI system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All clinical AI is classified identically regardless of use case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14 Deep Dive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conformity assessment as a checklist procedure (not a vague legal concept) lets a clinician ask a vendor a specific, answerable question: 'which Annex III category does this fall under, and can I see the documentation?'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14 Deep Dive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VCS tool used this term and walk through which Annex III risk-tier criteria it would need to satisfy.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7A4B8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15 — Informed Consent &amp; Transparency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14 Deep Dive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7A4B8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UNIT 15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Informed Consent &amp; Transparency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· Jan 7–13, 2027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7A4B8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 AI involvement to a patient appropriately.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21158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2115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35m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755900" y="3749040"/>
            <a:ext cx="15113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55900" y="3749040"/>
            <a:ext cx="15113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25m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267200" y="3749040"/>
            <a:ext cx="423164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67200" y="3749040"/>
            <a:ext cx="423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70m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498840" y="3749040"/>
            <a:ext cx="302260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98840" y="3749040"/>
            <a:ext cx="302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50m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15 Deep Dive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Informed Consent &amp; Transparency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Flesch-Kincaid Readability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legally perfect disclosure script is useless if a frightened patient can't follow it — readability score is a proxy for real comprehension.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"the algorithmic system contributed to the diagnostic determination" as "a computer program helped me read your scan" drops the grade level from college to 6th grade.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15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Informed Consent &amp; Transparency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Decision Tree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branching script prevents freezing up when a patient asks an unexpected question about AI use.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→ Disclose → Explain your verification role → Invite questions — a nurse can follow this same four-step tree regardless of which specific AI tool is involved.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15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7A4B8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EU hospital groups have published standardized AI-disclosure scripts as part of patient-facing transparency policy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15 Deep Dive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roleplay pairs; one plays a patient asking directly "was AI involved in my diagnosis?"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Peer-grade against a rubric: plain disclosure, explained verification role, invited questions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931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pairs so everyone both delivers and receives the disclosure at least once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15 Deep Dive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asks whether an AI system was involved in generating their diagnostic report. Under EU AI Act transparency obligations and informed consent principles, what is the appropriate response?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Deny AI involvement to avoid patient anxiety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Disclose that AI-assisted tools were used, explain the clinician's role in verifying the output, and answer questions about the process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Refuse to answer since it's proprietary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Redirect the question to the software vendor only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15 Deep Dive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 readability-score mindset to your own disclosure script ensures it lands with an anxious patient, not just with a colleague reviewing it on paper.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15 Deep Dive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own disclosure script aloud and estimate its reading level — would a patient in genuine distress follow it easily?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7A4B8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16-17 — Capstone Prep &amp; Final Checkoff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15 Deep Dive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7A4B8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UNIT 16-17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Prep &amp; Final Checkoff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16–17 · Jan 14–27, 2027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7A4B8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all four competency areas in one continuous case, then pass the combined checkoff.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24180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241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80m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58160" y="3749040"/>
            <a:ext cx="12090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58160" y="3749040"/>
            <a:ext cx="120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267200" y="3749040"/>
            <a:ext cx="362712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67200" y="3749040"/>
            <a:ext cx="362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120m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894320" y="3749040"/>
            <a:ext cx="362712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94320" y="3749040"/>
            <a:ext cx="362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120m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360 min = 6.00 decimal hrs (6:00 on the clock)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16-17 Deep Dive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Prep &amp; Final Checkoff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Failure Mode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good at one skill doesn't transfer automatically — a student who overrides diagnostics well can still forget consent disclosure under pressure.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dry run, a student correctly overrode a wrong AI reading but never told the patient AI was involved — passing one HITL check while missing another entirely.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16-17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Prep &amp; Final Checkoff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Full-Chapter Recap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graded checkoff draws on every framework from this chapter at once — risk scoring, conformity logic, and readability all resurface together.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capstone-prep case might require a liability judgment, an Annex III classification, AND a plain-language disclosure — all in one continuous encounter.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16-17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7A4B8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malpractice insurers, device manufacturers (MDCG 2025-6), EU hospital disclosure-policy groups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16-17 Deep Dive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16: one full ungraded dry-run simulated shift, with real-time instructor feedback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17: graded checkoff — one disclosure conversation + one risk-tier classification (new tool, tests transfer)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931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either half → repeat only that half before advancing to Consolidation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16-17 Deep Dive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capstone dry run, a student runs a full shift and the AI imaging tool disagrees with the student's own read of a fracture. What best demonstrates capstone-level competency?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Automatically deferring to the AI since it passed validation testing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Independently re-examining the image, reasoning through the discrepancy, and documenting the final clinical decision with justification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Ordering a repeat scan to avoid making a decision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Accepting whichever answer was reached first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16-17 Deep Dive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first week students must combine liability awareness, risk-tier knowledge, and disclosure skill in one continuous case — exactly how these skills will actually be needed in practice.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16-17 Deep Dive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Narrate, in first person, how you resolved this week's imaging discrepancy — which chapter's skill did you reach for first?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7A4B8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Chapter 5 — Consolidation &amp; Mock OSCE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Ch.4 Unit 16-17 Deep Dive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4 Complete.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Liability, risk tiers, and consent: the legal mirror of Human-in-the-Loop.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2026-09-10T01:59:55Z</dcterms:created>
  <dcterms:modified xsi:type="dcterms:W3CDTF">2026-09-10T01:59:55Z</dcterms:modified>
</cp:coreProperties>
</file>