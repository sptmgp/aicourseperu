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Sesión 7 · Registros, Vigilancia Poscomercialización y Gestión de Incidentes en IA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863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68B1"/>
                </a:solidFill>
                <a:latin typeface="Aptos"/>
              </a:rPr>
              <a:t>3 horas · cómo saber qué hizo la IA después de desplegarla y qué hacer cuando algo sale 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D2642"/>
                </a:solidFill>
                <a:latin typeface="Aptos"/>
              </a:rPr>
              <a:t>Si no podemos reconstruir qué ocurrió, no podemos auditar, corregir ni aprender del incidente.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3272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834640"/>
            <a:ext cx="10076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B8373F"/>
                </a:solidFill>
                <a:latin typeface="Aptos"/>
              </a:rPr>
              <a:t>HILO CONDUCTOR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163824"/>
            <a:ext cx="1007668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232F39"/>
                </a:solidFill>
                <a:latin typeface="Aptos"/>
              </a:rPr>
              <a:t>REGISTRAR → DETECTAR → ALERTAR → INVESTIGAR → CORREGIR → DOCUMENTAR → APRENDER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Fuentes adjuntas principales: Guía 12 Registros · Guía 13 Vigilancia poscomercialización · Guía 14 Gestión de incidentes.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Plan de 180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0–45 registros y trazabilidad · 45–85 arquitectura de vigilancia · 85–95 pausa · 95–135 indicadores/alertas · 135–160 incidentes · 160–180 mini-lab + evaluación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¿Por qué registrar?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Los registros permiten reconstruir acontecimientos relevantes del sistema, detectar situaciones de riesgo, facilitar vigilancia poscomercialización y supervisar funcionamiento.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Art. 12: registro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</a:t>
            </a:r>
          </a:p>
        </p:txBody>
      </p:sp>
      <p:pic>
        <p:nvPicPr>
          <p:cNvPr id="5" name="Picture 4" descr="session-1-11-12-guia-de-registros(1)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recoge que los sistemas de IA de alto riesgo deben permitir técnicamente el registro automático de acontecimientos durante todo su ciclo de vida.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session-1-11-12-guia-de-registros(1).pdf, p. 11.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Trazabilidad ≠ guardar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Registrar debe responder a una finalidad: evidencia, supervisión, seguridad, rendimiento o investigación de incidentes. Acumular datos sin criterio también crea riesgo.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¿Quién es responsable?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asigna obligaciones de conservación tanto al proveedor como al responsable del despliegue cuando los registros están bajo su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¿Qué puede contener un log?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pic>
        <p:nvPicPr>
          <p:cNvPr id="5" name="Picture 4" descr="session-1-11-12-guia-de-registros(1)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Identificador, usuario/sistema, contexto, fecha/hora, modelo y versión, datos de entrada, fuente/tipo, resultados, métricas, rendimiento, seguridad/privacidad, alertas y relaciones con otros registros.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session-1-11-12-guia-de-registros(1).pdf, p. 14.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Modelo y 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Sin versión del modelo no podemos saber qué comportamiento estaba activo cuando ocurrió una decisión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Datos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registro puede necesitar identificar qué datos alimentaron la inferencia. Pero guardar inputs clínicos completos puede aumentar riesgo de privacidad: hay que diseñar proporcionalmente.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Salida y acción humana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En salud interesa distinguir: salida de IA → alerta → quién la vio → qué hizo → cuándo → resultado. Esa cadena permite estudiar fallos de sistema y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Logs de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incluye autenticación/autorización, cifrado e intentos de acceso no autorizado entre la información que puede registrarse.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Logs de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CPU, memoria, almacenamiento, tiempo de respuesta y tasa de errores pueden explicar fallos que parecen «clínicos» pero son de infraestructura.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Relaciones entre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evento puede vincularse con otros logs: EHR, API, modelo, alerta, usuario y sistema. La correlación temporal es clave para reconstruir el incidente.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Sistema de gestión de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pic>
        <p:nvPicPr>
          <p:cNvPr id="5" name="Picture 4" descr="session-1-11-12-guia-de-registros(1)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propone identificar qué registrar, capturar los eventos, almacenarlos, protegerlos, conservarlos y eliminarlos de forma gobernada.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session-1-11-12-guia-de-registros(1).pdf, p. 19.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Integridad del registro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log que puede editarse sin trazabilidad pierde valor como evidencia. Debe preservarse autenticidad, integridad, disponibilidad y control de acceso.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pic>
        <p:nvPicPr>
          <p:cNvPr id="5" name="Picture 4" descr="session-1-11-12-guia-de-registros(1)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recoge un periodo adecuado a la finalidad y, en el marco citado del AI Act para HRAIS, al menos seis meses salvo que el Derecho aplicable disponga otra cosa.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session-1-11-12-guia-de-registros(1).pdf, p. 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Privacidad de los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Los registros pueden contener datos clínicos, identificadores y decisiones. Por tanto, logging y privacidad deben diseñarse conjuntamente.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· alerta de sepsis ignorada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IA genera alerta 14:03; profesional la abre 14:22; antibiótico 15:10. ¿Qué logs necesita para saber si falló el algoritmo, la interfaz, la carga laboral o el workflow?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De logs a vigilancia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registro describe un acontecimiento; la vigilancia transforma múltiples datos/registros en indicadores capaces de mostrar tendencias y anomalías.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¿Qué es vigilancia poscomercialización?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20</a:t>
            </a:r>
          </a:p>
        </p:txBody>
      </p:sp>
      <p:pic>
        <p:nvPicPr>
          <p:cNvPr id="5" name="Picture 4" descr="session-1-11-13-guia-vigilancia-poscomercializacion(1)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13 la define como procesos y herramientas para recabar datos del sistema y transformarlos en indicadores que permitan supervisarlo después de su lanzamiento durante su ciclo de vida.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session-1-11-13-guia-vigilancia-poscomercializacion(1).pdf, p. 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Cuatro subsistemas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pic>
        <p:nvPicPr>
          <p:cNvPr id="5" name="Picture 4" descr="session-1-11-13-guia-vigilancia-poscomercializacion(1)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Captación de indicadores → almacenamiento de registros → alertas automatizadas → interfaces de análisis para supervisores.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session-1-11-13-guia-vigilancia-poscomercializacion(1).pdf, p. 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Dato vs indicador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Dato: tiempo de respuesta = 4,8 s. Indicador: porcentaje de inferencias &gt;3 s esta semana. El indicador adquiere significado frente a escala, tendencia o umbral.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Indicadores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Ejemplos docentes: sensibilidad observada, tasa de abstención, porcentaje OOD, discrepancias IA–profesional, frecuencia de override, tasa de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Indicadores de infraestructura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Latencia, disponibilidad, errores API, CPU/memoria, pérdida de paquetes, almacenamiento y fallos de servicios pueden afectar seguridad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Indicadores de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Quién usa el sistema, frecuencia, overrides, tiempos de respuesta, uso fuera de finalidad y patrones anómalos pueden revelar problemas de adopción o seguridad.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Indicadores de 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Accesos fallidos, anomalías, cambios de configuración, eventos de ciberseguridad y señales de manipulación pueden alimentar vigilancia.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Alertas + interfaz de supervisión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27</a:t>
            </a:r>
          </a:p>
        </p:txBody>
      </p:sp>
      <p:pic>
        <p:nvPicPr>
          <p:cNvPr id="5" name="Picture 4" descr="session-1-11-13-guia-vigilancia-poscomercializacion(1)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recomienda alertas tempranas y una interfaz que haga evidente cuándo un indicador sale de la escala esperada y permita explorar registros.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session-1-11-13-guia-vigilancia-poscomercializacion(1).pdf, p. 16.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No toda desviación es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Una alerta inicia investigación. Puede ser ruido, cambio benigno, drift, fallo de infraestructura, error humano o problema real del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Vigilancia continua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Monitorizar rendimiento y comportamiento en producción para detectar/corregir problemas usando indicadores seleccionados en la evaluación de riesgos.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Vigilancia periódica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Evaluaciones regulares permiten medir precisión/rendimiento y descubrir cambios que una alerta instantánea puede no captar.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Informes de incidentes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31</a:t>
            </a:r>
          </a:p>
        </p:txBody>
      </p:sp>
      <p:pic>
        <p:nvPicPr>
          <p:cNvPr id="5" name="Picture 4" descr="session-1-11-13-guia-vigilancia-poscomercializacion(1)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incluye recopilar y analizar incidentes relacionados con errores, privacidad y seguridad como parte del plan de vigilancia.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session-1-11-13-guia-vigilancia-poscomercializacion(1).pdf, p. 20.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Comunicación transparente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Los informes deben permitir comunicar rendimiento y seguridad a usuarios, reguladores y otras partes interesadas según corresponda.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Capacitación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Usuarios y operadores necesitan reconocer comportamiento anómalo y saber qué hacer. Monitorizar sin formar a las personas deja una brecha operacional.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Flexibilidad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plan debe poder adaptarse a cambios de rendimiento, seguridad y regulación. Un plan fijo puede quedar obsoleto.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· bomba de insulina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propia guía usa este caso didáctico. Diseñe 6 indicadores: salida clínica, sensor, dispositivo, usuario, infraestructura y seguridad.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Cambio en población, datos, práctica o relación entrada–resultado puede degradar el sistema. Vigilancia busca detectar señales antes de que el daño sea evidente.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umbral convierte indicador en señal de acción. Debe tener responsable, ventana temporal, severidad y respuesta predefinida.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Escalamiento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VERDE: dentro de rango · AMARILLO: revisar · ROJO: contener/escalar. Es un marco docente; los umbrales reales dependen del sistema y evaluación de riesgos.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Dashboard clínico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buen dashboard no muestra 100 métricas: muestra las pocas que permiten saber si el sistema sigue seguro, eficaz y dentro de su finalidad.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De alerta a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ALERTA → TRIAGE → INVESTIGACIÓN → CLASIFICACIÓN → CONTENCIÓN → CORRECCIÓN → DOCUMENTACIÓN → SEGUIMIENTO.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¿Qué es un incidente grave?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14 organiza la notificación de incidentes graves conforme al marco del AI Act y distingue actores, escenarios, investigación y medidas correctoras.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Art. 73: notificación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42</a:t>
            </a:r>
          </a:p>
        </p:txBody>
      </p:sp>
      <p:pic>
        <p:nvPicPr>
          <p:cNvPr id="5" name="Picture 4" descr="session-1-11-14-guia-gestion-de-incidentes(1)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recoge la obligación de notificar incidentes graves y los plazos/escenarios específicos del marco europeo, además de investigar y evaluar riesgos/medidas correctoras.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session-1-11-14-guia-gestion-de-incidentes(1).pdf, p. 9.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Plazos del marco citado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43</a:t>
            </a:r>
          </a:p>
        </p:txBody>
      </p:sp>
      <p:pic>
        <p:nvPicPr>
          <p:cNvPr id="5" name="Picture 4" descr="session-1-11-14-guia-gestion-de-incidentes(1)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La guía reproduce: regla general hasta 15 días tras conocimiento y vínculo causal/probable; ciertos incidentes generalizados hasta 2 días; fallecimiento hasta 10 días, con matices del artículo.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session-1-11-14-guia-gestion-de-incidentes(1).pdf, p. 12.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Notificación inicial incompleta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marco citado permite una notificación inicial incompleta cuando sea necesario para informar a tiempo, seguida de una notificación completa.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Preservar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45</a:t>
            </a:r>
          </a:p>
        </p:txBody>
      </p:sp>
      <p:pic>
        <p:nvPicPr>
          <p:cNvPr id="5" name="Picture 4" descr="session-1-11-14-guia-gestion-de-incidentes(1)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1" y="1097280"/>
            <a:ext cx="3653257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234440"/>
            <a:ext cx="5486400" cy="324612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34455" y="1325880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LECTURA / EXPLICACIÓN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34455" y="1655064"/>
            <a:ext cx="5230368" cy="2734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32F39"/>
                </a:solidFill>
                <a:latin typeface="Aptos"/>
              </a:rPr>
              <a:t>Tras un incidente, cambiar inmediatamente el sistema puede destruir evidencia causal. La guía advierte sobre modificaciones que puedan afectar evaluaciones posteriores antes de informar a autoridades competentes.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4736592"/>
            <a:ext cx="54864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34455" y="4828031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PREGUNTA CLÍNICA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455" y="5157216"/>
            <a:ext cx="5230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evidencia necesitaríamos para reconstruir exactamente qué ocurrió?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Fuente adjunta: session-1-11-14-guia-gestion-de-incidentes(1).pdf, p. 20.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Pregunte por capas: dato → modelo → software → infraestructura → interfaz → usuario → workflow → organización. «La IA falló» rara vez es análisis suficiente.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· hemorragia posparto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IA estima bajo riesgo; paciente se deteriora. Reconstruya timeline: inputs, versión, output, alerta, visualización, revisión humana, acciones, datos faltantes y resultado.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· privacidad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log contiene texto clínico completo y es accesible por demasiados usuarios. ¿Es incidente del modelo, del sistema de logging, de control de acceso o de gobernanza? Puede involucrar varias capas.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Caso · drift silencioso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Sensibilidad cae durante 8 semanas sin alarma. ¿Qué faltó: indicador, umbral, periodicidad, dashboard, responsable o proceso de respuesta?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Mini-lab · diseñe 10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694D9E"/>
                </a:solidFill>
                <a:latin typeface="Aptos"/>
              </a:rPr>
              <a:t>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Para un modelo de deterioro clínico: defina 10 eventos que registraría y para cada uno: finalidad, campo mínimo, sensibilidad, retención y quién puede acceder.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Mini-lab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Diseñe 8 indicadores: 2 clínicos, 2 modelo, 2 infraestructura, 1 usuario y 1 seguridad. Defina rango normal, alerta y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Mini-lab ·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Escenario: modelo v3.2 produce falsos negativos tras actualización de EHR. Equipo debe crear timeline, hipótesis causal, contención, evidencia, comunicación y plan correctivo.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Checklist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□ logs automáticos □ versión □ inputs/outputs □ acciones humanas □ acceso □ integridad □ retención □ indicadores □ umbrales □ alertas □ dashboard □ responsables □ incidentes □ CAPA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Evaluación final · 8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1 Log vs indicador. 2 ¿Por qué versión? 3 ¿Qué hace vigilancia continua? 4 ¿Qué hace vigilancia periódica? 5 ¿Qué convierte alerta en incidente? 6 ¿Por qué preservar evidencia? 7 Diseñe un KPI. 8 Diseñe una ruta de escalamiento.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2268B1"/>
                </a:solidFill>
                <a:latin typeface="Aptos"/>
              </a:rPr>
              <a:t>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325880"/>
            <a:ext cx="10396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655064"/>
            <a:ext cx="1039672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SIN REGISTRO NO HAY TRAZABILIDAD.</a:t>
            </a:r>
            <a:br/>
            <a:r>
              <a:rPr sz="1400" b="0">
                <a:solidFill>
                  <a:srgbClr val="232F39"/>
                </a:solidFill>
                <a:latin typeface="Aptos"/>
              </a:rPr>
              <a:t>SIN VIGILANCIA NO HAY DETECCIÓN TEMPRANA.</a:t>
            </a:r>
            <a:br/>
            <a:r>
              <a:rPr sz="1400" b="0">
                <a:solidFill>
                  <a:srgbClr val="232F39"/>
                </a:solidFill>
                <a:latin typeface="Aptos"/>
              </a:rPr>
              <a:t>SIN GESTIÓN DE INCIDENTES NO HAY APRENDIZAJE NI CORRECCIÓN.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A895B"/>
                </a:solidFill>
                <a:latin typeface="Aptos"/>
              </a:rPr>
              <a:t>APLICACIÓN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Modelo + EHR/API + infraestructura + profesional + paciente.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800600"/>
            <a:ext cx="4800600" cy="10058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4892040"/>
            <a:ext cx="4544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E5862B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5221224"/>
            <a:ext cx="45445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32F39"/>
                </a:solidFill>
                <a:latin typeface="Aptos"/>
              </a:rPr>
              <a:t>¿Qué registro, indicador o responsable falta?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Basado en las Guías 12–14 adjuntas; casos sanitarios adaptados para docencia.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D2642"/>
                </a:solidFill>
                <a:latin typeface="Aptos"/>
              </a:rPr>
              <a:t>Referencias adjuntas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0D2642"/>
                </a:solidFill>
                <a:latin typeface="Aptos"/>
              </a:rPr>
              <a:t>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1051560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18872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2268B1"/>
                </a:solidFill>
                <a:latin typeface="Aptos"/>
              </a:rPr>
              <a:t>Guía 12 · Registros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10259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Registro automático, trazabilidad, contenido de logs, actores, gestión, conservación, seguridad y eliminación.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51560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743200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694D9E"/>
                </a:solidFill>
                <a:latin typeface="Aptos"/>
              </a:rPr>
              <a:t>Guía 13 · Vigilancia poscomercialización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72384"/>
            <a:ext cx="10259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Captación de indicadores, registros, alertas, interfaces, vigilancia continua/periódica, incidentes, comunicación, capacitación y flexibilidad.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1051560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4297679"/>
            <a:ext cx="10259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10" b="1">
                <a:solidFill>
                  <a:srgbClr val="B8373F"/>
                </a:solidFill>
                <a:latin typeface="Aptos"/>
              </a:rPr>
              <a:t>Guía 14 · Gestión de incidentes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626864"/>
            <a:ext cx="10259568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32F39"/>
                </a:solidFill>
                <a:latin typeface="Aptos"/>
              </a:rPr>
              <a:t>Notificación de incidentes graves, actores, plazos del marco europeo citado, investigación, evaluación de riesgo y medidas correctoras.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46E76"/>
                </a:solidFill>
                <a:latin typeface="Aptos"/>
              </a:rPr>
              <a:t>Material educativo. Los plazos regulatorios mostrados corresponden al marco europeo reproducido en los adjuntos.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