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Sesión 5 · Consentimiento Informado, Autonomía y Transparencia en IA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68B1"/>
                </a:solidFill>
                <a:latin typeface="Aptos"/>
              </a:rPr>
              <a:t>3 horas · información comprensible, decisión humana y uso responsable de sistemas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2642"/>
                </a:solidFill>
                <a:latin typeface="Aptos"/>
              </a:rPr>
              <a:t>¿Puede existir una decisión verdaderamente informada si nadie entiende qué hace la IA, sus límites y cómo cuestionarla?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3272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834640"/>
            <a:ext cx="10076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B8373F"/>
                </a:solidFill>
                <a:latin typeface="Aptos"/>
              </a:rPr>
              <a:t>HILO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163824"/>
            <a:ext cx="100766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F39"/>
                </a:solidFill>
                <a:latin typeface="Aptos"/>
              </a:rPr>
              <a:t>INFORMAR → COMPRENDER → PREGUNTAR → DECIDIR → RECHAZAR/REVERTIR → DOCUMENTAR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389120"/>
            <a:ext cx="96012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480559"/>
            <a:ext cx="9345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Nota docente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809744"/>
            <a:ext cx="9345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Las guías adjuntas sustentan especialmente transparencia y supervisión humana. El consentimiento clínico se trabaja aquí como conexión ética/docente; estas guías no constituyen por sí solas una guía completa de consentimiento informado.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Fuentes principales adjuntas: Guía 8 Transparencia + Guía 6 Supervisión Humana.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Plan de 180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0–35 transparencia · 35–65 información comprensible · 65–90 consentimiento/autonomía · 90–100 pausa · 100–135 supervisión humana · 135–160 casos clínicos · 160–180 mini-lab +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Transparencia: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define transparencia como la capacidad de hacer el sistema interpretable y comprensible para quienes lo crean e interactúan con él durante todo su ciclo de vida.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¿Por qué transparencia?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Permite que responsables y usuarios entiendan funcionamiento, interpreten resultados y conozcan criterios/información relevantes para predicciones o decisiones. La guía la presenta como base para construir confianza.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Mapa de transparencia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</a:t>
            </a:r>
          </a:p>
        </p:txBody>
      </p:sp>
      <p:pic>
        <p:nvPicPr>
          <p:cNvPr id="5" name="Picture 4" descr="session-1-1108-guia-transparencia(2)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La guía organiza transparencia alrededor de diseño/desarrollo, instrucciones de uso, contexto, características/capacidades/limitaciones, vigilancia humana, recursos/mantenimiento, cambios y registros.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session-1-1108-guia-transparencia(2).pdf, p. 11.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Transparencia ≠ revelar código fuente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clínica importa proporcionar información útil para comprender finalidad, capacidades, límites, datos, salidas, riesgos y acciones humanas. Más información no siempre significa mejor comprensión.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Información clara y accesible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artículo 13, según la guía, exige instrucciones concisas, completas, correctas, claras, pertinentes, accesibles y comprensibles para los usuarios.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La finalidad prevista debe ser entendible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 el usuario no entiende para qué fue diseñado el sistema, no puede saber cuándo su uso es apropiado ni cuándo está fuera de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¿Qué debe saber el profesional?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9</a:t>
            </a:r>
          </a:p>
        </p:txBody>
      </p:sp>
      <p:pic>
        <p:nvPicPr>
          <p:cNvPr id="5" name="Picture 4" descr="session-1-1108-guia-transparencia(2)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Finalidad prevista · precisión esperada · solidez/ciberseguridad · circunstancias que degradan rendimiento · riesgos previsibles · capacidades de explicación · comportamiento por colectivos · datos de entrada · interpretación de salida.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session-1-1108-guia-transparencia(2).pdf, p. 20.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Precisión no es una promesa universal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profesional debe conocer cómo se midió el rendimiento y qué circunstancias pueden modificarlo. Una cifra global sin contexto no es suficiente para una decisión informada.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Riesgo por uso fuera de finalidad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Usar un sistema para un objetivo distinto del previsto puede generar riesgos para salud, seguridad o derechos. Transparencia debe hacer visibles esos límites.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Explicar 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12</a:t>
            </a:r>
          </a:p>
        </p:txBody>
      </p:sp>
      <p:pic>
        <p:nvPicPr>
          <p:cNvPr id="5" name="Picture 4" descr="session-1-1108-guia-transparencia(2)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La guía recomienda información pertinente para explicar salidas, adaptar lenguaje, ir de lo global a lo particular y usar contrafactualidad cuando corresponda.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session-1-1108-guia-transparencia(2).pdf, p. 23.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Contrafactualidad · pregunta útil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«¿Qué tendría que haber sido diferente para que el resultado cambiara?» Puede ayudar a comprender una salida, pero no convierte automáticamente una correlación en causalidad.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Impacto en personas y colectivos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14</a:t>
            </a:r>
          </a:p>
        </p:txBody>
      </p:sp>
      <p:pic>
        <p:nvPicPr>
          <p:cNvPr id="5" name="Picture 4" descr="session-1-1108-guia-transparencia(2)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La guía pide considerar funcionamiento respecto de personas/colectivos y analizar equidad cuando las predicciones o decisiones afectan a individuos.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session-1-1108-guia-transparencia(2).pdf, p. 24.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Transparencia sobre datos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usuario debe poder evaluar la naturaleza de los datos y si la muestra es adecuada/representativa para el objetivo del sistema.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Del sistema al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Hay dos audiencias distintas: PROFESIONAL necesita información técnica-operativa suficiente; PACIENTE necesita una explicación adaptada a su decisión, riesgos, alternativas y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Consentimiento informado · puente 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Para docencia: consentimiento informado exige más que una firma. La persona necesita información relevante, comprensión, voluntariedad y capacidad de decidir. Las guías adjuntas no desarrollan exhaustivamente la doctrina clínica de consentimiento.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¿Cuándo importa informar sobre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Pregunta docente: ¿el uso de IA cambia materialmente la decisión, el riesgo, el flujo, el uso de datos o la posibilidad de revisión humana? Cuanto mayor sea el impacto, mayor necesidad de claridad y gobernanza.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IA de radiología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«Una IA revisará su imagen». ¿Es información suficiente? Discuta finalidad, rol del radiólogo, límites, qué ocurre si IA y profesional discrepan y cómo se comunica al paciente.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LLM que resume la 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paciente puede asumir que «la computadora entiende todo». Explique qué hace realmente el sistema, qué datos recibe, posibles errores y quién verifica el resumen.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Autonomía del paciente vs autonomía profesional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paciente decide sobre su atención dentro del marco clínico; el profesional debe conservar capacidad de juicio frente al sistema. Una IA no debe transformar supervisión humana en aprobación automática.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Supervisión humana: concepto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22</a:t>
            </a:r>
          </a:p>
        </p:txBody>
      </p:sp>
      <p:pic>
        <p:nvPicPr>
          <p:cNvPr id="5" name="Picture 4" descr="session-1-11-6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La guía afirma que las personas deben poder tomar decisiones autónomas con conocimiento de causa, comprender/interactuar con el sistema y, cuando sea posible, evaluarlo o cuestionarlo.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session-1-11-6.pdf, p. 10.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Tres niveles de control humano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Participación humana: intervención en ciclos de decisión. Control humano: intervención durante ciclo de vida/seguimiento. Mando humano: supervisar actividad global y decidir cómo/cuándo usar el sistema.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Menos supervisión → más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señala que, manteniendo el resto de circunstancias, cuanto menor sea la supervisión que puede ejercer una persona, mayores y más exigentes deben ser las verificaciones y la gobernanza.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Entender capacidades y 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25</a:t>
            </a:r>
          </a:p>
        </p:txBody>
      </p:sp>
      <p:pic>
        <p:nvPicPr>
          <p:cNvPr id="5" name="Picture 4" descr="session-1-11-6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El supervisor debe poder detectar anomalías, problemas de funcionamiento y comportamientos inesperados.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session-1-11-6.pdf, p. 18.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Sesgo de 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advierte sobre confiar automática o excesivamente en resultados de IA, especialmente cuando el sistema recomienda información para decisiones humanas.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Interpretar correctamente la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27</a:t>
            </a:r>
          </a:p>
        </p:txBody>
      </p:sp>
      <p:pic>
        <p:nvPicPr>
          <p:cNvPr id="5" name="Picture 4" descr="session-1-11-6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Supervisión requiere métodos/herramientas de interpretación. La guía conecta directamente esta obligación con transparencia.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session-1-11-6.pdf, p. 20.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Autonomía para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28</a:t>
            </a:r>
          </a:p>
        </p:txBody>
      </p:sp>
      <p:pic>
        <p:nvPicPr>
          <p:cNvPr id="5" name="Picture 4" descr="session-1-11-6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La persona supervisora debe poder decidir no usar el sistema o descartar, invalidar o revertir su salida.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session-1-11-6.pdf, p. 20.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Interrupción segura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29</a:t>
            </a:r>
          </a:p>
        </p:txBody>
      </p:sp>
      <p:pic>
        <p:nvPicPr>
          <p:cNvPr id="5" name="Picture 4" descr="session-1-11-6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La guía contempla capacidad de intervenir o detener el sistema mediante un mecanismo/procedimiento seguro cuando corresponda.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session-1-11-6.pdf, p. 21.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Transparencia + supervisión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30</a:t>
            </a:r>
          </a:p>
        </p:txBody>
      </p:sp>
      <p:pic>
        <p:nvPicPr>
          <p:cNvPr id="5" name="Picture 4" descr="session-1-1108-guia-transparencia(2)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58" y="1097280"/>
            <a:ext cx="3655802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La guía de transparencia declara una relación bidireccional: para supervisar hay que entender; para entender, el sistema debe ser transparente.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tendría que saber o poder hacer una persona para conservar una decisión verdaderamente autónoma?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session-1-1108-guia-transparencia(2).pdf, p. 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Human-in-the-loop no significa «humano decorativo»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 el profesional no tiene tiempo, autoridad, competencia o información para contradecir al modelo, la presencia humana puede ser nominal y no una supervisión efectiva.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Marco docente: supervisión significativa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INFORMACIÓN + COMPETENCIA + TIEMPO + AUTORIDAD + CAPACIDAD DE OVERRIDE. Si falta una pieza, pregunte si la supervisión sigue siendo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sepsis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IA marca riesgo bajo; enfermera observa deterioro. ¿Puede escalar aunque el algoritmo diga «bajo»? La arquitectura segura debe permitir cuestionar/revertir la salida y documentar la decisión.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bomba de insulina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propia guía usa una bomba de insulina inteligente como ejemplo didáctico. ¿Qué debe conocer paciente/profesional sobre funcionamiento, límites, alertas y control humano?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obstetricia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Modelo estima bajo riesgo posparto, pero la paciente tiene sangrado y síntomas. ¿Qué información de IA es útil y qué señales clínicas deben prevalecer en la evaluación profesional?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farmacia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IA sugiere dosis. Farmacéutico detecta interacción no considerada. ¿Qué debe mostrar el sistema para permitir revisión? ¿Quién tiene autoridad para bloquear la recomendación?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fisioterapia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Modelo recomienda progresión de carga basada en sensores. Paciente reporta dolor nuevo. Transparencia debe permitir entender qué variables alimentaron la recomendación y supervisión debe permitir detenerla.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nutrición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IA genera plan personalizado. ¿Qué ocurre si no conoce embarazo, insuficiencia renal o alergias? Una salida convincente no sustituye información clínica completa.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Explicar incertidumbre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 diga solo «riesgo 72%». Explique qué significa, población de referencia, horizonte temporal, limitaciones y qué acción humana sigue.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No confundir explicación con 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Una explicación técnicamente plausible puede describir cómo llegó el modelo a una salida sin demostrar que la decisión sea clínicamente correcta o éticamente aceptable.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Información por capas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Nivel 1: mensaje breve para acción. Nivel 2: factores/limitaciones. Nivel 3: métricas/datos/modelo para profesional experto/auditor. Evita saturar al usuario.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Lenguaje adaptado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misma salida debe comunicarse de forma distinta a paciente, enfermera, médico, técnico y auditor. Transparencia útil depende del receptor.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Cambios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pide informar cambios del sistema que puedan afectar comportamiento/precisión y reconoce degradación por data drift o model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Consentimiento no es una pantalla de «Acepto»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el marco docente, un clic no demuestra comprensión. Evalúe si la información relevante fue presentada de forma comprensible y si existe una elección real cuando corresponda.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chatbot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Antes de que el paciente escriba síntomas: ¿sabe que interactúa con IA? ¿sabe qué puede/no puede hacer? ¿cómo se manejan datos? ¿qué ocurre ante urgencia? ¿hay ruta humana?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Mini-lab · rediseñe una pantalla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Dado un output «Riesgo 0.81 – ALTO», añada: finalidad, horizonte, variables clave, limitaciones, incertidumbre, acción recomendada, posibilidad de revisión/override y canal humano.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Mini-lab · explicación al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parejas: uno es profesional y otro paciente. Explique una recomendación de IA en 60 segundos sin jerga; el paciente debe formular dos preguntas y decidir si comprendió el rol de la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Mini-lab · automation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Muestre 5 casos: 4 recomendaciones correctas y 1 deliberadamente errónea. Observe quién detecta el error. Discuta por qué la formación y el diseño de interfaz importan.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Checklist antes de usar IA en una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□ finalidad □ límites □ datos relevantes □ rendimiento □ subgrupos □ incertidumbre □ explicación □ ruta humana □ override □ registro □ cambio/versionado □ comunicación al paciente cuando corresponda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Evaluación final · 6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1 Transparencia vs explicabilidad. 2 ¿Qué exige una salida interpretable? 3 Defina automation bias. 4 ¿Qué significa autonomía para decidir? 5 ¿Por qué human-in-loop puede ser insuficiente? 6 Diseñe una explicación de 30 segundos.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IA TRANSPARENTE → PERSONA INFORMADA → SUPERVISIÓN REAL → DECISIÓN CONTEXTUAL</a:t>
            </a:r>
            <a:br/>
            <a:br/>
            <a:r>
              <a:rPr sz="1400" b="0">
                <a:solidFill>
                  <a:srgbClr val="232F39"/>
                </a:solidFill>
                <a:latin typeface="Aptos"/>
              </a:rPr>
              <a:t>La transparencia no sustituye al juicio clínico; lo hace posible.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Paciente + profesional + interfaz + gobernanza.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información o control falta para una decisión informada?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las guías adjuntas de Transparencia y Supervisión Humana; los casos sanitarios son adaptaciones docentes.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Referencias adjuntas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1560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7160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Guía 8 · Transparencia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700784"/>
            <a:ext cx="1025956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Base para finalidad prevista, capacidades/limitaciones, precisión, riesgos previsibles, explicación de salidas, impacto en personas/colectivos, datos de entrada, cambios, vigilancia humana y registros.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91840"/>
            <a:ext cx="1051560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38328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694D9E"/>
                </a:solidFill>
                <a:latin typeface="Aptos"/>
              </a:rPr>
              <a:t>Guía 6 · Supervisión Humana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712464"/>
            <a:ext cx="1025956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Base para autonomía, capacidades/limitaciones, sesgo de automatización, interpretación de resultados, no uso/override, interrupción y modelos human-in/on-the-loop.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03520"/>
            <a:ext cx="10515600" cy="6858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394959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Alcance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724144"/>
            <a:ext cx="10259568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F39"/>
                </a:solidFill>
                <a:latin typeface="Aptos"/>
              </a:rPr>
              <a:t>El consentimiento informado se presenta como conexión ética/clínica; estas dos guías no sustituyen una norma o guía clínica específica de consentimiento.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Material educativo. No constituye asesoramiento legal ni protocolo clínico.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