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828800" cy="182880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096" y="859536"/>
            <a:ext cx="1389888" cy="13898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219456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21945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LECTURE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Care Pathways &amp;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Sovereignty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60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9–12  •  Nov 26 – Dec 23, 2026  •  Lecture (Virtual Classroom) Slides Only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9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9 · Nov 26–Dec 2,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an AI-drafted nursing care plan before finalizing it.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62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60m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267200" y="3749040"/>
            <a:ext cx="21158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6720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38302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302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405620" y="3749040"/>
            <a:ext cx="211582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0562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35m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Entity Recognition (NER)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is how an AI turns free text into a structured problem list — but it can miss or mislabel entities just like a person skimming a note.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"patient reports occasional dizziness on standing," NER should tag both "dizziness" and "orthostatic" — missing "orthostatic" would understate the care plan.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AI-Enhanced Care Planning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Score = 2(P×R)/(P+R)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balances precision and recall — a model can have great precision but still miss most real entities (low recall), and F1 catches that.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extracts only 2 of 10 real problems but gets both right has perfect precision (100%) yet terrible recall (20%) — F1 reveals the true picture.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Snow Labs Healthcare NLP, Epic's embedded NLP tools — used for problem-list extraction in production EHRs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nurse uses an AI tool to draft a care plan combining NLP-extracted problems with a standardized nursing care model. Before finalizing, what step is mandated by HITL principles?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Auto-publish the plan to the EHR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Clinician review and modification of AI-suggested nursing diagnoses against the actual patient presentation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Skip review since NLP extraction is deterministic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Have the AI vendor approve the plan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that NER extraction is scored by F1 (not accuracy alone) helps a nurse anticipate WHERE errors cluster — usually missed entities (low recall) rather than wrong labels (low precision) — and target chart review accordingly.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entity the AI's NER step missed in your care-plan draft this week — was it a recall problem or a precision problem?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10 — GDPR &amp; Data Sovereignty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9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10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10 · Dec 3–9,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cross-border cloud AI use is restricted and why on-premises deployment is preferred.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27203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45m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6852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70788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30m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Privacy Budget (ε)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quantifies exactly how much privacy protection you're getting — "anonymized" alone is a vague claim, ε is a number you can audit.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using ε=1 for a research dataset offers much stronger privacy guarantees than one using ε=10, at some cost to statistical precision.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&amp; Data Sovereignty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Federated Learning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answers the vendor's "but we need your data to improve the model" objection — the model can learn across sites without the data ever leaving them.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EU hospitals jointly improve a diagnostic model without ever pooling patient records in one place — each site keeps its data local.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Aleph Alpha (Germany), Mistral AI (France) — sovereign, EU-jurisdiction model vendors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+ OpenAI: Delos Cloud partnership for a Germany-hosted, public-sector-compliant offering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German hospital wants to use a US-based cloud LLM API to generate nursing care plans from EHR notes. Legal counsel blocks this. What is the most likely GDPR-driven reason?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The cloud vendor's language model is outdated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Cross-border transfer of identifiable patient data to a non-EU processor without adequate safeguards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The hospital lacks sufficient internet bandwidth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US models are technically incapable of German language processing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that federated learning exists as an alternative to full centralization gives clinicians a concrete answer when a vendor claims data 'must' leave the institution to improve the model — often it doesn't have to.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to a hospital administrator, in two sentences, why 'the model runs locally' does not automatically mean 'we are GDPR compliant.'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11 — Anonymization &amp; Secondary Data Use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10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11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11 · Dec 10–16,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anonymize a dataset for research use.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55m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64940" y="3749040"/>
            <a:ext cx="181356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964940" y="3749040"/>
            <a:ext cx="181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30m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778500" y="3749040"/>
            <a:ext cx="332486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778500" y="3749040"/>
            <a:ext cx="3324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55m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03360" y="3749040"/>
            <a:ext cx="241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40m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1/2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k-anonymity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you a concrete, testable number instead of a vague promise that data is "de-identified."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rare-disease patient's record is unique even after removing their name (k=1), the record isn't safely anonymized — it needs further generalization.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2/2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Anonymization &amp; Secondary Data Use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Re-identification Risk Scoring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Anonymization isn't binary — risk scoring tells you HOW likely a specific record is to be traced back to a real person.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ZIP + age + diagnosis combination can uniquely identify someone in a small town even with the name removed — risk scoring catches this before publication.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Synthea (synthetic patient generator), ARX and similar open-source anonymization toolkits used in research pipelines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wants to use hospital AI-extracted data for a retrospective study. What must be true of the dataset before external use?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It must be raw and fully identifiable for accuracy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It must be anonymized/pseudonymized and compliant with GDPR data-minimization principles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It only needs verbal consent from the department head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No special handling is required if the AI generated it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k-anonymity as a concrete checkable threshold (not just a vague 'remove names') gives students an actual test they can run on their own extracts before submitting them for research use.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anonymized extract were shown to have k=1 for one rare-disease patient, what would you need to generalize or suppress to fix it?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Unit 12 — Synthesis &amp;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11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"/>
            <a:ext cx="1554480" cy="15544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70618" y="735178"/>
            <a:ext cx="1181405" cy="11814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0080" y="548640"/>
            <a:ext cx="2103120" cy="384048"/>
          </a:xfrm>
          <a:prstGeom prst="roundRect">
            <a:avLst>
              <a:gd name="adj" fmla="val 19048"/>
            </a:avLst>
          </a:prstGeom>
          <a:solidFill>
            <a:srgbClr val="3F6C5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5486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3 · UNIT 12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051560"/>
            <a:ext cx="8869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7452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12 · Dec 17–23, 2026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31720"/>
            <a:ext cx="2743200" cy="0"/>
          </a:xfrm>
          <a:prstGeom prst="line">
            <a:avLst/>
          </a:prstGeom>
          <a:noFill/>
          <a:ln w="38100">
            <a:solidFill>
              <a:srgbClr val="3F6C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560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2C356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8680" y="25603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one GDPR-compliant, anonymized care-plan data extract independently.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3749040"/>
            <a:ext cx="2115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35m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755900" y="3749040"/>
            <a:ext cx="9067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55900" y="3749040"/>
            <a:ext cx="906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15m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662680" y="3749040"/>
            <a:ext cx="3022600" cy="384048"/>
          </a:xfrm>
          <a:prstGeom prst="rect">
            <a:avLst/>
          </a:prstGeom>
          <a:solidFill>
            <a:srgbClr val="B5622A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662680" y="3749040"/>
            <a:ext cx="302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50m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solidFill>
            <a:srgbClr val="7A4B8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685280" y="3749040"/>
            <a:ext cx="483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80m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180 min = 3.00 decimal hrs (3:00 on the clock) — LECTURE PORTION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— LECTURE</a:t>
            </a:r>
            <a:endParaRPr lang="en-US" sz="850" dirty="0"/>
          </a:p>
        </p:txBody>
      </p:sp>
      <p:sp>
        <p:nvSpPr>
          <p:cNvPr id="23" name="Text 2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&amp; MATH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Synthesis &amp; Checkoff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251960"/>
          </a:xfrm>
          <a:prstGeom prst="roundRect">
            <a:avLst>
              <a:gd name="adj" fmla="val 2151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10512"/>
            <a:ext cx="594360" cy="59436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881835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18105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Documented Anonymization Process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68680" y="2606040"/>
            <a:ext cx="10424160" cy="0"/>
          </a:xfrm>
          <a:prstGeom prst="line">
            <a:avLst/>
          </a:prstGeom>
          <a:noFill/>
          <a:ln w="12700">
            <a:solidFill>
              <a:srgbClr val="D8E3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2788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089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data-governance review asks to see your STEPS, not just your final file — process is the actual audit trail.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4389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6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" y="4709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students submit identically-anonymized files, but only one can show which fields they generalized and why — that student passes a real compliance review.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— LECTURE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Adoption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174"/>
            </a:avLst>
          </a:prstGeom>
          <a:solidFill>
            <a:srgbClr val="3F6C51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90561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Using This &amp; How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514600"/>
            <a:ext cx="10424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Recap: John Snow Labs, Aleph Alpha/Mistral, Synthea/ARX vendor and tooling landscape from this chapter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— LECTURE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AF3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68680" cy="8686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882" y="561442"/>
            <a:ext cx="660197" cy="66019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600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USMLE-Norm Question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produces an anonymized extract quickly but a classmate can still re-identify a record from it. What is the correct grading outcome?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063240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Pass — speed is what matters most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630168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D6EAE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630168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5E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Fail — re-identifiability means the anonymization step was incomplete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197096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197096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Pass, since re-identification by a classmate doesn't count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48640" y="4764024"/>
            <a:ext cx="1106424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D8E3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764024"/>
            <a:ext cx="10607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Ungradable — anonymization can't be tested this way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— LECTURE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ADVANTAGE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at the Bedside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4206240"/>
          </a:xfrm>
          <a:prstGeom prst="roundRect">
            <a:avLst>
              <a:gd name="adj" fmla="val 2609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84248"/>
            <a:ext cx="694944" cy="6949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65960" y="1965960"/>
            <a:ext cx="94183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on DOCUMENTED anonymization steps (not just the final file) mirrors exactly what a real institutional data-governance review would ask to see before approving a research request.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min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— LECTURE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194560" cy="365760"/>
          </a:xfrm>
          <a:prstGeom prst="roundRect">
            <a:avLst>
              <a:gd name="adj" fmla="val 20000"/>
            </a:avLst>
          </a:prstGeom>
          <a:solidFill>
            <a:srgbClr val="3F6C5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Reflection, Sufficiency Check &amp; Wrap-Up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EAF3F8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70" y="1814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Med-Ed Reflection Question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01168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through your own anonymization documentation step-by-step — which single step, if skipped, would have been most likely to leak identity?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7180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01600" dist="38100" dir="5400000">
              <a:srgbClr val="1A1A2E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22960" y="3154680"/>
            <a:ext cx="640080" cy="64008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770" y="32314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Weekly Sufficiency Check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3429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student can answer the USMLE question correctly AND explain the clinical advantage unprompted, sufficient knowledge transfer for this unit is confirmed.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3891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3F6C5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48640" y="43891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Chapter 4 — Ethicolegal Autonomy &amp; the Final Checkoff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~1.5 min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Clinical Practice — Ch.3 Unit 12 — LECTURE</a:t>
            </a:r>
            <a:endParaRPr lang="en-US" sz="850" dirty="0"/>
          </a:p>
        </p:txBody>
      </p:sp>
      <p:sp>
        <p:nvSpPr>
          <p:cNvPr id="20" name="Text 16"/>
          <p:cNvSpPr txBox="1"/>
          <p:nvPr/>
        </p:nvSpPr>
        <p:spPr>
          <a:xfrm>
            <a:off x="11274552" y="65379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005840"/>
            <a:ext cx="1828800" cy="1828800"/>
          </a:xfrm>
          <a:prstGeom prst="ellipse">
            <a:avLst/>
          </a:prstGeom>
          <a:solidFill>
            <a:srgbClr val="3F6C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225296"/>
            <a:ext cx="1389888" cy="13898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06324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 Lecture Complete.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7490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matching Lab deck for the Virtual Clinical Sandbox activities.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1000232" y="1371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000232" y="13716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sec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2026-09-10T02:59:43Z</dcterms:created>
  <dcterms:modified xsi:type="dcterms:W3CDTF">2026-09-10T02:59:43Z</dcterms:modified>
</cp:coreProperties>
</file>