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640080"/>
            <a:ext cx="1737360" cy="1737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5190" y="831190"/>
            <a:ext cx="1355141" cy="135514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286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CLINICAL PRACTICE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Inteligencia Artificial en Ciencias de la Salud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977640"/>
            <a:ext cx="29260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1605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NIH/AAMC Clinical AI Competency Model  •  EU AI Act &amp; German Digital Health Standards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1, 2026  –  March 24, 2027   |   25-Week Unified Curriculum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Frameworks, One Curriculum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satisfies a US clinical-competency standard and a European regulatory standard simultaneously.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235" y="2198675"/>
            <a:ext cx="677570" cy="6775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2148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NIH / AAMC Clinical AI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Competency Model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63240"/>
            <a:ext cx="4617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 safety as the organizing principle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automation bias in AI-assisted diagnosis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data integration across scribing, imaging, and care planning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Practice-based learning and continuous professional development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1031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675" y="2198675"/>
            <a:ext cx="677570" cy="67757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1488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 &amp; German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Health Standards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306324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data protection and cross-border transfer rules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(Digital Health Applications) reimbursement pathway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quality pillars: Functionality, Robustness, Comprehensibility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risk-tier obligations for high-risk clinical AI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Diplomado en IA en Ciencias de la Salud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Structure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 per week  •  24 hours per month  •  25 weeks total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78240" y="41148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78240" y="502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HRS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1097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19456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235" y="2290115"/>
            <a:ext cx="677570" cy="67757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7452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Classroom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 / week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246120"/>
            <a:ext cx="4709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&amp; theory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AI errors ("hallucinations")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&amp; EU AI Act legal boundaries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63640" y="192024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219456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235" y="2290115"/>
            <a:ext cx="677570" cy="67757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589520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589520" y="27432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 / week  •  no hospital access required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324612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patients &amp; de-identified datasets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EHR, ambient scribes, diagnostic AI demos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Standardized-patient roleplay &amp; virtual OSCE stations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Diplomado en IA en Ciencias de la Salud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Calendar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1, 2026 – Mar 24, 2027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9768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3291840"/>
                <a:gridCol w="5486400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 – Oct 28,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Time Savings &amp; AI Foundation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29 – Nov 25,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Diagnostics &amp; Safety Override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26 – Dec 23,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Care Pathways &amp; Data Sovereignty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24, 2026 – Jan 27, 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Ethicolegal Autonomy &amp; Final Checkoff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28 – Feb 24, 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 &amp; Mock OSCE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25 – Mar 24, 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Pilot Capstone &amp; Certification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Diplomado en IA en Ciencias de la Salud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Time Savings &amp; the AI Foundation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  •  Oct 1 – Oct 28,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78240" y="4572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8882" y="567842"/>
            <a:ext cx="784555" cy="78455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778240" y="1691640"/>
            <a:ext cx="283464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2560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reported clinician burnout after ambient-scribe adoption (JAMA Netw Open, 2026)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14884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1488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22199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in Medicine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256032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principle; ML literacy; what a "hallucination" is.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24612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324612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31927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— The Four Rs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365760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Request, Reason, References, Revise; live-prompting workshop.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34340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34340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43434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441655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Scribing in Practice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475488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taxonomy; German GP digital-literacy gap.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544068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44068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4406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54480" y="551383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Checkoff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554480" y="585216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≠ trust; graded scribed-encounter checkoff.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Diplomado en IA en Ciencias de la Salud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Diagnostics &amp; the Safety Override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  •  Oct 29 – Nov 25,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78240" y="45720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8882" y="567842"/>
            <a:ext cx="784555" cy="78455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778240" y="1691640"/>
            <a:ext cx="283464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12,657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2560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in a 2026 RCT meta-analysis showing only modest AI-CDSS diagnostic gains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14884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1488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22199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Appraisal of AI Diagnostics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256032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Board-exam vs. bedside-reasoning dissociation.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24612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324612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W6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31927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Quality Pillars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365760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Functionality, Robustness, Comprehensibility (XAI).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34340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34340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43434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W7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441655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Sandbox Override Exercise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475488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biased cases; manual-override training.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544068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44068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4406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W8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54480" y="551383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Checkoff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554480" y="585216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detection + override of a seeded CDSS error.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Diplomado en IA en Ciencias de la Salud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Care Pathways &amp; Data Sovereignty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9–12  •  Nov 26 – Dec 23,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78240" y="457200"/>
            <a:ext cx="1005840" cy="100584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8882" y="567842"/>
            <a:ext cx="784555" cy="78455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778240" y="1691640"/>
            <a:ext cx="283464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 w="19050">
            <a:solidFill>
              <a:srgbClr val="3F6C5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6C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2560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required for AI inference on identifiable patient data under GDPR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14884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3F6C5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1488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W9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22199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Care Planning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256032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problem-lists + standardized nursing models.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24612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3F6C5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324612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W10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31927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&amp; Data Sovereignty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365760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cloud-API restrictions; local deployment.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34340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34340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3F6C5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43434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W11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441655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Anonymization &amp; Secondary Use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475488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Data-minimization; the DiGA pathway.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544068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44068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3F6C5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4406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W12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54480" y="551383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Checkoff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554480" y="585216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one GDPR-compliant anonymized data extract.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Diplomado en IA en Ciencias de la Salud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Ethicolegal Autonomy &amp; the Final Checkoff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13–17  •  Dec 24, 2026 – Jan 27, 2027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78240" y="457200"/>
            <a:ext cx="1005840" cy="100584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8882" y="567842"/>
            <a:ext cx="784555" cy="78455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778240" y="1691640"/>
            <a:ext cx="283464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 w="19050">
            <a:solidFill>
              <a:srgbClr val="7A4B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4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2027–28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2560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EU AI Act deadlines for high-risk clinical AI systems (Digital Omnibus, 2026)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14884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7A4B8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1488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22199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Mapping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256032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vs. vendor vs. institution responsibility.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24612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7A4B8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324612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31927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Risk Tiers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365760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scribes, CDSS, and care-planning tools.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34340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34340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7A4B8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43434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W15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441655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 &amp; Transparency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475488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Disclosing AI involvement to patients.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544068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44068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7A4B8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4406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W16–17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54480" y="551383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Prep &amp; Checkoff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554480" y="585216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shift; disclosure + risk-tier grading.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Diplomado en IA en Ciencias de la Salud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B562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&amp; Mock OSCE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18–21  •  Jan 28 – Feb 24, 2027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78240" y="457200"/>
            <a:ext cx="1005840" cy="1005840"/>
          </a:xfrm>
          <a:prstGeom prst="ellipse">
            <a:avLst/>
          </a:prstGeom>
          <a:solidFill>
            <a:srgbClr val="B5622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8882" y="567842"/>
            <a:ext cx="784555" cy="78455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778240" y="1691640"/>
            <a:ext cx="283464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 w="19050">
            <a:solidFill>
              <a:srgbClr val="B562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5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2560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domains integrated in one station: HITL, override, sovereignty, consent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14884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B5622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1488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W18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22199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Station Design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256032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build cross-chapter test cases.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24612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B5622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324612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W19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31927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OSCE — Round 1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365760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virtual stations, instructor-scored.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34340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34340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B5622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43434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W20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441655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OSCE — Round 2 + Remediation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475488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stations; individual feedback.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544068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44068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B5622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4406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W21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54480" y="551383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Wrap-Up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554480" y="585216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forum; readiness sign-off.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Diplomado en IA en Ciencias de la Salud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Pilot Capstone &amp; Certification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22–25  •  Feb 25 – Mar 24, 2027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778240" y="457200"/>
            <a:ext cx="1005840" cy="10058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8882" y="567842"/>
            <a:ext cx="784555" cy="78455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778240" y="1691640"/>
            <a:ext cx="2834640" cy="1417320"/>
          </a:xfrm>
          <a:prstGeom prst="roundRect">
            <a:avLst>
              <a:gd name="adj" fmla="val 6452"/>
            </a:avLst>
          </a:prstGeom>
          <a:solidFill>
            <a:srgbClr val="EAF3F8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2560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full-shift simulations before the AI Competency Certificate is issued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214884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14884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22199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Shift 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256032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→ diagnosis → treatment planning, fully simulated.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4612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324612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324612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31927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Shift 2 + Debrief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365760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 mix; one-on-one faculty debrief.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34340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22" name="Shape 19"/>
          <p:cNvSpPr/>
          <p:nvPr/>
        </p:nvSpPr>
        <p:spPr>
          <a:xfrm>
            <a:off x="548640" y="434340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43434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441655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Window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475488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sandbox access for final practice.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544068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440680"/>
            <a:ext cx="822960" cy="96012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4406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W25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554480" y="5513832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Course Close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554480" y="5852160"/>
            <a:ext cx="6720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checkoff; AI Competency Certificate awarded.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Diplomado en IA en Ciencias de la Salud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— Tool Kit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cohorts without hospital or clinical-lab access — synthetic and de-identified data only.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49" y="199064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44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synthetic patient records — no real PHI.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689" y="199064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MIMIC-CXR / MIMIC-IV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3044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 radiology &amp; ICU data for diagnostic AI.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729" y="1990649"/>
            <a:ext cx="499262" cy="4992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OpenEMR / GNU Health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3044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EHR for AI-integration workflows.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14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9" y="4185209"/>
            <a:ext cx="499262" cy="4992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846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Standardized-Patient Roleplay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395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or AI-simulated patients for history-taking.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114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689" y="4185209"/>
            <a:ext cx="499262" cy="49926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846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Scribe (Sandbox License)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2395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Note-generation practice, PHI never uploaded.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114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5729" y="4185209"/>
            <a:ext cx="499262" cy="49926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846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OSCE Platform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2395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stations for mock OSCE &amp; capstone shifts.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1295C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731520" y="5989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safety rule: only synthetic or fully de-identified public datasets — never real patient information — may be used in any VCS activity.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Spotlight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findings grounding this term's discussion sessions (current as of Sept 2026)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486" y="2056486"/>
            <a:ext cx="641909" cy="6419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AI Scribes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44.6%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60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ambulatory-encounter adoption rate at UCSF Health — among the fastest technology diffusions in medical history.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86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UCSF Health System Study, 2025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1965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26" y="2056486"/>
            <a:ext cx="641909" cy="64190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Bias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n=210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4160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study: diagnostic performance &amp; certified training significantly reduced false agreement with wrong AI recommendations.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0" y="5486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CDSS study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04672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21040" y="1965960"/>
            <a:ext cx="822960" cy="822960"/>
          </a:xfrm>
          <a:prstGeom prst="ellipse">
            <a:avLst/>
          </a:prstGeom>
          <a:solidFill>
            <a:srgbClr val="7A4B8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566" y="2056486"/>
            <a:ext cx="641909" cy="64190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2104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4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2027</a:t>
            </a:r>
            <a:endParaRPr lang="en-US" sz="36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4160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deadline for standalone high-risk AI systems, after the 2026 "Digital Omnibus" deferral.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321040" y="5486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Council / Parliament, 2026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Diplomado en IA en Ciencias de la Salud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713232" cy="7132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 — Week 1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691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USMLE-style vignette for in-class debate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196596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34-year-old family physician uses an ambient AI scribe during a visit for a patient with chest pain radiating to the jaw. The AI-generated note documents "patient denies chest pain" based on a mistranscription. The physician signs the note without reading it, and the patient later returns with an MI. What is the most important systemic failure illustrated here?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206240"/>
            <a:ext cx="110642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2062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scribe's speech-recognition accuracy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709160"/>
            <a:ext cx="11064240" cy="411480"/>
          </a:xfrm>
          <a:prstGeom prst="roundRect">
            <a:avLst>
              <a:gd name="adj" fmla="val 13333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709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Automation bias / failure of human-in-the-loop verification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5212080"/>
            <a:ext cx="110642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5212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Inadequate malpractice insurance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5715000"/>
            <a:ext cx="110642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715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Lack of ICD-10 coding accuracy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Diplomado en IA en Ciencias de la Salud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5816" y="1207008"/>
            <a:ext cx="1426464" cy="1426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Competency Certificate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NIH/AAMC + German/EU Dual-Compliant  •  Awarded Week 25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718304" y="4434840"/>
            <a:ext cx="2743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today's session?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2026-09-09T19:19:22Z</dcterms:created>
  <dcterms:modified xsi:type="dcterms:W3CDTF">2026-09-09T19:19:22Z</dcterms:modified>
</cp:coreProperties>
</file>