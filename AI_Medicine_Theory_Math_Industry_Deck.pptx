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third deck adds technical depth (equations, algorithms, math) and industry/company adoption examples to each unit, plus a per-slide time ledger showing how many of the week's 180 virtual-classroom minutes (3 hrs) each block should take, and three assessment elements: a USMLE-norm question, the deep clinical-practice advantage, and a medical-education reflection question used as the weekly sufficiency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640080"/>
            <a:ext cx="1737360" cy="1737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2563" y="848563"/>
            <a:ext cx="1320394" cy="13203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103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3832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Supplement — Equations, Algorithms, Company Adoption &amp; Weekly Assessment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4023360"/>
            <a:ext cx="29260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206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unit's virtual-classroom minutes are budgeted against your 12-hour theory / 12-hour lab monthly allocation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with: the 31-slide Teaching &amp; Instructional Material deck  +  the 25-slide Time, Training &amp; Practice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· 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 in Medicine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3027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430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70m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851400" y="1097280"/>
            <a:ext cx="21513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51400" y="1097280"/>
            <a:ext cx="2151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35m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002780" y="1097280"/>
            <a:ext cx="30734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02780" y="1097280"/>
            <a:ext cx="307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50m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076180" y="1097280"/>
            <a:ext cx="153670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76180" y="1097280"/>
            <a:ext cx="1536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25m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Rate: WER = (S+D+I)/N (Substitutions+Deletions+Insertions ÷ total words) — the core ASR accuracy metric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self-attention: Attention(Q,K,V) = softmax(QKᵀ/√dₖ)·V — the mechanism behind every LLM used this term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 correlates with model perplexity — lower perplexity ≠ zero hallucination risk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vs. generative model math: classification (P(class|x)) vs. next-token generation (P(tokenₙ|token₁..ₙ₋₁))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Microsoft/Nuance DAX, Abridge, Nabla, Suki — leading ambient-scribe vendors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 Permanente: 7,260 physicians, 2.57M encounters documented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UCSF Health: 44.6% ambulatory-encounter adoption rate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physician signs an AI note with an undetected mistranscription. Q: What failure does this show? A: Automation bias / failure of HITL verification.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transformer attention mechanism lets clinicians reason about WHY a model might mishear a homophone-heavy phrase (e.g., "denies" vs. "defines") — turning error-spotting from guesswork into pattern recognition.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explain to a classmate why a low word-error-rate does not guarantee a clinically safe note.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· 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— The Four 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6880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368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60m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236720" y="1097280"/>
            <a:ext cx="1844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3672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30m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080760" y="1097280"/>
            <a:ext cx="368808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80760" y="1097280"/>
            <a:ext cx="368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60m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768840" y="1097280"/>
            <a:ext cx="184404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6884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probability: P(tokenₙ | context) — a prompt reshapes the CONTEXT, not the model's trained weights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sampling: P(token) = softmax(logits/T) — lower T = more deterministic, higher T = more varied output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In-context/few-shot learning: providing examples in the prompt shifts output distribution without retraining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OpenAI, Google — publish prompting frameworks EHR vendors build on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Epic's embedded AI tools and ambient-scribe vendors adapt Four-Rs-style structured prompting internally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prompt best reflects the Four Rs? A: One that specifies the request, asks for reasoning, cites source statements, and invites revision.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that temperature controls output randomness helps clinicians understand why the SAME prompt can occasionally generate a differently worded (but hopefully equivalent) note — and when that variability crosses into a safety concern.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prompt using the Four Rs for a follow-up visit note, then explain which R you found hardest to include and why.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· 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Scribing in Practice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3807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3380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55m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929380" y="1097280"/>
            <a:ext cx="27660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29380" y="1097280"/>
            <a:ext cx="2766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45m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95440" y="1097280"/>
            <a:ext cx="30734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95440" y="1097280"/>
            <a:ext cx="307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50m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768840" y="1097280"/>
            <a:ext cx="184404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6884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breakdown by error type: mistranscription (substitution), omission (deletion), hallucination (insertion of ungrounded content)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PDQI-9 note-quality scoring: 11 Likert-scale criteria (accuracy, thoroughness, organization, etc.), averaged across reviewers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pipeline: acoustic model → language model → beam-search decoding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Suki's Ambient scribe uses both proprietary and tuned third-party LLMs for the summarization step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Snow Labs' Healthcare NLP: 2,000+ pre-trained clinical models, continuously fine-tuned via clinician feedback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97-encounter, 5-specialty PDQI-9 study found ambient notes scored 4.20/5 vs. 4.25/5 for physician-authored notes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a 'hallucination' type scribe error? A: An insertion of a clinical detail that was never actually stated during the visit.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PDQI-9 dimensions gives clinicians a structured checklist for reviewing AI drafts — not just "does this sound right" but accuracy, thoroughness, organization, and internal consistency, one at a time.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own catch log from this week, classify each correction you made using the PDQI-9 categories — which category had the most errors?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· UNIT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4587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245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40m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07360" y="1097280"/>
            <a:ext cx="12293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07360" y="1097280"/>
            <a:ext cx="122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20m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36720" y="1097280"/>
            <a:ext cx="368808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36720" y="1097280"/>
            <a:ext cx="368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60m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924800" y="1097280"/>
            <a:ext cx="36880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24800" y="1097280"/>
            <a:ext cx="368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60m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= t_baseline − t_AI-assisted — the personal time-delta metric each student computes from Weeks 1 and 3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WER, PDQI-9, attention mechanism, and next-token probability all resurface across later chapters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DAX, Abridge, Nabla, Suki, John Snow Labs — the vendor landscape covered this month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says a scribe 'saved two hours so I trust it completely.' A: Time saved and output trustworthiness are separate, unrelated axes.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graded checkoff mirrors exactly what published trials measure (time-in-note, error rate) — students leave with a personally-collected dataset proving whether efficiency and safety moved together or apart for them specifically.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own Δt and catch-log error count to the class — did your fastest week have the fewest or the most caught errors, and why might that be?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· UNIT 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Appraisal of AI Diagnostics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3027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430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70m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851400" y="1097280"/>
            <a:ext cx="24587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51400" y="1097280"/>
            <a:ext cx="245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40m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0120" y="1097280"/>
            <a:ext cx="27660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0120" y="1097280"/>
            <a:ext cx="2766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45m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076180" y="1097280"/>
            <a:ext cx="153670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76180" y="1097280"/>
            <a:ext cx="1536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25m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= TP/(TP+FN); Specificity = TN/(TN+FP) — the core diagnostic-accuracy tradeoff pair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area under the true-positive-rate vs. false-positive-rate curve across thresholds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Meta-analysis pooled effect size: SMD = 0.182 (95% CI 0.003–0.362) across 5 RCTs, n=12,657 — a MODEST effect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loss (cross-entropy): L = −Σ y·log(ŷ) — what the imaging model minimizes during training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Aidoc, Viz.ai, PathAI, Zebra Medical Vision — FDA-cleared imaging-AI platforms in stroke/ICH triage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MIMIC-CXR, CheXpert, VinDr-CXR — the large labeled datasets these models are commonly trained/validated on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an AI strong on board-exam questions but only modestly better at real diagnosis? A: Real cases are messier and multi-step in ways exam questions aren't.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actual pooled effect size (SMD≈0.18) — not the marketing benchmark — lets a clinician calibrate exactly how much extra scrutiny a CDSS recommendation still deserves.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sensitivity and specificity to a first-year student using this week's sandbox case as your example.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· UNIT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 Quality Pillars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954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3995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65m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44060" y="1097280"/>
            <a:ext cx="1844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06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30m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88100" y="1097280"/>
            <a:ext cx="33807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88100" y="1097280"/>
            <a:ext cx="3380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55m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768840" y="1097280"/>
            <a:ext cx="184404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6884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(XAI): SHAP values attribute a prediction's output back to each input feature's contribution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gradient-weighted class-activation mapping — visually highlights which pixels drove an imaging model's decision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testing: measuring accuracy degradation under adversarial perturbation ε (small input changes)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Aidoc and similar platforms now ship built-in Grad-CAM-style explainability overlays for radiologists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bodies (TÜV, Fraunhofer) increasingly perform independent AI quality/robustness assessments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CDSS gives a correct-looking answer with no visible reasoning trace. A: This violates Comprehensibility (Explainable AI), not Functionality.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who can read a Grad-CAM heatmap can immediately tell whether an imaging AI's finding is anchored to the actual pathology or to an artifact — a concrete, fast sanity check.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three sandbox CDSS malfunction cases by pillar (Functionality/Robustness/Comprehensibility) and defend one classification you found ambiguous.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· UNIT 7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 Override Exercise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0734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307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50m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22040" y="1097280"/>
            <a:ext cx="15367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22040" y="1097280"/>
            <a:ext cx="1536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25m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58740" y="1097280"/>
            <a:ext cx="39954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58740" y="1097280"/>
            <a:ext cx="3995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65m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54160" y="1097280"/>
            <a:ext cx="24587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54160" y="1097280"/>
            <a:ext cx="245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40m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agreement rate = (agreements with a WRONG AI output) ÷ (total wrong-AI cases presented)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Automation-bias study (n=210): training/experience reduced false agreement; higher perceived system benefit increased it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"nudge" design: an interface prompt inserted before confirmation to force a second look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RCT (NCT06963957, LUMS Learning Institute) is testing nudge interventions in physician-LLM diagnostic reasoning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CDSS flags 'no acute findings' at 98% confidence but a subtle nodule is visible. A: Override the AI, document the discrepancy, route for independent review.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your own false-agreement risk factors (e.g., liking the tool, time pressure) is a transferable meta-skill — the same override reflex applies to any future AI tool, not just this term's CDSS.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specific clinical detail that tipped you off during this week's seeded case — could a nudge interface have surfaced that detail automatically?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· UNIT 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8440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30m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92680" y="1097280"/>
            <a:ext cx="9220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92680" y="1097280"/>
            <a:ext cx="922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15m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14700" y="1097280"/>
            <a:ext cx="33807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4700" y="1097280"/>
            <a:ext cx="3380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55m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695440" y="1097280"/>
            <a:ext cx="491744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5440" y="1097280"/>
            <a:ext cx="491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80m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sensitivity/specificity, AUC-ROC, SHAP/Grad-CAM, false-agreement rate — all graded skills this checkoff draws on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Aidoc, Viz.ai, PathAI vendor landscape from this chapter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quickly agrees with a wrong AI recommendation on checkoff. A: Indicates the override skill isn't yet internalized without peer support.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this checkoff independently — without a peer watching — is the strongest available proxy for how the student will behave the first time this happens for real.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had failed this checkoff, what specific behavior would you change before your retake, beyond "look more carefully"?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· UNIT 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Care Planning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6880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368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60m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236720" y="1097280"/>
            <a:ext cx="21513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36720" y="1097280"/>
            <a:ext cx="2151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35m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88100" y="1097280"/>
            <a:ext cx="30734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88100" y="1097280"/>
            <a:ext cx="307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50m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461500" y="1097280"/>
            <a:ext cx="21513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61500" y="1097280"/>
            <a:ext cx="2151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35m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(NER): sequence labeling using a BIO tagging scheme (Begin/Inside/Outside an entity span)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= 2×(Precision×Recall)/(Precision+Recall) — the standard metric for NER extraction quality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extracted entities to a standardized taxonomy (e.g., NANDA-I) is a classification step layered on top of NER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3F6C51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Snow Labs Healthcare NLP, Epic's embedded NLP tools — used for problem-list extraction in production EHRs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a nurse verify before finalizing an AI-drafted care plan? A: Modify it against the patient's actual bedside presentation.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that NER extraction is scored by F1 (not accuracy alone) helps a nurse anticipate WHERE errors cluster — usually missed entities (low recall) rather than wrong labels (low precision).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entity the AI's NER step missed in your care-plan draft this week — was it a recall problem or a precision problem?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· UNIT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&amp; Data Sovereignty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3807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3380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55m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929380" y="1097280"/>
            <a:ext cx="27660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29380" y="1097280"/>
            <a:ext cx="2766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45m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95440" y="1097280"/>
            <a:ext cx="30734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95440" y="1097280"/>
            <a:ext cx="307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50m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768840" y="1097280"/>
            <a:ext cx="184404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6884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budget ε (epsilon): smaller ε = mathematically stronger privacy guarantee, at some accuracy cost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learning: model trains across multiple sites' local data without centralizing raw patient data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inference: the same trained model runs locally — sovereignty affects WHERE inference happens, not training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3F6C51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 Alpha (Germany), Mistral AI (France) — sovereign, EU-jurisdiction model vendors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+ OpenAI: Delos Cloud partnership for a Germany-hosted, public-sector-compliant offering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self-host an open-weight model instead of a US cloud API? A: Prevents cross-border transfer of identifiable patient data outside EU jurisdiction.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that federated learning exists as an alternative to full centralization gives clinicians a concrete answer when a vendor claims data 'must' leave the institution to improve the model — often it doesn't have to.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to a hospital administrator, in two sentences, why 'the model runs locally' does not automatically mean 'we are GDPR compliant.'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· UNIT 11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Anonymization &amp; Secondary Data Use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3807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3380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55m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929380" y="1097280"/>
            <a:ext cx="1844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2938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30m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773420" y="1097280"/>
            <a:ext cx="33807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73420" y="1097280"/>
            <a:ext cx="3380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55m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54160" y="1097280"/>
            <a:ext cx="24587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54160" y="1097280"/>
            <a:ext cx="245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40m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k-anonymity: each record is indistinguishable from at least k−1 others on quasi-identifying fields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l-diversity: extends k-anonymity by requiring diverse sensitive-attribute values within each group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Re-identification risk scoring: estimating the probability a 'anonymized' record can be traced back to an individual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3F6C51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(synthetic patient generator), ARX and similar open-source anonymization toolkits used in research pipelines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distinguishes anonymization from pseudonymization? A: Anonymization is irreversible; pseudonymization is reversible with a key.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k-anonymity as a concrete checkable threshold (not just a vague 'remove names') gives students an actual test they can run on their own extracts before submitting them.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anonymized extract were shown to have k=1 for one rare-disease patient, what would you need to generalize or suppress to fix it?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· UNIT 12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1513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2151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35m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00020" y="1097280"/>
            <a:ext cx="9220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00020" y="1097280"/>
            <a:ext cx="922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15m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22040" y="1097280"/>
            <a:ext cx="30734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2040" y="1097280"/>
            <a:ext cx="307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50m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695440" y="1097280"/>
            <a:ext cx="491744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5440" y="1097280"/>
            <a:ext cx="491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80m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NER/F1, differential privacy ε, k-anonymity/l-diversity — all graded in this checkoff's documented extraction process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3F6C51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John Snow Labs, Aleph Alpha/Mistral, Synthea/ARX vendor and tooling landscape from this chapter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extract is later re-identified by a classmate. A: Fail — re-identifiability means anonymization was incomplete, regardless of speed.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on DOCUMENTED anonymization steps (not just the final file) mirrors exactly what a real institutional data-governance review would ask to see.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your own anonymization documentation step-by-step — which single step, if skipped, would have been most likely to leak identity?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· UNIT 13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Liability Mapping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7660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2766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45m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314700" y="1097280"/>
            <a:ext cx="1844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1470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30m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58740" y="1097280"/>
            <a:ext cx="39954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58740" y="1097280"/>
            <a:ext cx="3995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65m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54160" y="1097280"/>
            <a:ext cx="24587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54160" y="1097280"/>
            <a:ext cx="245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40m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liability exposure ≈ P(error) × Severity of harm — a standard risk-quantification frame used in root-cause review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/ fishbone analysis: tracing an adverse event back through contributing systemic and individual factors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7A4B8C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Malpractice insurers (e.g., The Doctors Company) increasingly publish guidance requiring AI-use disclosure in documentation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bears primary responsibility when a clinician follows a wrong AI recommendation? A: The treating clinician, who retains independent-judgment duty.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liability as P(error)×Severity gives students a concrete way to prioritize WHICH AI-assisted decisions deserve the most scrutiny — high-severity domains first.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P(error)×Severity frame to two tools from this course — which one deserves more of your attention, and why?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· UNIT 14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Risk Tiers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3807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3380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55m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929380" y="1097280"/>
            <a:ext cx="24587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29380" y="1097280"/>
            <a:ext cx="245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40m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88100" y="1097280"/>
            <a:ext cx="33807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88100" y="1097280"/>
            <a:ext cx="3380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55m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768840" y="1097280"/>
            <a:ext cx="184404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6884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risk matrix: Risk = Likelihood × Impact — underlies the Act's tiering logic (unacceptable/high/limited/minimal)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Conformity assessment: a structured Annex-by-Annex checklist procedure a high-risk system must pass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Digital Omnibus: standalone high-risk deadline moved to Dec 2027; embedded medical-device AI to Aug 2028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7A4B8C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Healthineers, GE HealthCare and other device manufacturers are actively aligning technical documentation with MDCG 2025-6 guidance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paradigm EU AI Act 'high-risk' category? A: A diagnostic CDSS influencing treatment decisions.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conformity assessment as a checklist procedure (not a vague legal concept) lets a clinician ask a vendor a specific, answerable question: 'which Annex III category does this fall under, and can I see the documentation?'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VCS tool used this term and walk through which Annex III risk-tier criteria it would need to satisfy.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· UNIT 15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Consent &amp; Transparency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1513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2151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35m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00020" y="1097280"/>
            <a:ext cx="15367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00020" y="1097280"/>
            <a:ext cx="1536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25m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36720" y="1097280"/>
            <a:ext cx="43027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36720" y="1097280"/>
            <a:ext cx="430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70m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9480" y="1097280"/>
            <a:ext cx="307340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39480" y="1097280"/>
            <a:ext cx="307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50m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Flesch-Kincaid readability score: estimates the reading-grade level of consent/disclosure language — lower is more accessible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Consent-disclosure decision tree: a simple branching script (ask → disclose → explain verification role → invite questions)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7A4B8C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EU hospital groups have published standardized AI-disclosure scripts as part of patient-facing transparency policy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asks if AI was used in their diagnosis. A: Disclose plainly, explain the clinician's verification role, invite questions.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readability-score mindset to your own disclosure script ensures it lands with an anxious patient, not just with a colleague reviewing it on paper.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own disclosure script aloud and estimate its reading level — would a patient in genuine distress follow it easily?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· UNIT 16-17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Prep &amp; Final Checkoff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4587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245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80m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07360" y="1097280"/>
            <a:ext cx="12293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07360" y="1097280"/>
            <a:ext cx="122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40m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36720" y="1097280"/>
            <a:ext cx="368808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36720" y="1097280"/>
            <a:ext cx="368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120m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924800" y="1097280"/>
            <a:ext cx="36880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24800" y="1097280"/>
            <a:ext cx="368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120m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360 min = 6.0 hrs — this slide spans TWO units (Week 16 prep + Week 17 checkoff), each a standard 3-hr virtual session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Full-chapter recap: risk = likelihood × impact, conformity checklist logic, readability scoring, root-cause liability framing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7A4B8C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malpractice insurers, device manufacturers (MDCG 2025-6), EU hospital disclosure-policy groups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capstone dry-run, the AI imaging tool disagrees with the student's read. A: Re-examine independently and document the decision with justification.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first week students must combine liability awareness, risk-tier knowledge, and disclosure skill in one continuous case — exactly how these skills will actually be needed in practice.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Narrate, in first person, how you resolved this week's imaging discrepancy — which chapter's skill did you reach for first?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Station Design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4587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245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40m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07360" y="1097280"/>
            <a:ext cx="9220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07360" y="1097280"/>
            <a:ext cx="922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15m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929380" y="1097280"/>
            <a:ext cx="43027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29380" y="1097280"/>
            <a:ext cx="430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70m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32140" y="1097280"/>
            <a:ext cx="338074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32140" y="1097280"/>
            <a:ext cx="3380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55m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alignment: a good station should require application/analysis, not just recall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Test-case validity: a station should have more than one plausible 'trap' spanning multiple competency domains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B5622A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Medical-education OSCE design literature broadly recommends multi-domain station design over single-skill checklists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integration station should include: A: More than one plausible trap across multiple competency areas.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station forces students to articulate the underlying failure mode explicitly — a deeper form of mastery than simply passing one.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Bloom's level does your station actually test — recall, application, or analysis? How would you know if it slipped back to recall?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8440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30m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92680" y="1097280"/>
            <a:ext cx="6146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92680" y="1097280"/>
            <a:ext cx="61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10m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07360" y="1097280"/>
            <a:ext cx="30734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07360" y="1097280"/>
            <a:ext cx="307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50m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80760" y="1097280"/>
            <a:ext cx="55321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80760" y="10972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90m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kappa: κ = (Pₒ − Pₑ)/(1 − Pₑ) — measures inter-rater agreement beyond chance, used to validate OSCE scoring consistency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B5622A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OSCE scoring methodology is widely used across medical schools and increasingly adapted for AI-assisted-care stations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HITL checkpoint order in a timed station: A: Verify transcription → question the AI score → override if needed → confirm compliance → document.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Cohen's kappa lets instructors defend their own OSCE scoring as reliable, not just subjectively fair.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Self-score your own station performance against the checkpoint sequence before instructor feedback — where did your self-score diverge most from the actual result?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20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2 + Remediation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5367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1536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25m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85340" y="1097280"/>
            <a:ext cx="6146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85340" y="1097280"/>
            <a:ext cx="61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10m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00020" y="1097280"/>
            <a:ext cx="33807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00020" y="1097280"/>
            <a:ext cx="3380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55m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80760" y="1097280"/>
            <a:ext cx="55321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80760" y="10972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90m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Mastery-learning threshold: a fixed competency bar (not a curve) that determines pass/remediate, independent of peer performance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B5622A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Mastery-learning models are used across simulation-based medical education broadly, not tied to any single vendor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automation bias from an explainability failure: A: Automation bias is a human failure to scrutinize; explainability failure is a system failure to justify.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mastery threshold (not a curve) means remediation reflects an actual competency gap, not relative rank — a fairer and more defensible standard.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your own real-world example distinguishing automation bias from an explainability failure before checking the model answer.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21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Wrap-Up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229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122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20m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78000" y="1097280"/>
            <a:ext cx="6146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78000" y="1097280"/>
            <a:ext cx="61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10m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92680" y="1097280"/>
            <a:ext cx="55321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92680" y="10972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90m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924800" y="1097280"/>
            <a:ext cx="36880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24800" y="1097280"/>
            <a:ext cx="368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60m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formal theory — this session is a synthesis of every prior chapter's math, algorithms, and frameworks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B5622A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full vendor and tooling landscape covered across Chapters 1–5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this week — open forum; use any prior question as a warm-up if time allows.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open-forum format surfaces exactly which concepts didn't fully land BEFORE the high-stakes Capstone, when it's still cheap to fix.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one concept from this entire course you are least confident explaining to a patient — what would help you close that gap this week?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· UNIT 22-23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Shifts 1 &amp; 2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8440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15m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92680" y="1097280"/>
            <a:ext cx="6146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92680" y="1097280"/>
            <a:ext cx="61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5m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07360" y="1097280"/>
            <a:ext cx="43027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07360" y="1097280"/>
            <a:ext cx="430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35m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0120" y="1097280"/>
            <a:ext cx="43027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0120" y="1097280"/>
            <a:ext cx="430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35m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90 min = 1.5 hrs — pre/post-shift briefing ONLY. Each shift itself is 6 hrs of VCS lab time, tracked in the Time/Training/Practice deck, not here.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metric: variance in performance across Shift 1 vs. Shift 2 — low variance is the graded target, not peak performance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the full vendor/tooling landscape from all six chapters is available in the capstone simulation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excels on Shift 1 but misses checkpoints on Shift 2: A: Evaluate for consistency across both shifts, not just the best one.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on consistency (not peak performance) mirrors what real independent practice actually demands — reliability on an average day, not brilliance on a good one.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own Shift 1 and Shift 2 performance — what changed between them, and was it fatigue, case difficulty, or something else?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· UNIT 24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/ Retake Window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8440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5m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92680" y="1097280"/>
            <a:ext cx="1844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9268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5m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36720" y="1097280"/>
            <a:ext cx="368808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36720" y="1097280"/>
            <a:ext cx="368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10m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924800" y="1097280"/>
            <a:ext cx="36880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24800" y="1097280"/>
            <a:ext cx="368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10m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30 min = 0.5 hrs — a short check-in only. The rest of this week is open, unscheduled VCS sandbox access, not fixed classroom time.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Targeted-gap remediation: scope is the single named deficiency from the capstone debrief, not a full course re-teach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vendor content this week — targeted skill practice only, using tools already introduced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scope for Week 24 remediation: A: The specific, named gap identified during the capstone debrief.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targeted remediation gets a student back to competency faster than a broad review — respecting both the student's time and the instructor's.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in one sentence, the exact gap you are remediating this week — can you defend why it's the right one to focus on?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· UNIT 25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Course Close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8440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184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30m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92680" y="1097280"/>
            <a:ext cx="12293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92680" y="1097280"/>
            <a:ext cx="122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20m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22040" y="1097280"/>
            <a:ext cx="368808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2040" y="1097280"/>
            <a:ext cx="368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&amp; Discussion 60m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0120" y="1097280"/>
            <a:ext cx="43027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0120" y="1097280"/>
            <a:ext cx="430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70m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 hrs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1109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957182"/>
            <a:ext cx="291876" cy="2918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Math &amp; Algorithms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course recap: every equation, algorithm, and framework from Chapters 1–6 is fair game for the final checkoff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1911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38" y="1957182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vendor/tooling recap: scribes, imaging AI, NLP care-planning, sovereign hosting, and OSCE methodology vendors covered this term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" y="3770254"/>
            <a:ext cx="250180" cy="250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 principle connects every chapter of this course? A: Human-in-the-Loop — the human retains active verification and judgment at every step.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88536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25696" y="3730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770254"/>
            <a:ext cx="250180" cy="250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37176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Clinical Advantage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453128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confirms not just tool familiarity but a demonstrated, HITL-consistent practice pattern — the actual asset an employer is credentialing.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8432" y="3611880"/>
            <a:ext cx="35844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A1A2E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65592" y="3730752"/>
            <a:ext cx="329184" cy="329184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094" y="3770254"/>
            <a:ext cx="250180" cy="25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2" y="373989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4114800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one skill from this course you expect to use first in real practice, and why — this is also useful instructor feedback on which weeks landed hardest.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Theory, Math &amp; Industry Adoption Supplement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+ Practice + Time, Fully Budgeted.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units × 3 hrs virtual = 75 hrs theory. Paired with 75 hrs Virtual Clinical Sandbox lab.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2026-09-09T20:17:00Z</dcterms:created>
  <dcterms:modified xsi:type="dcterms:W3CDTF">2026-09-09T20:17:00Z</dcterms:modified>
</cp:coreProperties>
</file>