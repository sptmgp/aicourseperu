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Use this to introduce the deck to co-instructors or new faculty: this deck contains one slide per week (unit) across the six chapters (months) of the course, each with the explanation to teach, the teaching talking points, and the Virtual Clinical Sandbox activity instructions. Full narrative script is in the speaker notes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builds the single organizing principle for the whole course: Human-in-the-Loop (HITL). Every later chapter (diagnostics, sovereignty, ethicolegal, capstone) is a new context for applying this same idea, so invest real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"Over the next 25 weeks you'll work with scribes, diagnostic AI, and care-planning tools. Every one of them shares one safety principle: Human-in-the-Loop. If you remember one thing from this course, remember this." TEACHING SCRIPT: Open with the adoption-speed hook — ambient AI scribes have spread through medicine faster than the stethoscope, X-ray, or even the EHR. Ask: "If a technology spreads that fast, who's making sure it's used safely?" Answer: the clinician, in real time — that's HITL. Define supervised vs. generative AI on the whiteboard. Define hallucination with a low-stakes example first (an invented citation), then bridge to clinical stakes (an invented symptom or lab value). FACILITATING VCS: Walk students through account creation live, screen-shared. Explain the baseline exercise — time a manual documentation task without AI; this number matters again in Week 4. Circulate during the timed task but don't answer content questions (it biases the baseline). DISCUSSION (chest-pain mistranscription vignette): Take a vote before revealing the answer. Steer toward: "The scribe error was inevitable — the physician not reading the note wasn't. Where's the fix: software or workflow?" WRAP-UP: Preview that next week is about how to talk to these tools, not just how to supervise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"Last week was about catching AI mistakes after they happen. This week is about reducing how many mistakes happen in the first place — starting with how you talk to the tool." TEACHING SCRIPT: Write the four words on the board. Build the framework live: draft a bad prompt ("Summarize this visit"), workshop it as a class into a Four-Rs-compliant version. Emphasize Revise as the most-skipped step. FACILITATING VCS: After the roleplay, require both prompt versions submitted side-by-side. In the last 20 minutes, review 3–4 pairs' submissions as a group — peer examples teach faster than private feedback. DISCUSSION: After the vote, ask specifically: "What's missing from the weaker option that's present in the Four-Rs option?" Force students to name the absent Revise step, not just recognize present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"You now have a framework for talking to the tool. Today we stress-test it across a full clinic day — because errors don't show up evenly." TEACHING SCRIPT: Present the three error types with one example each (ideally pulled from your own prior sandbox sessions). Bridge to German content: "If a physician has never been trained on what a hallucination even is, can they be expected to catch one?" This motivates why structured onboarding is the regulatory answer, not self-study. FACILITATING VCS: Assign encounters of increasing complexity. Require the catch log tagged by error type. Reserve the last 15 minutes for students to total their own logs. DISCUSSION: Ask a student to research live: "Why would a literacy gap be treated as a systemic problem rather than an individual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"Three weeks ago you timed yourself documenting with no AI help. Today, pull that number back up." TEACHING SCRIPT: Have students share Week 1 baseline vs. Week 3 error count side-by-side. Point: both can look good at once — that's the trap. Cite that review time stays non-zero even as burnout drops; this is the one sentence to remember from Chapter 1. FACILITATING CHECKOFF: Plant a seeded error if the platform allows. Grade on catch + accurate correction. Repeat-on-fail is the pass/fail gate to Chapter 2. DISCUSSION: Push back gently on any student defending "I trust it completely now" — ask them to separate the feeling of trust from the evidence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raises the stakes from documentation to diagnosis. The core skill is manual override under automation-bias pressure — Week 7's seeded exercise is the pedagogical heart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"Month 1 was documentation. Starting today the stakes go up — we're moving into diagnosis, where a confident-sounding AI answer can be flatly wrong." TEACHING SCRIPT: Present the meta-analysis finding. Ask: "Why would a tool that's excellent at multiple-choice questions be only modestly better at real diagnosis?" Let students reason toward: real cases are messier than exam questions. FACILITATING VCS: Observation only this week — no acting on the AI's output yet. Build the confidence-vs-correctness log now; it pays off in Week 7. DISCUSSION: Ask students to generate their own real-world analogy for "good at the test, weaker in practice" before revealing the AI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"Not every AI failure looks the same. Today we build a vocabulary for naming which failure you're looking at — the fix is different for each one." TEACHING SCRIPT: Give one memorable example per pillar. Mention XAI's role in reducing automation bias per current research — this is why Comprehensibility is its own pillar rather than folded into Functionality. FACILITATING VCS: Have groups defend their sorting to another group before the full-class debrief. DISCUSSION: After revealing the answer, ask: "Why isn't this a Functionality problem? The tool DID give an answer." This is the exact distinction students most often blur.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you'll feel automation bias happen to you in real time. That's the point — practice resisting the pull toward trusting the machine." TEACHING SCRIPT: Share the n=210 finding. Ask: "Why would liking the tool more make you worse at catching its mistakes?" Be honest that behavioral-nudge countermeasures are still active, unsolved research. FACILITATING VCS: This is Chapter 2's core activity. Don't tell students which cases are seeded. In the debrief, have students name the specific clinical detail that tipped them off — vague pattern-matching isn't teachable, naming the detail is. DISCUSSION: Push students past "I just knew it was wrong" toward the specific contradicting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"Last week you practiced with peers watching. Today you do it alone, under observation — because that's what real practice will feel like." TEACHING SCRIPT: Anonymously share 2-3 near-miss patterns from Week 7 (with permission or paraphrased). Normalizing near-misses keeps students honest in self-reporting. FACILITATING CHECKOFF: New seeded case, observed live (in person or screen-share). Repeat-on-fail is the gate to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shifts from clinical judgment to data governance: where AI processing physically happens, and how data is anonymized before reuse. Consider a scheduled break after Week 12 if your institution observes a winter recess.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"Everything so far has centered on physicians. Today we prove HITL isn't physician-specific — it applies just as much to nursing workflows." TEACHING SCRIPT: Walk through NLP + NANDA-I combination and where nursing judgment must intervene. FACILITATING VCS: Pair students for bedside-reassessment roleplay; the patient's bedside report will sometimes contradict the chart. DISCUSSION: Ask directly: "What made you change the plan — something the AI could have known from the chart, or only something learned at the bedside?"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has nothing to do with clinical judgment and everything to do with geography — where does the data physically sit, and why does that matter legally?" TEACHING SCRIPT: Present the cross-border risk case concretely, then the German sovereign-hosting market response, including large US vendors now offering EU-hosted options. Frame this as legal exposure, not preference. FACILITATING VCS: Data-flow mapping in small groups; repetition across groups builds the pattern-recognition skill for spotting sovereignty risk in real vendor pitches later. DISCUSSION: Have students argue both sides — the vendor's case for the cloud API, and why the hospital's legal team overrides it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"You now know why data has to stay in the EU. Today's question: even inside the EU, when is data 'clean enough' to reuse for research?" TEACHING SCRIPT: Draw a clear anonymization-vs-pseudonymization line. Introduce DiGA briefly as a real compliance model. FACILITATING VCS: The peer re-identification exercise is the key teaching moment — if a classmate CAN re-identify a record, the extraction failed, and that's a safe way to learn why. DISCUSSION: After a failed extraction, ask: "What did it still contain that gave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the last piece of Chapter 3 — put together verifying the AI's care plan, respecting data sovereignty, and anonymizing correctly." FACILITATING CHECKOFF: Grade on documented process, not just the final artifact. Consider a scheduled break after this week before Chapter 4 resumes over the winter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is the legal mirror of Chapter 1's HITL principle: the clinician retains the duty of independent judgment, and that duty is what liability, consent, and disclosure all hang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"We've spent three months building technical safety skills. Today: who's actually on the hook when those skills aren't enough?" TEACHING SCRIPT: Walk the liability chain — the clinician retains independent-judgment duty regardless of the AI tool. This mirrors HITL from Week 1. DISCUSSION: Push on any student who says "the vendor should be liable" — ask them to reconcile that with the clinician's override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is regulatory, but don't tune out — this determines what paperwork and oversight legally attach to every tool you've used this term." TEACHING SCRIPT: Present the tier structure. Give the current timeline honestly, including its uncertainty — note the underlying obligations didn't change, only the timing, and that students should verify against the Official Journal. DISCUSSION: Use a deliberately irrelevant distractor option (e.g., hospital Wi-Fi) to test whether students understand tiering applies to the AI system's function, not IT infrastructure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isn't a legal lecture — it's a communication skill. Practice saying, out loud, something most clinicians have never had to say: 'an AI was involved in this.'" TEACHING SCRIPT: Model one disclosure conversation yourself, live, before students attempt it. DISCUSSION: Have two or three students say their actual scripted response out loud to the class — hearing the range of acceptable phrasing teaches more than one "correct"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(W16): "Today's dry run is the first time you'll do all four skills at once — ungraded on purpose, so you can find your own gaps safely." OPENING (W17): "This is the last gate before Consolidation. Two skills, graded together, because in practice you'll never get to do them one at a time." TEACHING SCRIPT: Walk the full capstone rubric explicitly beforehand so there are no surprises. DISCUSSION: Ask students to narrate their own dry-run discrepancy in first person — this rehearses the exact explanation needed during the graded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tests integrated performance under time pressure — isolated skill checkoffs from Chapters 1-4 don't guarantee students can combine them under an OSCE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you become the instructor. Designing a good test case requires understanding the failure mode better than just passing a test does." FACILITATING: Circulate and coach groups whose stations are too easy or too narrowly scoped.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FACILITATING: Run timed stations via video platform; score against a fixed rubric. DISCUSSION (Q5.1): Debrief as a full checkpoint walkthrough — verify transcription → question the risk score → invoke override → confirm documentation compliance → document reasoning and consent. Have students self-score against this sequence before revealing actual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(Q5.2): Have students generate their own example first, before you supply one, distinguishing automation bias (human failure to scrutinize) from explainability failure (system failure to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FACILITATING: Open forum format works better here than a scripted review — let students drive the agenda with their own remaining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chapter tests whether all five prior chapters' evidence bases converge into one coherent, independent behavior under simulated real-time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FACILITATING: Grade against the Confidence Factor checklist. In the post-Shift-2 debrief, specifically compare performance across both shifts to check for consistency, not just competence on a good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FACILITATING: Be available for targeted 1:1 practice rather than re-teaching. Keep the scope narrow — the specific gap named in the capstone debrief, not a general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"Twenty-five weeks ago we started with one sentence: Human-in-the-Loop. Everything since has been a different way of practicing that same sentence. That's what you're being certified on today." CLOSING RITUAL: Invite each student to name the one skill from the course they expect to use first in real practice — a strong closing ritual and useful informal feedback on which weeks landed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End-of-deck slide. Use as a closing summary for faculty training sessions on how to use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784080" y="640080"/>
            <a:ext cx="1737360" cy="173736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9975190" y="831190"/>
            <a:ext cx="1355141" cy="1355141"/>
          </a:xfrm>
          <a:prstGeom prst="rect">
            <a:avLst/>
          </a:prstGeom>
        </p:spPr>
      </p:pic>
      <p:sp>
        <p:nvSpPr>
          <p:cNvPr id="4" name="Text 1"/>
          <p:cNvSpPr txBox="1"/>
          <p:nvPr/>
        </p:nvSpPr>
        <p:spPr>
          <a:xfrm>
            <a:off x="640080" y="2286000"/>
            <a:ext cx="100584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TEACHING &amp; INSTRUCTIONAL MATERIAL</a:t>
            </a:r>
            <a:endParaRPr lang="en-US" sz="3800" dirty="0"/>
          </a:p>
        </p:txBody>
      </p:sp>
      <p:sp>
        <p:nvSpPr>
          <p:cNvPr id="5" name="Text 2"/>
          <p:cNvSpPr txBox="1"/>
          <p:nvPr/>
        </p:nvSpPr>
        <p:spPr>
          <a:xfrm>
            <a:off x="640080" y="3200400"/>
            <a:ext cx="10058400" cy="50292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AI in Clinical Practice — Diplomado en IA en Ciencias de la Salud</a:t>
            </a:r>
            <a:endParaRPr lang="en-US" sz="1800" dirty="0"/>
          </a:p>
        </p:txBody>
      </p:sp>
      <p:sp>
        <p:nvSpPr>
          <p:cNvPr id="6" name="Shape 3"/>
          <p:cNvSpPr/>
          <p:nvPr/>
        </p:nvSpPr>
        <p:spPr>
          <a:xfrm>
            <a:off x="640080" y="3886200"/>
            <a:ext cx="2926080" cy="0"/>
          </a:xfrm>
          <a:prstGeom prst="line">
            <a:avLst/>
          </a:prstGeom>
          <a:noFill/>
          <a:ln w="38100">
            <a:solidFill>
              <a:srgbClr val="1C7293"/>
            </a:solidFill>
            <a:prstDash val="solid"/>
          </a:ln>
        </p:spPr>
      </p:sp>
      <p:sp>
        <p:nvSpPr>
          <p:cNvPr id="7" name="Text 4"/>
          <p:cNvSpPr txBox="1"/>
          <p:nvPr/>
        </p:nvSpPr>
        <p:spPr>
          <a:xfrm>
            <a:off x="640080" y="4069080"/>
            <a:ext cx="100584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chapter (month) and unit (week): explanation, teaching content, and sandbox activity</a:t>
            </a:r>
            <a:endParaRPr lang="en-US" sz="1400" dirty="0"/>
          </a:p>
        </p:txBody>
      </p:sp>
      <p:sp>
        <p:nvSpPr>
          <p:cNvPr id="8" name="Text 5"/>
          <p:cNvSpPr txBox="1"/>
          <p:nvPr/>
        </p:nvSpPr>
        <p:spPr>
          <a:xfrm>
            <a:off x="640080" y="5943600"/>
            <a:ext cx="9144000" cy="365760"/>
          </a:xfrm>
          <a:prstGeom prst="rect">
            <a:avLst/>
          </a:prstGeom>
          <a:noFill/>
          <a:ln/>
        </p:spPr>
        <p:txBody>
          <a:bodyPr wrap="square" lIns="0" tIns="0" rIns="0" bIns="0" rtlCol="0" anchor="ctr"/>
          <a:lstStyle/>
          <a:p>
            <a:pPr indent="0" marL="0">
              <a:buNone/>
            </a:pPr>
            <a:r>
              <a:rPr lang="en-US" sz="1300" dirty="0">
                <a:solidFill>
                  <a:srgbClr val="9FB8D9"/>
                </a:solidFill>
                <a:latin typeface="Calibri" pitchFamily="34" charset="0"/>
                <a:ea typeface="Calibri" pitchFamily="34" charset="-122"/>
                <a:cs typeface="Calibri" pitchFamily="34" charset="-120"/>
              </a:rPr>
              <a:t>6 Chapters  •  25 Units  •  Oct 2026 – Mar 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731520" y="822960"/>
            <a:ext cx="1371600" cy="1371600"/>
          </a:xfrm>
          <a:prstGeom prst="ellipse">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2396" y="973836"/>
            <a:ext cx="1069848" cy="1069848"/>
          </a:xfrm>
          <a:prstGeom prst="rect">
            <a:avLst/>
          </a:prstGeom>
        </p:spPr>
      </p:pic>
      <p:sp>
        <p:nvSpPr>
          <p:cNvPr id="4" name="Text 1"/>
          <p:cNvSpPr txBox="1"/>
          <p:nvPr/>
        </p:nvSpPr>
        <p:spPr>
          <a:xfrm>
            <a:off x="2377440" y="914400"/>
            <a:ext cx="5486400" cy="45720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CHAPTER 1</a:t>
            </a:r>
            <a:endParaRPr lang="en-US" sz="1600" dirty="0"/>
          </a:p>
        </p:txBody>
      </p:sp>
      <p:sp>
        <p:nvSpPr>
          <p:cNvPr id="5" name="Text 2"/>
          <p:cNvSpPr txBox="1"/>
          <p:nvPr/>
        </p:nvSpPr>
        <p:spPr>
          <a:xfrm>
            <a:off x="2377440" y="1280160"/>
            <a:ext cx="91440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Admin Time Savings &amp; the AI Foundation</a:t>
            </a:r>
            <a:endParaRPr lang="en-US" sz="3000" dirty="0"/>
          </a:p>
        </p:txBody>
      </p:sp>
      <p:sp>
        <p:nvSpPr>
          <p:cNvPr id="6" name="Text 3"/>
          <p:cNvSpPr txBox="1"/>
          <p:nvPr/>
        </p:nvSpPr>
        <p:spPr>
          <a:xfrm>
            <a:off x="2377440" y="2057400"/>
            <a:ext cx="7315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Weeks 1–4  •  Oct 1 – Oct 28, 2026</a:t>
            </a:r>
            <a:endParaRPr lang="en-US" sz="1300" dirty="0"/>
          </a:p>
        </p:txBody>
      </p:sp>
      <p:sp>
        <p:nvSpPr>
          <p:cNvPr id="7" name="Shape 4"/>
          <p:cNvSpPr/>
          <p:nvPr/>
        </p:nvSpPr>
        <p:spPr>
          <a:xfrm>
            <a:off x="731520" y="2834640"/>
            <a:ext cx="777240" cy="502920"/>
          </a:xfrm>
          <a:prstGeom prst="roundRect">
            <a:avLst>
              <a:gd name="adj" fmla="val 10909"/>
            </a:avLst>
          </a:prstGeom>
          <a:solidFill>
            <a:srgbClr val="FFFFFF"/>
          </a:solidFill>
          <a:ln/>
        </p:spPr>
      </p:sp>
      <p:sp>
        <p:nvSpPr>
          <p:cNvPr id="8" name="Text 5"/>
          <p:cNvSpPr txBox="1"/>
          <p:nvPr/>
        </p:nvSpPr>
        <p:spPr>
          <a:xfrm>
            <a:off x="731520" y="2834640"/>
            <a:ext cx="777240" cy="502920"/>
          </a:xfrm>
          <a:prstGeom prst="rect">
            <a:avLst/>
          </a:prstGeom>
          <a:noFill/>
          <a:ln/>
        </p:spPr>
        <p:txBody>
          <a:bodyPr wrap="square" lIns="0" tIns="0" rIns="0" bIns="0" rtlCol="0" anchor="ctr"/>
          <a:lstStyle/>
          <a:p>
            <a:pPr algn="ctr" indent="0" marL="0">
              <a:buNone/>
            </a:pPr>
            <a:r>
              <a:rPr lang="en-US" sz="1300" b="1" dirty="0">
                <a:solidFill>
                  <a:srgbClr val="065A82"/>
                </a:solidFill>
                <a:latin typeface="Cambria" pitchFamily="34" charset="0"/>
                <a:ea typeface="Cambria" pitchFamily="34" charset="-122"/>
                <a:cs typeface="Cambria" pitchFamily="34" charset="-120"/>
              </a:rPr>
              <a:t>W1</a:t>
            </a:r>
            <a:endParaRPr lang="en-US" sz="1300" dirty="0"/>
          </a:p>
        </p:txBody>
      </p:sp>
      <p:sp>
        <p:nvSpPr>
          <p:cNvPr id="9" name="Text 6"/>
          <p:cNvSpPr txBox="1"/>
          <p:nvPr/>
        </p:nvSpPr>
        <p:spPr>
          <a:xfrm>
            <a:off x="1691640" y="2862072"/>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Introduction to AI in Medicine</a:t>
            </a:r>
            <a:endParaRPr lang="en-US" sz="1500" dirty="0"/>
          </a:p>
        </p:txBody>
      </p:sp>
      <p:sp>
        <p:nvSpPr>
          <p:cNvPr id="10" name="Shape 7"/>
          <p:cNvSpPr/>
          <p:nvPr/>
        </p:nvSpPr>
        <p:spPr>
          <a:xfrm>
            <a:off x="731520" y="3493008"/>
            <a:ext cx="777240" cy="502920"/>
          </a:xfrm>
          <a:prstGeom prst="roundRect">
            <a:avLst>
              <a:gd name="adj" fmla="val 10909"/>
            </a:avLst>
          </a:prstGeom>
          <a:solidFill>
            <a:srgbClr val="FFFFFF"/>
          </a:solidFill>
          <a:ln/>
        </p:spPr>
      </p:sp>
      <p:sp>
        <p:nvSpPr>
          <p:cNvPr id="11" name="Text 8"/>
          <p:cNvSpPr txBox="1"/>
          <p:nvPr/>
        </p:nvSpPr>
        <p:spPr>
          <a:xfrm>
            <a:off x="731520" y="3493008"/>
            <a:ext cx="777240" cy="502920"/>
          </a:xfrm>
          <a:prstGeom prst="rect">
            <a:avLst/>
          </a:prstGeom>
          <a:noFill/>
          <a:ln/>
        </p:spPr>
        <p:txBody>
          <a:bodyPr wrap="square" lIns="0" tIns="0" rIns="0" bIns="0" rtlCol="0" anchor="ctr"/>
          <a:lstStyle/>
          <a:p>
            <a:pPr algn="ctr" indent="0" marL="0">
              <a:buNone/>
            </a:pPr>
            <a:r>
              <a:rPr lang="en-US" sz="1300" b="1" dirty="0">
                <a:solidFill>
                  <a:srgbClr val="065A82"/>
                </a:solidFill>
                <a:latin typeface="Cambria" pitchFamily="34" charset="0"/>
                <a:ea typeface="Cambria" pitchFamily="34" charset="-122"/>
                <a:cs typeface="Cambria" pitchFamily="34" charset="-120"/>
              </a:rPr>
              <a:t>W2</a:t>
            </a:r>
            <a:endParaRPr lang="en-US" sz="1300" dirty="0"/>
          </a:p>
        </p:txBody>
      </p:sp>
      <p:sp>
        <p:nvSpPr>
          <p:cNvPr id="12" name="Text 9"/>
          <p:cNvSpPr txBox="1"/>
          <p:nvPr/>
        </p:nvSpPr>
        <p:spPr>
          <a:xfrm>
            <a:off x="1691640" y="3520440"/>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Prompt Engineering — The Four Rs</a:t>
            </a:r>
            <a:endParaRPr lang="en-US" sz="1500" dirty="0"/>
          </a:p>
        </p:txBody>
      </p:sp>
      <p:sp>
        <p:nvSpPr>
          <p:cNvPr id="13" name="Shape 10"/>
          <p:cNvSpPr/>
          <p:nvPr/>
        </p:nvSpPr>
        <p:spPr>
          <a:xfrm>
            <a:off x="731520" y="4151376"/>
            <a:ext cx="777240" cy="502920"/>
          </a:xfrm>
          <a:prstGeom prst="roundRect">
            <a:avLst>
              <a:gd name="adj" fmla="val 10909"/>
            </a:avLst>
          </a:prstGeom>
          <a:solidFill>
            <a:srgbClr val="FFFFFF"/>
          </a:solidFill>
          <a:ln/>
        </p:spPr>
      </p:sp>
      <p:sp>
        <p:nvSpPr>
          <p:cNvPr id="14" name="Text 11"/>
          <p:cNvSpPr txBox="1"/>
          <p:nvPr/>
        </p:nvSpPr>
        <p:spPr>
          <a:xfrm>
            <a:off x="731520" y="4151376"/>
            <a:ext cx="777240" cy="502920"/>
          </a:xfrm>
          <a:prstGeom prst="rect">
            <a:avLst/>
          </a:prstGeom>
          <a:noFill/>
          <a:ln/>
        </p:spPr>
        <p:txBody>
          <a:bodyPr wrap="square" lIns="0" tIns="0" rIns="0" bIns="0" rtlCol="0" anchor="ctr"/>
          <a:lstStyle/>
          <a:p>
            <a:pPr algn="ctr" indent="0" marL="0">
              <a:buNone/>
            </a:pPr>
            <a:r>
              <a:rPr lang="en-US" sz="1300" b="1" dirty="0">
                <a:solidFill>
                  <a:srgbClr val="065A82"/>
                </a:solidFill>
                <a:latin typeface="Cambria" pitchFamily="34" charset="0"/>
                <a:ea typeface="Cambria" pitchFamily="34" charset="-122"/>
                <a:cs typeface="Cambria" pitchFamily="34" charset="-120"/>
              </a:rPr>
              <a:t>W3</a:t>
            </a:r>
            <a:endParaRPr lang="en-US" sz="1300" dirty="0"/>
          </a:p>
        </p:txBody>
      </p:sp>
      <p:sp>
        <p:nvSpPr>
          <p:cNvPr id="15" name="Text 12"/>
          <p:cNvSpPr txBox="1"/>
          <p:nvPr/>
        </p:nvSpPr>
        <p:spPr>
          <a:xfrm>
            <a:off x="1691640" y="4178808"/>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Ambient Scribing in Practice</a:t>
            </a:r>
            <a:endParaRPr lang="en-US" sz="1500" dirty="0"/>
          </a:p>
        </p:txBody>
      </p:sp>
      <p:sp>
        <p:nvSpPr>
          <p:cNvPr id="16" name="Shape 13"/>
          <p:cNvSpPr/>
          <p:nvPr/>
        </p:nvSpPr>
        <p:spPr>
          <a:xfrm>
            <a:off x="731520" y="4809744"/>
            <a:ext cx="777240" cy="502920"/>
          </a:xfrm>
          <a:prstGeom prst="roundRect">
            <a:avLst>
              <a:gd name="adj" fmla="val 10909"/>
            </a:avLst>
          </a:prstGeom>
          <a:solidFill>
            <a:srgbClr val="FFFFFF"/>
          </a:solidFill>
          <a:ln/>
        </p:spPr>
      </p:sp>
      <p:sp>
        <p:nvSpPr>
          <p:cNvPr id="17" name="Text 14"/>
          <p:cNvSpPr txBox="1"/>
          <p:nvPr/>
        </p:nvSpPr>
        <p:spPr>
          <a:xfrm>
            <a:off x="731520" y="4809744"/>
            <a:ext cx="777240" cy="502920"/>
          </a:xfrm>
          <a:prstGeom prst="rect">
            <a:avLst/>
          </a:prstGeom>
          <a:noFill/>
          <a:ln/>
        </p:spPr>
        <p:txBody>
          <a:bodyPr wrap="square" lIns="0" tIns="0" rIns="0" bIns="0" rtlCol="0" anchor="ctr"/>
          <a:lstStyle/>
          <a:p>
            <a:pPr algn="ctr" indent="0" marL="0">
              <a:buNone/>
            </a:pPr>
            <a:r>
              <a:rPr lang="en-US" sz="1300" b="1" dirty="0">
                <a:solidFill>
                  <a:srgbClr val="065A82"/>
                </a:solidFill>
                <a:latin typeface="Cambria" pitchFamily="34" charset="0"/>
                <a:ea typeface="Cambria" pitchFamily="34" charset="-122"/>
                <a:cs typeface="Cambria" pitchFamily="34" charset="-120"/>
              </a:rPr>
              <a:t>W4</a:t>
            </a:r>
            <a:endParaRPr lang="en-US" sz="1300" dirty="0"/>
          </a:p>
        </p:txBody>
      </p:sp>
      <p:sp>
        <p:nvSpPr>
          <p:cNvPr id="18" name="Text 15"/>
          <p:cNvSpPr txBox="1"/>
          <p:nvPr/>
        </p:nvSpPr>
        <p:spPr>
          <a:xfrm>
            <a:off x="1691640" y="4837176"/>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Synthesis &amp; Checkoff</a:t>
            </a:r>
            <a:endParaRPr lang="en-US" sz="1500" dirty="0"/>
          </a:p>
        </p:txBody>
      </p:sp>
      <p:sp>
        <p:nvSpPr>
          <p:cNvPr id="19" name="Text 16"/>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20" name="Text 17"/>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065A82"/>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CH.1 · UNIT 1</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Introduction to AI in Medicine</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Define HITL and explain why it anchors the entire course.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Landscape of clinical AI: ambient scribes, CDSS, imaging AI, care-planning NLP</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Human-in-the-Loop (HITL): the human must actively verify AI output, never passively co-sign it</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ML literacy basics: supervised vs. generative models</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"Hallucination": plausible-sounding but false AI output</a:t>
            </a:r>
            <a:endParaRPr lang="en-US" sz="1300" dirty="0"/>
          </a:p>
        </p:txBody>
      </p:sp>
      <p:sp>
        <p:nvSpPr>
          <p:cNvPr id="10" name="Shape 8"/>
          <p:cNvSpPr/>
          <p:nvPr/>
        </p:nvSpPr>
        <p:spPr>
          <a:xfrm>
            <a:off x="7223760" y="2194560"/>
            <a:ext cx="4206240" cy="4160520"/>
          </a:xfrm>
          <a:prstGeom prst="roundRect">
            <a:avLst>
              <a:gd name="adj" fmla="val 2198"/>
            </a:avLst>
          </a:prstGeom>
          <a:solidFill>
            <a:srgbClr val="065A82"/>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Set up accounts: Synthea, sandbox EHR, ambient-scribe trial license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Baseline exercise: time a manual documentation task with no AI, for comparison in Week 4</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065A82"/>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CH.1 · UNIT 2</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Prompt Engineering — The Four Rs</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Apply Request, Reason, References, Revise to a clinical prompt.</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The AAFP Four Rs framework: Request, Reason, References, Revise</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Live-prompting workshop: draft and critique prompts together as a class</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Common failure modes: vague requests, no verification step, no source grounding</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"Revise" is the step students most often skip — a prompt with no correction loop hides its own errors</a:t>
            </a:r>
            <a:endParaRPr lang="en-US" sz="1300" dirty="0"/>
          </a:p>
        </p:txBody>
      </p:sp>
      <p:sp>
        <p:nvSpPr>
          <p:cNvPr id="10" name="Shape 8"/>
          <p:cNvSpPr/>
          <p:nvPr/>
        </p:nvSpPr>
        <p:spPr>
          <a:xfrm>
            <a:off x="7223760" y="2194560"/>
            <a:ext cx="4206240" cy="4160520"/>
          </a:xfrm>
          <a:prstGeom prst="roundRect">
            <a:avLst>
              <a:gd name="adj" fmla="val 2198"/>
            </a:avLst>
          </a:prstGeom>
          <a:solidFill>
            <a:srgbClr val="065A82"/>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Pair up: one plays patient (Synthea case card), one plays clinician</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Run the scribe, then revise the prompt once based on what it got wrong</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Submit both prompt versions side-by-side</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065A82"/>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CH.1 · UNIT 3</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Ambient Scribing in Practice</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Categorize scribe errors and explain the German literacy-gap training rationale.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Error taxonomy: mistranscription, omission, hallucinated detail — one example of each</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German GP digital-literacy gap: why structured onboarding, not self-study, is mandated</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Errors cluster around certain visit types — they don't show up evenly</a:t>
            </a:r>
            <a:endParaRPr lang="en-US" sz="1300" dirty="0"/>
          </a:p>
        </p:txBody>
      </p:sp>
      <p:sp>
        <p:nvSpPr>
          <p:cNvPr id="10" name="Shape 8"/>
          <p:cNvSpPr/>
          <p:nvPr/>
        </p:nvSpPr>
        <p:spPr>
          <a:xfrm>
            <a:off x="7223760" y="2194560"/>
            <a:ext cx="4206240" cy="4160520"/>
          </a:xfrm>
          <a:prstGeom prst="roundRect">
            <a:avLst>
              <a:gd name="adj" fmla="val 2198"/>
            </a:avLst>
          </a:prstGeom>
          <a:solidFill>
            <a:srgbClr val="065A82"/>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Full mock-clinic day: 3–4 synthetic-patient encounters of increasing complexity</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Maintain a running "catch log" tagged by error type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Last 15 min: total your own catch log — this becomes your personal baseline for Week 4</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065A82"/>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CH.1 · UNIT 4</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Synthesis &amp; Checkoff</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Articulate why efficiency gains don't imply trustworthiness, and pass the graded scribing checkoff.</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Compare Week 1 baseline (no AI) against Week 3 catch-log error counts</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Both numbers can look good simultaneously — that's the trap: time saved ≠ accuracy certified</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Research finding: review time is "non-zero" even as burnout drops — this is Month 1's one-sentence takeaway</a:t>
            </a:r>
            <a:endParaRPr lang="en-US" sz="1300" dirty="0"/>
          </a:p>
        </p:txBody>
      </p:sp>
      <p:sp>
        <p:nvSpPr>
          <p:cNvPr id="10" name="Shape 8"/>
          <p:cNvSpPr/>
          <p:nvPr/>
        </p:nvSpPr>
        <p:spPr>
          <a:xfrm>
            <a:off x="7223760" y="2194560"/>
            <a:ext cx="4206240" cy="4160520"/>
          </a:xfrm>
          <a:prstGeom prst="roundRect">
            <a:avLst>
              <a:gd name="adj" fmla="val 2198"/>
            </a:avLst>
          </a:prstGeom>
          <a:solidFill>
            <a:srgbClr val="065A82"/>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Independently run one full ambient-scribed encounter, correct the note, and sign it</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Grading: did they catch at least one seeded error, and does the corrected note reflect it accurately?</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Students who miss the seeded error repeat before advancing</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7293"/>
        </a:solidFill>
      </p:bgPr>
    </p:bg>
    <p:spTree>
      <p:nvGrpSpPr>
        <p:cNvPr id="1" name=""/>
        <p:cNvGrpSpPr/>
        <p:nvPr/>
      </p:nvGrpSpPr>
      <p:grpSpPr>
        <a:xfrm>
          <a:off x="0" y="0"/>
          <a:ext cx="0" cy="0"/>
          <a:chOff x="0" y="0"/>
          <a:chExt cx="0" cy="0"/>
        </a:xfrm>
      </p:grpSpPr>
      <p:sp>
        <p:nvSpPr>
          <p:cNvPr id="2" name="Shape 0"/>
          <p:cNvSpPr/>
          <p:nvPr/>
        </p:nvSpPr>
        <p:spPr>
          <a:xfrm>
            <a:off x="731520" y="822960"/>
            <a:ext cx="1371600" cy="1371600"/>
          </a:xfrm>
          <a:prstGeom prst="ellipse">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2396" y="973836"/>
            <a:ext cx="1069848" cy="1069848"/>
          </a:xfrm>
          <a:prstGeom prst="rect">
            <a:avLst/>
          </a:prstGeom>
        </p:spPr>
      </p:pic>
      <p:sp>
        <p:nvSpPr>
          <p:cNvPr id="4" name="Text 1"/>
          <p:cNvSpPr txBox="1"/>
          <p:nvPr/>
        </p:nvSpPr>
        <p:spPr>
          <a:xfrm>
            <a:off x="2377440" y="914400"/>
            <a:ext cx="5486400" cy="45720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CHAPTER 2</a:t>
            </a:r>
            <a:endParaRPr lang="en-US" sz="1600" dirty="0"/>
          </a:p>
        </p:txBody>
      </p:sp>
      <p:sp>
        <p:nvSpPr>
          <p:cNvPr id="5" name="Text 2"/>
          <p:cNvSpPr txBox="1"/>
          <p:nvPr/>
        </p:nvSpPr>
        <p:spPr>
          <a:xfrm>
            <a:off x="2377440" y="1280160"/>
            <a:ext cx="91440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AI-Driven Diagnostics &amp; the Safety Override</a:t>
            </a:r>
            <a:endParaRPr lang="en-US" sz="3000" dirty="0"/>
          </a:p>
        </p:txBody>
      </p:sp>
      <p:sp>
        <p:nvSpPr>
          <p:cNvPr id="6" name="Text 3"/>
          <p:cNvSpPr txBox="1"/>
          <p:nvPr/>
        </p:nvSpPr>
        <p:spPr>
          <a:xfrm>
            <a:off x="2377440" y="2057400"/>
            <a:ext cx="7315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Weeks 5–8  •  Oct 29 – Nov 25, 2026</a:t>
            </a:r>
            <a:endParaRPr lang="en-US" sz="1300" dirty="0"/>
          </a:p>
        </p:txBody>
      </p:sp>
      <p:sp>
        <p:nvSpPr>
          <p:cNvPr id="7" name="Shape 4"/>
          <p:cNvSpPr/>
          <p:nvPr/>
        </p:nvSpPr>
        <p:spPr>
          <a:xfrm>
            <a:off x="731520" y="2834640"/>
            <a:ext cx="777240" cy="502920"/>
          </a:xfrm>
          <a:prstGeom prst="roundRect">
            <a:avLst>
              <a:gd name="adj" fmla="val 10909"/>
            </a:avLst>
          </a:prstGeom>
          <a:solidFill>
            <a:srgbClr val="FFFFFF"/>
          </a:solidFill>
          <a:ln/>
        </p:spPr>
      </p:sp>
      <p:sp>
        <p:nvSpPr>
          <p:cNvPr id="8" name="Text 5"/>
          <p:cNvSpPr txBox="1"/>
          <p:nvPr/>
        </p:nvSpPr>
        <p:spPr>
          <a:xfrm>
            <a:off x="731520" y="2834640"/>
            <a:ext cx="777240" cy="502920"/>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W5</a:t>
            </a:r>
            <a:endParaRPr lang="en-US" sz="1300" dirty="0"/>
          </a:p>
        </p:txBody>
      </p:sp>
      <p:sp>
        <p:nvSpPr>
          <p:cNvPr id="9" name="Text 6"/>
          <p:cNvSpPr txBox="1"/>
          <p:nvPr/>
        </p:nvSpPr>
        <p:spPr>
          <a:xfrm>
            <a:off x="1691640" y="2862072"/>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Critical Appraisal of AI Diagnostics</a:t>
            </a:r>
            <a:endParaRPr lang="en-US" sz="1500" dirty="0"/>
          </a:p>
        </p:txBody>
      </p:sp>
      <p:sp>
        <p:nvSpPr>
          <p:cNvPr id="10" name="Shape 7"/>
          <p:cNvSpPr/>
          <p:nvPr/>
        </p:nvSpPr>
        <p:spPr>
          <a:xfrm>
            <a:off x="731520" y="3493008"/>
            <a:ext cx="777240" cy="502920"/>
          </a:xfrm>
          <a:prstGeom prst="roundRect">
            <a:avLst>
              <a:gd name="adj" fmla="val 10909"/>
            </a:avLst>
          </a:prstGeom>
          <a:solidFill>
            <a:srgbClr val="FFFFFF"/>
          </a:solidFill>
          <a:ln/>
        </p:spPr>
      </p:sp>
      <p:sp>
        <p:nvSpPr>
          <p:cNvPr id="11" name="Text 8"/>
          <p:cNvSpPr txBox="1"/>
          <p:nvPr/>
        </p:nvSpPr>
        <p:spPr>
          <a:xfrm>
            <a:off x="731520" y="3493008"/>
            <a:ext cx="777240" cy="502920"/>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W6</a:t>
            </a:r>
            <a:endParaRPr lang="en-US" sz="1300" dirty="0"/>
          </a:p>
        </p:txBody>
      </p:sp>
      <p:sp>
        <p:nvSpPr>
          <p:cNvPr id="12" name="Text 9"/>
          <p:cNvSpPr txBox="1"/>
          <p:nvPr/>
        </p:nvSpPr>
        <p:spPr>
          <a:xfrm>
            <a:off x="1691640" y="3520440"/>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German Quality Pillars</a:t>
            </a:r>
            <a:endParaRPr lang="en-US" sz="1500" dirty="0"/>
          </a:p>
        </p:txBody>
      </p:sp>
      <p:sp>
        <p:nvSpPr>
          <p:cNvPr id="13" name="Shape 10"/>
          <p:cNvSpPr/>
          <p:nvPr/>
        </p:nvSpPr>
        <p:spPr>
          <a:xfrm>
            <a:off x="731520" y="4151376"/>
            <a:ext cx="777240" cy="502920"/>
          </a:xfrm>
          <a:prstGeom prst="roundRect">
            <a:avLst>
              <a:gd name="adj" fmla="val 10909"/>
            </a:avLst>
          </a:prstGeom>
          <a:solidFill>
            <a:srgbClr val="FFFFFF"/>
          </a:solidFill>
          <a:ln/>
        </p:spPr>
      </p:sp>
      <p:sp>
        <p:nvSpPr>
          <p:cNvPr id="14" name="Text 11"/>
          <p:cNvSpPr txBox="1"/>
          <p:nvPr/>
        </p:nvSpPr>
        <p:spPr>
          <a:xfrm>
            <a:off x="731520" y="4151376"/>
            <a:ext cx="777240" cy="502920"/>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W7</a:t>
            </a:r>
            <a:endParaRPr lang="en-US" sz="1300" dirty="0"/>
          </a:p>
        </p:txBody>
      </p:sp>
      <p:sp>
        <p:nvSpPr>
          <p:cNvPr id="15" name="Text 12"/>
          <p:cNvSpPr txBox="1"/>
          <p:nvPr/>
        </p:nvSpPr>
        <p:spPr>
          <a:xfrm>
            <a:off x="1691640" y="4178808"/>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Sandbox Override Exercise</a:t>
            </a:r>
            <a:endParaRPr lang="en-US" sz="1500" dirty="0"/>
          </a:p>
        </p:txBody>
      </p:sp>
      <p:sp>
        <p:nvSpPr>
          <p:cNvPr id="16" name="Shape 13"/>
          <p:cNvSpPr/>
          <p:nvPr/>
        </p:nvSpPr>
        <p:spPr>
          <a:xfrm>
            <a:off x="731520" y="4809744"/>
            <a:ext cx="777240" cy="502920"/>
          </a:xfrm>
          <a:prstGeom prst="roundRect">
            <a:avLst>
              <a:gd name="adj" fmla="val 10909"/>
            </a:avLst>
          </a:prstGeom>
          <a:solidFill>
            <a:srgbClr val="FFFFFF"/>
          </a:solidFill>
          <a:ln/>
        </p:spPr>
      </p:sp>
      <p:sp>
        <p:nvSpPr>
          <p:cNvPr id="17" name="Text 14"/>
          <p:cNvSpPr txBox="1"/>
          <p:nvPr/>
        </p:nvSpPr>
        <p:spPr>
          <a:xfrm>
            <a:off x="731520" y="4809744"/>
            <a:ext cx="777240" cy="502920"/>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W8</a:t>
            </a:r>
            <a:endParaRPr lang="en-US" sz="1300" dirty="0"/>
          </a:p>
        </p:txBody>
      </p:sp>
      <p:sp>
        <p:nvSpPr>
          <p:cNvPr id="18" name="Text 15"/>
          <p:cNvSpPr txBox="1"/>
          <p:nvPr/>
        </p:nvSpPr>
        <p:spPr>
          <a:xfrm>
            <a:off x="1691640" y="4837176"/>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Synthesis &amp; Checkoff</a:t>
            </a:r>
            <a:endParaRPr lang="en-US" sz="1500" dirty="0"/>
          </a:p>
        </p:txBody>
      </p:sp>
      <p:sp>
        <p:nvSpPr>
          <p:cNvPr id="19" name="Text 16"/>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20" name="Text 17"/>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1C7293"/>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CH.2 · UNIT 5</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Critical Appraisal of AI Diagnostics</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Explain the dissociation between benchmark AI performance and real bedside reasoning.</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Meta-analysis: 12,657 RCT participants — AI-CDSS produced only a modest diagnostic-accuracy gain over standard care</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Contrast with much higher board-exam-style AI performance</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Why: real cases are messier, ambiguous, and multi-step in ways exam questions aren't</a:t>
            </a:r>
            <a:endParaRPr lang="en-US" sz="1300" dirty="0"/>
          </a:p>
        </p:txBody>
      </p:sp>
      <p:sp>
        <p:nvSpPr>
          <p:cNvPr id="10" name="Shape 8"/>
          <p:cNvSpPr/>
          <p:nvPr/>
        </p:nvSpPr>
        <p:spPr>
          <a:xfrm>
            <a:off x="7223760" y="2194560"/>
            <a:ext cx="4206240" cy="4160520"/>
          </a:xfrm>
          <a:prstGeom prst="roundRect">
            <a:avLst>
              <a:gd name="adj" fmla="val 2198"/>
            </a:avLst>
          </a:prstGeom>
          <a:solidFill>
            <a:srgbClr val="1C7293"/>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Observe (don't act on) a diagnostic-AI demo against de-identified MIMIC-CXR images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Log the AI's stated confidence score next to the actual finding for each case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Tally: how often did high confidence coincide with a wrong answer? (used again in Week 7)</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1C7293"/>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CH.2 · UNIT 6</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German Quality Pillars</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Distinguish Functionality, Robustness, and Comprehensibility (Explainable AI) failures.</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Functionality: "Does it work at all?"</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Robustness: "Does it keep working under stress / messy real-world input?"</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Comprehensibility (XAI): "Can a human see why?" — correct-looking answer, zero traceable reasoning</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XAI is cited in the research literature as a promising way to reduce automation bias</a:t>
            </a:r>
            <a:endParaRPr lang="en-US" sz="1300" dirty="0"/>
          </a:p>
        </p:txBody>
      </p:sp>
      <p:sp>
        <p:nvSpPr>
          <p:cNvPr id="10" name="Shape 8"/>
          <p:cNvSpPr/>
          <p:nvPr/>
        </p:nvSpPr>
        <p:spPr>
          <a:xfrm>
            <a:off x="7223760" y="2194560"/>
            <a:ext cx="4206240" cy="4160520"/>
          </a:xfrm>
          <a:prstGeom prst="roundRect">
            <a:avLst>
              <a:gd name="adj" fmla="val 2198"/>
            </a:avLst>
          </a:prstGeom>
          <a:solidFill>
            <a:srgbClr val="1C7293"/>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Distribute 8–10 de-identified CDSS malfunction write-ups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Small groups sort each case by which pillar was violated</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Debrief disagreements as a full class — disagreement here is pedagogically useful</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1C7293"/>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CH.2 · UNIT 7</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The Sandbox Override Exercise</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Detect a seeded AI error and execute a documented manual override.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Automation bias: documented across medical diagnostics, aviation, and task monitoring</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Study finding (n=210): training/experience reduced false agreement with wrong AI output; higher perceived benefit increased it</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Current research is actively testing "behavioral nudges" as a countermeasure — an open question, not settled science</a:t>
            </a:r>
            <a:endParaRPr lang="en-US" sz="1300" dirty="0"/>
          </a:p>
        </p:txBody>
      </p:sp>
      <p:sp>
        <p:nvSpPr>
          <p:cNvPr id="10" name="Shape 8"/>
          <p:cNvSpPr/>
          <p:nvPr/>
        </p:nvSpPr>
        <p:spPr>
          <a:xfrm>
            <a:off x="7223760" y="2194560"/>
            <a:ext cx="4206240" cy="4160520"/>
          </a:xfrm>
          <a:prstGeom prst="roundRect">
            <a:avLst>
              <a:gd name="adj" fmla="val 2198"/>
            </a:avLst>
          </a:prstGeom>
          <a:solidFill>
            <a:srgbClr val="1C7293"/>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Instructor seeds 2–3 cases with a clinically implausible AI output (undisclosed to students)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Grade: (a) noticed the anomaly, (b) can articulate why it's implausible, (c) documented a manual override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Debrief: students who caught the seed explain their specific "tell" — builds shared vocabulary</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1C7293"/>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CH.2 · UNIT 8</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Synthesis &amp; Checkoff</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Independently detect and override one new seeded error under observation.</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Debrief 2–3 anonymized near-miss patterns from Week 7</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Normalize near-misses as data, not shame — this keeps self-reporting honest</a:t>
            </a:r>
            <a:endParaRPr lang="en-US" sz="1300" dirty="0"/>
          </a:p>
        </p:txBody>
      </p:sp>
      <p:sp>
        <p:nvSpPr>
          <p:cNvPr id="10" name="Shape 8"/>
          <p:cNvSpPr/>
          <p:nvPr/>
        </p:nvSpPr>
        <p:spPr>
          <a:xfrm>
            <a:off x="7223760" y="2194560"/>
            <a:ext cx="4206240" cy="4160520"/>
          </a:xfrm>
          <a:prstGeom prst="roundRect">
            <a:avLst>
              <a:gd name="adj" fmla="val 2198"/>
            </a:avLst>
          </a:prstGeom>
          <a:solidFill>
            <a:srgbClr val="1C7293"/>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One new seeded case per student, observed live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Pass criteria: detect the anomaly, articulate the reasoning, document the override correctly</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Fail → repeat the Week 7 exercise with a new case before re-attempting</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F6C51"/>
        </a:solidFill>
      </p:bgPr>
    </p:bg>
    <p:spTree>
      <p:nvGrpSpPr>
        <p:cNvPr id="1" name=""/>
        <p:cNvGrpSpPr/>
        <p:nvPr/>
      </p:nvGrpSpPr>
      <p:grpSpPr>
        <a:xfrm>
          <a:off x="0" y="0"/>
          <a:ext cx="0" cy="0"/>
          <a:chOff x="0" y="0"/>
          <a:chExt cx="0" cy="0"/>
        </a:xfrm>
      </p:grpSpPr>
      <p:sp>
        <p:nvSpPr>
          <p:cNvPr id="2" name="Shape 0"/>
          <p:cNvSpPr/>
          <p:nvPr/>
        </p:nvSpPr>
        <p:spPr>
          <a:xfrm>
            <a:off x="731520" y="822960"/>
            <a:ext cx="1371600" cy="1371600"/>
          </a:xfrm>
          <a:prstGeom prst="ellipse">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2396" y="973836"/>
            <a:ext cx="1069848" cy="1069848"/>
          </a:xfrm>
          <a:prstGeom prst="rect">
            <a:avLst/>
          </a:prstGeom>
        </p:spPr>
      </p:pic>
      <p:sp>
        <p:nvSpPr>
          <p:cNvPr id="4" name="Text 1"/>
          <p:cNvSpPr txBox="1"/>
          <p:nvPr/>
        </p:nvSpPr>
        <p:spPr>
          <a:xfrm>
            <a:off x="2377440" y="914400"/>
            <a:ext cx="5486400" cy="45720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CHAPTER 3</a:t>
            </a:r>
            <a:endParaRPr lang="en-US" sz="1600" dirty="0"/>
          </a:p>
        </p:txBody>
      </p:sp>
      <p:sp>
        <p:nvSpPr>
          <p:cNvPr id="5" name="Text 2"/>
          <p:cNvSpPr txBox="1"/>
          <p:nvPr/>
        </p:nvSpPr>
        <p:spPr>
          <a:xfrm>
            <a:off x="2377440" y="1280160"/>
            <a:ext cx="91440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Clinical Care Pathways &amp; Data Sovereignty</a:t>
            </a:r>
            <a:endParaRPr lang="en-US" sz="3000" dirty="0"/>
          </a:p>
        </p:txBody>
      </p:sp>
      <p:sp>
        <p:nvSpPr>
          <p:cNvPr id="6" name="Text 3"/>
          <p:cNvSpPr txBox="1"/>
          <p:nvPr/>
        </p:nvSpPr>
        <p:spPr>
          <a:xfrm>
            <a:off x="2377440" y="2057400"/>
            <a:ext cx="7315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Weeks 9–12  •  Nov 26 – Dec 23, 2026</a:t>
            </a:r>
            <a:endParaRPr lang="en-US" sz="1300" dirty="0"/>
          </a:p>
        </p:txBody>
      </p:sp>
      <p:sp>
        <p:nvSpPr>
          <p:cNvPr id="7" name="Shape 4"/>
          <p:cNvSpPr/>
          <p:nvPr/>
        </p:nvSpPr>
        <p:spPr>
          <a:xfrm>
            <a:off x="731520" y="2834640"/>
            <a:ext cx="777240" cy="502920"/>
          </a:xfrm>
          <a:prstGeom prst="roundRect">
            <a:avLst>
              <a:gd name="adj" fmla="val 10909"/>
            </a:avLst>
          </a:prstGeom>
          <a:solidFill>
            <a:srgbClr val="FFFFFF"/>
          </a:solidFill>
          <a:ln/>
        </p:spPr>
      </p:sp>
      <p:sp>
        <p:nvSpPr>
          <p:cNvPr id="8" name="Text 5"/>
          <p:cNvSpPr txBox="1"/>
          <p:nvPr/>
        </p:nvSpPr>
        <p:spPr>
          <a:xfrm>
            <a:off x="731520" y="2834640"/>
            <a:ext cx="777240" cy="502920"/>
          </a:xfrm>
          <a:prstGeom prst="rect">
            <a:avLst/>
          </a:prstGeom>
          <a:noFill/>
          <a:ln/>
        </p:spPr>
        <p:txBody>
          <a:bodyPr wrap="square" lIns="0" tIns="0" rIns="0" bIns="0" rtlCol="0" anchor="ctr"/>
          <a:lstStyle/>
          <a:p>
            <a:pPr algn="ctr" indent="0" marL="0">
              <a:buNone/>
            </a:pPr>
            <a:r>
              <a:rPr lang="en-US" sz="1300" b="1" dirty="0">
                <a:solidFill>
                  <a:srgbClr val="3F6C51"/>
                </a:solidFill>
                <a:latin typeface="Cambria" pitchFamily="34" charset="0"/>
                <a:ea typeface="Cambria" pitchFamily="34" charset="-122"/>
                <a:cs typeface="Cambria" pitchFamily="34" charset="-120"/>
              </a:rPr>
              <a:t>W9</a:t>
            </a:r>
            <a:endParaRPr lang="en-US" sz="1300" dirty="0"/>
          </a:p>
        </p:txBody>
      </p:sp>
      <p:sp>
        <p:nvSpPr>
          <p:cNvPr id="9" name="Text 6"/>
          <p:cNvSpPr txBox="1"/>
          <p:nvPr/>
        </p:nvSpPr>
        <p:spPr>
          <a:xfrm>
            <a:off x="1691640" y="2862072"/>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AI-Enhanced Care Planning</a:t>
            </a:r>
            <a:endParaRPr lang="en-US" sz="1500" dirty="0"/>
          </a:p>
        </p:txBody>
      </p:sp>
      <p:sp>
        <p:nvSpPr>
          <p:cNvPr id="10" name="Shape 7"/>
          <p:cNvSpPr/>
          <p:nvPr/>
        </p:nvSpPr>
        <p:spPr>
          <a:xfrm>
            <a:off x="731520" y="3493008"/>
            <a:ext cx="777240" cy="502920"/>
          </a:xfrm>
          <a:prstGeom prst="roundRect">
            <a:avLst>
              <a:gd name="adj" fmla="val 10909"/>
            </a:avLst>
          </a:prstGeom>
          <a:solidFill>
            <a:srgbClr val="FFFFFF"/>
          </a:solidFill>
          <a:ln/>
        </p:spPr>
      </p:sp>
      <p:sp>
        <p:nvSpPr>
          <p:cNvPr id="11" name="Text 8"/>
          <p:cNvSpPr txBox="1"/>
          <p:nvPr/>
        </p:nvSpPr>
        <p:spPr>
          <a:xfrm>
            <a:off x="731520" y="3493008"/>
            <a:ext cx="777240" cy="502920"/>
          </a:xfrm>
          <a:prstGeom prst="rect">
            <a:avLst/>
          </a:prstGeom>
          <a:noFill/>
          <a:ln/>
        </p:spPr>
        <p:txBody>
          <a:bodyPr wrap="square" lIns="0" tIns="0" rIns="0" bIns="0" rtlCol="0" anchor="ctr"/>
          <a:lstStyle/>
          <a:p>
            <a:pPr algn="ctr" indent="0" marL="0">
              <a:buNone/>
            </a:pPr>
            <a:r>
              <a:rPr lang="en-US" sz="1300" b="1" dirty="0">
                <a:solidFill>
                  <a:srgbClr val="3F6C51"/>
                </a:solidFill>
                <a:latin typeface="Cambria" pitchFamily="34" charset="0"/>
                <a:ea typeface="Cambria" pitchFamily="34" charset="-122"/>
                <a:cs typeface="Cambria" pitchFamily="34" charset="-120"/>
              </a:rPr>
              <a:t>W10</a:t>
            </a:r>
            <a:endParaRPr lang="en-US" sz="1300" dirty="0"/>
          </a:p>
        </p:txBody>
      </p:sp>
      <p:sp>
        <p:nvSpPr>
          <p:cNvPr id="12" name="Text 9"/>
          <p:cNvSpPr txBox="1"/>
          <p:nvPr/>
        </p:nvSpPr>
        <p:spPr>
          <a:xfrm>
            <a:off x="1691640" y="3520440"/>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GDPR &amp; Data Sovereignty</a:t>
            </a:r>
            <a:endParaRPr lang="en-US" sz="1500" dirty="0"/>
          </a:p>
        </p:txBody>
      </p:sp>
      <p:sp>
        <p:nvSpPr>
          <p:cNvPr id="13" name="Shape 10"/>
          <p:cNvSpPr/>
          <p:nvPr/>
        </p:nvSpPr>
        <p:spPr>
          <a:xfrm>
            <a:off x="731520" y="4151376"/>
            <a:ext cx="777240" cy="502920"/>
          </a:xfrm>
          <a:prstGeom prst="roundRect">
            <a:avLst>
              <a:gd name="adj" fmla="val 10909"/>
            </a:avLst>
          </a:prstGeom>
          <a:solidFill>
            <a:srgbClr val="FFFFFF"/>
          </a:solidFill>
          <a:ln/>
        </p:spPr>
      </p:sp>
      <p:sp>
        <p:nvSpPr>
          <p:cNvPr id="14" name="Text 11"/>
          <p:cNvSpPr txBox="1"/>
          <p:nvPr/>
        </p:nvSpPr>
        <p:spPr>
          <a:xfrm>
            <a:off x="731520" y="4151376"/>
            <a:ext cx="777240" cy="502920"/>
          </a:xfrm>
          <a:prstGeom prst="rect">
            <a:avLst/>
          </a:prstGeom>
          <a:noFill/>
          <a:ln/>
        </p:spPr>
        <p:txBody>
          <a:bodyPr wrap="square" lIns="0" tIns="0" rIns="0" bIns="0" rtlCol="0" anchor="ctr"/>
          <a:lstStyle/>
          <a:p>
            <a:pPr algn="ctr" indent="0" marL="0">
              <a:buNone/>
            </a:pPr>
            <a:r>
              <a:rPr lang="en-US" sz="1300" b="1" dirty="0">
                <a:solidFill>
                  <a:srgbClr val="3F6C51"/>
                </a:solidFill>
                <a:latin typeface="Cambria" pitchFamily="34" charset="0"/>
                <a:ea typeface="Cambria" pitchFamily="34" charset="-122"/>
                <a:cs typeface="Cambria" pitchFamily="34" charset="-120"/>
              </a:rPr>
              <a:t>W11</a:t>
            </a:r>
            <a:endParaRPr lang="en-US" sz="1300" dirty="0"/>
          </a:p>
        </p:txBody>
      </p:sp>
      <p:sp>
        <p:nvSpPr>
          <p:cNvPr id="15" name="Text 12"/>
          <p:cNvSpPr txBox="1"/>
          <p:nvPr/>
        </p:nvSpPr>
        <p:spPr>
          <a:xfrm>
            <a:off x="1691640" y="4178808"/>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Anonymization &amp; Secondary Data Use</a:t>
            </a:r>
            <a:endParaRPr lang="en-US" sz="1500" dirty="0"/>
          </a:p>
        </p:txBody>
      </p:sp>
      <p:sp>
        <p:nvSpPr>
          <p:cNvPr id="16" name="Shape 13"/>
          <p:cNvSpPr/>
          <p:nvPr/>
        </p:nvSpPr>
        <p:spPr>
          <a:xfrm>
            <a:off x="731520" y="4809744"/>
            <a:ext cx="777240" cy="502920"/>
          </a:xfrm>
          <a:prstGeom prst="roundRect">
            <a:avLst>
              <a:gd name="adj" fmla="val 10909"/>
            </a:avLst>
          </a:prstGeom>
          <a:solidFill>
            <a:srgbClr val="FFFFFF"/>
          </a:solidFill>
          <a:ln/>
        </p:spPr>
      </p:sp>
      <p:sp>
        <p:nvSpPr>
          <p:cNvPr id="17" name="Text 14"/>
          <p:cNvSpPr txBox="1"/>
          <p:nvPr/>
        </p:nvSpPr>
        <p:spPr>
          <a:xfrm>
            <a:off x="731520" y="4809744"/>
            <a:ext cx="777240" cy="502920"/>
          </a:xfrm>
          <a:prstGeom prst="rect">
            <a:avLst/>
          </a:prstGeom>
          <a:noFill/>
          <a:ln/>
        </p:spPr>
        <p:txBody>
          <a:bodyPr wrap="square" lIns="0" tIns="0" rIns="0" bIns="0" rtlCol="0" anchor="ctr"/>
          <a:lstStyle/>
          <a:p>
            <a:pPr algn="ctr" indent="0" marL="0">
              <a:buNone/>
            </a:pPr>
            <a:r>
              <a:rPr lang="en-US" sz="1300" b="1" dirty="0">
                <a:solidFill>
                  <a:srgbClr val="3F6C51"/>
                </a:solidFill>
                <a:latin typeface="Cambria" pitchFamily="34" charset="0"/>
                <a:ea typeface="Cambria" pitchFamily="34" charset="-122"/>
                <a:cs typeface="Cambria" pitchFamily="34" charset="-120"/>
              </a:rPr>
              <a:t>W12</a:t>
            </a:r>
            <a:endParaRPr lang="en-US" sz="1300" dirty="0"/>
          </a:p>
        </p:txBody>
      </p:sp>
      <p:sp>
        <p:nvSpPr>
          <p:cNvPr id="18" name="Text 15"/>
          <p:cNvSpPr txBox="1"/>
          <p:nvPr/>
        </p:nvSpPr>
        <p:spPr>
          <a:xfrm>
            <a:off x="1691640" y="4837176"/>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Synthesis &amp; Checkoff</a:t>
            </a:r>
            <a:endParaRPr lang="en-US" sz="1500" dirty="0"/>
          </a:p>
        </p:txBody>
      </p:sp>
      <p:sp>
        <p:nvSpPr>
          <p:cNvPr id="19" name="Text 16"/>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20" name="Text 17"/>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3F6C51"/>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CH.3 · UNIT 9</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AI-Enhanced Care Planning</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Verify an AI-drafted nursing care plan before finalizing it.</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3F6C51"/>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NLP-extracted problem lists combined with a standardized nursing model (e.g., NANDA-I)</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HITL applies to nursing workflows just as much as physician workflows</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A nurse's clinical judgment must still match extracted problems to the patient actually in front of them</a:t>
            </a:r>
            <a:endParaRPr lang="en-US" sz="1300" dirty="0"/>
          </a:p>
        </p:txBody>
      </p:sp>
      <p:sp>
        <p:nvSpPr>
          <p:cNvPr id="10" name="Shape 8"/>
          <p:cNvSpPr/>
          <p:nvPr/>
        </p:nvSpPr>
        <p:spPr>
          <a:xfrm>
            <a:off x="7223760" y="2194560"/>
            <a:ext cx="4206240" cy="4160520"/>
          </a:xfrm>
          <a:prstGeom prst="roundRect">
            <a:avLst>
              <a:gd name="adj" fmla="val 2198"/>
            </a:avLst>
          </a:prstGeom>
          <a:solidFill>
            <a:srgbClr val="3F6C51"/>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Generate an AI-drafted care plan from a Synthea synthetic patient record</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Roleplay bedside reassessment; revise the plan against what the "patient" reports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Collect both the original AI draft and the revised plan for comparison</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3F6C51"/>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CH.3 · UNIT 10</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GDPR &amp; Data Sovereignty</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Explain why cross-border cloud AI use is restricted and why on-premises deployment is preferred.</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3F6C51"/>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Cross-border transfer of identifiable EU health data to a non-EU cloud API creates GDPR risk</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German vendors market GDPR-native, in-jurisdiction infrastructure: on-premises, private VPC, air-gapped</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Even large US vendors now offer sovereign, EU-hosted options in response to this pressure</a:t>
            </a:r>
            <a:endParaRPr lang="en-US" sz="1300" dirty="0"/>
          </a:p>
        </p:txBody>
      </p:sp>
      <p:sp>
        <p:nvSpPr>
          <p:cNvPr id="10" name="Shape 8"/>
          <p:cNvSpPr/>
          <p:nvPr/>
        </p:nvSpPr>
        <p:spPr>
          <a:xfrm>
            <a:off x="7223760" y="2194560"/>
            <a:ext cx="4206240" cy="4160520"/>
          </a:xfrm>
          <a:prstGeom prst="roundRect">
            <a:avLst>
              <a:gd name="adj" fmla="val 2198"/>
            </a:avLst>
          </a:prstGeom>
          <a:solidFill>
            <a:srgbClr val="3F6C51"/>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Diagram the data flow of every VCS tool used this term</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Mark every point where data would leave institutional control in a real hospital deployment</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Small-group presentations of data-flow maps to the full class</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3F6C51"/>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CH.3 · UNIT 11</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Anonymization &amp; Secondary Data Use</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Correctly anonymize a dataset for research use.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3F6C51"/>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Anonymization (irreversible) vs. pseudonymization (reversible with a key) — the line students most often blur</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Data-minimization principles for secondary research use</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The DiGA (Digital Health Applications) pathway as a real-world compliance model</a:t>
            </a:r>
            <a:endParaRPr lang="en-US" sz="1300" dirty="0"/>
          </a:p>
        </p:txBody>
      </p:sp>
      <p:sp>
        <p:nvSpPr>
          <p:cNvPr id="10" name="Shape 8"/>
          <p:cNvSpPr/>
          <p:nvPr/>
        </p:nvSpPr>
        <p:spPr>
          <a:xfrm>
            <a:off x="7223760" y="2194560"/>
            <a:ext cx="4206240" cy="4160520"/>
          </a:xfrm>
          <a:prstGeom prst="roundRect">
            <a:avLst>
              <a:gd name="adj" fmla="val 2198"/>
            </a:avLst>
          </a:prstGeom>
          <a:solidFill>
            <a:srgbClr val="3F6C51"/>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Extract a research-ready dataset from a batch of Synthea records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Document every anonymization step taken (this documentation is the actual graded skill)</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Peer-review: try to re-identify a record from a classmate's "anonymized" extract</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3F6C51"/>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CH.3 · UNIT 12</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Synthesis &amp; Checkoff</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Produce one GDPR-compliant, anonymized care-plan data extract independently.</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3F6C51"/>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Integrate Weeks 9–11: verify the AI's care plan, respect data sovereignty, anonymize correctly</a:t>
            </a:r>
            <a:endParaRPr lang="en-US" sz="1300" dirty="0"/>
          </a:p>
        </p:txBody>
      </p:sp>
      <p:sp>
        <p:nvSpPr>
          <p:cNvPr id="10" name="Shape 8"/>
          <p:cNvSpPr/>
          <p:nvPr/>
        </p:nvSpPr>
        <p:spPr>
          <a:xfrm>
            <a:off x="7223760" y="2194560"/>
            <a:ext cx="4206240" cy="4160520"/>
          </a:xfrm>
          <a:prstGeom prst="roundRect">
            <a:avLst>
              <a:gd name="adj" fmla="val 2198"/>
            </a:avLst>
          </a:prstGeom>
          <a:solidFill>
            <a:srgbClr val="3F6C51"/>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Independent task: produce one anonymized extract from a synthetic care-plan record</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Grade against the documentation-of-steps standard from Week 11, not just the final output</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7A4B8C"/>
        </a:solidFill>
      </p:bgPr>
    </p:bg>
    <p:spTree>
      <p:nvGrpSpPr>
        <p:cNvPr id="1" name=""/>
        <p:cNvGrpSpPr/>
        <p:nvPr/>
      </p:nvGrpSpPr>
      <p:grpSpPr>
        <a:xfrm>
          <a:off x="0" y="0"/>
          <a:ext cx="0" cy="0"/>
          <a:chOff x="0" y="0"/>
          <a:chExt cx="0" cy="0"/>
        </a:xfrm>
      </p:grpSpPr>
      <p:sp>
        <p:nvSpPr>
          <p:cNvPr id="2" name="Shape 0"/>
          <p:cNvSpPr/>
          <p:nvPr/>
        </p:nvSpPr>
        <p:spPr>
          <a:xfrm>
            <a:off x="731520" y="822960"/>
            <a:ext cx="1371600" cy="1371600"/>
          </a:xfrm>
          <a:prstGeom prst="ellipse">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2396" y="973836"/>
            <a:ext cx="1069848" cy="1069848"/>
          </a:xfrm>
          <a:prstGeom prst="rect">
            <a:avLst/>
          </a:prstGeom>
        </p:spPr>
      </p:pic>
      <p:sp>
        <p:nvSpPr>
          <p:cNvPr id="4" name="Text 1"/>
          <p:cNvSpPr txBox="1"/>
          <p:nvPr/>
        </p:nvSpPr>
        <p:spPr>
          <a:xfrm>
            <a:off x="2377440" y="914400"/>
            <a:ext cx="5486400" cy="45720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CHAPTER 4</a:t>
            </a:r>
            <a:endParaRPr lang="en-US" sz="1600" dirty="0"/>
          </a:p>
        </p:txBody>
      </p:sp>
      <p:sp>
        <p:nvSpPr>
          <p:cNvPr id="5" name="Text 2"/>
          <p:cNvSpPr txBox="1"/>
          <p:nvPr/>
        </p:nvSpPr>
        <p:spPr>
          <a:xfrm>
            <a:off x="2377440" y="1280160"/>
            <a:ext cx="91440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Ethicolegal Autonomy &amp; the Final Checkoff</a:t>
            </a:r>
            <a:endParaRPr lang="en-US" sz="3000" dirty="0"/>
          </a:p>
        </p:txBody>
      </p:sp>
      <p:sp>
        <p:nvSpPr>
          <p:cNvPr id="6" name="Text 3"/>
          <p:cNvSpPr txBox="1"/>
          <p:nvPr/>
        </p:nvSpPr>
        <p:spPr>
          <a:xfrm>
            <a:off x="2377440" y="2057400"/>
            <a:ext cx="7315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Weeks 13–17  •  Dec 24, 2026 – Jan 27, 2027</a:t>
            </a:r>
            <a:endParaRPr lang="en-US" sz="1300" dirty="0"/>
          </a:p>
        </p:txBody>
      </p:sp>
      <p:sp>
        <p:nvSpPr>
          <p:cNvPr id="7" name="Shape 4"/>
          <p:cNvSpPr/>
          <p:nvPr/>
        </p:nvSpPr>
        <p:spPr>
          <a:xfrm>
            <a:off x="731520" y="2834640"/>
            <a:ext cx="777240" cy="502920"/>
          </a:xfrm>
          <a:prstGeom prst="roundRect">
            <a:avLst>
              <a:gd name="adj" fmla="val 10909"/>
            </a:avLst>
          </a:prstGeom>
          <a:solidFill>
            <a:srgbClr val="FFFFFF"/>
          </a:solidFill>
          <a:ln/>
        </p:spPr>
      </p:sp>
      <p:sp>
        <p:nvSpPr>
          <p:cNvPr id="8" name="Text 5"/>
          <p:cNvSpPr txBox="1"/>
          <p:nvPr/>
        </p:nvSpPr>
        <p:spPr>
          <a:xfrm>
            <a:off x="731520" y="2834640"/>
            <a:ext cx="777240" cy="502920"/>
          </a:xfrm>
          <a:prstGeom prst="rect">
            <a:avLst/>
          </a:prstGeom>
          <a:noFill/>
          <a:ln/>
        </p:spPr>
        <p:txBody>
          <a:bodyPr wrap="square" lIns="0" tIns="0" rIns="0" bIns="0" rtlCol="0" anchor="ctr"/>
          <a:lstStyle/>
          <a:p>
            <a:pPr algn="ctr" indent="0" marL="0">
              <a:buNone/>
            </a:pPr>
            <a:r>
              <a:rPr lang="en-US" sz="1300" b="1" dirty="0">
                <a:solidFill>
                  <a:srgbClr val="7A4B8C"/>
                </a:solidFill>
                <a:latin typeface="Cambria" pitchFamily="34" charset="0"/>
                <a:ea typeface="Cambria" pitchFamily="34" charset="-122"/>
                <a:cs typeface="Cambria" pitchFamily="34" charset="-120"/>
              </a:rPr>
              <a:t>W13</a:t>
            </a:r>
            <a:endParaRPr lang="en-US" sz="1300" dirty="0"/>
          </a:p>
        </p:txBody>
      </p:sp>
      <p:sp>
        <p:nvSpPr>
          <p:cNvPr id="9" name="Text 6"/>
          <p:cNvSpPr txBox="1"/>
          <p:nvPr/>
        </p:nvSpPr>
        <p:spPr>
          <a:xfrm>
            <a:off x="1691640" y="2862072"/>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Liability Mapping</a:t>
            </a:r>
            <a:endParaRPr lang="en-US" sz="1500" dirty="0"/>
          </a:p>
        </p:txBody>
      </p:sp>
      <p:sp>
        <p:nvSpPr>
          <p:cNvPr id="10" name="Shape 7"/>
          <p:cNvSpPr/>
          <p:nvPr/>
        </p:nvSpPr>
        <p:spPr>
          <a:xfrm>
            <a:off x="731520" y="3493008"/>
            <a:ext cx="777240" cy="502920"/>
          </a:xfrm>
          <a:prstGeom prst="roundRect">
            <a:avLst>
              <a:gd name="adj" fmla="val 10909"/>
            </a:avLst>
          </a:prstGeom>
          <a:solidFill>
            <a:srgbClr val="FFFFFF"/>
          </a:solidFill>
          <a:ln/>
        </p:spPr>
      </p:sp>
      <p:sp>
        <p:nvSpPr>
          <p:cNvPr id="11" name="Text 8"/>
          <p:cNvSpPr txBox="1"/>
          <p:nvPr/>
        </p:nvSpPr>
        <p:spPr>
          <a:xfrm>
            <a:off x="731520" y="3493008"/>
            <a:ext cx="777240" cy="502920"/>
          </a:xfrm>
          <a:prstGeom prst="rect">
            <a:avLst/>
          </a:prstGeom>
          <a:noFill/>
          <a:ln/>
        </p:spPr>
        <p:txBody>
          <a:bodyPr wrap="square" lIns="0" tIns="0" rIns="0" bIns="0" rtlCol="0" anchor="ctr"/>
          <a:lstStyle/>
          <a:p>
            <a:pPr algn="ctr" indent="0" marL="0">
              <a:buNone/>
            </a:pPr>
            <a:r>
              <a:rPr lang="en-US" sz="1300" b="1" dirty="0">
                <a:solidFill>
                  <a:srgbClr val="7A4B8C"/>
                </a:solidFill>
                <a:latin typeface="Cambria" pitchFamily="34" charset="0"/>
                <a:ea typeface="Cambria" pitchFamily="34" charset="-122"/>
                <a:cs typeface="Cambria" pitchFamily="34" charset="-120"/>
              </a:rPr>
              <a:t>W14</a:t>
            </a:r>
            <a:endParaRPr lang="en-US" sz="1300" dirty="0"/>
          </a:p>
        </p:txBody>
      </p:sp>
      <p:sp>
        <p:nvSpPr>
          <p:cNvPr id="12" name="Text 9"/>
          <p:cNvSpPr txBox="1"/>
          <p:nvPr/>
        </p:nvSpPr>
        <p:spPr>
          <a:xfrm>
            <a:off x="1691640" y="3520440"/>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EU AI Act Risk Tiers</a:t>
            </a:r>
            <a:endParaRPr lang="en-US" sz="1500" dirty="0"/>
          </a:p>
        </p:txBody>
      </p:sp>
      <p:sp>
        <p:nvSpPr>
          <p:cNvPr id="13" name="Shape 10"/>
          <p:cNvSpPr/>
          <p:nvPr/>
        </p:nvSpPr>
        <p:spPr>
          <a:xfrm>
            <a:off x="731520" y="4151376"/>
            <a:ext cx="777240" cy="502920"/>
          </a:xfrm>
          <a:prstGeom prst="roundRect">
            <a:avLst>
              <a:gd name="adj" fmla="val 10909"/>
            </a:avLst>
          </a:prstGeom>
          <a:solidFill>
            <a:srgbClr val="FFFFFF"/>
          </a:solidFill>
          <a:ln/>
        </p:spPr>
      </p:sp>
      <p:sp>
        <p:nvSpPr>
          <p:cNvPr id="14" name="Text 11"/>
          <p:cNvSpPr txBox="1"/>
          <p:nvPr/>
        </p:nvSpPr>
        <p:spPr>
          <a:xfrm>
            <a:off x="731520" y="4151376"/>
            <a:ext cx="777240" cy="502920"/>
          </a:xfrm>
          <a:prstGeom prst="rect">
            <a:avLst/>
          </a:prstGeom>
          <a:noFill/>
          <a:ln/>
        </p:spPr>
        <p:txBody>
          <a:bodyPr wrap="square" lIns="0" tIns="0" rIns="0" bIns="0" rtlCol="0" anchor="ctr"/>
          <a:lstStyle/>
          <a:p>
            <a:pPr algn="ctr" indent="0" marL="0">
              <a:buNone/>
            </a:pPr>
            <a:r>
              <a:rPr lang="en-US" sz="1300" b="1" dirty="0">
                <a:solidFill>
                  <a:srgbClr val="7A4B8C"/>
                </a:solidFill>
                <a:latin typeface="Cambria" pitchFamily="34" charset="0"/>
                <a:ea typeface="Cambria" pitchFamily="34" charset="-122"/>
                <a:cs typeface="Cambria" pitchFamily="34" charset="-120"/>
              </a:rPr>
              <a:t>W15</a:t>
            </a:r>
            <a:endParaRPr lang="en-US" sz="1300" dirty="0"/>
          </a:p>
        </p:txBody>
      </p:sp>
      <p:sp>
        <p:nvSpPr>
          <p:cNvPr id="15" name="Text 12"/>
          <p:cNvSpPr txBox="1"/>
          <p:nvPr/>
        </p:nvSpPr>
        <p:spPr>
          <a:xfrm>
            <a:off x="1691640" y="4178808"/>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Informed Consent &amp; Transparency</a:t>
            </a:r>
            <a:endParaRPr lang="en-US" sz="1500" dirty="0"/>
          </a:p>
        </p:txBody>
      </p:sp>
      <p:sp>
        <p:nvSpPr>
          <p:cNvPr id="16" name="Shape 13"/>
          <p:cNvSpPr/>
          <p:nvPr/>
        </p:nvSpPr>
        <p:spPr>
          <a:xfrm>
            <a:off x="731520" y="4809744"/>
            <a:ext cx="777240" cy="502920"/>
          </a:xfrm>
          <a:prstGeom prst="roundRect">
            <a:avLst>
              <a:gd name="adj" fmla="val 10909"/>
            </a:avLst>
          </a:prstGeom>
          <a:solidFill>
            <a:srgbClr val="FFFFFF"/>
          </a:solidFill>
          <a:ln/>
        </p:spPr>
      </p:sp>
      <p:sp>
        <p:nvSpPr>
          <p:cNvPr id="17" name="Text 14"/>
          <p:cNvSpPr txBox="1"/>
          <p:nvPr/>
        </p:nvSpPr>
        <p:spPr>
          <a:xfrm>
            <a:off x="731520" y="4809744"/>
            <a:ext cx="777240" cy="502920"/>
          </a:xfrm>
          <a:prstGeom prst="rect">
            <a:avLst/>
          </a:prstGeom>
          <a:noFill/>
          <a:ln/>
        </p:spPr>
        <p:txBody>
          <a:bodyPr wrap="square" lIns="0" tIns="0" rIns="0" bIns="0" rtlCol="0" anchor="ctr"/>
          <a:lstStyle/>
          <a:p>
            <a:pPr algn="ctr" indent="0" marL="0">
              <a:buNone/>
            </a:pPr>
            <a:r>
              <a:rPr lang="en-US" sz="1300" b="1" dirty="0">
                <a:solidFill>
                  <a:srgbClr val="7A4B8C"/>
                </a:solidFill>
                <a:latin typeface="Cambria" pitchFamily="34" charset="0"/>
                <a:ea typeface="Cambria" pitchFamily="34" charset="-122"/>
                <a:cs typeface="Cambria" pitchFamily="34" charset="-120"/>
              </a:rPr>
              <a:t>W16-17</a:t>
            </a:r>
            <a:endParaRPr lang="en-US" sz="1300" dirty="0"/>
          </a:p>
        </p:txBody>
      </p:sp>
      <p:sp>
        <p:nvSpPr>
          <p:cNvPr id="18" name="Text 15"/>
          <p:cNvSpPr txBox="1"/>
          <p:nvPr/>
        </p:nvSpPr>
        <p:spPr>
          <a:xfrm>
            <a:off x="1691640" y="4837176"/>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Capstone Prep &amp; Checkoff</a:t>
            </a:r>
            <a:endParaRPr lang="en-US" sz="1500" dirty="0"/>
          </a:p>
        </p:txBody>
      </p:sp>
      <p:sp>
        <p:nvSpPr>
          <p:cNvPr id="19" name="Text 16"/>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20" name="Text 17"/>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7A4B8C"/>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CH.4 · UNIT 13</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Liability Mapping</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Identify who bears responsibility when an AI recommendation is wrong.</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7A4B8C"/>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The treating clinician retains the duty of independent judgment regardless of which AI tool was used</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This is the legal mirror of the HITL principle from Week 1</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Liability apportionment (clinician / vendor / institution) is often genuinely contested</a:t>
            </a:r>
            <a:endParaRPr lang="en-US" sz="1300" dirty="0"/>
          </a:p>
        </p:txBody>
      </p:sp>
      <p:sp>
        <p:nvSpPr>
          <p:cNvPr id="10" name="Shape 8"/>
          <p:cNvSpPr/>
          <p:nvPr/>
        </p:nvSpPr>
        <p:spPr>
          <a:xfrm>
            <a:off x="7223760" y="2194560"/>
            <a:ext cx="4206240" cy="4160520"/>
          </a:xfrm>
          <a:prstGeom prst="roundRect">
            <a:avLst>
              <a:gd name="adj" fmla="val 2198"/>
            </a:avLst>
          </a:prstGeom>
          <a:solidFill>
            <a:srgbClr val="7A4B8C"/>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Case conference: a de-identified adverse-event report</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Small groups map the liability chain and justify the split</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Groups present and compare — expect real disagreement on proportions</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7A4B8C"/>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CH.4 · UNIT 14</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EU AI Act Risk Tiers</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Classify a clinical AI tool by EU AI Act risk tier.</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7A4B8C"/>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Risk tiers: unacceptable / high / limited / minimal risk</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Diagnostic/treatment-influencing tools are the paradigm high-risk category</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2026 "Digital Omnibus": standalone high-risk systems now due Dec 2027; embedded medical-device AI now due Aug 2028 — obligations unchanged, only timing moved</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Verify current dates against the Official Journal before citing as final — this is a live regulatory process</a:t>
            </a:r>
            <a:endParaRPr lang="en-US" sz="1300" dirty="0"/>
          </a:p>
        </p:txBody>
      </p:sp>
      <p:sp>
        <p:nvSpPr>
          <p:cNvPr id="10" name="Shape 8"/>
          <p:cNvSpPr/>
          <p:nvPr/>
        </p:nvSpPr>
        <p:spPr>
          <a:xfrm>
            <a:off x="7223760" y="2194560"/>
            <a:ext cx="4206240" cy="4160520"/>
          </a:xfrm>
          <a:prstGeom prst="roundRect">
            <a:avLst>
              <a:gd name="adj" fmla="val 2198"/>
            </a:avLst>
          </a:prstGeom>
          <a:solidFill>
            <a:srgbClr val="7A4B8C"/>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Classify every VCS tool used this term (scribe, CDSS demo, care-planning tool) by risk tier, with written justification</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Cross-check in pairs; resolve disagreements against specific Annex criteria, not by vote</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7A4B8C"/>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CH.4 · UNIT 15</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Informed Consent &amp; Transparency</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Disclose AI involvement to a patient appropriately.</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7A4B8C"/>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Disclosure should be plain, non-alarming, and name the clinician's own verification role</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This is a communication skill, not a legal lecture</a:t>
            </a:r>
            <a:endParaRPr lang="en-US" sz="1300" dirty="0"/>
          </a:p>
        </p:txBody>
      </p:sp>
      <p:sp>
        <p:nvSpPr>
          <p:cNvPr id="10" name="Shape 8"/>
          <p:cNvSpPr/>
          <p:nvPr/>
        </p:nvSpPr>
        <p:spPr>
          <a:xfrm>
            <a:off x="7223760" y="2194560"/>
            <a:ext cx="4206240" cy="4160520"/>
          </a:xfrm>
          <a:prstGeom prst="roundRect">
            <a:avLst>
              <a:gd name="adj" fmla="val 2198"/>
            </a:avLst>
          </a:prstGeom>
          <a:solidFill>
            <a:srgbClr val="7A4B8C"/>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Video roleplay: patient asks directly "was AI involved in my diagnosis?"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Peer-grade: plain disclosure, explained verification role, invited questions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Rotate pairs so everyone both delivers and receives the disclosure</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7A4B8C"/>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CH.4 · UNIT 16-17</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Capstone Prep &amp; Final Checkoff</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Integrate all four competency areas in one continuous case, then pass the combined checkoff.</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7A4B8C"/>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Integration failure mode to watch for: strong on override, forgets consent disclosure (or vice versa)</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Competence in one area doesn't guarantee competence in another under combined pressure</a:t>
            </a:r>
            <a:endParaRPr lang="en-US" sz="1300" dirty="0"/>
          </a:p>
        </p:txBody>
      </p:sp>
      <p:sp>
        <p:nvSpPr>
          <p:cNvPr id="10" name="Shape 8"/>
          <p:cNvSpPr/>
          <p:nvPr/>
        </p:nvSpPr>
        <p:spPr>
          <a:xfrm>
            <a:off x="7223760" y="2194560"/>
            <a:ext cx="4206240" cy="4160520"/>
          </a:xfrm>
          <a:prstGeom prst="roundRect">
            <a:avLst>
              <a:gd name="adj" fmla="val 2198"/>
            </a:avLst>
          </a:prstGeom>
          <a:solidFill>
            <a:srgbClr val="7A4B8C"/>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Week 16: one full ungraded dry-run simulated shift, with real-time instructor feedback</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Week 17: graded checkoff — one disclosure conversation + one risk-tier classification (new tool, tests transfer)</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Fail either half → repeat only that half before advancing to Consolidation</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B5622A"/>
        </a:solidFill>
      </p:bgPr>
    </p:bg>
    <p:spTree>
      <p:nvGrpSpPr>
        <p:cNvPr id="1" name=""/>
        <p:cNvGrpSpPr/>
        <p:nvPr/>
      </p:nvGrpSpPr>
      <p:grpSpPr>
        <a:xfrm>
          <a:off x="0" y="0"/>
          <a:ext cx="0" cy="0"/>
          <a:chOff x="0" y="0"/>
          <a:chExt cx="0" cy="0"/>
        </a:xfrm>
      </p:grpSpPr>
      <p:sp>
        <p:nvSpPr>
          <p:cNvPr id="2" name="Shape 0"/>
          <p:cNvSpPr/>
          <p:nvPr/>
        </p:nvSpPr>
        <p:spPr>
          <a:xfrm>
            <a:off x="731520" y="822960"/>
            <a:ext cx="1371600" cy="1371600"/>
          </a:xfrm>
          <a:prstGeom prst="ellipse">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2396" y="973836"/>
            <a:ext cx="1069848" cy="1069848"/>
          </a:xfrm>
          <a:prstGeom prst="rect">
            <a:avLst/>
          </a:prstGeom>
        </p:spPr>
      </p:pic>
      <p:sp>
        <p:nvSpPr>
          <p:cNvPr id="4" name="Text 1"/>
          <p:cNvSpPr txBox="1"/>
          <p:nvPr/>
        </p:nvSpPr>
        <p:spPr>
          <a:xfrm>
            <a:off x="2377440" y="914400"/>
            <a:ext cx="5486400" cy="45720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CHAPTER 5</a:t>
            </a:r>
            <a:endParaRPr lang="en-US" sz="1600" dirty="0"/>
          </a:p>
        </p:txBody>
      </p:sp>
      <p:sp>
        <p:nvSpPr>
          <p:cNvPr id="5" name="Text 2"/>
          <p:cNvSpPr txBox="1"/>
          <p:nvPr/>
        </p:nvSpPr>
        <p:spPr>
          <a:xfrm>
            <a:off x="2377440" y="1280160"/>
            <a:ext cx="91440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Consolidation &amp; Mock OSCE</a:t>
            </a:r>
            <a:endParaRPr lang="en-US" sz="3000" dirty="0"/>
          </a:p>
        </p:txBody>
      </p:sp>
      <p:sp>
        <p:nvSpPr>
          <p:cNvPr id="6" name="Text 3"/>
          <p:cNvSpPr txBox="1"/>
          <p:nvPr/>
        </p:nvSpPr>
        <p:spPr>
          <a:xfrm>
            <a:off x="2377440" y="2057400"/>
            <a:ext cx="7315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Weeks 18–21  •  Jan 28 – Feb 24, 2027</a:t>
            </a:r>
            <a:endParaRPr lang="en-US" sz="1300" dirty="0"/>
          </a:p>
        </p:txBody>
      </p:sp>
      <p:sp>
        <p:nvSpPr>
          <p:cNvPr id="7" name="Shape 4"/>
          <p:cNvSpPr/>
          <p:nvPr/>
        </p:nvSpPr>
        <p:spPr>
          <a:xfrm>
            <a:off x="731520" y="2834640"/>
            <a:ext cx="777240" cy="502920"/>
          </a:xfrm>
          <a:prstGeom prst="roundRect">
            <a:avLst>
              <a:gd name="adj" fmla="val 10909"/>
            </a:avLst>
          </a:prstGeom>
          <a:solidFill>
            <a:srgbClr val="FFFFFF"/>
          </a:solidFill>
          <a:ln/>
        </p:spPr>
      </p:sp>
      <p:sp>
        <p:nvSpPr>
          <p:cNvPr id="8" name="Text 5"/>
          <p:cNvSpPr txBox="1"/>
          <p:nvPr/>
        </p:nvSpPr>
        <p:spPr>
          <a:xfrm>
            <a:off x="731520" y="2834640"/>
            <a:ext cx="777240" cy="502920"/>
          </a:xfrm>
          <a:prstGeom prst="rect">
            <a:avLst/>
          </a:prstGeom>
          <a:noFill/>
          <a:ln/>
        </p:spPr>
        <p:txBody>
          <a:bodyPr wrap="square" lIns="0" tIns="0" rIns="0" bIns="0" rtlCol="0" anchor="ctr"/>
          <a:lstStyle/>
          <a:p>
            <a:pPr algn="ctr" indent="0" marL="0">
              <a:buNone/>
            </a:pPr>
            <a:r>
              <a:rPr lang="en-US" sz="1300" b="1" dirty="0">
                <a:solidFill>
                  <a:srgbClr val="B5622A"/>
                </a:solidFill>
                <a:latin typeface="Cambria" pitchFamily="34" charset="0"/>
                <a:ea typeface="Cambria" pitchFamily="34" charset="-122"/>
                <a:cs typeface="Cambria" pitchFamily="34" charset="-120"/>
              </a:rPr>
              <a:t>W18</a:t>
            </a:r>
            <a:endParaRPr lang="en-US" sz="1300" dirty="0"/>
          </a:p>
        </p:txBody>
      </p:sp>
      <p:sp>
        <p:nvSpPr>
          <p:cNvPr id="9" name="Text 6"/>
          <p:cNvSpPr txBox="1"/>
          <p:nvPr/>
        </p:nvSpPr>
        <p:spPr>
          <a:xfrm>
            <a:off x="1691640" y="2862072"/>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Integration Station Design</a:t>
            </a:r>
            <a:endParaRPr lang="en-US" sz="1500" dirty="0"/>
          </a:p>
        </p:txBody>
      </p:sp>
      <p:sp>
        <p:nvSpPr>
          <p:cNvPr id="10" name="Shape 7"/>
          <p:cNvSpPr/>
          <p:nvPr/>
        </p:nvSpPr>
        <p:spPr>
          <a:xfrm>
            <a:off x="731520" y="3493008"/>
            <a:ext cx="777240" cy="502920"/>
          </a:xfrm>
          <a:prstGeom prst="roundRect">
            <a:avLst>
              <a:gd name="adj" fmla="val 10909"/>
            </a:avLst>
          </a:prstGeom>
          <a:solidFill>
            <a:srgbClr val="FFFFFF"/>
          </a:solidFill>
          <a:ln/>
        </p:spPr>
      </p:sp>
      <p:sp>
        <p:nvSpPr>
          <p:cNvPr id="11" name="Text 8"/>
          <p:cNvSpPr txBox="1"/>
          <p:nvPr/>
        </p:nvSpPr>
        <p:spPr>
          <a:xfrm>
            <a:off x="731520" y="3493008"/>
            <a:ext cx="777240" cy="502920"/>
          </a:xfrm>
          <a:prstGeom prst="rect">
            <a:avLst/>
          </a:prstGeom>
          <a:noFill/>
          <a:ln/>
        </p:spPr>
        <p:txBody>
          <a:bodyPr wrap="square" lIns="0" tIns="0" rIns="0" bIns="0" rtlCol="0" anchor="ctr"/>
          <a:lstStyle/>
          <a:p>
            <a:pPr algn="ctr" indent="0" marL="0">
              <a:buNone/>
            </a:pPr>
            <a:r>
              <a:rPr lang="en-US" sz="1300" b="1" dirty="0">
                <a:solidFill>
                  <a:srgbClr val="B5622A"/>
                </a:solidFill>
                <a:latin typeface="Cambria" pitchFamily="34" charset="0"/>
                <a:ea typeface="Cambria" pitchFamily="34" charset="-122"/>
                <a:cs typeface="Cambria" pitchFamily="34" charset="-120"/>
              </a:rPr>
              <a:t>W19</a:t>
            </a:r>
            <a:endParaRPr lang="en-US" sz="1300" dirty="0"/>
          </a:p>
        </p:txBody>
      </p:sp>
      <p:sp>
        <p:nvSpPr>
          <p:cNvPr id="12" name="Text 9"/>
          <p:cNvSpPr txBox="1"/>
          <p:nvPr/>
        </p:nvSpPr>
        <p:spPr>
          <a:xfrm>
            <a:off x="1691640" y="3520440"/>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Mock OSCE — Round 1</a:t>
            </a:r>
            <a:endParaRPr lang="en-US" sz="1500" dirty="0"/>
          </a:p>
        </p:txBody>
      </p:sp>
      <p:sp>
        <p:nvSpPr>
          <p:cNvPr id="13" name="Shape 10"/>
          <p:cNvSpPr/>
          <p:nvPr/>
        </p:nvSpPr>
        <p:spPr>
          <a:xfrm>
            <a:off x="731520" y="4151376"/>
            <a:ext cx="777240" cy="502920"/>
          </a:xfrm>
          <a:prstGeom prst="roundRect">
            <a:avLst>
              <a:gd name="adj" fmla="val 10909"/>
            </a:avLst>
          </a:prstGeom>
          <a:solidFill>
            <a:srgbClr val="FFFFFF"/>
          </a:solidFill>
          <a:ln/>
        </p:spPr>
      </p:sp>
      <p:sp>
        <p:nvSpPr>
          <p:cNvPr id="14" name="Text 11"/>
          <p:cNvSpPr txBox="1"/>
          <p:nvPr/>
        </p:nvSpPr>
        <p:spPr>
          <a:xfrm>
            <a:off x="731520" y="4151376"/>
            <a:ext cx="777240" cy="502920"/>
          </a:xfrm>
          <a:prstGeom prst="rect">
            <a:avLst/>
          </a:prstGeom>
          <a:noFill/>
          <a:ln/>
        </p:spPr>
        <p:txBody>
          <a:bodyPr wrap="square" lIns="0" tIns="0" rIns="0" bIns="0" rtlCol="0" anchor="ctr"/>
          <a:lstStyle/>
          <a:p>
            <a:pPr algn="ctr" indent="0" marL="0">
              <a:buNone/>
            </a:pPr>
            <a:r>
              <a:rPr lang="en-US" sz="1300" b="1" dirty="0">
                <a:solidFill>
                  <a:srgbClr val="B5622A"/>
                </a:solidFill>
                <a:latin typeface="Cambria" pitchFamily="34" charset="0"/>
                <a:ea typeface="Cambria" pitchFamily="34" charset="-122"/>
                <a:cs typeface="Cambria" pitchFamily="34" charset="-120"/>
              </a:rPr>
              <a:t>W20</a:t>
            </a:r>
            <a:endParaRPr lang="en-US" sz="1300" dirty="0"/>
          </a:p>
        </p:txBody>
      </p:sp>
      <p:sp>
        <p:nvSpPr>
          <p:cNvPr id="15" name="Text 12"/>
          <p:cNvSpPr txBox="1"/>
          <p:nvPr/>
        </p:nvSpPr>
        <p:spPr>
          <a:xfrm>
            <a:off x="1691640" y="4178808"/>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Mock OSCE — Round 2 + Remediation</a:t>
            </a:r>
            <a:endParaRPr lang="en-US" sz="1500" dirty="0"/>
          </a:p>
        </p:txBody>
      </p:sp>
      <p:sp>
        <p:nvSpPr>
          <p:cNvPr id="16" name="Shape 13"/>
          <p:cNvSpPr/>
          <p:nvPr/>
        </p:nvSpPr>
        <p:spPr>
          <a:xfrm>
            <a:off x="731520" y="4809744"/>
            <a:ext cx="777240" cy="502920"/>
          </a:xfrm>
          <a:prstGeom prst="roundRect">
            <a:avLst>
              <a:gd name="adj" fmla="val 10909"/>
            </a:avLst>
          </a:prstGeom>
          <a:solidFill>
            <a:srgbClr val="FFFFFF"/>
          </a:solidFill>
          <a:ln/>
        </p:spPr>
      </p:sp>
      <p:sp>
        <p:nvSpPr>
          <p:cNvPr id="17" name="Text 14"/>
          <p:cNvSpPr txBox="1"/>
          <p:nvPr/>
        </p:nvSpPr>
        <p:spPr>
          <a:xfrm>
            <a:off x="731520" y="4809744"/>
            <a:ext cx="777240" cy="502920"/>
          </a:xfrm>
          <a:prstGeom prst="rect">
            <a:avLst/>
          </a:prstGeom>
          <a:noFill/>
          <a:ln/>
        </p:spPr>
        <p:txBody>
          <a:bodyPr wrap="square" lIns="0" tIns="0" rIns="0" bIns="0" rtlCol="0" anchor="ctr"/>
          <a:lstStyle/>
          <a:p>
            <a:pPr algn="ctr" indent="0" marL="0">
              <a:buNone/>
            </a:pPr>
            <a:r>
              <a:rPr lang="en-US" sz="1300" b="1" dirty="0">
                <a:solidFill>
                  <a:srgbClr val="B5622A"/>
                </a:solidFill>
                <a:latin typeface="Cambria" pitchFamily="34" charset="0"/>
                <a:ea typeface="Cambria" pitchFamily="34" charset="-122"/>
                <a:cs typeface="Cambria" pitchFamily="34" charset="-120"/>
              </a:rPr>
              <a:t>W21</a:t>
            </a:r>
            <a:endParaRPr lang="en-US" sz="1300" dirty="0"/>
          </a:p>
        </p:txBody>
      </p:sp>
      <p:sp>
        <p:nvSpPr>
          <p:cNvPr id="18" name="Text 15"/>
          <p:cNvSpPr txBox="1"/>
          <p:nvPr/>
        </p:nvSpPr>
        <p:spPr>
          <a:xfrm>
            <a:off x="1691640" y="4837176"/>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Consolidation Wrap-Up</a:t>
            </a:r>
            <a:endParaRPr lang="en-US" sz="1500" dirty="0"/>
          </a:p>
        </p:txBody>
      </p:sp>
      <p:sp>
        <p:nvSpPr>
          <p:cNvPr id="19" name="Text 16"/>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20" name="Text 17"/>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B5622A"/>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CH.5 · UNIT 18</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Integration Station Design</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Design a valid cross-chapter integration test case.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B5622A"/>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Designing a good test case requires understanding the failure mode better than just passing a test does</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A good station should have more than one plausible "trap"</a:t>
            </a:r>
            <a:endParaRPr lang="en-US" sz="1300" dirty="0"/>
          </a:p>
        </p:txBody>
      </p:sp>
      <p:sp>
        <p:nvSpPr>
          <p:cNvPr id="10" name="Shape 8"/>
          <p:cNvSpPr/>
          <p:nvPr/>
        </p:nvSpPr>
        <p:spPr>
          <a:xfrm>
            <a:off x="7223760" y="2194560"/>
            <a:ext cx="4206240" cy="4160520"/>
          </a:xfrm>
          <a:prstGeom prst="roundRect">
            <a:avLst>
              <a:gd name="adj" fmla="val 2198"/>
            </a:avLst>
          </a:prstGeom>
          <a:solidFill>
            <a:srgbClr val="B5622A"/>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Small groups design one station combining ≥2 of: scribing error, diagnostic override, sovereignty documentation, consent disclosure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Pilot the station on a different peer group and collect feedback</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B5622A"/>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CH.5 · UNIT 19</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Mock OSCE — Round 1</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Perform under timed, integrated pressure.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B5622A"/>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Score against a fixed rubric, not overall impression</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Realistic time pressure is itself part of what's being assessed</a:t>
            </a:r>
            <a:endParaRPr lang="en-US" sz="1300" dirty="0"/>
          </a:p>
        </p:txBody>
      </p:sp>
      <p:sp>
        <p:nvSpPr>
          <p:cNvPr id="10" name="Shape 8"/>
          <p:cNvSpPr/>
          <p:nvPr/>
        </p:nvSpPr>
        <p:spPr>
          <a:xfrm>
            <a:off x="7223760" y="2194560"/>
            <a:ext cx="4206240" cy="4160520"/>
          </a:xfrm>
          <a:prstGeom prst="roundRect">
            <a:avLst>
              <a:gd name="adj" fmla="val 2198"/>
            </a:avLst>
          </a:prstGeom>
          <a:solidFill>
            <a:srgbClr val="B5622A"/>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Timed stations via video platform, instructor-scored</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Keep strict time limits even when a student is visibly struggling</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B5622A"/>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CH.5 · UNIT 20</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Mock OSCE — Round 2 + Remediation</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Complete remediation stations (if needed) or receive individual performance feedback.</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B5622A"/>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Frame remediation as "not yet," not "failed" — keep it non-punitive in tone</a:t>
            </a:r>
            <a:endParaRPr lang="en-US" sz="1300" dirty="0"/>
          </a:p>
        </p:txBody>
      </p:sp>
      <p:sp>
        <p:nvSpPr>
          <p:cNvPr id="10" name="Shape 8"/>
          <p:cNvSpPr/>
          <p:nvPr/>
        </p:nvSpPr>
        <p:spPr>
          <a:xfrm>
            <a:off x="7223760" y="2194560"/>
            <a:ext cx="4206240" cy="4160520"/>
          </a:xfrm>
          <a:prstGeom prst="roundRect">
            <a:avLst>
              <a:gd name="adj" fmla="val 2198"/>
            </a:avLst>
          </a:prstGeom>
          <a:solidFill>
            <a:srgbClr val="B5622A"/>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Split the room: remediation students repeat stations; others get 1:1 debriefs on Round 1</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B5622A"/>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CH.5 · UNIT 21</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Consolidation Wrap-Up</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Synthesize the full course to date and confirm readiness for the Capstone.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B5622A"/>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Open forum — let students bring their own lingering uncertainties rather than a scripted agenda</a:t>
            </a:r>
            <a:endParaRPr lang="en-US" sz="1300" dirty="0"/>
          </a:p>
        </p:txBody>
      </p:sp>
      <p:sp>
        <p:nvSpPr>
          <p:cNvPr id="10" name="Shape 8"/>
          <p:cNvSpPr/>
          <p:nvPr/>
        </p:nvSpPr>
        <p:spPr>
          <a:xfrm>
            <a:off x="7223760" y="2194560"/>
            <a:ext cx="4206240" cy="4160520"/>
          </a:xfrm>
          <a:prstGeom prst="roundRect">
            <a:avLst>
              <a:gd name="adj" fmla="val 2198"/>
            </a:avLst>
          </a:prstGeom>
          <a:solidFill>
            <a:srgbClr val="B5622A"/>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Free-practice sandbox time, student-directed</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Individual readiness sign-off; any student not ready gets a short, specific remediation plan</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731520" y="822960"/>
            <a:ext cx="1371600" cy="1371600"/>
          </a:xfrm>
          <a:prstGeom prst="ellipse">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882396" y="973836"/>
            <a:ext cx="1069848" cy="1069848"/>
          </a:xfrm>
          <a:prstGeom prst="rect">
            <a:avLst/>
          </a:prstGeom>
        </p:spPr>
      </p:pic>
      <p:sp>
        <p:nvSpPr>
          <p:cNvPr id="4" name="Text 1"/>
          <p:cNvSpPr txBox="1"/>
          <p:nvPr/>
        </p:nvSpPr>
        <p:spPr>
          <a:xfrm>
            <a:off x="2377440" y="914400"/>
            <a:ext cx="5486400" cy="45720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CHAPTER 6</a:t>
            </a:r>
            <a:endParaRPr lang="en-US" sz="1600" dirty="0"/>
          </a:p>
        </p:txBody>
      </p:sp>
      <p:sp>
        <p:nvSpPr>
          <p:cNvPr id="5" name="Text 2"/>
          <p:cNvSpPr txBox="1"/>
          <p:nvPr/>
        </p:nvSpPr>
        <p:spPr>
          <a:xfrm>
            <a:off x="2377440" y="1280160"/>
            <a:ext cx="91440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Solo Pilot Capstone &amp; Certification</a:t>
            </a:r>
            <a:endParaRPr lang="en-US" sz="3000" dirty="0"/>
          </a:p>
        </p:txBody>
      </p:sp>
      <p:sp>
        <p:nvSpPr>
          <p:cNvPr id="6" name="Text 3"/>
          <p:cNvSpPr txBox="1"/>
          <p:nvPr/>
        </p:nvSpPr>
        <p:spPr>
          <a:xfrm>
            <a:off x="2377440" y="2057400"/>
            <a:ext cx="7315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Weeks 22–25  •  Feb 25 – Mar 24, 2027</a:t>
            </a:r>
            <a:endParaRPr lang="en-US" sz="1300" dirty="0"/>
          </a:p>
        </p:txBody>
      </p:sp>
      <p:sp>
        <p:nvSpPr>
          <p:cNvPr id="7" name="Shape 4"/>
          <p:cNvSpPr/>
          <p:nvPr/>
        </p:nvSpPr>
        <p:spPr>
          <a:xfrm>
            <a:off x="731520" y="2834640"/>
            <a:ext cx="777240" cy="502920"/>
          </a:xfrm>
          <a:prstGeom prst="roundRect">
            <a:avLst>
              <a:gd name="adj" fmla="val 10909"/>
            </a:avLst>
          </a:prstGeom>
          <a:solidFill>
            <a:srgbClr val="FFFFFF"/>
          </a:solidFill>
          <a:ln/>
        </p:spPr>
      </p:sp>
      <p:sp>
        <p:nvSpPr>
          <p:cNvPr id="8" name="Text 5"/>
          <p:cNvSpPr txBox="1"/>
          <p:nvPr/>
        </p:nvSpPr>
        <p:spPr>
          <a:xfrm>
            <a:off x="731520" y="2834640"/>
            <a:ext cx="777240" cy="5029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W22-23</a:t>
            </a:r>
            <a:endParaRPr lang="en-US" sz="1300" dirty="0"/>
          </a:p>
        </p:txBody>
      </p:sp>
      <p:sp>
        <p:nvSpPr>
          <p:cNvPr id="9" name="Text 6"/>
          <p:cNvSpPr txBox="1"/>
          <p:nvPr/>
        </p:nvSpPr>
        <p:spPr>
          <a:xfrm>
            <a:off x="1691640" y="2862072"/>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Capstone Shifts 1 &amp; 2</a:t>
            </a:r>
            <a:endParaRPr lang="en-US" sz="1500" dirty="0"/>
          </a:p>
        </p:txBody>
      </p:sp>
      <p:sp>
        <p:nvSpPr>
          <p:cNvPr id="10" name="Shape 7"/>
          <p:cNvSpPr/>
          <p:nvPr/>
        </p:nvSpPr>
        <p:spPr>
          <a:xfrm>
            <a:off x="731520" y="3493008"/>
            <a:ext cx="777240" cy="502920"/>
          </a:xfrm>
          <a:prstGeom prst="roundRect">
            <a:avLst>
              <a:gd name="adj" fmla="val 10909"/>
            </a:avLst>
          </a:prstGeom>
          <a:solidFill>
            <a:srgbClr val="FFFFFF"/>
          </a:solidFill>
          <a:ln/>
        </p:spPr>
      </p:sp>
      <p:sp>
        <p:nvSpPr>
          <p:cNvPr id="11" name="Text 8"/>
          <p:cNvSpPr txBox="1"/>
          <p:nvPr/>
        </p:nvSpPr>
        <p:spPr>
          <a:xfrm>
            <a:off x="731520" y="3493008"/>
            <a:ext cx="777240" cy="5029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W24</a:t>
            </a:r>
            <a:endParaRPr lang="en-US" sz="1300" dirty="0"/>
          </a:p>
        </p:txBody>
      </p:sp>
      <p:sp>
        <p:nvSpPr>
          <p:cNvPr id="12" name="Text 9"/>
          <p:cNvSpPr txBox="1"/>
          <p:nvPr/>
        </p:nvSpPr>
        <p:spPr>
          <a:xfrm>
            <a:off x="1691640" y="3520440"/>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Remediation / Retake Window</a:t>
            </a:r>
            <a:endParaRPr lang="en-US" sz="1500" dirty="0"/>
          </a:p>
        </p:txBody>
      </p:sp>
      <p:sp>
        <p:nvSpPr>
          <p:cNvPr id="13" name="Shape 10"/>
          <p:cNvSpPr/>
          <p:nvPr/>
        </p:nvSpPr>
        <p:spPr>
          <a:xfrm>
            <a:off x="731520" y="4151376"/>
            <a:ext cx="777240" cy="502920"/>
          </a:xfrm>
          <a:prstGeom prst="roundRect">
            <a:avLst>
              <a:gd name="adj" fmla="val 10909"/>
            </a:avLst>
          </a:prstGeom>
          <a:solidFill>
            <a:srgbClr val="FFFFFF"/>
          </a:solidFill>
          <a:ln/>
        </p:spPr>
      </p:sp>
      <p:sp>
        <p:nvSpPr>
          <p:cNvPr id="14" name="Text 11"/>
          <p:cNvSpPr txBox="1"/>
          <p:nvPr/>
        </p:nvSpPr>
        <p:spPr>
          <a:xfrm>
            <a:off x="731520" y="4151376"/>
            <a:ext cx="777240" cy="5029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W25</a:t>
            </a:r>
            <a:endParaRPr lang="en-US" sz="1300" dirty="0"/>
          </a:p>
        </p:txBody>
      </p:sp>
      <p:sp>
        <p:nvSpPr>
          <p:cNvPr id="15" name="Text 12"/>
          <p:cNvSpPr txBox="1"/>
          <p:nvPr/>
        </p:nvSpPr>
        <p:spPr>
          <a:xfrm>
            <a:off x="1691640" y="4178808"/>
            <a:ext cx="969264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Certification &amp; Course Close</a:t>
            </a:r>
            <a:endParaRPr lang="en-US" sz="1500" dirty="0"/>
          </a:p>
        </p:txBody>
      </p:sp>
      <p:sp>
        <p:nvSpPr>
          <p:cNvPr id="16" name="Text 13"/>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7" name="Text 14"/>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21295C"/>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CH.6 · UNIT 22-23</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Capstone Shifts 1 &amp; 2</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Run a full simulated shift independently, twice, with different case mixes.</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Consistency across both shifts matters more than a single strong performance</a:t>
            </a:r>
            <a:endParaRPr lang="en-US" sz="1300" dirty="0"/>
          </a:p>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Full shift: intake (AI scribing) → diagnosis (AI imaging validation) → treatment planning</a:t>
            </a:r>
            <a:endParaRPr lang="en-US" sz="1300" dirty="0"/>
          </a:p>
        </p:txBody>
      </p:sp>
      <p:sp>
        <p:nvSpPr>
          <p:cNvPr id="10" name="Shape 8"/>
          <p:cNvSpPr/>
          <p:nvPr/>
        </p:nvSpPr>
        <p:spPr>
          <a:xfrm>
            <a:off x="7223760" y="2194560"/>
            <a:ext cx="4206240" cy="4160520"/>
          </a:xfrm>
          <a:prstGeom prst="roundRect">
            <a:avLst>
              <a:gd name="adj" fmla="val 2198"/>
            </a:avLst>
          </a:prstGeom>
          <a:solidFill>
            <a:srgbClr val="21295C"/>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Two graded full shifts (6 hrs each), different synthetic case mix each time</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Grade against the Chapter 4 "Confidence Factor" checklist</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Individual debrief after Shift 2, comparing performance across both shifts</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21295C"/>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CH.6 · UNIT 24</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Remediation / Retake Window</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Close specific, named gaps identified during the capstone shifts.</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This week is about closing named gaps, not re-teaching full content</a:t>
            </a:r>
            <a:endParaRPr lang="en-US" sz="1300" dirty="0"/>
          </a:p>
        </p:txBody>
      </p:sp>
      <p:sp>
        <p:nvSpPr>
          <p:cNvPr id="10" name="Shape 8"/>
          <p:cNvSpPr/>
          <p:nvPr/>
        </p:nvSpPr>
        <p:spPr>
          <a:xfrm>
            <a:off x="7223760" y="2194560"/>
            <a:ext cx="4206240" cy="4160520"/>
          </a:xfrm>
          <a:prstGeom prst="roundRect">
            <a:avLst>
              <a:gd name="adj" fmla="val 2198"/>
            </a:avLst>
          </a:prstGeom>
          <a:solidFill>
            <a:srgbClr val="21295C"/>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Open sandbox access for targeted 1:1 practice</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011680" cy="384048"/>
          </a:xfrm>
          <a:prstGeom prst="roundRect">
            <a:avLst>
              <a:gd name="adj" fmla="val 19048"/>
            </a:avLst>
          </a:prstGeom>
          <a:solidFill>
            <a:srgbClr val="21295C"/>
          </a:solidFill>
          <a:ln/>
        </p:spPr>
      </p:sp>
      <p:sp>
        <p:nvSpPr>
          <p:cNvPr id="3" name="Text 1"/>
          <p:cNvSpPr txBox="1"/>
          <p:nvPr/>
        </p:nvSpPr>
        <p:spPr>
          <a:xfrm>
            <a:off x="548640" y="411480"/>
            <a:ext cx="2011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CH.6 · UNIT 25</a:t>
            </a:r>
            <a:endParaRPr lang="en-US" sz="1150" dirty="0"/>
          </a:p>
        </p:txBody>
      </p:sp>
      <p:sp>
        <p:nvSpPr>
          <p:cNvPr id="4" name="Text 2"/>
          <p:cNvSpPr txBox="1"/>
          <p:nvPr/>
        </p:nvSpPr>
        <p:spPr>
          <a:xfrm>
            <a:off x="548640" y="896112"/>
            <a:ext cx="10881360" cy="594360"/>
          </a:xfrm>
          <a:prstGeom prst="rect">
            <a:avLst/>
          </a:prstGeom>
          <a:noFill/>
          <a:ln/>
        </p:spPr>
        <p:txBody>
          <a:bodyPr wrap="square" lIns="0" tIns="0" rIns="0" bIns="0" rtlCol="0" anchor="ctr"/>
          <a:lstStyle/>
          <a:p>
            <a:pPr indent="0" marL="0">
              <a:buNone/>
            </a:pPr>
            <a:r>
              <a:rPr lang="en-US" sz="2400" b="1" dirty="0">
                <a:solidFill>
                  <a:srgbClr val="21295C"/>
                </a:solidFill>
                <a:latin typeface="Cambria" pitchFamily="34" charset="0"/>
                <a:ea typeface="Cambria" pitchFamily="34" charset="-122"/>
                <a:cs typeface="Cambria" pitchFamily="34" charset="-120"/>
              </a:rPr>
              <a:t>Certification &amp; Course Close</a:t>
            </a:r>
            <a:endParaRPr lang="en-US" sz="2400" dirty="0"/>
          </a:p>
        </p:txBody>
      </p:sp>
      <p:sp>
        <p:nvSpPr>
          <p:cNvPr id="5" name="Shape 3"/>
          <p:cNvSpPr/>
          <p:nvPr/>
        </p:nvSpPr>
        <p:spPr>
          <a:xfrm>
            <a:off x="548640" y="1536192"/>
            <a:ext cx="10881360" cy="502920"/>
          </a:xfrm>
          <a:prstGeom prst="roundRect">
            <a:avLst>
              <a:gd name="adj" fmla="val 14545"/>
            </a:avLst>
          </a:prstGeom>
          <a:solidFill>
            <a:srgbClr val="EAF3F8"/>
          </a:solidFill>
          <a:ln/>
        </p:spPr>
      </p:sp>
      <p:sp>
        <p:nvSpPr>
          <p:cNvPr id="6" name="Text 4"/>
          <p:cNvSpPr txBox="1"/>
          <p:nvPr/>
        </p:nvSpPr>
        <p:spPr>
          <a:xfrm>
            <a:off x="731520" y="1536192"/>
            <a:ext cx="1051560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Session Objective:  </a:t>
            </a:r>
            <a:pPr indent="0" marL="0">
              <a:buNone/>
            </a:pPr>
            <a:r>
              <a:rPr lang="en-US" sz="1300" dirty="0">
                <a:solidFill>
                  <a:srgbClr val="1F2937"/>
                </a:solidFill>
                <a:latin typeface="Calibri" pitchFamily="34" charset="0"/>
                <a:ea typeface="Calibri" pitchFamily="34" charset="-122"/>
                <a:cs typeface="Calibri" pitchFamily="34" charset="-120"/>
              </a:rPr>
              <a:t>Complete the final checkoff and close the course.</a:t>
            </a:r>
            <a:endParaRPr lang="en-US" sz="1300" dirty="0"/>
          </a:p>
        </p:txBody>
      </p:sp>
      <p:sp>
        <p:nvSpPr>
          <p:cNvPr id="7" name="Shape 5"/>
          <p:cNvSpPr/>
          <p:nvPr/>
        </p:nvSpPr>
        <p:spPr>
          <a:xfrm>
            <a:off x="548640" y="2194560"/>
            <a:ext cx="6492240" cy="4160520"/>
          </a:xfrm>
          <a:prstGeom prst="roundRect">
            <a:avLst>
              <a:gd name="adj" fmla="val 2198"/>
            </a:avLst>
          </a:prstGeom>
          <a:solidFill>
            <a:srgbClr val="FFFFFF"/>
          </a:solidFill>
          <a:ln w="12700">
            <a:solidFill>
              <a:srgbClr val="D8E3EC"/>
            </a:solidFill>
            <a:prstDash val="solid"/>
          </a:ln>
          <a:effectLst>
            <a:outerShdw sx="100000" sy="100000" kx="0" ky="0" algn="bl" rotWithShape="0" blurRad="101600" dist="38100" dir="5400000">
              <a:srgbClr val="1A1A2E">
                <a:alpha val="25000"/>
              </a:srgbClr>
            </a:outerShdw>
          </a:effectLst>
        </p:spPr>
      </p:sp>
      <p:sp>
        <p:nvSpPr>
          <p:cNvPr id="8" name="Text 6"/>
          <p:cNvSpPr txBox="1"/>
          <p:nvPr/>
        </p:nvSpPr>
        <p:spPr>
          <a:xfrm>
            <a:off x="777240" y="2331720"/>
            <a:ext cx="6035040" cy="36576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What to Teach</a:t>
            </a:r>
            <a:endParaRPr lang="en-US" sz="1500" dirty="0"/>
          </a:p>
        </p:txBody>
      </p:sp>
      <p:sp>
        <p:nvSpPr>
          <p:cNvPr id="9" name="Text 7"/>
          <p:cNvSpPr txBox="1"/>
          <p:nvPr/>
        </p:nvSpPr>
        <p:spPr>
          <a:xfrm>
            <a:off x="777240" y="2743200"/>
            <a:ext cx="6035040" cy="34747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937"/>
                </a:solidFill>
                <a:latin typeface="Calibri" pitchFamily="34" charset="0"/>
                <a:ea typeface="Calibri" pitchFamily="34" charset="-122"/>
                <a:cs typeface="Calibri" pitchFamily="34" charset="-120"/>
              </a:rPr>
              <a:t>Twenty-five weeks, one throughline: Human-in-the-Loop, applied in documentation, diagnosis, data handling, and disclosure</a:t>
            </a:r>
            <a:endParaRPr lang="en-US" sz="1300" dirty="0"/>
          </a:p>
        </p:txBody>
      </p:sp>
      <p:sp>
        <p:nvSpPr>
          <p:cNvPr id="10" name="Shape 8"/>
          <p:cNvSpPr/>
          <p:nvPr/>
        </p:nvSpPr>
        <p:spPr>
          <a:xfrm>
            <a:off x="7223760" y="2194560"/>
            <a:ext cx="4206240" cy="4160520"/>
          </a:xfrm>
          <a:prstGeom prst="roundRect">
            <a:avLst>
              <a:gd name="adj" fmla="val 2198"/>
            </a:avLst>
          </a:prstGeom>
          <a:solidFill>
            <a:srgbClr val="21295C"/>
          </a:solidFill>
          <a:ln/>
          <a:effectLst>
            <a:outerShdw sx="100000" sy="100000" kx="0" ky="0" algn="bl" rotWithShape="0" blurRad="101600" dist="38100" dir="5400000">
              <a:srgbClr val="1A1A2E">
                <a:alpha val="25000"/>
              </a:srgbClr>
            </a:outerShdw>
          </a:effectLst>
        </p:spPr>
      </p:sp>
      <p:sp>
        <p:nvSpPr>
          <p:cNvPr id="11" name="Text 9"/>
          <p:cNvSpPr txBox="1"/>
          <p:nvPr/>
        </p:nvSpPr>
        <p:spPr>
          <a:xfrm>
            <a:off x="7452360" y="2331720"/>
            <a:ext cx="374904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Virtual Clinical Sandbox</a:t>
            </a:r>
            <a:endParaRPr lang="en-US" sz="1450" dirty="0"/>
          </a:p>
        </p:txBody>
      </p:sp>
      <p:sp>
        <p:nvSpPr>
          <p:cNvPr id="12" name="Text 10"/>
          <p:cNvSpPr txBox="1"/>
          <p:nvPr/>
        </p:nvSpPr>
        <p:spPr>
          <a:xfrm>
            <a:off x="7452360" y="2788920"/>
            <a:ext cx="3749040" cy="33832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Final graded checkoff (per institutional exam policy)</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Course evaluation</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Certificate ceremony: AI Competency Certificate, NIH/AAMC + German/EU dual-compliant</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AI in Clinical Practice — Teaching &amp; Instructional Material</a:t>
            </a:r>
            <a:endParaRPr lang="en-US" sz="900" dirty="0"/>
          </a:p>
        </p:txBody>
      </p:sp>
      <p:sp>
        <p:nvSpPr>
          <p:cNvPr id="14" name="Text 12"/>
          <p:cNvSpPr txBox="1"/>
          <p:nvPr/>
        </p:nvSpPr>
        <p:spPr>
          <a:xfrm>
            <a:off x="11274552"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184648" y="1005840"/>
            <a:ext cx="1828800" cy="1828800"/>
          </a:xfrm>
          <a:prstGeom prst="ellipse">
            <a:avLst/>
          </a:prstGeom>
          <a:solidFill>
            <a:srgbClr val="065A82"/>
          </a:solidFill>
          <a:ln/>
        </p:spPr>
      </p:sp>
      <p:pic>
        <p:nvPicPr>
          <p:cNvPr id="3" name="Image 0" descr="preencoded.png">    </p:cNvPr>
          <p:cNvPicPr>
            <a:picLocks noChangeAspect="1"/>
          </p:cNvPicPr>
          <p:nvPr/>
        </p:nvPicPr>
        <p:blipFill>
          <a:blip r:embed="rId1"/>
          <a:stretch>
            <a:fillRect/>
          </a:stretch>
        </p:blipFill>
        <p:spPr>
          <a:xfrm>
            <a:off x="5385816" y="1207008"/>
            <a:ext cx="1426464" cy="1426464"/>
          </a:xfrm>
          <a:prstGeom prst="rect">
            <a:avLst/>
          </a:prstGeom>
        </p:spPr>
      </p:pic>
      <p:sp>
        <p:nvSpPr>
          <p:cNvPr id="4" name="Text 1"/>
          <p:cNvSpPr txBox="1"/>
          <p:nvPr/>
        </p:nvSpPr>
        <p:spPr>
          <a:xfrm>
            <a:off x="914400" y="3063240"/>
            <a:ext cx="103327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 Chapters. 25 Units. One Principle.</a:t>
            </a:r>
            <a:endParaRPr lang="en-US" sz="3000" dirty="0"/>
          </a:p>
        </p:txBody>
      </p:sp>
      <p:sp>
        <p:nvSpPr>
          <p:cNvPr id="5" name="Text 2"/>
          <p:cNvSpPr txBox="1"/>
          <p:nvPr/>
        </p:nvSpPr>
        <p:spPr>
          <a:xfrm>
            <a:off x="914400" y="3749040"/>
            <a:ext cx="10332720" cy="457200"/>
          </a:xfrm>
          <a:prstGeom prst="rect">
            <a:avLst/>
          </a:prstGeom>
          <a:noFill/>
          <a:ln/>
        </p:spPr>
        <p:txBody>
          <a:bodyPr wrap="square" lIns="0" tIns="0" rIns="0" bIns="0"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Human-in-the-Loop, from Week 1 to Week 25.</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2026-09-09T19:31:51Z</dcterms:created>
  <dcterms:modified xsi:type="dcterms:W3CDTF">2026-09-09T19:31:51Z</dcterms:modified>
</cp:coreProperties>
</file>