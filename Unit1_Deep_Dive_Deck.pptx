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Physician Burnout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Rate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Adoption</c:v>
                  </c:pt>
                  <c:pt idx="1">
                    <c:v>After 30 Days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51.9</c:v>
                </c:pt>
                <c:pt idx="1">
                  <c:v>38.8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reporting burnout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9436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1381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82880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UNIT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37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Unit Deep Dive — Theory, Math, Industry, Lab &amp; Assessment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29260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Oct 1–7, 2026  •  3-hr Virtual Session + 3-hr Virtual Clinical Sandbox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Unit, Students Can: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95133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7452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Human-in-the-Loop (HITL) and explain why it anchors the entire course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50" y="195133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7452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supervised vs. generative AI models at a conceptual level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977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4054450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97764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"hallucination" in a clinical-AI context and identify one in a note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63640" y="37490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92240" y="3977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050" y="4054450"/>
            <a:ext cx="486461" cy="48646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15200" y="397764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Describe, at a high level, how an ambient scribe's ASR + LLM pipeline works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Schedule — 3 Hours (180 Minutes)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329184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463040"/>
                <a:gridCol w="6400800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0:00–0:10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Hook (framing question for this unit)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0:10–1:10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Theory &amp; Math Instruction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1:10–1:45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Adoption Case Studies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1:45–2:20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USMLE Question &amp; Facilitated Class Discussion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2:20–2:45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Assessment / Med-Ed Reflection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2:45–3:00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Wrap-Up &amp; Transition to Unit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— plus a separate 3-hr Virtual Clinical Sandbox lab block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 of Clinical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9659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07568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a visit, draft the clinical note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7373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0" y="19659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075688"/>
            <a:ext cx="694944" cy="6949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90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CDSS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findings in imaging or lab data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17373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0" y="19659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075688"/>
            <a:ext cx="694944" cy="6949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722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Care-Planning NLP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problems into a standardized care plan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778240" y="17373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01200" y="19659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2075688"/>
            <a:ext cx="694944" cy="6949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154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EHR-Embedded Tools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9611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AI output directly inside the chart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covers all four categories — every one of them shares the same safety principle you'll learn today.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Matters: Adoption Is Outpacing Training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burnout before vs. 30 days after ambient-scribe adoption (263 physicians/APPs, 6 health systems)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77440"/>
          <a:ext cx="5760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554480"/>
            <a:ext cx="5029200" cy="3931920"/>
          </a:xfrm>
          <a:prstGeom prst="roundRect">
            <a:avLst>
              <a:gd name="adj" fmla="val 232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Speed Records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1945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7,260 physicians, 2.57M encounters — Kaiser Permanente's ambient-scribe rollout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44.6% ambulatory-encounter adoption rate at UCSF Health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as faster diffusion than the stethoscope, X-ray, or EHR itself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13–16 min/day saved on EHR work once adopted (multiple 2026 studies)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(HITL)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must actively verify AI output — never passively co-sign it.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sentence from this entire 25-week course, remember this one. Every later chapter — diagnostics, sovereignty, ethicolegal, capstone — is a new context for applying it.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WALKTHROUGH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in Practice: What Happens Without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1719072"/>
            <a:ext cx="10241280" cy="585216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171907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physician sees a patient with chest pain radiating to the jaw.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679192"/>
            <a:ext cx="10241280" cy="585216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54480" y="267919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ambient scribe mistranscribes the encounter as "patient denies chest pain."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639312"/>
            <a:ext cx="10241280" cy="585216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63931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physician signs the note without reading it — no verification occurs.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B562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71600" y="4599432"/>
            <a:ext cx="10241280" cy="585216"/>
          </a:xfrm>
          <a:prstGeom prst="roundRect">
            <a:avLst>
              <a:gd name="adj" fmla="val 12500"/>
            </a:avLst>
          </a:prstGeom>
          <a:solidFill>
            <a:srgbClr val="FBEA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554480" y="459943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later returns with an MI. The chart contradicts what actually happened.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scribe error was inevitable. The physician not reading the note wasn't. Where's the fix — software or workflow?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Literacy: Supervised vs. Generative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2008022"/>
            <a:ext cx="555955" cy="55595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examples: (input, correct answer) pairs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a category or value — P(class | x)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imaging model trained on X-rays labeled "pneumonia" / "no pneumonia"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bounded to the labels it was trained 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532120" cy="3840480"/>
          </a:xfrm>
          <a:prstGeom prst="roundRect">
            <a:avLst>
              <a:gd name="adj" fmla="val 238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862" y="2008022"/>
            <a:ext cx="555955" cy="55595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(LLMs)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274320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token: P(tokenₙ | token₁...tokenₙ₋₁)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NEW text — not just a label from a fixed 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ambient scribe composing a full clinical note from a transcript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output is NOT the same as factually correct output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"Hallucination"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plausible-sounding but FALSE output — content the model generated that isn't grounded in the actual input.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Low-stakes example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invents a citation that doesn't exist when asked for a source.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10896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BEAE0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Clinical-stakes example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7033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ambient scribe inserts a symptom, lab value, or negative finding the patient never actually reported.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connection: lower model perplexity often correlates with more fluent output — but fluency is not the same as zero hallucination risk.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Deep-Dive: Word Error Rate (WER)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 =  ( S + D + I ) / 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Substitutions   D = Deletions   I = Insertions   N = Total words in reference transcript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6118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" y="368320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4251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7091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"denies" heard instead of "defines" — a wrong word swapped in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51960" y="34290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36118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163" y="368320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34840" y="4251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434840" y="47091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spoken detail is dropped entirely from the transcript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955280" y="34290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38160" y="36118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483" y="3683203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38160" y="4251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(Hallucination risk)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138160" y="47091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appears in the note that was never said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Deep-Dive: Transformer Self-Attention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Attention(Q, K, V) = softmax( QKᵀ / √dₖ ) · V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(Query), K (Key), V (Value): learned projections of each token in the input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QKᵀ measures how much each token should "attend to" every other token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turns those scores into weights that sum to 1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mechanism is why an LLM can use context far earlier in a transcript to interpret a word later on — and also why ambiguous context can mislead 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Spotlight: Ambient-Scribe Vendors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99705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/ Nuance DAX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423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deployed across large US health systems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610" y="199705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Abridge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2423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documentation with structured note generation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7033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931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400873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Nabla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4434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Randomized-trial-tested reductions in time-in-note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033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0" y="3931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610" y="4008730"/>
            <a:ext cx="486461" cy="48646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2376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Suki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223760" y="4434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proprietary and tuned third-party LLMs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91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accounts: Synthea, sandbox EHR, ambient-scribe trial license — done live, screen-shared, so no one gets stuck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432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exercise: each student manually documents a short mock visit WITHOUT AI assistance, timing themselves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94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number matters later — Week 4 compares your Week-1 baseline against your Week-3 AI-assisted workflow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8463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circulates during the timed task but does not answer content questions — this would bias the baseline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694944" cy="6949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— discuss before revealing the answer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8745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34-year-old family physician uses an ambient AI scribe during a visit for a patient with chest pain radiating to the jaw. The AI-generated note documents "patient denies chest pain" based on a mistranscription. The physician signs the note without reading it, and the patient later returns with an MI. What is the most important systemic failure illustrated here?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657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scribe's speech-recognition accuracy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2062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Automation bias / failure of human-in-the-loop verification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75488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Inadequate malpractice insurance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53035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303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Lack of ICD-10 coding accuracy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3566160"/>
          </a:xfrm>
          <a:prstGeom prst="roundRect">
            <a:avLst>
              <a:gd name="adj" fmla="val 307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2140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2103120"/>
            <a:ext cx="9418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transformer attention mechanism lets clinicians reason about WHY a model might mishear a homophone-heavy phrase (e.g., "denies" vs. "defines") — turning error-spotting from guesswork into pattern recognition.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who understands WER's three error types (substitution, deletion, insertion) can predict where a scribe is most likely to fail: dense medication lists (substitution risk), rapid-fire review-of-systems (deletion risk), and ambiguous patient phrasing (insertion/hallucination risk) — and can target their review time accordingly instead of re-reading every line with equal suspicion.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&amp; Weekly Sufficiency Check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2059229"/>
            <a:ext cx="590702" cy="5907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Question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377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explain to a classmate why a low word-error-rate does not guarantee a clinically safe note.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749040"/>
            <a:ext cx="777240" cy="77724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9" y="3842309"/>
            <a:ext cx="590702" cy="5907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3749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828800" y="416052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USMLE-norm question correctly AND explain the clinical advantage unprompted, sufficient knowledge transfer for Unit 1 is confirmed. If not, revisit the HITL walkthrough (Slide 7) before advancing to Unit 2.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91440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13385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principle. Twenty-five weeks of applying it in new contexts.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718304" y="425196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2 — Prompt Engineering, The Four 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Deep Dive — Introduction to AI in Medicine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2026-09-09T20:39:23Z</dcterms:created>
  <dcterms:modified xsi:type="dcterms:W3CDTF">2026-09-09T20:39:23Z</dcterms:modified>
</cp:coreProperties>
</file>